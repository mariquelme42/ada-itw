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28" r:id="rId2"/>
    <p:sldId id="360" r:id="rId3"/>
    <p:sldId id="480" r:id="rId4"/>
    <p:sldId id="439" r:id="rId5"/>
    <p:sldId id="481" r:id="rId6"/>
    <p:sldId id="482" r:id="rId7"/>
    <p:sldId id="483" r:id="rId8"/>
    <p:sldId id="484" r:id="rId9"/>
    <p:sldId id="485" r:id="rId10"/>
    <p:sldId id="486" r:id="rId11"/>
    <p:sldId id="487" r:id="rId12"/>
    <p:sldId id="488" r:id="rId13"/>
    <p:sldId id="435" r:id="rId14"/>
    <p:sldId id="489" r:id="rId15"/>
    <p:sldId id="438" r:id="rId16"/>
    <p:sldId id="500" r:id="rId17"/>
    <p:sldId id="490" r:id="rId18"/>
    <p:sldId id="501" r:id="rId19"/>
    <p:sldId id="491" r:id="rId20"/>
    <p:sldId id="492" r:id="rId21"/>
    <p:sldId id="502" r:id="rId22"/>
    <p:sldId id="524" r:id="rId23"/>
    <p:sldId id="525" r:id="rId24"/>
    <p:sldId id="526" r:id="rId25"/>
    <p:sldId id="527" r:id="rId26"/>
    <p:sldId id="528" r:id="rId27"/>
    <p:sldId id="529" r:id="rId28"/>
    <p:sldId id="530" r:id="rId29"/>
    <p:sldId id="531" r:id="rId30"/>
    <p:sldId id="532" r:id="rId31"/>
    <p:sldId id="533" r:id="rId32"/>
    <p:sldId id="534" r:id="rId33"/>
    <p:sldId id="535" r:id="rId34"/>
    <p:sldId id="536" r:id="rId35"/>
    <p:sldId id="537" r:id="rId36"/>
    <p:sldId id="539" r:id="rId37"/>
    <p:sldId id="540" r:id="rId38"/>
    <p:sldId id="541" r:id="rId39"/>
    <p:sldId id="542" r:id="rId40"/>
    <p:sldId id="543" r:id="rId41"/>
    <p:sldId id="544" r:id="rId42"/>
    <p:sldId id="545" r:id="rId43"/>
    <p:sldId id="546" r:id="rId44"/>
    <p:sldId id="548" r:id="rId45"/>
    <p:sldId id="547" r:id="rId46"/>
    <p:sldId id="549" r:id="rId47"/>
    <p:sldId id="550" r:id="rId48"/>
    <p:sldId id="551" r:id="rId49"/>
    <p:sldId id="552" r:id="rId50"/>
    <p:sldId id="553" r:id="rId51"/>
    <p:sldId id="554" r:id="rId52"/>
    <p:sldId id="555" r:id="rId53"/>
    <p:sldId id="559" r:id="rId54"/>
    <p:sldId id="560" r:id="rId55"/>
    <p:sldId id="287" r:id="rId5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121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84" y="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4323B1-F190-2258-8656-682E1BDD35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703E2E8-0FF9-ECED-2083-FA5518D5E6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1B30B74-3156-55A7-A4E2-6142B67B8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A1573-A290-4ECB-A067-8003E3B65E3C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DBEE120-AF54-0E6B-F51E-2F4E0CE1D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0487675-B884-B59B-6F1E-937B1CB13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3594C-E041-4ECA-8410-7911E489A7F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0170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5AA833-53B7-372F-E706-1DAD14B41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4DAD050-C55C-7363-F974-B563FCE0BF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EE4A04A-9ED0-2F55-A1D0-8EF8A0B84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A1573-A290-4ECB-A067-8003E3B65E3C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6AE9D3F-C958-D0A1-097B-F0FC06038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6D3A1EC-EEE3-40D5-D64C-FCDDA3088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3594C-E041-4ECA-8410-7911E489A7F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816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46C60E-0447-6B32-1453-1AC263B62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3FCF42C-C1B6-AC6E-FC4C-FD575C431A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0CDE193-8122-D031-2CD3-1CFEBEF66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A1573-A290-4ECB-A067-8003E3B65E3C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D0CCC1D-FD51-9D32-906C-C84AA69EE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6E8335C-E47A-851F-5AB7-318D98539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3594C-E041-4ECA-8410-7911E489A7F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598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B96BDC-3054-2246-EF09-4C687F3FE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1303D89-27EC-84E2-2E95-2B03818851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BE06EE6-BD26-3D7F-F801-5FF5CD6AF1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5EE3F39-4FBE-BE96-ED1E-91F606635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A1573-A290-4ECB-A067-8003E3B65E3C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9EBDB03-663F-449E-728A-B3EAEEDF6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724B2FA-5CDF-6573-CB74-2603FEE32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3594C-E041-4ECA-8410-7911E489A7F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8601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3BBF68-8AD2-AA08-822E-99B8595DA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23855A9-2FA1-FDC7-EE73-D07C882FF2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A177555-13F6-90AF-A433-2C39B8D76D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D354458-1A8F-F72E-D80A-F3FBA69328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D868355-ADD7-34AE-D9D3-F1E6EF5361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136C80B-068D-B3C0-9643-910CB2DFD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A1573-A290-4ECB-A067-8003E3B65E3C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9198CFC-4D54-C827-4B6A-C9B9AF26E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A8C3FD4-0B6A-EF53-9065-6BA4C0FE6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3594C-E041-4ECA-8410-7911E489A7F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993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C547C0-D42F-8D91-E31B-2523B2E2D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D6CD80C-E619-DFBF-E138-F57854B00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A1573-A290-4ECB-A067-8003E3B65E3C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ECA8C63-DE27-B2FD-42F0-5CBAF4F05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11BCA1E-4CFA-6DEB-34D3-C2B5677D1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3594C-E041-4ECA-8410-7911E489A7F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366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4E0A032-3254-4742-9FF3-6F9276653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A1573-A290-4ECB-A067-8003E3B65E3C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0B9941A-B03D-9B05-E862-448D58651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32A27F2-5245-6D03-F0CF-0C63CFFB0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3594C-E041-4ECA-8410-7911E489A7F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923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DE1500-5D8C-13FB-CCCE-C2B286017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9ECD67C-E41D-46F9-A15D-EE9405F041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ECAD46F-3732-ACE4-488B-1267915336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8A9F46C-8154-DBBB-F460-1FDD2001F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A1573-A290-4ECB-A067-8003E3B65E3C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9193DE0-B0DA-F7E6-0156-81E94801D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FF36778-5481-FCEE-8417-D9898851F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3594C-E041-4ECA-8410-7911E489A7F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3158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E97279-DF96-67CC-8C17-E08B2224F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ED88B16-B3F0-C0D0-7E9B-E41F7A7DC2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C9BD0CD-D479-9056-17EC-9847C3F6CE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18F2758-7A6C-3E1E-B9C3-F03578133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A1573-A290-4ECB-A067-8003E3B65E3C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2B92EEA-009A-03C9-A283-88805615D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765C2EE-86B7-65A8-5092-468420FB1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3594C-E041-4ECA-8410-7911E489A7F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89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E36759-8253-4524-F82F-39F968C7E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8A8CE35-F78F-A03D-AE71-9D490620AA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2F55C4D-5AFD-7EB8-BE6C-7CEF3A4F0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A1573-A290-4ECB-A067-8003E3B65E3C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96915CC-AD9B-DEFD-22AA-03EFCB2D8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4A11D6B-FD81-A950-04A8-A6393C250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3594C-E041-4ECA-8410-7911E489A7F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549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94D737E-F4A9-8390-2681-FA6C866806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BD434B-6D1D-3624-420C-B591B52EB4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9B2AAFA-9E6C-6E76-7954-18A9955DE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A1573-A290-4ECB-A067-8003E3B65E3C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DADABD7-18E3-EFE1-4C7A-843B5ED22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8F92108-ECA5-640B-D9DA-ECC0CF782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3594C-E041-4ECA-8410-7911E489A7F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640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5A2EE1D-F17C-FF0A-4D00-B509EB3E1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D880A5C-C028-A0DE-1C02-5781C22819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DE7CE41-6F0E-6830-FF3A-69510B97E5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5A1573-A290-4ECB-A067-8003E3B65E3C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0CC3D9A-B384-0A12-2920-4C3A86CB3F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7214E3C-C903-A0DA-9C1F-63E67CC3AC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23594C-E041-4ECA-8410-7911E489A7F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6168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0EBD4BB0-A941-F06D-1BC3-BC986C5D21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A26D3819-8427-ECFC-3EFF-0E82B68BB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89C0B770-FD61-05AF-F83C-CEC29EF007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1564" y="-11923"/>
            <a:ext cx="12233564" cy="6869923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67A0ADED-D619-8402-3125-3D3D79B537D7}"/>
              </a:ext>
            </a:extLst>
          </p:cNvPr>
          <p:cNvSpPr txBox="1"/>
          <p:nvPr/>
        </p:nvSpPr>
        <p:spPr>
          <a:xfrm>
            <a:off x="2418422" y="2179121"/>
            <a:ext cx="7313591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AR" sz="7200" b="1" dirty="0">
                <a:solidFill>
                  <a:schemeClr val="bg1"/>
                </a:solidFill>
                <a:latin typeface="Verdana" panose="020B0604030504040204" pitchFamily="34" charset="0"/>
              </a:rPr>
              <a:t>Clase 12:</a:t>
            </a:r>
          </a:p>
          <a:p>
            <a:pPr algn="ctr"/>
            <a:r>
              <a:rPr lang="es-AR" sz="7200" b="1" dirty="0">
                <a:solidFill>
                  <a:schemeClr val="bg1"/>
                </a:solidFill>
                <a:latin typeface="Verdana" panose="020B0604030504040204" pitchFamily="34" charset="0"/>
              </a:rPr>
              <a:t>Estructuras II</a:t>
            </a:r>
            <a:endParaRPr lang="es-ES" sz="7200" b="1" dirty="0">
              <a:solidFill>
                <a:schemeClr val="bg1"/>
              </a:solidFill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15571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E9923F-641F-F8B8-5D4E-B7BC18464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8255" y="403513"/>
            <a:ext cx="10086109" cy="757093"/>
          </a:xfrm>
        </p:spPr>
        <p:txBody>
          <a:bodyPr>
            <a:normAutofit/>
          </a:bodyPr>
          <a:lstStyle/>
          <a:p>
            <a:pPr algn="ctr"/>
            <a:r>
              <a:rPr lang="es-ES" sz="3600" b="1" i="0" u="none" strike="noStrike" dirty="0">
                <a:solidFill>
                  <a:srgbClr val="B00055"/>
                </a:solidFill>
                <a:effectLst/>
                <a:latin typeface="Verdana" panose="020B0604030504040204" pitchFamily="34" charset="0"/>
              </a:rPr>
              <a:t>Índice</a:t>
            </a:r>
            <a:endParaRPr lang="en-US" sz="3600" dirty="0"/>
          </a:p>
        </p:txBody>
      </p:sp>
      <p:pic>
        <p:nvPicPr>
          <p:cNvPr id="4" name="Picture 6" descr="una niña está sentada en el suelo y pensando mientras trabaja en una  computadora portátil. ilustraciones de diseño de vectores de estilo  dibujado a mano. 2228520 Vector en Vecteezy">
            <a:extLst>
              <a:ext uri="{FF2B5EF4-FFF2-40B4-BE49-F238E27FC236}">
                <a16:creationId xmlns:a16="http://schemas.microsoft.com/office/drawing/2014/main" id="{FE4EF195-2B6F-5986-7A35-D245008A13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2541" y="2997950"/>
            <a:ext cx="4021776" cy="3860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81AEC977-A48D-33B0-45E4-F95A4D7535EE}"/>
              </a:ext>
            </a:extLst>
          </p:cNvPr>
          <p:cNvSpPr txBox="1">
            <a:spLocks/>
          </p:cNvSpPr>
          <p:nvPr/>
        </p:nvSpPr>
        <p:spPr>
          <a:xfrm>
            <a:off x="8152541" y="1160605"/>
            <a:ext cx="3526971" cy="19091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/>
            </a:pPr>
            <a:endParaRPr lang="es-AR" sz="2400" dirty="0">
              <a:solidFill>
                <a:srgbClr val="595959"/>
              </a:solidFill>
              <a:latin typeface="Saira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4A0AE61-C9B7-6AEA-BFB5-35781D4E551F}"/>
              </a:ext>
            </a:extLst>
          </p:cNvPr>
          <p:cNvSpPr txBox="1"/>
          <p:nvPr/>
        </p:nvSpPr>
        <p:spPr>
          <a:xfrm>
            <a:off x="605407" y="1535893"/>
            <a:ext cx="4678748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kumimoji="0" lang="es-AR" sz="3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highlight>
                  <a:srgbClr val="FFFF00"/>
                </a:highlight>
                <a:uLnTx/>
                <a:uFillTx/>
                <a:latin typeface="Saira"/>
                <a:ea typeface="+mn-ea"/>
                <a:cs typeface="+mn-cs"/>
              </a:rPr>
              <a:t>Bucles - </a:t>
            </a:r>
            <a:r>
              <a:rPr kumimoji="0" lang="es-AR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595959"/>
                </a:solidFill>
                <a:effectLst/>
                <a:highlight>
                  <a:srgbClr val="FFFF00"/>
                </a:highlight>
                <a:uLnTx/>
                <a:uFillTx/>
                <a:latin typeface="Saira"/>
                <a:ea typeface="+mn-ea"/>
                <a:cs typeface="+mn-cs"/>
              </a:rPr>
              <a:t>While</a:t>
            </a:r>
            <a:r>
              <a:rPr kumimoji="0" lang="es-AR" sz="3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highlight>
                  <a:srgbClr val="FFFF00"/>
                </a:highlight>
                <a:uLnTx/>
                <a:uFillTx/>
                <a:latin typeface="Saira"/>
                <a:ea typeface="+mn-ea"/>
                <a:cs typeface="+mn-cs"/>
              </a:rPr>
              <a:t> y Do </a:t>
            </a:r>
            <a:r>
              <a:rPr kumimoji="0" lang="es-AR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595959"/>
                </a:solidFill>
                <a:effectLst/>
                <a:highlight>
                  <a:srgbClr val="FFFF00"/>
                </a:highlight>
                <a:uLnTx/>
                <a:uFillTx/>
                <a:latin typeface="Saira"/>
                <a:ea typeface="+mn-ea"/>
                <a:cs typeface="+mn-cs"/>
              </a:rPr>
              <a:t>while</a:t>
            </a:r>
            <a:r>
              <a:rPr kumimoji="0" lang="es-AR" sz="3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highlight>
                  <a:srgbClr val="FFFF00"/>
                </a:highlight>
                <a:uLnTx/>
                <a:uFillTx/>
                <a:latin typeface="Saira"/>
                <a:ea typeface="+mn-ea"/>
                <a:cs typeface="+mn-cs"/>
              </a:rPr>
              <a:t>: 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kumimoji="0" lang="es-AR" sz="3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Saira"/>
                <a:ea typeface="+mn-ea"/>
                <a:cs typeface="+mn-cs"/>
              </a:rPr>
              <a:t>Concepto. 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kumimoji="0" lang="es-AR" sz="3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Saira"/>
                <a:ea typeface="+mn-ea"/>
                <a:cs typeface="+mn-cs"/>
              </a:rPr>
              <a:t>Estructura básica. 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kumimoji="0" lang="es-AR" sz="3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Saira"/>
                <a:ea typeface="+mn-ea"/>
                <a:cs typeface="+mn-cs"/>
              </a:rPr>
              <a:t>Ejemplo en código</a:t>
            </a:r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endParaRPr lang="es-AR" sz="3200" dirty="0">
              <a:solidFill>
                <a:srgbClr val="595959"/>
              </a:solidFill>
              <a:latin typeface="Saira"/>
            </a:endParaRPr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kumimoji="0" lang="es-AR" sz="3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highlight>
                  <a:srgbClr val="FFFF00"/>
                </a:highlight>
                <a:uLnTx/>
                <a:uFillTx/>
                <a:latin typeface="Saira"/>
                <a:ea typeface="+mn-ea"/>
                <a:cs typeface="+mn-cs"/>
              </a:rPr>
              <a:t>Arrays: 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kumimoji="0" lang="es-AR" sz="3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Saira"/>
                <a:ea typeface="+mn-ea"/>
                <a:cs typeface="+mn-cs"/>
              </a:rPr>
              <a:t>Concepto. 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kumimoji="0" lang="es-AR" sz="3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Saira"/>
                <a:ea typeface="+mn-ea"/>
                <a:cs typeface="+mn-cs"/>
              </a:rPr>
              <a:t>Estructura básica. 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kumimoji="0" lang="es-AR" sz="3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Saira"/>
                <a:ea typeface="+mn-ea"/>
                <a:cs typeface="+mn-cs"/>
              </a:rPr>
              <a:t>Ejemplo en código</a:t>
            </a:r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endParaRPr lang="es-AR" sz="3200" dirty="0">
              <a:solidFill>
                <a:srgbClr val="595959"/>
              </a:solidFill>
              <a:latin typeface="Saira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95F30D6-6B6B-8AE4-FFF5-CD9D5340376E}"/>
              </a:ext>
            </a:extLst>
          </p:cNvPr>
          <p:cNvSpPr txBox="1"/>
          <p:nvPr/>
        </p:nvSpPr>
        <p:spPr>
          <a:xfrm>
            <a:off x="5640415" y="1535893"/>
            <a:ext cx="609501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kumimoji="0" lang="es-AR" sz="3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highlight>
                  <a:srgbClr val="FFFF00"/>
                </a:highlight>
                <a:uLnTx/>
                <a:uFillTx/>
                <a:latin typeface="Saira"/>
                <a:ea typeface="+mn-ea"/>
                <a:cs typeface="+mn-cs"/>
              </a:rPr>
              <a:t>Matrices: </a:t>
            </a: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kumimoji="0" lang="es-AR" sz="3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Saira"/>
                <a:ea typeface="+mn-ea"/>
                <a:cs typeface="+mn-cs"/>
              </a:rPr>
              <a:t>Concepto. </a:t>
            </a: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kumimoji="0" lang="es-AR" sz="3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Saira"/>
                <a:ea typeface="+mn-ea"/>
                <a:cs typeface="+mn-cs"/>
              </a:rPr>
              <a:t>Estructura básica. </a:t>
            </a: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kumimoji="0" lang="es-AR" sz="3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Saira"/>
                <a:ea typeface="+mn-ea"/>
                <a:cs typeface="+mn-cs"/>
              </a:rPr>
              <a:t>Ejemplo en código</a:t>
            </a:r>
            <a:endParaRPr lang="es-AR" sz="3200" dirty="0"/>
          </a:p>
        </p:txBody>
      </p:sp>
    </p:spTree>
    <p:extLst>
      <p:ext uri="{BB962C8B-B14F-4D97-AF65-F5344CB8AC3E}">
        <p14:creationId xmlns:p14="http://schemas.microsoft.com/office/powerpoint/2010/main" val="21121571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0EBD4BB0-A941-F06D-1BC3-BC986C5D21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A26D3819-8427-ECFC-3EFF-0E82B68BB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89C0B770-FD61-05AF-F83C-CEC29EF007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09"/>
            <a:ext cx="12192000" cy="6846582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67A0ADED-D619-8402-3125-3D3D79B537D7}"/>
              </a:ext>
            </a:extLst>
          </p:cNvPr>
          <p:cNvSpPr txBox="1"/>
          <p:nvPr/>
        </p:nvSpPr>
        <p:spPr>
          <a:xfrm>
            <a:off x="2723408" y="2802578"/>
            <a:ext cx="722019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5400" b="1" dirty="0" err="1">
                <a:solidFill>
                  <a:schemeClr val="bg1"/>
                </a:solidFill>
                <a:latin typeface="Verdana" panose="020B0604030504040204" pitchFamily="34" charset="0"/>
              </a:rPr>
              <a:t>While</a:t>
            </a:r>
            <a:r>
              <a:rPr lang="es-ES" sz="5400" b="1" dirty="0">
                <a:solidFill>
                  <a:schemeClr val="bg1"/>
                </a:solidFill>
                <a:latin typeface="Verdana" panose="020B0604030504040204" pitchFamily="34" charset="0"/>
              </a:rPr>
              <a:t> y Do </a:t>
            </a:r>
            <a:r>
              <a:rPr lang="es-ES" sz="5400" b="1" dirty="0" err="1">
                <a:solidFill>
                  <a:schemeClr val="bg1"/>
                </a:solidFill>
                <a:latin typeface="Verdana" panose="020B0604030504040204" pitchFamily="34" charset="0"/>
              </a:rPr>
              <a:t>While</a:t>
            </a:r>
            <a:endParaRPr lang="es-ES" sz="5400" b="1" dirty="0">
              <a:solidFill>
                <a:schemeClr val="bg1"/>
              </a:solidFill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21694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E2EEF8A5-14B7-DEBB-4B7E-E5434E3293F2}"/>
              </a:ext>
            </a:extLst>
          </p:cNvPr>
          <p:cNvSpPr txBox="1">
            <a:spLocks/>
          </p:cNvSpPr>
          <p:nvPr/>
        </p:nvSpPr>
        <p:spPr>
          <a:xfrm>
            <a:off x="2298861" y="266596"/>
            <a:ext cx="7735787" cy="7540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 err="1">
                <a:solidFill>
                  <a:srgbClr val="B00055"/>
                </a:solidFill>
                <a:latin typeface="Verdana" panose="020B0604030504040204" pitchFamily="34" charset="0"/>
              </a:rPr>
              <a:t>Bucles</a:t>
            </a:r>
            <a:r>
              <a:rPr lang="en-US" sz="3200" b="1" dirty="0">
                <a:solidFill>
                  <a:srgbClr val="B00055"/>
                </a:solidFill>
                <a:latin typeface="Verdana" panose="020B0604030504040204" pitchFamily="34" charset="0"/>
              </a:rPr>
              <a:t> y </a:t>
            </a:r>
            <a:r>
              <a:rPr lang="en-US" sz="3200" b="1" dirty="0" err="1">
                <a:solidFill>
                  <a:srgbClr val="B00055"/>
                </a:solidFill>
                <a:latin typeface="Verdana" panose="020B0604030504040204" pitchFamily="34" charset="0"/>
              </a:rPr>
              <a:t>Ciclos</a:t>
            </a:r>
            <a:endParaRPr lang="es-AR" sz="3200" b="1" dirty="0">
              <a:solidFill>
                <a:srgbClr val="B00055"/>
              </a:solidFill>
              <a:latin typeface="Verdana" panose="020B0604030504040204" pitchFamily="34" charset="0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F5566419-36B6-0E3D-350E-EE31BFCE60BD}"/>
              </a:ext>
            </a:extLst>
          </p:cNvPr>
          <p:cNvSpPr txBox="1">
            <a:spLocks/>
          </p:cNvSpPr>
          <p:nvPr/>
        </p:nvSpPr>
        <p:spPr>
          <a:xfrm>
            <a:off x="4276603" y="959480"/>
            <a:ext cx="3638794" cy="66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2400" b="1" dirty="0" err="1">
                <a:solidFill>
                  <a:schemeClr val="accent2"/>
                </a:solidFill>
                <a:latin typeface="Verdana" panose="020B0604030504040204" pitchFamily="34" charset="0"/>
              </a:rPr>
              <a:t>While</a:t>
            </a:r>
            <a:r>
              <a:rPr lang="es-ES" sz="2400" b="1" dirty="0">
                <a:solidFill>
                  <a:schemeClr val="accent2"/>
                </a:solidFill>
                <a:latin typeface="Verdana" panose="020B0604030504040204" pitchFamily="34" charset="0"/>
              </a:rPr>
              <a:t> y Do </a:t>
            </a:r>
            <a:r>
              <a:rPr lang="es-ES" sz="2400" b="1" dirty="0" err="1">
                <a:solidFill>
                  <a:schemeClr val="accent2"/>
                </a:solidFill>
                <a:latin typeface="Verdana" panose="020B0604030504040204" pitchFamily="34" charset="0"/>
              </a:rPr>
              <a:t>While</a:t>
            </a:r>
            <a:endParaRPr lang="es-ES" sz="2400" b="1" dirty="0">
              <a:solidFill>
                <a:schemeClr val="accent2"/>
              </a:solidFill>
              <a:latin typeface="Verdana" panose="020B060403050404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65EFDA4-4CA0-DECA-D66D-E5F5D64018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213" y="1713564"/>
            <a:ext cx="9953501" cy="4858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1147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B6E3E077-27AA-7EC0-69FD-00383C59CA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007" y="504702"/>
            <a:ext cx="11230264" cy="6076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6753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B08416E-720B-60A2-F450-BBD646014E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213" y="371776"/>
            <a:ext cx="10414483" cy="6207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1016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3CC08C7A-7866-3ACC-BF2B-F897C42268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08" y="777834"/>
            <a:ext cx="11576732" cy="5800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5541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1BF0A85-1689-2A36-39C8-355A809900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597" y="427513"/>
            <a:ext cx="10925498" cy="6188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8205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E2EEF8A5-14B7-DEBB-4B7E-E5434E3293F2}"/>
              </a:ext>
            </a:extLst>
          </p:cNvPr>
          <p:cNvSpPr txBox="1">
            <a:spLocks/>
          </p:cNvSpPr>
          <p:nvPr/>
        </p:nvSpPr>
        <p:spPr>
          <a:xfrm>
            <a:off x="2298861" y="474414"/>
            <a:ext cx="7735787" cy="7540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 err="1">
                <a:solidFill>
                  <a:srgbClr val="B00055"/>
                </a:solidFill>
                <a:latin typeface="Verdana" panose="020B0604030504040204" pitchFamily="34" charset="0"/>
              </a:rPr>
              <a:t>Bucles</a:t>
            </a:r>
            <a:r>
              <a:rPr lang="en-US" sz="3200" b="1" dirty="0">
                <a:solidFill>
                  <a:srgbClr val="B00055"/>
                </a:solidFill>
                <a:latin typeface="Verdana" panose="020B0604030504040204" pitchFamily="34" charset="0"/>
              </a:rPr>
              <a:t> y </a:t>
            </a:r>
            <a:r>
              <a:rPr lang="en-US" sz="3200" b="1" dirty="0" err="1">
                <a:solidFill>
                  <a:srgbClr val="B00055"/>
                </a:solidFill>
                <a:latin typeface="Verdana" panose="020B0604030504040204" pitchFamily="34" charset="0"/>
              </a:rPr>
              <a:t>Ciclos</a:t>
            </a:r>
            <a:endParaRPr lang="es-AR" sz="3200" b="1" dirty="0">
              <a:solidFill>
                <a:srgbClr val="B00055"/>
              </a:solidFill>
              <a:latin typeface="Verdana" panose="020B0604030504040204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9118AB9-BCC6-FA48-3A0B-488D048CB6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205" y="1313835"/>
            <a:ext cx="10597737" cy="514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551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C165B9D0-A9F3-558C-E54A-4E5627009E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327" y="357204"/>
            <a:ext cx="10479345" cy="6143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887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0A550294-5B62-4820-8F48-A6DFC990EB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149" y="632508"/>
            <a:ext cx="10623107" cy="6225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13538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8828418F-2E26-7860-D9D9-711943E2C5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395" y="524760"/>
            <a:ext cx="10859209" cy="6333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1634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uadroTexto 10">
            <a:extLst>
              <a:ext uri="{FF2B5EF4-FFF2-40B4-BE49-F238E27FC236}">
                <a16:creationId xmlns:a16="http://schemas.microsoft.com/office/drawing/2014/main" id="{67A0ADED-D619-8402-3125-3D3D79B537D7}"/>
              </a:ext>
            </a:extLst>
          </p:cNvPr>
          <p:cNvSpPr txBox="1"/>
          <p:nvPr/>
        </p:nvSpPr>
        <p:spPr>
          <a:xfrm>
            <a:off x="1603169" y="678990"/>
            <a:ext cx="942900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5400" b="1" dirty="0">
                <a:solidFill>
                  <a:srgbClr val="91215E"/>
                </a:solidFill>
                <a:latin typeface="Verdana" panose="020B0604030504040204" pitchFamily="34" charset="0"/>
              </a:rPr>
              <a:t>Veamos mas Ejemplos de </a:t>
            </a:r>
            <a:r>
              <a:rPr lang="es-ES" sz="5400" b="1" dirty="0" err="1">
                <a:solidFill>
                  <a:srgbClr val="91215E"/>
                </a:solidFill>
                <a:latin typeface="Verdana" panose="020B0604030504040204" pitchFamily="34" charset="0"/>
              </a:rPr>
              <a:t>While</a:t>
            </a:r>
            <a:r>
              <a:rPr lang="es-ES" sz="5400" b="1" dirty="0">
                <a:solidFill>
                  <a:srgbClr val="91215E"/>
                </a:solidFill>
                <a:latin typeface="Verdana" panose="020B0604030504040204" pitchFamily="34" charset="0"/>
              </a:rPr>
              <a:t> y Do </a:t>
            </a:r>
            <a:r>
              <a:rPr lang="es-ES" sz="5400" b="1" dirty="0" err="1">
                <a:solidFill>
                  <a:srgbClr val="91215E"/>
                </a:solidFill>
                <a:latin typeface="Verdana" panose="020B0604030504040204" pitchFamily="34" charset="0"/>
              </a:rPr>
              <a:t>While</a:t>
            </a:r>
            <a:r>
              <a:rPr lang="es-ES" sz="5400" b="1" dirty="0">
                <a:solidFill>
                  <a:srgbClr val="91215E"/>
                </a:solidFill>
                <a:latin typeface="Verdana" panose="020B0604030504040204" pitchFamily="34" charset="0"/>
              </a:rPr>
              <a:t> en VSC!</a:t>
            </a:r>
          </a:p>
        </p:txBody>
      </p:sp>
      <p:pic>
        <p:nvPicPr>
          <p:cNvPr id="4124" name="Picture 28" descr="Mujer que trabaja en la ilustración de dibujos animados de la computadora  portátil | Vector Premium">
            <a:extLst>
              <a:ext uri="{FF2B5EF4-FFF2-40B4-BE49-F238E27FC236}">
                <a16:creationId xmlns:a16="http://schemas.microsoft.com/office/drawing/2014/main" id="{24C50E11-34A9-B0CE-786E-E0A24BE4F18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86" t="16190" r="4897" b="15238"/>
          <a:stretch/>
        </p:blipFill>
        <p:spPr bwMode="auto">
          <a:xfrm>
            <a:off x="5379521" y="3651663"/>
            <a:ext cx="3746666" cy="2862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26" name="Picture 30" descr="Logotipo completo de Visual Studio Code PNG transparente - StickPNG">
            <a:extLst>
              <a:ext uri="{FF2B5EF4-FFF2-40B4-BE49-F238E27FC236}">
                <a16:creationId xmlns:a16="http://schemas.microsoft.com/office/drawing/2014/main" id="{F9D99922-F17C-C91A-5F1F-15083D4F5E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483747">
            <a:off x="2130507" y="3701330"/>
            <a:ext cx="2990850" cy="1533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Conector: curvado 5">
            <a:extLst>
              <a:ext uri="{FF2B5EF4-FFF2-40B4-BE49-F238E27FC236}">
                <a16:creationId xmlns:a16="http://schemas.microsoft.com/office/drawing/2014/main" id="{4E257728-A20B-9A42-6E76-D789467CAC36}"/>
              </a:ext>
            </a:extLst>
          </p:cNvPr>
          <p:cNvCxnSpPr>
            <a:stCxn id="4126" idx="2"/>
          </p:cNvCxnSpPr>
          <p:nvPr/>
        </p:nvCxnSpPr>
        <p:spPr>
          <a:xfrm rot="16200000" flipH="1">
            <a:off x="4340650" y="4724689"/>
            <a:ext cx="477084" cy="1417281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72583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0EBD4BB0-A941-F06D-1BC3-BC986C5D21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A26D3819-8427-ECFC-3EFF-0E82B68BB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89C0B770-FD61-05AF-F83C-CEC29EF007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09"/>
            <a:ext cx="12192000" cy="6846582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67A0ADED-D619-8402-3125-3D3D79B537D7}"/>
              </a:ext>
            </a:extLst>
          </p:cNvPr>
          <p:cNvSpPr txBox="1"/>
          <p:nvPr/>
        </p:nvSpPr>
        <p:spPr>
          <a:xfrm>
            <a:off x="2723408" y="2802578"/>
            <a:ext cx="722019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5400" b="1" dirty="0" err="1">
                <a:solidFill>
                  <a:schemeClr val="bg1"/>
                </a:solidFill>
                <a:latin typeface="Verdana" panose="020B0604030504040204" pitchFamily="34" charset="0"/>
              </a:rPr>
              <a:t>Arrays</a:t>
            </a:r>
            <a:endParaRPr lang="es-ES" sz="5400" b="1" dirty="0">
              <a:solidFill>
                <a:schemeClr val="bg1"/>
              </a:solidFill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81325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E2EEF8A5-14B7-DEBB-4B7E-E5434E3293F2}"/>
              </a:ext>
            </a:extLst>
          </p:cNvPr>
          <p:cNvSpPr txBox="1">
            <a:spLocks/>
          </p:cNvSpPr>
          <p:nvPr/>
        </p:nvSpPr>
        <p:spPr>
          <a:xfrm>
            <a:off x="3480953" y="380381"/>
            <a:ext cx="5668985" cy="11755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3200" b="1" dirty="0" err="1">
                <a:solidFill>
                  <a:srgbClr val="B00055"/>
                </a:solidFill>
                <a:latin typeface="Verdana" panose="020B0604030504040204" pitchFamily="34" charset="0"/>
              </a:rPr>
              <a:t>Arrays</a:t>
            </a:r>
            <a:r>
              <a:rPr lang="es-ES" sz="3200" b="1" dirty="0">
                <a:solidFill>
                  <a:srgbClr val="B00055"/>
                </a:solidFill>
                <a:latin typeface="Verdana" panose="020B0604030504040204" pitchFamily="34" charset="0"/>
              </a:rPr>
              <a:t>… ¿Qué son?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1232661-F6CA-60B5-6445-7322413255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712" y="1472763"/>
            <a:ext cx="9793184" cy="4906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3319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51237B2-53B3-FC3E-F9FD-6D88A4515E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831" y="508051"/>
            <a:ext cx="11176659" cy="6020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31167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3F4185B6-D428-B184-FA1A-F399422128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555" y="409699"/>
            <a:ext cx="10980890" cy="6179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4183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C69EF2A-512D-1FAD-263B-B72AF6D4C5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945" y="515967"/>
            <a:ext cx="10959935" cy="6053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643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0006B468-0BDB-587D-08F0-9338DB78EB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270" y="1031951"/>
            <a:ext cx="10719460" cy="5214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9532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uadroTexto 10">
            <a:extLst>
              <a:ext uri="{FF2B5EF4-FFF2-40B4-BE49-F238E27FC236}">
                <a16:creationId xmlns:a16="http://schemas.microsoft.com/office/drawing/2014/main" id="{67A0ADED-D619-8402-3125-3D3D79B537D7}"/>
              </a:ext>
            </a:extLst>
          </p:cNvPr>
          <p:cNvSpPr txBox="1"/>
          <p:nvPr/>
        </p:nvSpPr>
        <p:spPr>
          <a:xfrm>
            <a:off x="2331523" y="1239614"/>
            <a:ext cx="752895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5400" b="1" dirty="0">
                <a:solidFill>
                  <a:srgbClr val="91215E"/>
                </a:solidFill>
                <a:latin typeface="Verdana" panose="020B0604030504040204" pitchFamily="34" charset="0"/>
              </a:rPr>
              <a:t>Veamos un Ejemplo en VSC!</a:t>
            </a:r>
          </a:p>
        </p:txBody>
      </p:sp>
      <p:pic>
        <p:nvPicPr>
          <p:cNvPr id="4126" name="Picture 30" descr="Logotipo completo de Visual Studio Code PNG transparente - StickPNG">
            <a:extLst>
              <a:ext uri="{FF2B5EF4-FFF2-40B4-BE49-F238E27FC236}">
                <a16:creationId xmlns:a16="http://schemas.microsoft.com/office/drawing/2014/main" id="{F9D99922-F17C-C91A-5F1F-15083D4F5E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483747">
            <a:off x="2130507" y="3701330"/>
            <a:ext cx="2990850" cy="1533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Conector: curvado 5">
            <a:extLst>
              <a:ext uri="{FF2B5EF4-FFF2-40B4-BE49-F238E27FC236}">
                <a16:creationId xmlns:a16="http://schemas.microsoft.com/office/drawing/2014/main" id="{4E257728-A20B-9A42-6E76-D789467CAC36}"/>
              </a:ext>
            </a:extLst>
          </p:cNvPr>
          <p:cNvCxnSpPr>
            <a:stCxn id="4126" idx="2"/>
          </p:cNvCxnSpPr>
          <p:nvPr/>
        </p:nvCxnSpPr>
        <p:spPr>
          <a:xfrm rot="16200000" flipH="1">
            <a:off x="4340650" y="4724689"/>
            <a:ext cx="477084" cy="1417281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pic>
        <p:nvPicPr>
          <p:cNvPr id="14338" name="Picture 2" descr="Imágenes de Mujer Computador Dibujo - Descarga gratuita en Freepik">
            <a:extLst>
              <a:ext uri="{FF2B5EF4-FFF2-40B4-BE49-F238E27FC236}">
                <a16:creationId xmlns:a16="http://schemas.microsoft.com/office/drawing/2014/main" id="{CD4382F9-24D5-422E-98B4-79D19720E28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56" t="13513" r="6598" b="11705"/>
          <a:stretch/>
        </p:blipFill>
        <p:spPr bwMode="auto">
          <a:xfrm>
            <a:off x="5287833" y="3314660"/>
            <a:ext cx="3621974" cy="3241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74010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0EBD4BB0-A941-F06D-1BC3-BC986C5D21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A26D3819-8427-ECFC-3EFF-0E82B68BB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89C0B770-FD61-05AF-F83C-CEC29EF007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09"/>
            <a:ext cx="12192000" cy="6846582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67A0ADED-D619-8402-3125-3D3D79B537D7}"/>
              </a:ext>
            </a:extLst>
          </p:cNvPr>
          <p:cNvSpPr txBox="1"/>
          <p:nvPr/>
        </p:nvSpPr>
        <p:spPr>
          <a:xfrm>
            <a:off x="2723408" y="2802578"/>
            <a:ext cx="722019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5400" b="1" dirty="0">
                <a:solidFill>
                  <a:schemeClr val="bg1"/>
                </a:solidFill>
                <a:latin typeface="Verdana" panose="020B0604030504040204" pitchFamily="34" charset="0"/>
              </a:rPr>
              <a:t>Matrices</a:t>
            </a:r>
          </a:p>
        </p:txBody>
      </p:sp>
    </p:spTree>
    <p:extLst>
      <p:ext uri="{BB962C8B-B14F-4D97-AF65-F5344CB8AC3E}">
        <p14:creationId xmlns:p14="http://schemas.microsoft.com/office/powerpoint/2010/main" val="39648863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E2EEF8A5-14B7-DEBB-4B7E-E5434E3293F2}"/>
              </a:ext>
            </a:extLst>
          </p:cNvPr>
          <p:cNvSpPr txBox="1">
            <a:spLocks/>
          </p:cNvSpPr>
          <p:nvPr/>
        </p:nvSpPr>
        <p:spPr>
          <a:xfrm>
            <a:off x="2298861" y="266596"/>
            <a:ext cx="7735787" cy="7540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3200" b="1" dirty="0">
                <a:solidFill>
                  <a:srgbClr val="B00055"/>
                </a:solidFill>
                <a:latin typeface="Verdana" panose="020B0604030504040204" pitchFamily="34" charset="0"/>
              </a:rPr>
              <a:t>Matriz</a:t>
            </a:r>
          </a:p>
        </p:txBody>
      </p:sp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38E4A167-08A5-3479-9422-1E6A6083E5B9}"/>
              </a:ext>
            </a:extLst>
          </p:cNvPr>
          <p:cNvSpPr txBox="1">
            <a:spLocks/>
          </p:cNvSpPr>
          <p:nvPr/>
        </p:nvSpPr>
        <p:spPr>
          <a:xfrm>
            <a:off x="333494" y="1225804"/>
            <a:ext cx="6340437" cy="53656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</a:pPr>
            <a:r>
              <a:rPr lang="es-AR" b="0" i="0" u="none" strike="noStrike" dirty="0">
                <a:solidFill>
                  <a:srgbClr val="434343"/>
                </a:solidFill>
                <a:effectLst/>
                <a:latin typeface="Open Sans" panose="020B0606030504020204" pitchFamily="34" charset="0"/>
              </a:rPr>
              <a:t>En programación la “</a:t>
            </a:r>
            <a:r>
              <a:rPr lang="es-AR" b="0" i="0" u="none" strike="noStrike" dirty="0">
                <a:solidFill>
                  <a:srgbClr val="434343"/>
                </a:solidFill>
                <a:effectLst/>
                <a:highlight>
                  <a:srgbClr val="FFFF00"/>
                </a:highlight>
                <a:latin typeface="Open Sans" panose="020B0606030504020204" pitchFamily="34" charset="0"/>
              </a:rPr>
              <a:t>Matriz</a:t>
            </a:r>
            <a:r>
              <a:rPr lang="es-AR" b="0" i="0" u="none" strike="noStrike" dirty="0">
                <a:solidFill>
                  <a:srgbClr val="434343"/>
                </a:solidFill>
                <a:effectLst/>
                <a:latin typeface="Open Sans" panose="020B0606030504020204" pitchFamily="34" charset="0"/>
              </a:rPr>
              <a:t>” es una </a:t>
            </a:r>
            <a:r>
              <a:rPr lang="es-AR" b="0" i="0" u="sng" strike="noStrike" dirty="0">
                <a:solidFill>
                  <a:srgbClr val="434343"/>
                </a:solidFill>
                <a:effectLst/>
                <a:latin typeface="Open Sans" panose="020B0606030504020204" pitchFamily="34" charset="0"/>
              </a:rPr>
              <a:t>variable cuyo valor es un “array</a:t>
            </a:r>
            <a:r>
              <a:rPr lang="es-AR" b="0" i="0" u="none" strike="noStrike" dirty="0">
                <a:solidFill>
                  <a:srgbClr val="434343"/>
                </a:solidFill>
                <a:effectLst/>
                <a:latin typeface="Open Sans" panose="020B0606030504020204" pitchFamily="34" charset="0"/>
              </a:rPr>
              <a:t>”. Este array a su vez guarda otros Arrays, uno en cada </a:t>
            </a:r>
            <a:r>
              <a:rPr lang="es-AR" b="0" i="0" u="none" strike="noStrike" dirty="0" err="1">
                <a:solidFill>
                  <a:srgbClr val="434343"/>
                </a:solidFill>
                <a:effectLst/>
                <a:latin typeface="Open Sans" panose="020B0606030504020204" pitchFamily="34" charset="0"/>
              </a:rPr>
              <a:t>index</a:t>
            </a:r>
            <a:r>
              <a:rPr lang="es-AR" b="0" i="0" u="none" strike="noStrike" dirty="0">
                <a:solidFill>
                  <a:srgbClr val="434343"/>
                </a:solidFill>
                <a:effectLst/>
                <a:latin typeface="Open Sans" panose="020B0606030504020204" pitchFamily="34" charset="0"/>
              </a:rPr>
              <a:t>.</a:t>
            </a:r>
          </a:p>
          <a:p>
            <a:pPr>
              <a:spcBef>
                <a:spcPts val="600"/>
              </a:spcBef>
            </a:pPr>
            <a:endParaRPr lang="es-AR" sz="900" b="0" i="0" u="none" strike="noStrike" dirty="0">
              <a:solidFill>
                <a:srgbClr val="434343"/>
              </a:solidFill>
              <a:effectLst/>
              <a:latin typeface="Open Sans" panose="020B0606030504020204" pitchFamily="34" charset="0"/>
            </a:endParaRPr>
          </a:p>
          <a:p>
            <a:pPr>
              <a:spcBef>
                <a:spcPts val="600"/>
              </a:spcBef>
            </a:pPr>
            <a:r>
              <a:rPr lang="es-AR" dirty="0">
                <a:solidFill>
                  <a:srgbClr val="434343"/>
                </a:solidFill>
                <a:latin typeface="Open Sans" panose="020B0606030504020204" pitchFamily="34" charset="0"/>
              </a:rPr>
              <a:t>Ofrecen una </a:t>
            </a:r>
            <a:r>
              <a:rPr lang="es-AR" u="sng" dirty="0">
                <a:solidFill>
                  <a:srgbClr val="434343"/>
                </a:solidFill>
                <a:latin typeface="Open Sans" panose="020B0606030504020204" pitchFamily="34" charset="0"/>
              </a:rPr>
              <a:t>estructura compleja </a:t>
            </a:r>
            <a:r>
              <a:rPr lang="es-AR" dirty="0">
                <a:solidFill>
                  <a:srgbClr val="434343"/>
                </a:solidFill>
                <a:latin typeface="Open Sans" panose="020B0606030504020204" pitchFamily="34" charset="0"/>
              </a:rPr>
              <a:t>pero </a:t>
            </a:r>
            <a:r>
              <a:rPr lang="es-AR" u="sng" dirty="0">
                <a:solidFill>
                  <a:srgbClr val="434343"/>
                </a:solidFill>
                <a:latin typeface="Open Sans" panose="020B0606030504020204" pitchFamily="34" charset="0"/>
              </a:rPr>
              <a:t>escalable</a:t>
            </a:r>
            <a:r>
              <a:rPr lang="es-AR" dirty="0">
                <a:solidFill>
                  <a:srgbClr val="434343"/>
                </a:solidFill>
                <a:latin typeface="Open Sans" panose="020B0606030504020204" pitchFamily="34" charset="0"/>
              </a:rPr>
              <a:t> para almacenar información.</a:t>
            </a:r>
          </a:p>
          <a:p>
            <a:pPr>
              <a:spcBef>
                <a:spcPts val="600"/>
              </a:spcBef>
            </a:pPr>
            <a:endParaRPr lang="es-AR" sz="900" dirty="0">
              <a:solidFill>
                <a:srgbClr val="434343"/>
              </a:solidFill>
              <a:latin typeface="Open Sans" panose="020B0606030504020204" pitchFamily="34" charset="0"/>
            </a:endParaRPr>
          </a:p>
          <a:p>
            <a:pPr>
              <a:spcBef>
                <a:spcPts val="600"/>
              </a:spcBef>
            </a:pPr>
            <a:r>
              <a:rPr lang="es-AR" b="0" i="0" u="none" strike="noStrike" dirty="0">
                <a:solidFill>
                  <a:srgbClr val="434343"/>
                </a:solidFill>
                <a:effectLst/>
                <a:latin typeface="Open Sans" panose="020B0606030504020204" pitchFamily="34" charset="0"/>
              </a:rPr>
              <a:t>Las podemos encontrar en aplicaciones que nec</a:t>
            </a:r>
            <a:r>
              <a:rPr lang="es-AR" dirty="0">
                <a:solidFill>
                  <a:srgbClr val="434343"/>
                </a:solidFill>
                <a:latin typeface="Open Sans" panose="020B0606030504020204" pitchFamily="34" charset="0"/>
              </a:rPr>
              <a:t>esiten </a:t>
            </a:r>
            <a:r>
              <a:rPr lang="es-AR" dirty="0">
                <a:solidFill>
                  <a:srgbClr val="434343"/>
                </a:solidFill>
                <a:highlight>
                  <a:srgbClr val="FFFF00"/>
                </a:highlight>
                <a:latin typeface="Open Sans" panose="020B0606030504020204" pitchFamily="34" charset="0"/>
              </a:rPr>
              <a:t>mantener información cruzada, pero dentro de un mismo contexto</a:t>
            </a:r>
            <a:r>
              <a:rPr lang="es-AR" dirty="0">
                <a:solidFill>
                  <a:srgbClr val="434343"/>
                </a:solidFill>
                <a:latin typeface="Open Sans" panose="020B0606030504020204" pitchFamily="34" charset="0"/>
              </a:rPr>
              <a:t> (desde algoritmos de búsqueda, circuitos electrónicos o procesamiento de imágenes)</a:t>
            </a:r>
            <a:endParaRPr lang="es-AR" b="0" i="0" u="none" strike="noStrike" dirty="0">
              <a:solidFill>
                <a:srgbClr val="434343"/>
              </a:solidFill>
              <a:effectLst/>
              <a:latin typeface="Open Sans" panose="020B0606030504020204" pitchFamily="34" charset="0"/>
            </a:endParaRPr>
          </a:p>
        </p:txBody>
      </p:sp>
      <p:pic>
        <p:nvPicPr>
          <p:cNvPr id="1026" name="Picture 2" descr="▷ Que es una MATRIZ en Programación">
            <a:extLst>
              <a:ext uri="{FF2B5EF4-FFF2-40B4-BE49-F238E27FC236}">
                <a16:creationId xmlns:a16="http://schemas.microsoft.com/office/drawing/2014/main" id="{2A61FB01-36BB-F257-7A43-2620499ABB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7382" y="2533897"/>
            <a:ext cx="4561857" cy="2554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81084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E2EEF8A5-14B7-DEBB-4B7E-E5434E3293F2}"/>
              </a:ext>
            </a:extLst>
          </p:cNvPr>
          <p:cNvSpPr txBox="1">
            <a:spLocks/>
          </p:cNvSpPr>
          <p:nvPr/>
        </p:nvSpPr>
        <p:spPr>
          <a:xfrm>
            <a:off x="2298861" y="266596"/>
            <a:ext cx="7735787" cy="7540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3200" b="1" dirty="0">
                <a:solidFill>
                  <a:srgbClr val="B00055"/>
                </a:solidFill>
                <a:latin typeface="Verdana" panose="020B0604030504040204" pitchFamily="34" charset="0"/>
              </a:rPr>
              <a:t>Matriz</a:t>
            </a:r>
          </a:p>
        </p:txBody>
      </p:sp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38E4A167-08A5-3479-9422-1E6A6083E5B9}"/>
              </a:ext>
            </a:extLst>
          </p:cNvPr>
          <p:cNvSpPr txBox="1">
            <a:spLocks/>
          </p:cNvSpPr>
          <p:nvPr/>
        </p:nvSpPr>
        <p:spPr>
          <a:xfrm>
            <a:off x="309745" y="1083300"/>
            <a:ext cx="11286510" cy="19389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n-US" b="1" i="0" u="none" strike="noStrike" dirty="0" err="1">
                <a:solidFill>
                  <a:schemeClr val="accent2"/>
                </a:solidFill>
                <a:effectLst/>
                <a:latin typeface="Open Sans" panose="020B0606030504020204" pitchFamily="34" charset="0"/>
              </a:rPr>
              <a:t>Ejemplo</a:t>
            </a:r>
            <a:r>
              <a:rPr lang="en-US" b="1" i="0" u="none" strike="noStrike" dirty="0">
                <a:solidFill>
                  <a:schemeClr val="accent2"/>
                </a:solidFill>
                <a:effectLst/>
                <a:latin typeface="Open Sans" panose="020B0606030504020204" pitchFamily="34" charset="0"/>
              </a:rPr>
              <a:t> de </a:t>
            </a:r>
            <a:r>
              <a:rPr lang="en-US" b="1" i="0" u="none" strike="noStrike" dirty="0" err="1">
                <a:solidFill>
                  <a:schemeClr val="accent2"/>
                </a:solidFill>
                <a:effectLst/>
                <a:latin typeface="Open Sans" panose="020B0606030504020204" pitchFamily="34" charset="0"/>
              </a:rPr>
              <a:t>Matriz</a:t>
            </a:r>
            <a:r>
              <a:rPr lang="en-US" b="1" i="0" u="none" strike="noStrike" dirty="0">
                <a:solidFill>
                  <a:schemeClr val="accent2"/>
                </a:solidFill>
                <a:effectLst/>
                <a:latin typeface="Open Sans" panose="020B0606030504020204" pitchFamily="34" charset="0"/>
              </a:rPr>
              <a:t>:</a:t>
            </a:r>
          </a:p>
          <a:p>
            <a:pPr marL="0" indent="0">
              <a:spcBef>
                <a:spcPts val="600"/>
              </a:spcBef>
              <a:buNone/>
            </a:pPr>
            <a:endParaRPr lang="en-US" sz="800" b="0" i="0" u="none" strike="noStrike" dirty="0">
              <a:solidFill>
                <a:srgbClr val="434343"/>
              </a:solidFill>
              <a:effectLst/>
              <a:highlight>
                <a:srgbClr val="FFFF00"/>
              </a:highlight>
              <a:latin typeface="Open Sans" panose="020B0606030504020204" pitchFamily="34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 err="1">
                <a:solidFill>
                  <a:srgbClr val="434343"/>
                </a:solidFill>
                <a:latin typeface="Open Sans" panose="020B0606030504020204" pitchFamily="34" charset="0"/>
              </a:rPr>
              <a:t>Imaginemos</a:t>
            </a:r>
            <a:r>
              <a:rPr lang="en-US" sz="2400" dirty="0">
                <a:solidFill>
                  <a:srgbClr val="434343"/>
                </a:solidFill>
                <a:latin typeface="Open Sans" panose="020B0606030504020204" pitchFamily="34" charset="0"/>
              </a:rPr>
              <a:t> que </a:t>
            </a:r>
            <a:r>
              <a:rPr lang="en-US" sz="2400" dirty="0" err="1">
                <a:solidFill>
                  <a:srgbClr val="434343"/>
                </a:solidFill>
                <a:latin typeface="Open Sans" panose="020B0606030504020204" pitchFamily="34" charset="0"/>
              </a:rPr>
              <a:t>queremos</a:t>
            </a:r>
            <a:r>
              <a:rPr lang="en-US" sz="2400" dirty="0">
                <a:solidFill>
                  <a:srgbClr val="434343"/>
                </a:solidFill>
                <a:latin typeface="Open Sans" panose="020B0606030504020204" pitchFamily="34" charset="0"/>
              </a:rPr>
              <a:t> </a:t>
            </a:r>
            <a:r>
              <a:rPr lang="en-US" sz="2400" dirty="0" err="1">
                <a:solidFill>
                  <a:srgbClr val="434343"/>
                </a:solidFill>
                <a:latin typeface="Open Sans" panose="020B0606030504020204" pitchFamily="34" charset="0"/>
              </a:rPr>
              <a:t>crear</a:t>
            </a:r>
            <a:r>
              <a:rPr lang="en-US" sz="2400" dirty="0">
                <a:solidFill>
                  <a:srgbClr val="434343"/>
                </a:solidFill>
                <a:latin typeface="Open Sans" panose="020B0606030504020204" pitchFamily="34" charset="0"/>
              </a:rPr>
              <a:t> </a:t>
            </a:r>
            <a:r>
              <a:rPr lang="en-US" sz="2400" dirty="0" err="1">
                <a:solidFill>
                  <a:srgbClr val="434343"/>
                </a:solidFill>
                <a:latin typeface="Open Sans" panose="020B0606030504020204" pitchFamily="34" charset="0"/>
              </a:rPr>
              <a:t>una</a:t>
            </a:r>
            <a:r>
              <a:rPr lang="en-US" sz="2400" dirty="0">
                <a:solidFill>
                  <a:srgbClr val="434343"/>
                </a:solidFill>
                <a:latin typeface="Open Sans" panose="020B0606030504020204" pitchFamily="34" charset="0"/>
              </a:rPr>
              <a:t> variable que </a:t>
            </a:r>
            <a:r>
              <a:rPr lang="en-US" sz="2400" dirty="0" err="1">
                <a:solidFill>
                  <a:srgbClr val="434343"/>
                </a:solidFill>
                <a:latin typeface="Open Sans" panose="020B0606030504020204" pitchFamily="34" charset="0"/>
              </a:rPr>
              <a:t>almacene</a:t>
            </a:r>
            <a:r>
              <a:rPr lang="en-US" sz="2400" dirty="0">
                <a:solidFill>
                  <a:srgbClr val="434343"/>
                </a:solidFill>
                <a:latin typeface="Open Sans" panose="020B0606030504020204" pitchFamily="34" charset="0"/>
              </a:rPr>
              <a:t> </a:t>
            </a:r>
            <a:r>
              <a:rPr lang="en-US" sz="2400" dirty="0" err="1">
                <a:solidFill>
                  <a:srgbClr val="434343"/>
                </a:solidFill>
                <a:latin typeface="Open Sans" panose="020B0606030504020204" pitchFamily="34" charset="0"/>
              </a:rPr>
              <a:t>edades</a:t>
            </a:r>
            <a:r>
              <a:rPr lang="en-US" sz="2400" dirty="0">
                <a:solidFill>
                  <a:srgbClr val="434343"/>
                </a:solidFill>
                <a:latin typeface="Open Sans" panose="020B0606030504020204" pitchFamily="34" charset="0"/>
              </a:rPr>
              <a:t>.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rgbClr val="434343"/>
                </a:solidFill>
                <a:latin typeface="Open Sans" panose="020B0606030504020204" pitchFamily="34" charset="0"/>
              </a:rPr>
              <a:t>Su </a:t>
            </a:r>
            <a:r>
              <a:rPr lang="en-US" sz="2400" dirty="0" err="1">
                <a:solidFill>
                  <a:srgbClr val="434343"/>
                </a:solidFill>
                <a:latin typeface="Open Sans" panose="020B0606030504020204" pitchFamily="34" charset="0"/>
              </a:rPr>
              <a:t>estructura</a:t>
            </a:r>
            <a:r>
              <a:rPr lang="en-US" sz="2400" dirty="0">
                <a:solidFill>
                  <a:srgbClr val="434343"/>
                </a:solidFill>
                <a:latin typeface="Open Sans" panose="020B0606030504020204" pitchFamily="34" charset="0"/>
              </a:rPr>
              <a:t> seria la </a:t>
            </a:r>
            <a:r>
              <a:rPr lang="en-US" sz="2400" dirty="0" err="1">
                <a:solidFill>
                  <a:srgbClr val="434343"/>
                </a:solidFill>
                <a:latin typeface="Open Sans" panose="020B0606030504020204" pitchFamily="34" charset="0"/>
              </a:rPr>
              <a:t>siguiente</a:t>
            </a:r>
            <a:r>
              <a:rPr lang="en-US" sz="2400" dirty="0">
                <a:solidFill>
                  <a:srgbClr val="434343"/>
                </a:solidFill>
                <a:latin typeface="Open Sans" panose="020B0606030504020204" pitchFamily="34" charset="0"/>
              </a:rPr>
              <a:t>, </a:t>
            </a:r>
            <a:r>
              <a:rPr lang="en-US" sz="2400" dirty="0" err="1">
                <a:solidFill>
                  <a:srgbClr val="434343"/>
                </a:solidFill>
                <a:latin typeface="Open Sans" panose="020B0606030504020204" pitchFamily="34" charset="0"/>
              </a:rPr>
              <a:t>teniendo</a:t>
            </a:r>
            <a:r>
              <a:rPr lang="en-US" sz="2400" dirty="0">
                <a:solidFill>
                  <a:srgbClr val="434343"/>
                </a:solidFill>
                <a:latin typeface="Open Sans" panose="020B0606030504020204" pitchFamily="34" charset="0"/>
              </a:rPr>
              <a:t> </a:t>
            </a:r>
            <a:r>
              <a:rPr lang="en-US" sz="2400" dirty="0" err="1">
                <a:solidFill>
                  <a:srgbClr val="434343"/>
                </a:solidFill>
                <a:latin typeface="Open Sans" panose="020B0606030504020204" pitchFamily="34" charset="0"/>
              </a:rPr>
              <a:t>en</a:t>
            </a:r>
            <a:r>
              <a:rPr lang="en-US" sz="2400" dirty="0">
                <a:solidFill>
                  <a:srgbClr val="434343"/>
                </a:solidFill>
                <a:latin typeface="Open Sans" panose="020B0606030504020204" pitchFamily="34" charset="0"/>
              </a:rPr>
              <a:t> </a:t>
            </a:r>
            <a:r>
              <a:rPr lang="en-US" sz="2400" dirty="0" err="1">
                <a:solidFill>
                  <a:srgbClr val="434343"/>
                </a:solidFill>
                <a:latin typeface="Open Sans" panose="020B0606030504020204" pitchFamily="34" charset="0"/>
              </a:rPr>
              <a:t>cada</a:t>
            </a:r>
            <a:r>
              <a:rPr lang="en-US" sz="2400" dirty="0">
                <a:solidFill>
                  <a:srgbClr val="434343"/>
                </a:solidFill>
                <a:latin typeface="Open Sans" panose="020B0606030504020204" pitchFamily="34" charset="0"/>
              </a:rPr>
              <a:t> </a:t>
            </a:r>
            <a:r>
              <a:rPr lang="en-US" sz="2400" dirty="0" err="1">
                <a:solidFill>
                  <a:srgbClr val="434343"/>
                </a:solidFill>
                <a:latin typeface="Open Sans" panose="020B0606030504020204" pitchFamily="34" charset="0"/>
              </a:rPr>
              <a:t>indice</a:t>
            </a:r>
            <a:r>
              <a:rPr lang="en-US" sz="2400" dirty="0">
                <a:solidFill>
                  <a:srgbClr val="434343"/>
                </a:solidFill>
                <a:latin typeface="Open Sans" panose="020B0606030504020204" pitchFamily="34" charset="0"/>
              </a:rPr>
              <a:t> del array, un array </a:t>
            </a:r>
            <a:r>
              <a:rPr lang="en-US" sz="2400" dirty="0" err="1">
                <a:solidFill>
                  <a:srgbClr val="434343"/>
                </a:solidFill>
                <a:latin typeface="Open Sans" panose="020B0606030504020204" pitchFamily="34" charset="0"/>
              </a:rPr>
              <a:t>entero</a:t>
            </a:r>
            <a:r>
              <a:rPr lang="en-US" sz="2400" dirty="0">
                <a:solidFill>
                  <a:srgbClr val="434343"/>
                </a:solidFill>
                <a:latin typeface="Open Sans" panose="020B0606030504020204" pitchFamily="34" charset="0"/>
              </a:rPr>
              <a:t> de puros </a:t>
            </a:r>
            <a:r>
              <a:rPr lang="en-US" sz="2400" dirty="0" err="1">
                <a:solidFill>
                  <a:srgbClr val="434343"/>
                </a:solidFill>
                <a:latin typeface="Open Sans" panose="020B0606030504020204" pitchFamily="34" charset="0"/>
              </a:rPr>
              <a:t>numeros</a:t>
            </a:r>
            <a:r>
              <a:rPr lang="en-US" sz="2400" dirty="0">
                <a:solidFill>
                  <a:srgbClr val="434343"/>
                </a:solidFill>
                <a:latin typeface="Open Sans" panose="020B0606030504020204" pitchFamily="34" charset="0"/>
              </a:rPr>
              <a:t>:</a:t>
            </a:r>
            <a:endParaRPr lang="es-AR" sz="2400" b="0" i="0" u="none" strike="noStrike" dirty="0">
              <a:solidFill>
                <a:srgbClr val="434343"/>
              </a:solidFill>
              <a:effectLst/>
              <a:latin typeface="Open Sans" panose="020B0606030504020204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F6F3652-E96B-18E0-AE6A-B1C365F233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4946" y="3084890"/>
            <a:ext cx="6614700" cy="3149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3649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E2EEF8A5-14B7-DEBB-4B7E-E5434E3293F2}"/>
              </a:ext>
            </a:extLst>
          </p:cNvPr>
          <p:cNvSpPr txBox="1">
            <a:spLocks/>
          </p:cNvSpPr>
          <p:nvPr/>
        </p:nvSpPr>
        <p:spPr>
          <a:xfrm>
            <a:off x="2298861" y="266596"/>
            <a:ext cx="7735787" cy="7540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3200" b="1" dirty="0">
                <a:solidFill>
                  <a:srgbClr val="B00055"/>
                </a:solidFill>
                <a:latin typeface="Verdana" panose="020B0604030504040204" pitchFamily="34" charset="0"/>
              </a:rPr>
              <a:t>Matriz</a:t>
            </a:r>
          </a:p>
        </p:txBody>
      </p:sp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38E4A167-08A5-3479-9422-1E6A6083E5B9}"/>
              </a:ext>
            </a:extLst>
          </p:cNvPr>
          <p:cNvSpPr txBox="1">
            <a:spLocks/>
          </p:cNvSpPr>
          <p:nvPr/>
        </p:nvSpPr>
        <p:spPr>
          <a:xfrm>
            <a:off x="321619" y="1020680"/>
            <a:ext cx="11286510" cy="19389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n-US" b="1" i="0" u="none" strike="noStrike" dirty="0" err="1">
                <a:solidFill>
                  <a:schemeClr val="accent2"/>
                </a:solidFill>
                <a:effectLst/>
                <a:latin typeface="Open Sans" panose="020B0606030504020204" pitchFamily="34" charset="0"/>
              </a:rPr>
              <a:t>Ejemplo</a:t>
            </a:r>
            <a:r>
              <a:rPr lang="en-US" b="1" i="0" u="none" strike="noStrike" dirty="0">
                <a:solidFill>
                  <a:schemeClr val="accent2"/>
                </a:solidFill>
                <a:effectLst/>
                <a:latin typeface="Open Sans" panose="020B0606030504020204" pitchFamily="34" charset="0"/>
              </a:rPr>
              <a:t> de </a:t>
            </a:r>
            <a:r>
              <a:rPr lang="en-US" b="1" i="0" u="none" strike="noStrike" dirty="0" err="1">
                <a:solidFill>
                  <a:schemeClr val="accent2"/>
                </a:solidFill>
                <a:effectLst/>
                <a:latin typeface="Open Sans" panose="020B0606030504020204" pitchFamily="34" charset="0"/>
              </a:rPr>
              <a:t>Matriz</a:t>
            </a:r>
            <a:r>
              <a:rPr lang="en-US" b="1" i="0" u="none" strike="noStrike" dirty="0">
                <a:solidFill>
                  <a:schemeClr val="accent2"/>
                </a:solidFill>
                <a:effectLst/>
                <a:latin typeface="Open Sans" panose="020B0606030504020204" pitchFamily="34" charset="0"/>
              </a:rPr>
              <a:t>:</a:t>
            </a:r>
          </a:p>
          <a:p>
            <a:pPr marL="0" indent="0">
              <a:spcBef>
                <a:spcPts val="600"/>
              </a:spcBef>
              <a:buNone/>
            </a:pPr>
            <a:endParaRPr lang="en-US" sz="800" b="0" i="0" u="none" strike="noStrike" dirty="0">
              <a:solidFill>
                <a:srgbClr val="434343"/>
              </a:solidFill>
              <a:effectLst/>
              <a:highlight>
                <a:srgbClr val="FFFF00"/>
              </a:highlight>
              <a:latin typeface="Open Sans" panose="020B0606030504020204" pitchFamily="34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rgbClr val="434343"/>
                </a:solidFill>
                <a:latin typeface="Open Sans" panose="020B0606030504020204" pitchFamily="34" charset="0"/>
              </a:rPr>
              <a:t>A simple vista </a:t>
            </a:r>
            <a:r>
              <a:rPr lang="en-US" sz="2400" dirty="0" err="1">
                <a:solidFill>
                  <a:srgbClr val="434343"/>
                </a:solidFill>
                <a:latin typeface="Open Sans" panose="020B0606030504020204" pitchFamily="34" charset="0"/>
              </a:rPr>
              <a:t>ya</a:t>
            </a:r>
            <a:r>
              <a:rPr lang="en-US" sz="2400" dirty="0">
                <a:solidFill>
                  <a:srgbClr val="434343"/>
                </a:solidFill>
                <a:latin typeface="Open Sans" panose="020B0606030504020204" pitchFamily="34" charset="0"/>
              </a:rPr>
              <a:t> </a:t>
            </a:r>
            <a:r>
              <a:rPr lang="en-US" sz="2400" dirty="0" err="1">
                <a:solidFill>
                  <a:srgbClr val="434343"/>
                </a:solidFill>
                <a:latin typeface="Open Sans" panose="020B0606030504020204" pitchFamily="34" charset="0"/>
              </a:rPr>
              <a:t>notamos</a:t>
            </a:r>
            <a:r>
              <a:rPr lang="en-US" sz="2400" dirty="0">
                <a:solidFill>
                  <a:srgbClr val="434343"/>
                </a:solidFill>
                <a:latin typeface="Open Sans" panose="020B0606030504020204" pitchFamily="34" charset="0"/>
              </a:rPr>
              <a:t> algo particular, </a:t>
            </a:r>
            <a:r>
              <a:rPr lang="en-US" sz="2400" dirty="0" err="1">
                <a:solidFill>
                  <a:srgbClr val="434343"/>
                </a:solidFill>
                <a:latin typeface="Open Sans" panose="020B0606030504020204" pitchFamily="34" charset="0"/>
              </a:rPr>
              <a:t>ya</a:t>
            </a:r>
            <a:r>
              <a:rPr lang="en-US" sz="2400" dirty="0">
                <a:solidFill>
                  <a:srgbClr val="434343"/>
                </a:solidFill>
                <a:latin typeface="Open Sans" panose="020B0606030504020204" pitchFamily="34" charset="0"/>
              </a:rPr>
              <a:t> que </a:t>
            </a:r>
            <a:r>
              <a:rPr lang="en-US" sz="2400" dirty="0" err="1">
                <a:solidFill>
                  <a:srgbClr val="434343"/>
                </a:solidFill>
                <a:latin typeface="Open Sans" panose="020B0606030504020204" pitchFamily="34" charset="0"/>
              </a:rPr>
              <a:t>facilmente</a:t>
            </a:r>
            <a:r>
              <a:rPr lang="en-US" sz="2400" dirty="0">
                <a:solidFill>
                  <a:srgbClr val="434343"/>
                </a:solidFill>
                <a:latin typeface="Open Sans" panose="020B0606030504020204" pitchFamily="34" charset="0"/>
              </a:rPr>
              <a:t> </a:t>
            </a:r>
            <a:r>
              <a:rPr lang="en-US" sz="2400" dirty="0" err="1">
                <a:solidFill>
                  <a:srgbClr val="434343"/>
                </a:solidFill>
                <a:latin typeface="Open Sans" panose="020B0606030504020204" pitchFamily="34" charset="0"/>
              </a:rPr>
              <a:t>notamos</a:t>
            </a:r>
            <a:r>
              <a:rPr lang="en-US" sz="2400" dirty="0">
                <a:solidFill>
                  <a:srgbClr val="434343"/>
                </a:solidFill>
                <a:latin typeface="Open Sans" panose="020B0606030504020204" pitchFamily="34" charset="0"/>
              </a:rPr>
              <a:t> un </a:t>
            </a:r>
            <a:r>
              <a:rPr lang="en-US" sz="2400" dirty="0">
                <a:solidFill>
                  <a:srgbClr val="434343"/>
                </a:solidFill>
                <a:highlight>
                  <a:srgbClr val="FFFF00"/>
                </a:highlight>
                <a:latin typeface="Open Sans" panose="020B0606030504020204" pitchFamily="34" charset="0"/>
              </a:rPr>
              <a:t>alto </a:t>
            </a:r>
            <a:r>
              <a:rPr lang="en-US" sz="2400" dirty="0">
                <a:solidFill>
                  <a:srgbClr val="434343"/>
                </a:solidFill>
                <a:latin typeface="Open Sans" panose="020B0606030504020204" pitchFamily="34" charset="0"/>
              </a:rPr>
              <a:t>y un </a:t>
            </a:r>
            <a:r>
              <a:rPr lang="en-US" sz="2400" dirty="0">
                <a:solidFill>
                  <a:srgbClr val="434343"/>
                </a:solidFill>
                <a:highlight>
                  <a:srgbClr val="FFFF00"/>
                </a:highlight>
                <a:latin typeface="Open Sans" panose="020B0606030504020204" pitchFamily="34" charset="0"/>
              </a:rPr>
              <a:t>ancho</a:t>
            </a:r>
            <a:r>
              <a:rPr lang="en-US" sz="2400" dirty="0">
                <a:solidFill>
                  <a:srgbClr val="434343"/>
                </a:solidFill>
                <a:latin typeface="Open Sans" panose="020B0606030504020204" pitchFamily="34" charset="0"/>
              </a:rPr>
              <a:t> </a:t>
            </a:r>
            <a:r>
              <a:rPr lang="en-US" sz="2400" dirty="0" err="1">
                <a:solidFill>
                  <a:srgbClr val="434343"/>
                </a:solidFill>
                <a:latin typeface="Open Sans" panose="020B0606030504020204" pitchFamily="34" charset="0"/>
              </a:rPr>
              <a:t>sobre</a:t>
            </a:r>
            <a:r>
              <a:rPr lang="en-US" sz="2400" dirty="0">
                <a:solidFill>
                  <a:srgbClr val="434343"/>
                </a:solidFill>
                <a:latin typeface="Open Sans" panose="020B0606030504020204" pitchFamily="34" charset="0"/>
              </a:rPr>
              <a:t> </a:t>
            </a:r>
            <a:r>
              <a:rPr lang="en-US" sz="2400" dirty="0" err="1">
                <a:solidFill>
                  <a:srgbClr val="434343"/>
                </a:solidFill>
                <a:latin typeface="Open Sans" panose="020B0606030504020204" pitchFamily="34" charset="0"/>
              </a:rPr>
              <a:t>el</a:t>
            </a:r>
            <a:r>
              <a:rPr lang="en-US" sz="2400" dirty="0">
                <a:solidFill>
                  <a:srgbClr val="434343"/>
                </a:solidFill>
                <a:latin typeface="Open Sans" panose="020B0606030504020204" pitchFamily="34" charset="0"/>
              </a:rPr>
              <a:t> </a:t>
            </a:r>
            <a:r>
              <a:rPr lang="en-US" sz="2400" dirty="0" err="1">
                <a:solidFill>
                  <a:srgbClr val="434343"/>
                </a:solidFill>
                <a:latin typeface="Open Sans" panose="020B0606030504020204" pitchFamily="34" charset="0"/>
              </a:rPr>
              <a:t>eje</a:t>
            </a:r>
            <a:r>
              <a:rPr lang="en-US" sz="2400" dirty="0">
                <a:solidFill>
                  <a:srgbClr val="434343"/>
                </a:solidFill>
                <a:latin typeface="Open Sans" panose="020B0606030504020204" pitchFamily="34" charset="0"/>
              </a:rPr>
              <a:t> </a:t>
            </a:r>
            <a:r>
              <a:rPr lang="en-US" sz="2400" dirty="0" err="1">
                <a:solidFill>
                  <a:srgbClr val="434343"/>
                </a:solidFill>
                <a:latin typeface="Open Sans" panose="020B0606030504020204" pitchFamily="34" charset="0"/>
              </a:rPr>
              <a:t>verical</a:t>
            </a:r>
            <a:r>
              <a:rPr lang="en-US" sz="2400" dirty="0">
                <a:solidFill>
                  <a:srgbClr val="434343"/>
                </a:solidFill>
                <a:latin typeface="Open Sans" panose="020B0606030504020204" pitchFamily="34" charset="0"/>
              </a:rPr>
              <a:t> y horizontal </a:t>
            </a:r>
            <a:r>
              <a:rPr lang="en-US" sz="2400" dirty="0" err="1">
                <a:solidFill>
                  <a:srgbClr val="434343"/>
                </a:solidFill>
                <a:latin typeface="Open Sans" panose="020B0606030504020204" pitchFamily="34" charset="0"/>
              </a:rPr>
              <a:t>respectivamente</a:t>
            </a:r>
            <a:r>
              <a:rPr lang="en-US" sz="2400" dirty="0">
                <a:solidFill>
                  <a:srgbClr val="434343"/>
                </a:solidFill>
                <a:latin typeface="Open Sans" panose="020B0606030504020204" pitchFamily="34" charset="0"/>
              </a:rPr>
              <a:t>: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8EAF8D2-7D5E-51DF-3509-C8A2534B90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4946" y="3084890"/>
            <a:ext cx="6614700" cy="3149857"/>
          </a:xfrm>
          <a:prstGeom prst="rect">
            <a:avLst/>
          </a:prstGeom>
        </p:spPr>
      </p:pic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427DE53C-6BB2-FF58-47B1-F568A18370EA}"/>
              </a:ext>
            </a:extLst>
          </p:cNvPr>
          <p:cNvCxnSpPr/>
          <p:nvPr/>
        </p:nvCxnSpPr>
        <p:spPr>
          <a:xfrm>
            <a:off x="4209803" y="3084890"/>
            <a:ext cx="4180114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1D874C89-857D-C271-4A20-A154401829A5}"/>
              </a:ext>
            </a:extLst>
          </p:cNvPr>
          <p:cNvCxnSpPr>
            <a:cxnSpLocks/>
          </p:cNvCxnSpPr>
          <p:nvPr/>
        </p:nvCxnSpPr>
        <p:spPr>
          <a:xfrm flipV="1">
            <a:off x="9314214" y="3429000"/>
            <a:ext cx="0" cy="2581619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2" name="CuadroTexto 11">
            <a:extLst>
              <a:ext uri="{FF2B5EF4-FFF2-40B4-BE49-F238E27FC236}">
                <a16:creationId xmlns:a16="http://schemas.microsoft.com/office/drawing/2014/main" id="{0A442F30-3479-ADF2-45F8-A7D9D60343A8}"/>
              </a:ext>
            </a:extLst>
          </p:cNvPr>
          <p:cNvSpPr txBox="1"/>
          <p:nvPr/>
        </p:nvSpPr>
        <p:spPr>
          <a:xfrm>
            <a:off x="9525494" y="4604059"/>
            <a:ext cx="12097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434343"/>
                </a:solidFill>
                <a:highlight>
                  <a:srgbClr val="FFFF00"/>
                </a:highlight>
                <a:latin typeface="Open Sans" panose="020B0606030504020204" pitchFamily="34" charset="0"/>
              </a:rPr>
              <a:t>alto </a:t>
            </a:r>
            <a:endParaRPr lang="es-AR" sz="2400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6EE04707-41F6-6273-CA9B-299043E05655}"/>
              </a:ext>
            </a:extLst>
          </p:cNvPr>
          <p:cNvSpPr txBox="1"/>
          <p:nvPr/>
        </p:nvSpPr>
        <p:spPr>
          <a:xfrm>
            <a:off x="5513119" y="2560605"/>
            <a:ext cx="60950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434343"/>
                </a:solidFill>
                <a:highlight>
                  <a:srgbClr val="FFFF00"/>
                </a:highlight>
                <a:latin typeface="Open Sans" panose="020B0606030504020204" pitchFamily="34" charset="0"/>
              </a:rPr>
              <a:t>ancho</a:t>
            </a:r>
            <a:endParaRPr lang="es-AR" sz="2400" dirty="0"/>
          </a:p>
        </p:txBody>
      </p:sp>
    </p:spTree>
    <p:extLst>
      <p:ext uri="{BB962C8B-B14F-4D97-AF65-F5344CB8AC3E}">
        <p14:creationId xmlns:p14="http://schemas.microsoft.com/office/powerpoint/2010/main" val="31262420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E2EEF8A5-14B7-DEBB-4B7E-E5434E3293F2}"/>
              </a:ext>
            </a:extLst>
          </p:cNvPr>
          <p:cNvSpPr txBox="1">
            <a:spLocks/>
          </p:cNvSpPr>
          <p:nvPr/>
        </p:nvSpPr>
        <p:spPr>
          <a:xfrm>
            <a:off x="2298861" y="266596"/>
            <a:ext cx="7735787" cy="7540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3200" b="1" dirty="0">
                <a:solidFill>
                  <a:srgbClr val="B00055"/>
                </a:solidFill>
                <a:latin typeface="Verdana" panose="020B0604030504040204" pitchFamily="34" charset="0"/>
              </a:rPr>
              <a:t>Matriz</a:t>
            </a:r>
          </a:p>
        </p:txBody>
      </p:sp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38E4A167-08A5-3479-9422-1E6A6083E5B9}"/>
              </a:ext>
            </a:extLst>
          </p:cNvPr>
          <p:cNvSpPr txBox="1">
            <a:spLocks/>
          </p:cNvSpPr>
          <p:nvPr/>
        </p:nvSpPr>
        <p:spPr>
          <a:xfrm>
            <a:off x="321619" y="1020680"/>
            <a:ext cx="11286510" cy="19389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n-US" b="1" i="0" u="none" strike="noStrike" dirty="0" err="1">
                <a:solidFill>
                  <a:schemeClr val="accent2"/>
                </a:solidFill>
                <a:effectLst/>
                <a:latin typeface="Open Sans" panose="020B0606030504020204" pitchFamily="34" charset="0"/>
              </a:rPr>
              <a:t>Ejemplo</a:t>
            </a:r>
            <a:r>
              <a:rPr lang="en-US" b="1" i="0" u="none" strike="noStrike" dirty="0">
                <a:solidFill>
                  <a:schemeClr val="accent2"/>
                </a:solidFill>
                <a:effectLst/>
                <a:latin typeface="Open Sans" panose="020B0606030504020204" pitchFamily="34" charset="0"/>
              </a:rPr>
              <a:t> de </a:t>
            </a:r>
            <a:r>
              <a:rPr lang="en-US" b="1" i="0" u="none" strike="noStrike" dirty="0" err="1">
                <a:solidFill>
                  <a:schemeClr val="accent2"/>
                </a:solidFill>
                <a:effectLst/>
                <a:latin typeface="Open Sans" panose="020B0606030504020204" pitchFamily="34" charset="0"/>
              </a:rPr>
              <a:t>Matriz</a:t>
            </a:r>
            <a:r>
              <a:rPr lang="en-US" b="1" i="0" u="none" strike="noStrike" dirty="0">
                <a:solidFill>
                  <a:schemeClr val="accent2"/>
                </a:solidFill>
                <a:effectLst/>
                <a:latin typeface="Open Sans" panose="020B0606030504020204" pitchFamily="34" charset="0"/>
              </a:rPr>
              <a:t>:</a:t>
            </a:r>
          </a:p>
          <a:p>
            <a:pPr marL="0" indent="0">
              <a:spcBef>
                <a:spcPts val="600"/>
              </a:spcBef>
              <a:buNone/>
            </a:pPr>
            <a:endParaRPr lang="en-US" sz="800" b="0" i="0" u="none" strike="noStrike" dirty="0">
              <a:solidFill>
                <a:srgbClr val="434343"/>
              </a:solidFill>
              <a:effectLst/>
              <a:highlight>
                <a:srgbClr val="FFFF00"/>
              </a:highlight>
              <a:latin typeface="Open Sans" panose="020B0606030504020204" pitchFamily="34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 err="1">
                <a:solidFill>
                  <a:srgbClr val="434343"/>
                </a:solidFill>
                <a:latin typeface="Open Sans" panose="020B0606030504020204" pitchFamily="34" charset="0"/>
              </a:rPr>
              <a:t>Estas</a:t>
            </a:r>
            <a:r>
              <a:rPr lang="en-US" sz="2400" dirty="0">
                <a:solidFill>
                  <a:srgbClr val="434343"/>
                </a:solidFill>
                <a:latin typeface="Open Sans" panose="020B0606030504020204" pitchFamily="34" charset="0"/>
              </a:rPr>
              <a:t> </a:t>
            </a:r>
            <a:r>
              <a:rPr lang="en-US" sz="2400" dirty="0" err="1">
                <a:solidFill>
                  <a:srgbClr val="434343"/>
                </a:solidFill>
                <a:latin typeface="Open Sans" panose="020B0606030504020204" pitchFamily="34" charset="0"/>
              </a:rPr>
              <a:t>caracteristicas</a:t>
            </a:r>
            <a:r>
              <a:rPr lang="en-US" sz="2400" dirty="0">
                <a:solidFill>
                  <a:srgbClr val="434343"/>
                </a:solidFill>
                <a:latin typeface="Open Sans" panose="020B0606030504020204" pitchFamily="34" charset="0"/>
              </a:rPr>
              <a:t>, </a:t>
            </a:r>
            <a:r>
              <a:rPr lang="en-US" sz="2400" dirty="0" err="1">
                <a:solidFill>
                  <a:srgbClr val="434343"/>
                </a:solidFill>
                <a:latin typeface="Open Sans" panose="020B0606030504020204" pitchFamily="34" charset="0"/>
              </a:rPr>
              <a:t>nos</a:t>
            </a:r>
            <a:r>
              <a:rPr lang="en-US" sz="2400" dirty="0">
                <a:solidFill>
                  <a:srgbClr val="434343"/>
                </a:solidFill>
                <a:latin typeface="Open Sans" panose="020B0606030504020204" pitchFamily="34" charset="0"/>
              </a:rPr>
              <a:t> </a:t>
            </a:r>
            <a:r>
              <a:rPr lang="en-US" sz="2400" dirty="0" err="1">
                <a:solidFill>
                  <a:srgbClr val="434343"/>
                </a:solidFill>
                <a:latin typeface="Open Sans" panose="020B0606030504020204" pitchFamily="34" charset="0"/>
              </a:rPr>
              <a:t>permite</a:t>
            </a:r>
            <a:r>
              <a:rPr lang="en-US" sz="2400" dirty="0">
                <a:solidFill>
                  <a:srgbClr val="434343"/>
                </a:solidFill>
                <a:latin typeface="Open Sans" panose="020B0606030504020204" pitchFamily="34" charset="0"/>
              </a:rPr>
              <a:t> </a:t>
            </a:r>
            <a:r>
              <a:rPr lang="en-US" sz="2400" dirty="0" err="1">
                <a:solidFill>
                  <a:srgbClr val="434343"/>
                </a:solidFill>
                <a:latin typeface="Open Sans" panose="020B0606030504020204" pitchFamily="34" charset="0"/>
              </a:rPr>
              <a:t>identificar</a:t>
            </a:r>
            <a:r>
              <a:rPr lang="en-US" sz="2400" dirty="0">
                <a:solidFill>
                  <a:srgbClr val="434343"/>
                </a:solidFill>
                <a:latin typeface="Open Sans" panose="020B0606030504020204" pitchFamily="34" charset="0"/>
              </a:rPr>
              <a:t> tanto “</a:t>
            </a:r>
            <a:r>
              <a:rPr lang="en-US" sz="2400" dirty="0" err="1">
                <a:solidFill>
                  <a:srgbClr val="434343"/>
                </a:solidFill>
                <a:highlight>
                  <a:srgbClr val="FFFF00"/>
                </a:highlight>
                <a:latin typeface="Open Sans" panose="020B0606030504020204" pitchFamily="34" charset="0"/>
              </a:rPr>
              <a:t>filas</a:t>
            </a:r>
            <a:r>
              <a:rPr lang="en-US" sz="2400" dirty="0">
                <a:solidFill>
                  <a:srgbClr val="434343"/>
                </a:solidFill>
                <a:latin typeface="Open Sans" panose="020B0606030504020204" pitchFamily="34" charset="0"/>
              </a:rPr>
              <a:t>” </a:t>
            </a:r>
            <a:r>
              <a:rPr lang="en-US" sz="2400" dirty="0" err="1">
                <a:solidFill>
                  <a:srgbClr val="434343"/>
                </a:solidFill>
                <a:latin typeface="Open Sans" panose="020B0606030504020204" pitchFamily="34" charset="0"/>
              </a:rPr>
              <a:t>como</a:t>
            </a:r>
            <a:r>
              <a:rPr lang="en-US" sz="2400" dirty="0">
                <a:solidFill>
                  <a:srgbClr val="434343"/>
                </a:solidFill>
                <a:latin typeface="Open Sans" panose="020B0606030504020204" pitchFamily="34" charset="0"/>
              </a:rPr>
              <a:t> “</a:t>
            </a:r>
            <a:r>
              <a:rPr lang="en-US" sz="2400" dirty="0" err="1">
                <a:solidFill>
                  <a:srgbClr val="434343"/>
                </a:solidFill>
                <a:highlight>
                  <a:srgbClr val="FFFF00"/>
                </a:highlight>
                <a:latin typeface="Open Sans" panose="020B0606030504020204" pitchFamily="34" charset="0"/>
              </a:rPr>
              <a:t>columnas</a:t>
            </a:r>
            <a:r>
              <a:rPr lang="en-US" sz="2400" dirty="0">
                <a:solidFill>
                  <a:srgbClr val="434343"/>
                </a:solidFill>
                <a:latin typeface="Open Sans" panose="020B0606030504020204" pitchFamily="34" charset="0"/>
              </a:rPr>
              <a:t>”.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rgbClr val="434343"/>
                </a:solidFill>
                <a:latin typeface="Open Sans" panose="020B0606030504020204" pitchFamily="34" charset="0"/>
              </a:rPr>
              <a:t>En </a:t>
            </a:r>
            <a:r>
              <a:rPr lang="en-US" sz="2400" dirty="0" err="1">
                <a:solidFill>
                  <a:srgbClr val="434343"/>
                </a:solidFill>
                <a:latin typeface="Open Sans" panose="020B0606030504020204" pitchFamily="34" charset="0"/>
              </a:rPr>
              <a:t>este</a:t>
            </a:r>
            <a:r>
              <a:rPr lang="en-US" sz="2400" dirty="0">
                <a:solidFill>
                  <a:srgbClr val="434343"/>
                </a:solidFill>
                <a:latin typeface="Open Sans" panose="020B0606030504020204" pitchFamily="34" charset="0"/>
              </a:rPr>
              <a:t> </a:t>
            </a:r>
            <a:r>
              <a:rPr lang="en-US" sz="2400" dirty="0" err="1">
                <a:solidFill>
                  <a:srgbClr val="434343"/>
                </a:solidFill>
                <a:latin typeface="Open Sans" panose="020B0606030504020204" pitchFamily="34" charset="0"/>
              </a:rPr>
              <a:t>caso</a:t>
            </a:r>
            <a:r>
              <a:rPr lang="en-US" sz="2400" dirty="0">
                <a:solidFill>
                  <a:srgbClr val="434343"/>
                </a:solidFill>
                <a:latin typeface="Open Sans" panose="020B0606030504020204" pitchFamily="34" charset="0"/>
              </a:rPr>
              <a:t> </a:t>
            </a:r>
            <a:r>
              <a:rPr lang="en-US" sz="2400" dirty="0" err="1">
                <a:solidFill>
                  <a:srgbClr val="434343"/>
                </a:solidFill>
                <a:latin typeface="Open Sans" panose="020B0606030504020204" pitchFamily="34" charset="0"/>
              </a:rPr>
              <a:t>en</a:t>
            </a:r>
            <a:r>
              <a:rPr lang="en-US" sz="2400" dirty="0">
                <a:solidFill>
                  <a:srgbClr val="434343"/>
                </a:solidFill>
                <a:latin typeface="Open Sans" panose="020B0606030504020204" pitchFamily="34" charset="0"/>
              </a:rPr>
              <a:t> particular </a:t>
            </a:r>
            <a:r>
              <a:rPr lang="en-US" sz="2400" dirty="0" err="1">
                <a:solidFill>
                  <a:srgbClr val="434343"/>
                </a:solidFill>
                <a:latin typeface="Open Sans" panose="020B0606030504020204" pitchFamily="34" charset="0"/>
              </a:rPr>
              <a:t>podemos</a:t>
            </a:r>
            <a:r>
              <a:rPr lang="en-US" sz="2400" dirty="0">
                <a:solidFill>
                  <a:srgbClr val="434343"/>
                </a:solidFill>
                <a:latin typeface="Open Sans" panose="020B0606030504020204" pitchFamily="34" charset="0"/>
              </a:rPr>
              <a:t> </a:t>
            </a:r>
            <a:r>
              <a:rPr lang="en-US" sz="2400" dirty="0" err="1">
                <a:solidFill>
                  <a:srgbClr val="434343"/>
                </a:solidFill>
                <a:latin typeface="Open Sans" panose="020B0606030504020204" pitchFamily="34" charset="0"/>
              </a:rPr>
              <a:t>decir</a:t>
            </a:r>
            <a:r>
              <a:rPr lang="en-US" sz="2400" dirty="0">
                <a:solidFill>
                  <a:srgbClr val="434343"/>
                </a:solidFill>
                <a:latin typeface="Open Sans" panose="020B0606030504020204" pitchFamily="34" charset="0"/>
              </a:rPr>
              <a:t> que </a:t>
            </a:r>
            <a:r>
              <a:rPr lang="en-US" sz="2400" dirty="0" err="1">
                <a:solidFill>
                  <a:srgbClr val="434343"/>
                </a:solidFill>
                <a:latin typeface="Open Sans" panose="020B0606030504020204" pitchFamily="34" charset="0"/>
              </a:rPr>
              <a:t>esta</a:t>
            </a:r>
            <a:r>
              <a:rPr lang="en-US" sz="2400" dirty="0">
                <a:solidFill>
                  <a:srgbClr val="434343"/>
                </a:solidFill>
                <a:latin typeface="Open Sans" panose="020B0606030504020204" pitchFamily="34" charset="0"/>
              </a:rPr>
              <a:t> </a:t>
            </a:r>
            <a:r>
              <a:rPr lang="en-US" sz="2400" dirty="0" err="1">
                <a:solidFill>
                  <a:srgbClr val="434343"/>
                </a:solidFill>
                <a:latin typeface="Open Sans" panose="020B0606030504020204" pitchFamily="34" charset="0"/>
              </a:rPr>
              <a:t>matriz</a:t>
            </a:r>
            <a:r>
              <a:rPr lang="en-US" sz="2400" dirty="0">
                <a:solidFill>
                  <a:srgbClr val="434343"/>
                </a:solidFill>
                <a:latin typeface="Open Sans" panose="020B0606030504020204" pitchFamily="34" charset="0"/>
              </a:rPr>
              <a:t> es de 6x4 </a:t>
            </a:r>
            <a:r>
              <a:rPr lang="en-US" sz="2400" dirty="0" err="1">
                <a:solidFill>
                  <a:srgbClr val="434343"/>
                </a:solidFill>
                <a:latin typeface="Open Sans" panose="020B0606030504020204" pitchFamily="34" charset="0"/>
              </a:rPr>
              <a:t>porque</a:t>
            </a:r>
            <a:r>
              <a:rPr lang="en-US" sz="2400" dirty="0">
                <a:solidFill>
                  <a:srgbClr val="434343"/>
                </a:solidFill>
                <a:latin typeface="Open Sans" panose="020B0606030504020204" pitchFamily="34" charset="0"/>
              </a:rPr>
              <a:t> </a:t>
            </a:r>
            <a:r>
              <a:rPr lang="en-US" sz="2400" dirty="0" err="1">
                <a:solidFill>
                  <a:srgbClr val="434343"/>
                </a:solidFill>
                <a:latin typeface="Open Sans" panose="020B0606030504020204" pitchFamily="34" charset="0"/>
              </a:rPr>
              <a:t>tiene</a:t>
            </a:r>
            <a:r>
              <a:rPr lang="en-US" sz="2400" dirty="0">
                <a:solidFill>
                  <a:srgbClr val="434343"/>
                </a:solidFill>
                <a:latin typeface="Open Sans" panose="020B0606030504020204" pitchFamily="34" charset="0"/>
              </a:rPr>
              <a:t> 6 </a:t>
            </a:r>
            <a:r>
              <a:rPr lang="en-US" sz="2400" dirty="0" err="1">
                <a:solidFill>
                  <a:srgbClr val="434343"/>
                </a:solidFill>
                <a:latin typeface="Open Sans" panose="020B0606030504020204" pitchFamily="34" charset="0"/>
              </a:rPr>
              <a:t>columnas</a:t>
            </a:r>
            <a:r>
              <a:rPr lang="en-US" sz="2400" dirty="0">
                <a:solidFill>
                  <a:srgbClr val="434343"/>
                </a:solidFill>
                <a:latin typeface="Open Sans" panose="020B0606030504020204" pitchFamily="34" charset="0"/>
              </a:rPr>
              <a:t> y 4 </a:t>
            </a:r>
            <a:r>
              <a:rPr lang="en-US" sz="2400" dirty="0" err="1">
                <a:solidFill>
                  <a:srgbClr val="434343"/>
                </a:solidFill>
                <a:latin typeface="Open Sans" panose="020B0606030504020204" pitchFamily="34" charset="0"/>
              </a:rPr>
              <a:t>filas</a:t>
            </a:r>
            <a:endParaRPr lang="en-US" sz="2400" dirty="0">
              <a:solidFill>
                <a:srgbClr val="434343"/>
              </a:solidFill>
              <a:latin typeface="Open Sans" panose="020B0606030504020204" pitchFamily="34" charset="0"/>
            </a:endParaRPr>
          </a:p>
        </p:txBody>
      </p:sp>
      <p:sp>
        <p:nvSpPr>
          <p:cNvPr id="6" name="Bocadillo: rectángulo con esquinas redondeadas 5">
            <a:extLst>
              <a:ext uri="{FF2B5EF4-FFF2-40B4-BE49-F238E27FC236}">
                <a16:creationId xmlns:a16="http://schemas.microsoft.com/office/drawing/2014/main" id="{CE58E7E4-1851-41FF-4E74-D95B75CEA2F2}"/>
              </a:ext>
            </a:extLst>
          </p:cNvPr>
          <p:cNvSpPr/>
          <p:nvPr/>
        </p:nvSpPr>
        <p:spPr>
          <a:xfrm>
            <a:off x="8318665" y="3360717"/>
            <a:ext cx="3348841" cy="2476603"/>
          </a:xfrm>
          <a:prstGeom prst="wedgeRoundRect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Gracias a </a:t>
            </a:r>
            <a:r>
              <a:rPr lang="en-US" dirty="0" err="1"/>
              <a:t>esta</a:t>
            </a:r>
            <a:r>
              <a:rPr lang="en-US" dirty="0"/>
              <a:t> </a:t>
            </a:r>
            <a:r>
              <a:rPr lang="en-US" dirty="0" err="1"/>
              <a:t>disposicion</a:t>
            </a:r>
            <a:r>
              <a:rPr lang="en-US" dirty="0"/>
              <a:t>, </a:t>
            </a:r>
            <a:r>
              <a:rPr lang="en-US" dirty="0" err="1"/>
              <a:t>nuestra</a:t>
            </a:r>
            <a:r>
              <a:rPr lang="en-US" dirty="0"/>
              <a:t> </a:t>
            </a:r>
            <a:r>
              <a:rPr lang="en-US" dirty="0" err="1"/>
              <a:t>matriz</a:t>
            </a:r>
            <a:r>
              <a:rPr lang="en-US" dirty="0"/>
              <a:t> se </a:t>
            </a:r>
            <a:r>
              <a:rPr lang="en-US" dirty="0" err="1"/>
              <a:t>convierte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>
                <a:highlight>
                  <a:srgbClr val="FFFF00"/>
                </a:highlight>
              </a:rPr>
              <a:t>estructura</a:t>
            </a:r>
            <a:r>
              <a:rPr lang="en-US" dirty="0">
                <a:highlight>
                  <a:srgbClr val="FFFF00"/>
                </a:highlight>
              </a:rPr>
              <a:t> de </a:t>
            </a:r>
            <a:r>
              <a:rPr lang="en-US" dirty="0" err="1">
                <a:highlight>
                  <a:srgbClr val="FFFF00"/>
                </a:highlight>
              </a:rPr>
              <a:t>datos</a:t>
            </a:r>
            <a:r>
              <a:rPr lang="en-US" dirty="0">
                <a:highlight>
                  <a:srgbClr val="FFFF00"/>
                </a:highlight>
              </a:rPr>
              <a:t> bidimensional </a:t>
            </a:r>
            <a:r>
              <a:rPr lang="en-US" dirty="0"/>
              <a:t>y </a:t>
            </a:r>
            <a:r>
              <a:rPr lang="en-US" dirty="0" err="1"/>
              <a:t>nos</a:t>
            </a:r>
            <a:r>
              <a:rPr lang="en-US" dirty="0"/>
              <a:t> </a:t>
            </a:r>
            <a:r>
              <a:rPr lang="en-US" dirty="0" err="1"/>
              <a:t>permite</a:t>
            </a:r>
            <a:r>
              <a:rPr lang="en-US" dirty="0"/>
              <a:t> definer un </a:t>
            </a:r>
            <a:r>
              <a:rPr lang="en-US" dirty="0">
                <a:highlight>
                  <a:srgbClr val="FFFF00"/>
                </a:highlight>
              </a:rPr>
              <a:t>Sistema de </a:t>
            </a:r>
            <a:r>
              <a:rPr lang="en-US" dirty="0" err="1">
                <a:highlight>
                  <a:srgbClr val="FFFF00"/>
                </a:highlight>
              </a:rPr>
              <a:t>posicionamiento</a:t>
            </a:r>
            <a:r>
              <a:rPr lang="en-US" dirty="0">
                <a:highlight>
                  <a:srgbClr val="FFFF00"/>
                </a:highlight>
              </a:rPr>
              <a:t> </a:t>
            </a:r>
            <a:r>
              <a:rPr lang="en-US" dirty="0"/>
              <a:t>para </a:t>
            </a:r>
            <a:r>
              <a:rPr lang="en-US" dirty="0" err="1"/>
              <a:t>cada</a:t>
            </a:r>
            <a:r>
              <a:rPr lang="en-US" dirty="0"/>
              <a:t> </a:t>
            </a:r>
            <a:r>
              <a:rPr lang="en-US" dirty="0" err="1"/>
              <a:t>elemento</a:t>
            </a:r>
            <a:endParaRPr lang="es-AR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7229984-82DC-3234-A7AF-BCC2B906EB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660" y="3150204"/>
            <a:ext cx="6614700" cy="3149857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C62040AF-CC54-02C5-6275-ED6C8F13836B}"/>
              </a:ext>
            </a:extLst>
          </p:cNvPr>
          <p:cNvSpPr/>
          <p:nvPr/>
        </p:nvSpPr>
        <p:spPr>
          <a:xfrm>
            <a:off x="3372592" y="3954483"/>
            <a:ext cx="4019798" cy="397823"/>
          </a:xfrm>
          <a:prstGeom prst="rect">
            <a:avLst/>
          </a:pr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CF3DE68-ECE8-A962-318E-24D780792623}"/>
              </a:ext>
            </a:extLst>
          </p:cNvPr>
          <p:cNvSpPr/>
          <p:nvPr/>
        </p:nvSpPr>
        <p:spPr>
          <a:xfrm rot="16200000">
            <a:off x="2947062" y="4449289"/>
            <a:ext cx="1739735" cy="583870"/>
          </a:xfrm>
          <a:prstGeom prst="rect">
            <a:avLst/>
          </a:prstGeom>
          <a:noFill/>
          <a:ln w="2857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A3051D45-31A7-3A33-9D2E-3CF3D762DD30}"/>
              </a:ext>
            </a:extLst>
          </p:cNvPr>
          <p:cNvSpPr txBox="1"/>
          <p:nvPr/>
        </p:nvSpPr>
        <p:spPr>
          <a:xfrm>
            <a:off x="7468013" y="3982974"/>
            <a:ext cx="8416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434343"/>
                </a:solidFill>
                <a:highlight>
                  <a:srgbClr val="FFFF00"/>
                </a:highlight>
                <a:latin typeface="Open Sans" panose="020B0606030504020204" pitchFamily="34" charset="0"/>
              </a:rPr>
              <a:t>fila</a:t>
            </a:r>
            <a:endParaRPr lang="es-AR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CD345018-D383-DD73-FAFA-8A5C46E12274}"/>
              </a:ext>
            </a:extLst>
          </p:cNvPr>
          <p:cNvSpPr txBox="1"/>
          <p:nvPr/>
        </p:nvSpPr>
        <p:spPr>
          <a:xfrm>
            <a:off x="3255324" y="5694219"/>
            <a:ext cx="13226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 err="1">
                <a:solidFill>
                  <a:srgbClr val="434343"/>
                </a:solidFill>
                <a:highlight>
                  <a:srgbClr val="FFFF00"/>
                </a:highlight>
                <a:latin typeface="Open Sans" panose="020B0606030504020204" pitchFamily="34" charset="0"/>
              </a:rPr>
              <a:t>columna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8122922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E2EEF8A5-14B7-DEBB-4B7E-E5434E3293F2}"/>
              </a:ext>
            </a:extLst>
          </p:cNvPr>
          <p:cNvSpPr txBox="1">
            <a:spLocks/>
          </p:cNvSpPr>
          <p:nvPr/>
        </p:nvSpPr>
        <p:spPr>
          <a:xfrm>
            <a:off x="2298861" y="266596"/>
            <a:ext cx="7735787" cy="7540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3200" b="1" dirty="0">
                <a:solidFill>
                  <a:srgbClr val="B00055"/>
                </a:solidFill>
                <a:latin typeface="Verdana" panose="020B0604030504040204" pitchFamily="34" charset="0"/>
              </a:rPr>
              <a:t>Matriz</a:t>
            </a:r>
          </a:p>
        </p:txBody>
      </p:sp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38E4A167-08A5-3479-9422-1E6A6083E5B9}"/>
              </a:ext>
            </a:extLst>
          </p:cNvPr>
          <p:cNvSpPr txBox="1">
            <a:spLocks/>
          </p:cNvSpPr>
          <p:nvPr/>
        </p:nvSpPr>
        <p:spPr>
          <a:xfrm>
            <a:off x="321619" y="1020680"/>
            <a:ext cx="11286510" cy="19389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n-US" b="1" dirty="0" err="1">
                <a:solidFill>
                  <a:schemeClr val="accent2"/>
                </a:solidFill>
                <a:latin typeface="Open Sans" panose="020B0606030504020204" pitchFamily="34" charset="0"/>
              </a:rPr>
              <a:t>Recapitulando</a:t>
            </a:r>
            <a:r>
              <a:rPr lang="en-US" b="1" dirty="0">
                <a:solidFill>
                  <a:schemeClr val="accent2"/>
                </a:solidFill>
                <a:latin typeface="Open Sans" panose="020B0606030504020204" pitchFamily="34" charset="0"/>
              </a:rPr>
              <a:t>:</a:t>
            </a:r>
          </a:p>
          <a:p>
            <a:pPr marL="0" indent="0">
              <a:spcBef>
                <a:spcPts val="600"/>
              </a:spcBef>
              <a:buNone/>
            </a:pPr>
            <a:endParaRPr lang="en-US" sz="800" b="0" i="0" u="none" strike="noStrike" dirty="0">
              <a:solidFill>
                <a:srgbClr val="434343"/>
              </a:solidFill>
              <a:effectLst/>
              <a:highlight>
                <a:srgbClr val="FFFF00"/>
              </a:highlight>
              <a:latin typeface="Open Sans" panose="020B0606030504020204" pitchFamily="34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rgbClr val="434343"/>
                </a:solidFill>
                <a:latin typeface="Open Sans" panose="020B0606030504020204" pitchFamily="34" charset="0"/>
              </a:rPr>
              <a:t>En un Array temenos indices para </a:t>
            </a:r>
            <a:r>
              <a:rPr lang="en-US" sz="2400" dirty="0" err="1">
                <a:solidFill>
                  <a:srgbClr val="434343"/>
                </a:solidFill>
                <a:latin typeface="Open Sans" panose="020B0606030504020204" pitchFamily="34" charset="0"/>
              </a:rPr>
              <a:t>cada</a:t>
            </a:r>
            <a:r>
              <a:rPr lang="en-US" sz="2400" dirty="0">
                <a:solidFill>
                  <a:srgbClr val="434343"/>
                </a:solidFill>
                <a:latin typeface="Open Sans" panose="020B0606030504020204" pitchFamily="34" charset="0"/>
              </a:rPr>
              <a:t> </a:t>
            </a:r>
            <a:r>
              <a:rPr lang="en-US" sz="2400" dirty="0" err="1">
                <a:solidFill>
                  <a:srgbClr val="434343"/>
                </a:solidFill>
                <a:latin typeface="Open Sans" panose="020B0606030504020204" pitchFamily="34" charset="0"/>
              </a:rPr>
              <a:t>elemento</a:t>
            </a:r>
            <a:r>
              <a:rPr lang="en-US" sz="2400" dirty="0">
                <a:solidFill>
                  <a:srgbClr val="434343"/>
                </a:solidFill>
                <a:latin typeface="Open Sans" panose="020B0606030504020204" pitchFamily="34" charset="0"/>
              </a:rPr>
              <a:t> y </a:t>
            </a:r>
            <a:r>
              <a:rPr lang="en-US" sz="2400" u="sng" dirty="0" err="1">
                <a:solidFill>
                  <a:srgbClr val="434343"/>
                </a:solidFill>
                <a:latin typeface="Open Sans" panose="020B0606030504020204" pitchFamily="34" charset="0"/>
              </a:rPr>
              <a:t>empieza</a:t>
            </a:r>
            <a:r>
              <a:rPr lang="en-US" sz="2400" u="sng" dirty="0">
                <a:solidFill>
                  <a:srgbClr val="434343"/>
                </a:solidFill>
                <a:latin typeface="Open Sans" panose="020B0606030504020204" pitchFamily="34" charset="0"/>
              </a:rPr>
              <a:t> </a:t>
            </a:r>
            <a:r>
              <a:rPr lang="en-US" sz="2400" u="sng" dirty="0" err="1">
                <a:solidFill>
                  <a:srgbClr val="434343"/>
                </a:solidFill>
                <a:latin typeface="Open Sans" panose="020B0606030504020204" pitchFamily="34" charset="0"/>
              </a:rPr>
              <a:t>por</a:t>
            </a:r>
            <a:r>
              <a:rPr lang="en-US" sz="2400" u="sng" dirty="0">
                <a:solidFill>
                  <a:srgbClr val="434343"/>
                </a:solidFill>
                <a:latin typeface="Open Sans" panose="020B0606030504020204" pitchFamily="34" charset="0"/>
              </a:rPr>
              <a:t> </a:t>
            </a:r>
            <a:r>
              <a:rPr lang="en-US" sz="2400" u="sng" dirty="0" err="1">
                <a:solidFill>
                  <a:srgbClr val="434343"/>
                </a:solidFill>
                <a:latin typeface="Open Sans" panose="020B0606030504020204" pitchFamily="34" charset="0"/>
              </a:rPr>
              <a:t>el</a:t>
            </a:r>
            <a:r>
              <a:rPr lang="en-US" sz="2400" u="sng" dirty="0">
                <a:solidFill>
                  <a:srgbClr val="434343"/>
                </a:solidFill>
                <a:latin typeface="Open Sans" panose="020B0606030504020204" pitchFamily="34" charset="0"/>
              </a:rPr>
              <a:t> 0</a:t>
            </a:r>
            <a:r>
              <a:rPr lang="en-US" sz="2400" dirty="0">
                <a:solidFill>
                  <a:srgbClr val="434343"/>
                </a:solidFill>
                <a:latin typeface="Open Sans" panose="020B0606030504020204" pitchFamily="34" charset="0"/>
              </a:rPr>
              <a:t>.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 err="1">
                <a:solidFill>
                  <a:srgbClr val="434343"/>
                </a:solidFill>
                <a:latin typeface="Open Sans" panose="020B0606030504020204" pitchFamily="34" charset="0"/>
              </a:rPr>
              <a:t>Cada</a:t>
            </a:r>
            <a:r>
              <a:rPr lang="en-US" sz="2400" dirty="0">
                <a:solidFill>
                  <a:srgbClr val="434343"/>
                </a:solidFill>
                <a:latin typeface="Open Sans" panose="020B0606030504020204" pitchFamily="34" charset="0"/>
              </a:rPr>
              <a:t> </a:t>
            </a:r>
            <a:r>
              <a:rPr lang="en-US" sz="2400" dirty="0" err="1">
                <a:solidFill>
                  <a:srgbClr val="434343"/>
                </a:solidFill>
                <a:latin typeface="Open Sans" panose="020B0606030504020204" pitchFamily="34" charset="0"/>
              </a:rPr>
              <a:t>indice</a:t>
            </a:r>
            <a:r>
              <a:rPr lang="en-US" sz="2400" dirty="0">
                <a:solidFill>
                  <a:srgbClr val="434343"/>
                </a:solidFill>
                <a:latin typeface="Open Sans" panose="020B0606030504020204" pitchFamily="34" charset="0"/>
              </a:rPr>
              <a:t> se </a:t>
            </a:r>
            <a:r>
              <a:rPr lang="en-US" sz="2400" dirty="0" err="1">
                <a:solidFill>
                  <a:srgbClr val="434343"/>
                </a:solidFill>
                <a:latin typeface="Open Sans" panose="020B0606030504020204" pitchFamily="34" charset="0"/>
              </a:rPr>
              <a:t>asocia</a:t>
            </a:r>
            <a:r>
              <a:rPr lang="en-US" sz="2400" dirty="0">
                <a:solidFill>
                  <a:srgbClr val="434343"/>
                </a:solidFill>
                <a:latin typeface="Open Sans" panose="020B0606030504020204" pitchFamily="34" charset="0"/>
              </a:rPr>
              <a:t> a un valor </a:t>
            </a:r>
            <a:r>
              <a:rPr lang="en-US" sz="2400" dirty="0" err="1">
                <a:solidFill>
                  <a:srgbClr val="434343"/>
                </a:solidFill>
                <a:latin typeface="Open Sans" panose="020B0606030504020204" pitchFamily="34" charset="0"/>
              </a:rPr>
              <a:t>en</a:t>
            </a:r>
            <a:r>
              <a:rPr lang="en-US" sz="2400" dirty="0">
                <a:solidFill>
                  <a:srgbClr val="434343"/>
                </a:solidFill>
                <a:latin typeface="Open Sans" panose="020B0606030504020204" pitchFamily="34" charset="0"/>
              </a:rPr>
              <a:t> </a:t>
            </a:r>
            <a:r>
              <a:rPr lang="en-US" sz="2400" dirty="0" err="1">
                <a:solidFill>
                  <a:srgbClr val="434343"/>
                </a:solidFill>
                <a:latin typeface="Open Sans" panose="020B0606030504020204" pitchFamily="34" charset="0"/>
              </a:rPr>
              <a:t>orden</a:t>
            </a:r>
            <a:r>
              <a:rPr lang="en-US" sz="2400" dirty="0">
                <a:solidFill>
                  <a:srgbClr val="434343"/>
                </a:solidFill>
                <a:latin typeface="Open Sans" panose="020B0606030504020204" pitchFamily="34" charset="0"/>
              </a:rPr>
              <a:t>.</a:t>
            </a:r>
            <a:endParaRPr lang="en-US" sz="2400" b="0" i="0" u="none" strike="noStrike" dirty="0">
              <a:solidFill>
                <a:srgbClr val="434343"/>
              </a:solidFill>
              <a:effectLst/>
              <a:latin typeface="Open Sans" panose="020B0606030504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545C350-5B02-C878-0CA5-A3F8A9AC27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9685" y="2878585"/>
            <a:ext cx="8655375" cy="3244867"/>
          </a:xfrm>
          <a:prstGeom prst="rect">
            <a:avLst/>
          </a:prstGeom>
        </p:spPr>
      </p:pic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233AB31E-FCCE-AD69-5568-780E238C9A21}"/>
              </a:ext>
            </a:extLst>
          </p:cNvPr>
          <p:cNvCxnSpPr>
            <a:cxnSpLocks/>
          </p:cNvCxnSpPr>
          <p:nvPr/>
        </p:nvCxnSpPr>
        <p:spPr>
          <a:xfrm flipV="1">
            <a:off x="6012375" y="3853543"/>
            <a:ext cx="0" cy="581891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A6848405-3D48-CDDE-2C87-F1760B8C6CFC}"/>
              </a:ext>
            </a:extLst>
          </p:cNvPr>
          <p:cNvCxnSpPr>
            <a:cxnSpLocks/>
          </p:cNvCxnSpPr>
          <p:nvPr/>
        </p:nvCxnSpPr>
        <p:spPr>
          <a:xfrm flipV="1">
            <a:off x="6693226" y="3853543"/>
            <a:ext cx="0" cy="581891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B56A4023-0C6B-3F74-88F3-036BEDF71E44}"/>
              </a:ext>
            </a:extLst>
          </p:cNvPr>
          <p:cNvCxnSpPr>
            <a:cxnSpLocks/>
          </p:cNvCxnSpPr>
          <p:nvPr/>
        </p:nvCxnSpPr>
        <p:spPr>
          <a:xfrm flipV="1">
            <a:off x="7279075" y="3853542"/>
            <a:ext cx="0" cy="581891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A3ABBFAA-7AED-F4FF-B9BE-DAC4B374C8FC}"/>
              </a:ext>
            </a:extLst>
          </p:cNvPr>
          <p:cNvCxnSpPr>
            <a:cxnSpLocks/>
          </p:cNvCxnSpPr>
          <p:nvPr/>
        </p:nvCxnSpPr>
        <p:spPr>
          <a:xfrm flipV="1">
            <a:off x="7908468" y="3853541"/>
            <a:ext cx="0" cy="581891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E295E8F1-FE7F-7245-010B-1A2806F9AD22}"/>
              </a:ext>
            </a:extLst>
          </p:cNvPr>
          <p:cNvCxnSpPr>
            <a:cxnSpLocks/>
          </p:cNvCxnSpPr>
          <p:nvPr/>
        </p:nvCxnSpPr>
        <p:spPr>
          <a:xfrm flipV="1">
            <a:off x="8549735" y="3853540"/>
            <a:ext cx="0" cy="581891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3F281EE8-6AEC-7B20-5FE3-28D92A8D062C}"/>
              </a:ext>
            </a:extLst>
          </p:cNvPr>
          <p:cNvCxnSpPr>
            <a:cxnSpLocks/>
          </p:cNvCxnSpPr>
          <p:nvPr/>
        </p:nvCxnSpPr>
        <p:spPr>
          <a:xfrm flipV="1">
            <a:off x="9161315" y="3853539"/>
            <a:ext cx="0" cy="581891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6" name="CuadroTexto 15">
            <a:extLst>
              <a:ext uri="{FF2B5EF4-FFF2-40B4-BE49-F238E27FC236}">
                <a16:creationId xmlns:a16="http://schemas.microsoft.com/office/drawing/2014/main" id="{3FE5E593-0201-6BB0-4FD5-E40945F69EE5}"/>
              </a:ext>
            </a:extLst>
          </p:cNvPr>
          <p:cNvSpPr txBox="1"/>
          <p:nvPr/>
        </p:nvSpPr>
        <p:spPr>
          <a:xfrm>
            <a:off x="5850329" y="4501018"/>
            <a:ext cx="4913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Open Sans" panose="020B0606030504020204" pitchFamily="34" charset="0"/>
              </a:rPr>
              <a:t>0</a:t>
            </a:r>
            <a:endParaRPr lang="es-AR" dirty="0">
              <a:solidFill>
                <a:schemeClr val="bg1"/>
              </a:solidFill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4C1D3409-D7C0-7783-AFE0-BA19F19501A2}"/>
              </a:ext>
            </a:extLst>
          </p:cNvPr>
          <p:cNvSpPr txBox="1"/>
          <p:nvPr/>
        </p:nvSpPr>
        <p:spPr>
          <a:xfrm>
            <a:off x="6531863" y="4507824"/>
            <a:ext cx="4913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Open Sans" panose="020B0606030504020204" pitchFamily="34" charset="0"/>
              </a:rPr>
              <a:t>1</a:t>
            </a:r>
            <a:endParaRPr lang="es-AR" dirty="0">
              <a:solidFill>
                <a:schemeClr val="bg1"/>
              </a:solidFill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ECD8367F-5802-5508-3935-6792A9ABCFB2}"/>
              </a:ext>
            </a:extLst>
          </p:cNvPr>
          <p:cNvSpPr txBox="1"/>
          <p:nvPr/>
        </p:nvSpPr>
        <p:spPr>
          <a:xfrm>
            <a:off x="7141096" y="4526505"/>
            <a:ext cx="4913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Open Sans" panose="020B0606030504020204" pitchFamily="34" charset="0"/>
              </a:rPr>
              <a:t>2</a:t>
            </a:r>
            <a:endParaRPr lang="es-AR" dirty="0">
              <a:solidFill>
                <a:schemeClr val="bg1"/>
              </a:solidFill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42502BC6-4C72-DA7D-5CC3-EB46E72C8D1B}"/>
              </a:ext>
            </a:extLst>
          </p:cNvPr>
          <p:cNvSpPr txBox="1"/>
          <p:nvPr/>
        </p:nvSpPr>
        <p:spPr>
          <a:xfrm>
            <a:off x="7750329" y="4516366"/>
            <a:ext cx="4913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Open Sans" panose="020B0606030504020204" pitchFamily="34" charset="0"/>
              </a:rPr>
              <a:t>3</a:t>
            </a:r>
            <a:endParaRPr lang="es-AR" dirty="0">
              <a:solidFill>
                <a:schemeClr val="bg1"/>
              </a:solidFill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8D2EE613-802A-0797-CD05-E382A6AACAC1}"/>
              </a:ext>
            </a:extLst>
          </p:cNvPr>
          <p:cNvSpPr txBox="1"/>
          <p:nvPr/>
        </p:nvSpPr>
        <p:spPr>
          <a:xfrm>
            <a:off x="8431863" y="4501018"/>
            <a:ext cx="4913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Open Sans" panose="020B0606030504020204" pitchFamily="34" charset="0"/>
              </a:rPr>
              <a:t>4</a:t>
            </a:r>
            <a:endParaRPr lang="es-AR" dirty="0">
              <a:solidFill>
                <a:schemeClr val="bg1"/>
              </a:solidFill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4C42F4A1-E455-B98B-1A73-E8F6B6A598A0}"/>
              </a:ext>
            </a:extLst>
          </p:cNvPr>
          <p:cNvSpPr txBox="1"/>
          <p:nvPr/>
        </p:nvSpPr>
        <p:spPr>
          <a:xfrm>
            <a:off x="9018395" y="4516366"/>
            <a:ext cx="4913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Open Sans" panose="020B0606030504020204" pitchFamily="34" charset="0"/>
              </a:rPr>
              <a:t>5</a:t>
            </a:r>
            <a:endParaRPr lang="es-AR" dirty="0">
              <a:solidFill>
                <a:schemeClr val="bg1"/>
              </a:solidFill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BDCDD118-B632-D23D-9701-D61451E03782}"/>
              </a:ext>
            </a:extLst>
          </p:cNvPr>
          <p:cNvSpPr txBox="1"/>
          <p:nvPr/>
        </p:nvSpPr>
        <p:spPr>
          <a:xfrm>
            <a:off x="7194624" y="4942903"/>
            <a:ext cx="14829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Open Sans" panose="020B0606030504020204" pitchFamily="34" charset="0"/>
              </a:rPr>
              <a:t>Indices</a:t>
            </a:r>
            <a:endParaRPr lang="es-A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97988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E2EEF8A5-14B7-DEBB-4B7E-E5434E3293F2}"/>
              </a:ext>
            </a:extLst>
          </p:cNvPr>
          <p:cNvSpPr txBox="1">
            <a:spLocks/>
          </p:cNvSpPr>
          <p:nvPr/>
        </p:nvSpPr>
        <p:spPr>
          <a:xfrm>
            <a:off x="2298861" y="266596"/>
            <a:ext cx="7735787" cy="7540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3200" b="1" dirty="0">
                <a:solidFill>
                  <a:srgbClr val="B00055"/>
                </a:solidFill>
                <a:latin typeface="Verdana" panose="020B0604030504040204" pitchFamily="34" charset="0"/>
              </a:rPr>
              <a:t>Matriz</a:t>
            </a:r>
          </a:p>
        </p:txBody>
      </p:sp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38E4A167-08A5-3479-9422-1E6A6083E5B9}"/>
              </a:ext>
            </a:extLst>
          </p:cNvPr>
          <p:cNvSpPr txBox="1">
            <a:spLocks/>
          </p:cNvSpPr>
          <p:nvPr/>
        </p:nvSpPr>
        <p:spPr>
          <a:xfrm>
            <a:off x="321618" y="1020680"/>
            <a:ext cx="11328075" cy="172845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n-US" b="1" dirty="0" err="1">
                <a:solidFill>
                  <a:schemeClr val="accent2"/>
                </a:solidFill>
                <a:latin typeface="Open Sans" panose="020B0606030504020204" pitchFamily="34" charset="0"/>
              </a:rPr>
              <a:t>Continuando</a:t>
            </a:r>
            <a:r>
              <a:rPr lang="en-US" b="1" dirty="0">
                <a:solidFill>
                  <a:schemeClr val="accent2"/>
                </a:solidFill>
                <a:latin typeface="Open Sans" panose="020B0606030504020204" pitchFamily="34" charset="0"/>
              </a:rPr>
              <a:t> con </a:t>
            </a:r>
            <a:r>
              <a:rPr lang="en-US" b="1" dirty="0" err="1">
                <a:solidFill>
                  <a:schemeClr val="accent2"/>
                </a:solidFill>
                <a:latin typeface="Open Sans" panose="020B0606030504020204" pitchFamily="34" charset="0"/>
              </a:rPr>
              <a:t>el</a:t>
            </a:r>
            <a:r>
              <a:rPr lang="en-US" b="1" dirty="0">
                <a:solidFill>
                  <a:schemeClr val="accent2"/>
                </a:solidFill>
                <a:latin typeface="Open Sans" panose="020B0606030504020204" pitchFamily="34" charset="0"/>
              </a:rPr>
              <a:t> </a:t>
            </a:r>
            <a:r>
              <a:rPr lang="en-US" b="1" dirty="0" err="1">
                <a:solidFill>
                  <a:schemeClr val="accent2"/>
                </a:solidFill>
                <a:latin typeface="Open Sans" panose="020B0606030504020204" pitchFamily="34" charset="0"/>
              </a:rPr>
              <a:t>ejemplo</a:t>
            </a:r>
            <a:r>
              <a:rPr lang="en-US" b="1" dirty="0">
                <a:solidFill>
                  <a:schemeClr val="accent2"/>
                </a:solidFill>
                <a:latin typeface="Open Sans" panose="020B0606030504020204" pitchFamily="34" charset="0"/>
              </a:rPr>
              <a:t>:</a:t>
            </a:r>
          </a:p>
          <a:p>
            <a:pPr marL="0" indent="0">
              <a:spcBef>
                <a:spcPts val="600"/>
              </a:spcBef>
              <a:buNone/>
            </a:pPr>
            <a:endParaRPr lang="en-US" sz="900" b="0" i="0" u="none" strike="noStrike" dirty="0">
              <a:solidFill>
                <a:srgbClr val="434343"/>
              </a:solidFill>
              <a:effectLst/>
              <a:latin typeface="Open Sans" panose="020B0606030504020204" pitchFamily="34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rgbClr val="434343"/>
                </a:solidFill>
                <a:latin typeface="Open Sans" panose="020B0606030504020204" pitchFamily="34" charset="0"/>
              </a:rPr>
              <a:t>Si </a:t>
            </a:r>
            <a:r>
              <a:rPr lang="en-US" sz="2400" dirty="0" err="1">
                <a:solidFill>
                  <a:srgbClr val="434343"/>
                </a:solidFill>
                <a:latin typeface="Open Sans" panose="020B0606030504020204" pitchFamily="34" charset="0"/>
              </a:rPr>
              <a:t>queremos</a:t>
            </a:r>
            <a:r>
              <a:rPr lang="en-US" sz="2400" dirty="0">
                <a:solidFill>
                  <a:srgbClr val="434343"/>
                </a:solidFill>
                <a:latin typeface="Open Sans" panose="020B0606030504020204" pitchFamily="34" charset="0"/>
              </a:rPr>
              <a:t> mortar </a:t>
            </a:r>
            <a:r>
              <a:rPr lang="en-US" sz="2400" dirty="0" err="1">
                <a:solidFill>
                  <a:srgbClr val="434343"/>
                </a:solidFill>
                <a:latin typeface="Open Sans" panose="020B0606030504020204" pitchFamily="34" charset="0"/>
              </a:rPr>
              <a:t>el</a:t>
            </a:r>
            <a:r>
              <a:rPr lang="en-US" sz="2400" dirty="0">
                <a:solidFill>
                  <a:srgbClr val="434343"/>
                </a:solidFill>
                <a:latin typeface="Open Sans" panose="020B0606030504020204" pitchFamily="34" charset="0"/>
              </a:rPr>
              <a:t> </a:t>
            </a:r>
            <a:r>
              <a:rPr lang="en-US" sz="2400" dirty="0" err="1">
                <a:solidFill>
                  <a:srgbClr val="434343"/>
                </a:solidFill>
                <a:latin typeface="Open Sans" panose="020B0606030504020204" pitchFamily="34" charset="0"/>
              </a:rPr>
              <a:t>numero</a:t>
            </a:r>
            <a:r>
              <a:rPr lang="en-US" sz="2400" dirty="0">
                <a:solidFill>
                  <a:srgbClr val="434343"/>
                </a:solidFill>
                <a:latin typeface="Open Sans" panose="020B0606030504020204" pitchFamily="34" charset="0"/>
              </a:rPr>
              <a:t> 50, </a:t>
            </a:r>
            <a:r>
              <a:rPr lang="en-US" sz="2400" dirty="0" err="1">
                <a:solidFill>
                  <a:srgbClr val="434343"/>
                </a:solidFill>
                <a:latin typeface="Open Sans" panose="020B0606030504020204" pitchFamily="34" charset="0"/>
              </a:rPr>
              <a:t>deberiamos</a:t>
            </a:r>
            <a:r>
              <a:rPr lang="en-US" sz="2400" dirty="0">
                <a:solidFill>
                  <a:srgbClr val="434343"/>
                </a:solidFill>
                <a:latin typeface="Open Sans" panose="020B0606030504020204" pitchFamily="34" charset="0"/>
              </a:rPr>
              <a:t> </a:t>
            </a:r>
            <a:r>
              <a:rPr lang="en-US" sz="2400" dirty="0" err="1">
                <a:solidFill>
                  <a:srgbClr val="434343"/>
                </a:solidFill>
                <a:latin typeface="Open Sans" panose="020B0606030504020204" pitchFamily="34" charset="0"/>
              </a:rPr>
              <a:t>hacer</a:t>
            </a:r>
            <a:r>
              <a:rPr lang="en-US" sz="2400" dirty="0">
                <a:solidFill>
                  <a:srgbClr val="434343"/>
                </a:solidFill>
                <a:latin typeface="Open Sans" panose="020B0606030504020204" pitchFamily="34" charset="0"/>
              </a:rPr>
              <a:t> </a:t>
            </a:r>
            <a:r>
              <a:rPr lang="en-US" sz="2400" dirty="0" err="1">
                <a:solidFill>
                  <a:srgbClr val="434343"/>
                </a:solidFill>
                <a:latin typeface="Open Sans" panose="020B0606030504020204" pitchFamily="34" charset="0"/>
              </a:rPr>
              <a:t>el</a:t>
            </a:r>
            <a:r>
              <a:rPr lang="en-US" sz="2400" dirty="0">
                <a:solidFill>
                  <a:srgbClr val="434343"/>
                </a:solidFill>
                <a:latin typeface="Open Sans" panose="020B0606030504020204" pitchFamily="34" charset="0"/>
              </a:rPr>
              <a:t> </a:t>
            </a:r>
            <a:r>
              <a:rPr lang="en-US" sz="2400" dirty="0" err="1">
                <a:solidFill>
                  <a:srgbClr val="434343"/>
                </a:solidFill>
                <a:latin typeface="Open Sans" panose="020B0606030504020204" pitchFamily="34" charset="0"/>
              </a:rPr>
              <a:t>siguiente</a:t>
            </a:r>
            <a:r>
              <a:rPr lang="en-US" sz="2400" dirty="0">
                <a:solidFill>
                  <a:srgbClr val="434343"/>
                </a:solidFill>
                <a:latin typeface="Open Sans" panose="020B0606030504020204" pitchFamily="34" charset="0"/>
              </a:rPr>
              <a:t> console.log, </a:t>
            </a:r>
            <a:r>
              <a:rPr lang="en-US" sz="2400" dirty="0" err="1">
                <a:solidFill>
                  <a:srgbClr val="434343"/>
                </a:solidFill>
                <a:latin typeface="Open Sans" panose="020B0606030504020204" pitchFamily="34" charset="0"/>
              </a:rPr>
              <a:t>ya</a:t>
            </a:r>
            <a:r>
              <a:rPr lang="en-US" sz="2400" dirty="0">
                <a:solidFill>
                  <a:srgbClr val="434343"/>
                </a:solidFill>
                <a:latin typeface="Open Sans" panose="020B0606030504020204" pitchFamily="34" charset="0"/>
              </a:rPr>
              <a:t> que 3 es </a:t>
            </a:r>
            <a:r>
              <a:rPr lang="en-US" sz="2400" dirty="0" err="1">
                <a:solidFill>
                  <a:srgbClr val="434343"/>
                </a:solidFill>
                <a:latin typeface="Open Sans" panose="020B0606030504020204" pitchFamily="34" charset="0"/>
              </a:rPr>
              <a:t>el</a:t>
            </a:r>
            <a:r>
              <a:rPr lang="en-US" sz="2400" dirty="0">
                <a:solidFill>
                  <a:srgbClr val="434343"/>
                </a:solidFill>
                <a:latin typeface="Open Sans" panose="020B0606030504020204" pitchFamily="34" charset="0"/>
              </a:rPr>
              <a:t> </a:t>
            </a:r>
            <a:r>
              <a:rPr lang="en-US" sz="2400" dirty="0" err="1">
                <a:solidFill>
                  <a:srgbClr val="434343"/>
                </a:solidFill>
                <a:latin typeface="Open Sans" panose="020B0606030504020204" pitchFamily="34" charset="0"/>
              </a:rPr>
              <a:t>numero</a:t>
            </a:r>
            <a:r>
              <a:rPr lang="en-US" sz="2400" dirty="0">
                <a:solidFill>
                  <a:srgbClr val="434343"/>
                </a:solidFill>
                <a:latin typeface="Open Sans" panose="020B0606030504020204" pitchFamily="34" charset="0"/>
              </a:rPr>
              <a:t> de </a:t>
            </a:r>
            <a:r>
              <a:rPr lang="en-US" sz="2400" dirty="0" err="1">
                <a:solidFill>
                  <a:srgbClr val="434343"/>
                </a:solidFill>
                <a:latin typeface="Open Sans" panose="020B0606030504020204" pitchFamily="34" charset="0"/>
              </a:rPr>
              <a:t>indice</a:t>
            </a:r>
            <a:r>
              <a:rPr lang="en-US" sz="2400" dirty="0">
                <a:solidFill>
                  <a:srgbClr val="434343"/>
                </a:solidFill>
                <a:latin typeface="Open Sans" panose="020B0606030504020204" pitchFamily="34" charset="0"/>
              </a:rPr>
              <a:t> del array y </a:t>
            </a:r>
            <a:r>
              <a:rPr lang="en-US" sz="2400" dirty="0" err="1">
                <a:solidFill>
                  <a:srgbClr val="434343"/>
                </a:solidFill>
                <a:latin typeface="Open Sans" panose="020B0606030504020204" pitchFamily="34" charset="0"/>
              </a:rPr>
              <a:t>cuyo</a:t>
            </a:r>
            <a:r>
              <a:rPr lang="en-US" sz="2400" dirty="0">
                <a:solidFill>
                  <a:srgbClr val="434343"/>
                </a:solidFill>
                <a:latin typeface="Open Sans" panose="020B0606030504020204" pitchFamily="34" charset="0"/>
              </a:rPr>
              <a:t> valor es </a:t>
            </a:r>
            <a:r>
              <a:rPr lang="en-US" sz="2400" dirty="0" err="1">
                <a:solidFill>
                  <a:srgbClr val="434343"/>
                </a:solidFill>
                <a:latin typeface="Open Sans" panose="020B0606030504020204" pitchFamily="34" charset="0"/>
              </a:rPr>
              <a:t>igual</a:t>
            </a:r>
            <a:r>
              <a:rPr lang="en-US" sz="2400" dirty="0">
                <a:solidFill>
                  <a:srgbClr val="434343"/>
                </a:solidFill>
                <a:latin typeface="Open Sans" panose="020B0606030504020204" pitchFamily="34" charset="0"/>
              </a:rPr>
              <a:t> a 50, </a:t>
            </a:r>
            <a:r>
              <a:rPr lang="en-US" sz="2400" dirty="0" err="1">
                <a:solidFill>
                  <a:srgbClr val="434343"/>
                </a:solidFill>
                <a:latin typeface="Open Sans" panose="020B0606030504020204" pitchFamily="34" charset="0"/>
              </a:rPr>
              <a:t>por</a:t>
            </a:r>
            <a:r>
              <a:rPr lang="en-US" sz="2400" dirty="0">
                <a:solidFill>
                  <a:srgbClr val="434343"/>
                </a:solidFill>
                <a:latin typeface="Open Sans" panose="020B0606030504020204" pitchFamily="34" charset="0"/>
              </a:rPr>
              <a:t> lo tanto </a:t>
            </a:r>
            <a:r>
              <a:rPr lang="en-US" sz="2400" dirty="0" err="1">
                <a:solidFill>
                  <a:srgbClr val="434343"/>
                </a:solidFill>
                <a:latin typeface="Open Sans" panose="020B0606030504020204" pitchFamily="34" charset="0"/>
              </a:rPr>
              <a:t>por</a:t>
            </a:r>
            <a:r>
              <a:rPr lang="en-US" sz="2400" dirty="0">
                <a:solidFill>
                  <a:srgbClr val="434343"/>
                </a:solidFill>
                <a:latin typeface="Open Sans" panose="020B0606030504020204" pitchFamily="34" charset="0"/>
              </a:rPr>
              <a:t> </a:t>
            </a:r>
            <a:r>
              <a:rPr lang="en-US" sz="2400" dirty="0" err="1">
                <a:solidFill>
                  <a:srgbClr val="434343"/>
                </a:solidFill>
                <a:latin typeface="Open Sans" panose="020B0606030504020204" pitchFamily="34" charset="0"/>
              </a:rPr>
              <a:t>consola</a:t>
            </a:r>
            <a:r>
              <a:rPr lang="en-US" sz="2400" dirty="0">
                <a:solidFill>
                  <a:srgbClr val="434343"/>
                </a:solidFill>
                <a:latin typeface="Open Sans" panose="020B0606030504020204" pitchFamily="34" charset="0"/>
              </a:rPr>
              <a:t> </a:t>
            </a:r>
            <a:r>
              <a:rPr lang="en-US" sz="2400" dirty="0" err="1">
                <a:solidFill>
                  <a:srgbClr val="434343"/>
                </a:solidFill>
                <a:latin typeface="Open Sans" panose="020B0606030504020204" pitchFamily="34" charset="0"/>
              </a:rPr>
              <a:t>veriamos</a:t>
            </a:r>
            <a:r>
              <a:rPr lang="en-US" sz="2400" dirty="0">
                <a:solidFill>
                  <a:srgbClr val="434343"/>
                </a:solidFill>
                <a:latin typeface="Open Sans" panose="020B0606030504020204" pitchFamily="34" charset="0"/>
              </a:rPr>
              <a:t> ese </a:t>
            </a:r>
            <a:r>
              <a:rPr lang="en-US" sz="2400" dirty="0" err="1">
                <a:solidFill>
                  <a:srgbClr val="434343"/>
                </a:solidFill>
                <a:latin typeface="Open Sans" panose="020B0606030504020204" pitchFamily="34" charset="0"/>
              </a:rPr>
              <a:t>numero</a:t>
            </a:r>
            <a:r>
              <a:rPr lang="en-US" sz="2400" dirty="0">
                <a:solidFill>
                  <a:srgbClr val="434343"/>
                </a:solidFill>
                <a:latin typeface="Open Sans" panose="020B0606030504020204" pitchFamily="34" charset="0"/>
              </a:rPr>
              <a:t>:</a:t>
            </a:r>
            <a:endParaRPr lang="en-US" sz="2400" b="0" i="0" u="none" strike="noStrike" dirty="0">
              <a:solidFill>
                <a:srgbClr val="434343"/>
              </a:solidFill>
              <a:effectLst/>
              <a:latin typeface="Open Sans" panose="020B0606030504020204" pitchFamily="34" charset="0"/>
            </a:endParaRPr>
          </a:p>
        </p:txBody>
      </p:sp>
      <p:sp>
        <p:nvSpPr>
          <p:cNvPr id="10" name="Bocadillo: rectángulo con esquinas redondeadas 9">
            <a:extLst>
              <a:ext uri="{FF2B5EF4-FFF2-40B4-BE49-F238E27FC236}">
                <a16:creationId xmlns:a16="http://schemas.microsoft.com/office/drawing/2014/main" id="{D9D80416-A93B-D8D2-939A-F15833BCCBCC}"/>
              </a:ext>
            </a:extLst>
          </p:cNvPr>
          <p:cNvSpPr/>
          <p:nvPr/>
        </p:nvSpPr>
        <p:spPr>
          <a:xfrm>
            <a:off x="8277078" y="3626291"/>
            <a:ext cx="3152899" cy="1728457"/>
          </a:xfrm>
          <a:prstGeom prst="wedgeRoundRect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Este </a:t>
            </a:r>
            <a:r>
              <a:rPr lang="en-US" dirty="0" err="1"/>
              <a:t>razonamiento</a:t>
            </a:r>
            <a:r>
              <a:rPr lang="en-US" dirty="0"/>
              <a:t> </a:t>
            </a:r>
            <a:r>
              <a:rPr lang="en-US" dirty="0" err="1"/>
              <a:t>piensan</a:t>
            </a:r>
            <a:r>
              <a:rPr lang="en-US" dirty="0"/>
              <a:t> que es </a:t>
            </a:r>
            <a:r>
              <a:rPr lang="en-US" dirty="0" err="1"/>
              <a:t>correcto</a:t>
            </a:r>
            <a:r>
              <a:rPr lang="en-US" dirty="0"/>
              <a:t>?</a:t>
            </a:r>
            <a:endParaRPr lang="es-AR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71569656-2793-EEAA-1AD6-7774EC24AB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8861" y="2890021"/>
            <a:ext cx="5598702" cy="3411092"/>
          </a:xfrm>
          <a:prstGeom prst="rect">
            <a:avLst/>
          </a:prstGeom>
        </p:spPr>
      </p:pic>
      <p:sp>
        <p:nvSpPr>
          <p:cNvPr id="11" name="Elipse 10">
            <a:extLst>
              <a:ext uri="{FF2B5EF4-FFF2-40B4-BE49-F238E27FC236}">
                <a16:creationId xmlns:a16="http://schemas.microsoft.com/office/drawing/2014/main" id="{9754A0B3-7672-B1CC-B092-C4FFACDEA936}"/>
              </a:ext>
            </a:extLst>
          </p:cNvPr>
          <p:cNvSpPr/>
          <p:nvPr/>
        </p:nvSpPr>
        <p:spPr>
          <a:xfrm>
            <a:off x="5831275" y="3626291"/>
            <a:ext cx="308759" cy="273132"/>
          </a:xfrm>
          <a:prstGeom prst="ellipse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2" name="Flecha: hacia abajo 11">
            <a:extLst>
              <a:ext uri="{FF2B5EF4-FFF2-40B4-BE49-F238E27FC236}">
                <a16:creationId xmlns:a16="http://schemas.microsoft.com/office/drawing/2014/main" id="{6B25709B-D3A5-817F-894D-A10C02A6439A}"/>
              </a:ext>
            </a:extLst>
          </p:cNvPr>
          <p:cNvSpPr/>
          <p:nvPr/>
        </p:nvSpPr>
        <p:spPr>
          <a:xfrm>
            <a:off x="7018317" y="5169757"/>
            <a:ext cx="190005" cy="314696"/>
          </a:xfrm>
          <a:prstGeom prst="down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431077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E2EEF8A5-14B7-DEBB-4B7E-E5434E3293F2}"/>
              </a:ext>
            </a:extLst>
          </p:cNvPr>
          <p:cNvSpPr txBox="1">
            <a:spLocks/>
          </p:cNvSpPr>
          <p:nvPr/>
        </p:nvSpPr>
        <p:spPr>
          <a:xfrm>
            <a:off x="2298861" y="266596"/>
            <a:ext cx="7735787" cy="7540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3200" b="1" dirty="0">
                <a:solidFill>
                  <a:srgbClr val="B00055"/>
                </a:solidFill>
                <a:latin typeface="Verdana" panose="020B0604030504040204" pitchFamily="34" charset="0"/>
              </a:rPr>
              <a:t>Matriz</a:t>
            </a:r>
          </a:p>
        </p:txBody>
      </p:sp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38E4A167-08A5-3479-9422-1E6A6083E5B9}"/>
              </a:ext>
            </a:extLst>
          </p:cNvPr>
          <p:cNvSpPr txBox="1">
            <a:spLocks/>
          </p:cNvSpPr>
          <p:nvPr/>
        </p:nvSpPr>
        <p:spPr>
          <a:xfrm>
            <a:off x="321618" y="1020680"/>
            <a:ext cx="11328075" cy="172845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n-US" sz="3300" b="1" dirty="0" err="1">
                <a:solidFill>
                  <a:schemeClr val="accent2"/>
                </a:solidFill>
                <a:latin typeface="Open Sans" panose="020B0606030504020204" pitchFamily="34" charset="0"/>
              </a:rPr>
              <a:t>Continuando</a:t>
            </a:r>
            <a:r>
              <a:rPr lang="en-US" sz="3300" b="1" dirty="0">
                <a:solidFill>
                  <a:schemeClr val="accent2"/>
                </a:solidFill>
                <a:latin typeface="Open Sans" panose="020B0606030504020204" pitchFamily="34" charset="0"/>
              </a:rPr>
              <a:t> con </a:t>
            </a:r>
            <a:r>
              <a:rPr lang="en-US" sz="3300" b="1" dirty="0" err="1">
                <a:solidFill>
                  <a:schemeClr val="accent2"/>
                </a:solidFill>
                <a:latin typeface="Open Sans" panose="020B0606030504020204" pitchFamily="34" charset="0"/>
              </a:rPr>
              <a:t>el</a:t>
            </a:r>
            <a:r>
              <a:rPr lang="en-US" sz="3300" b="1" dirty="0">
                <a:solidFill>
                  <a:schemeClr val="accent2"/>
                </a:solidFill>
                <a:latin typeface="Open Sans" panose="020B0606030504020204" pitchFamily="34" charset="0"/>
              </a:rPr>
              <a:t> </a:t>
            </a:r>
            <a:r>
              <a:rPr lang="en-US" sz="3300" b="1" dirty="0" err="1">
                <a:solidFill>
                  <a:schemeClr val="accent2"/>
                </a:solidFill>
                <a:latin typeface="Open Sans" panose="020B0606030504020204" pitchFamily="34" charset="0"/>
              </a:rPr>
              <a:t>ejemplo</a:t>
            </a:r>
            <a:r>
              <a:rPr lang="en-US" sz="3300" b="1" dirty="0">
                <a:solidFill>
                  <a:schemeClr val="accent2"/>
                </a:solidFill>
                <a:latin typeface="Open Sans" panose="020B0606030504020204" pitchFamily="34" charset="0"/>
              </a:rPr>
              <a:t>:</a:t>
            </a:r>
          </a:p>
          <a:p>
            <a:pPr marL="0" indent="0">
              <a:spcBef>
                <a:spcPts val="600"/>
              </a:spcBef>
              <a:buNone/>
            </a:pPr>
            <a:endParaRPr lang="en-US" sz="900" b="0" i="0" u="none" strike="noStrike" dirty="0">
              <a:solidFill>
                <a:srgbClr val="434343"/>
              </a:solidFill>
              <a:effectLst/>
              <a:latin typeface="Open Sans" panose="020B0606030504020204" pitchFamily="34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2400" u="sng" dirty="0">
                <a:solidFill>
                  <a:srgbClr val="434343"/>
                </a:solidFill>
                <a:latin typeface="Open Sans" panose="020B0606030504020204" pitchFamily="34" charset="0"/>
              </a:rPr>
              <a:t>No es </a:t>
            </a:r>
            <a:r>
              <a:rPr lang="en-US" sz="2400" u="sng" dirty="0" err="1">
                <a:solidFill>
                  <a:srgbClr val="434343"/>
                </a:solidFill>
                <a:latin typeface="Open Sans" panose="020B0606030504020204" pitchFamily="34" charset="0"/>
              </a:rPr>
              <a:t>correcto</a:t>
            </a:r>
            <a:r>
              <a:rPr lang="en-US" sz="2400" u="sng" dirty="0">
                <a:solidFill>
                  <a:srgbClr val="434343"/>
                </a:solidFill>
                <a:latin typeface="Open Sans" panose="020B0606030504020204" pitchFamily="34" charset="0"/>
              </a:rPr>
              <a:t>!</a:t>
            </a:r>
            <a:r>
              <a:rPr lang="en-US" sz="2400" dirty="0">
                <a:solidFill>
                  <a:srgbClr val="434343"/>
                </a:solidFill>
                <a:latin typeface="Open Sans" panose="020B0606030504020204" pitchFamily="34" charset="0"/>
              </a:rPr>
              <a:t> Ya que </a:t>
            </a:r>
            <a:r>
              <a:rPr lang="en-US" sz="2400" dirty="0" err="1">
                <a:solidFill>
                  <a:srgbClr val="434343"/>
                </a:solidFill>
                <a:latin typeface="Open Sans" panose="020B0606030504020204" pitchFamily="34" charset="0"/>
              </a:rPr>
              <a:t>si</a:t>
            </a:r>
            <a:r>
              <a:rPr lang="en-US" sz="2400" dirty="0">
                <a:solidFill>
                  <a:srgbClr val="434343"/>
                </a:solidFill>
                <a:latin typeface="Open Sans" panose="020B0606030504020204" pitchFamily="34" charset="0"/>
              </a:rPr>
              <a:t> </a:t>
            </a:r>
            <a:r>
              <a:rPr lang="en-US" sz="2400" dirty="0" err="1">
                <a:solidFill>
                  <a:srgbClr val="434343"/>
                </a:solidFill>
                <a:latin typeface="Open Sans" panose="020B0606030504020204" pitchFamily="34" charset="0"/>
              </a:rPr>
              <a:t>hacemos</a:t>
            </a:r>
            <a:r>
              <a:rPr lang="en-US" sz="2400" dirty="0">
                <a:solidFill>
                  <a:srgbClr val="434343"/>
                </a:solidFill>
                <a:latin typeface="Open Sans" panose="020B0606030504020204" pitchFamily="34" charset="0"/>
              </a:rPr>
              <a:t> </a:t>
            </a:r>
            <a:r>
              <a:rPr lang="en-US" sz="2400" dirty="0" err="1">
                <a:solidFill>
                  <a:srgbClr val="434343"/>
                </a:solidFill>
                <a:latin typeface="Open Sans" panose="020B0606030504020204" pitchFamily="34" charset="0"/>
              </a:rPr>
              <a:t>eso</a:t>
            </a:r>
            <a:r>
              <a:rPr lang="en-US" sz="2400" dirty="0">
                <a:solidFill>
                  <a:srgbClr val="434343"/>
                </a:solidFill>
                <a:latin typeface="Open Sans" panose="020B0606030504020204" pitchFamily="34" charset="0"/>
              </a:rPr>
              <a:t>, lo que se </a:t>
            </a:r>
            <a:r>
              <a:rPr lang="en-US" sz="2400" dirty="0" err="1">
                <a:solidFill>
                  <a:srgbClr val="434343"/>
                </a:solidFill>
                <a:latin typeface="Open Sans" panose="020B0606030504020204" pitchFamily="34" charset="0"/>
              </a:rPr>
              <a:t>mostrara</a:t>
            </a:r>
            <a:r>
              <a:rPr lang="en-US" sz="2400" dirty="0">
                <a:solidFill>
                  <a:srgbClr val="434343"/>
                </a:solidFill>
                <a:latin typeface="Open Sans" panose="020B0606030504020204" pitchFamily="34" charset="0"/>
              </a:rPr>
              <a:t> </a:t>
            </a:r>
            <a:r>
              <a:rPr lang="en-US" sz="2400" dirty="0" err="1">
                <a:solidFill>
                  <a:srgbClr val="434343"/>
                </a:solidFill>
                <a:latin typeface="Open Sans" panose="020B0606030504020204" pitchFamily="34" charset="0"/>
              </a:rPr>
              <a:t>por</a:t>
            </a:r>
            <a:r>
              <a:rPr lang="en-US" sz="2400" dirty="0">
                <a:solidFill>
                  <a:srgbClr val="434343"/>
                </a:solidFill>
                <a:latin typeface="Open Sans" panose="020B0606030504020204" pitchFamily="34" charset="0"/>
              </a:rPr>
              <a:t> </a:t>
            </a:r>
            <a:r>
              <a:rPr lang="en-US" sz="2400" dirty="0" err="1">
                <a:solidFill>
                  <a:srgbClr val="434343"/>
                </a:solidFill>
                <a:latin typeface="Open Sans" panose="020B0606030504020204" pitchFamily="34" charset="0"/>
              </a:rPr>
              <a:t>consola</a:t>
            </a:r>
            <a:r>
              <a:rPr lang="en-US" sz="2400" dirty="0">
                <a:solidFill>
                  <a:srgbClr val="434343"/>
                </a:solidFill>
                <a:latin typeface="Open Sans" panose="020B0606030504020204" pitchFamily="34" charset="0"/>
              </a:rPr>
              <a:t> es </a:t>
            </a:r>
            <a:r>
              <a:rPr lang="en-US" sz="2400" dirty="0" err="1">
                <a:solidFill>
                  <a:srgbClr val="434343"/>
                </a:solidFill>
                <a:highlight>
                  <a:srgbClr val="FFFF00"/>
                </a:highlight>
                <a:latin typeface="Open Sans" panose="020B0606030504020204" pitchFamily="34" charset="0"/>
              </a:rPr>
              <a:t>el</a:t>
            </a:r>
            <a:r>
              <a:rPr lang="en-US" sz="2400" dirty="0">
                <a:solidFill>
                  <a:srgbClr val="434343"/>
                </a:solidFill>
                <a:highlight>
                  <a:srgbClr val="FFFF00"/>
                </a:highlight>
                <a:latin typeface="Open Sans" panose="020B0606030504020204" pitchFamily="34" charset="0"/>
              </a:rPr>
              <a:t> ultimo array de la </a:t>
            </a:r>
            <a:r>
              <a:rPr lang="en-US" sz="2400" dirty="0" err="1">
                <a:solidFill>
                  <a:srgbClr val="434343"/>
                </a:solidFill>
                <a:highlight>
                  <a:srgbClr val="FFFF00"/>
                </a:highlight>
                <a:latin typeface="Open Sans" panose="020B0606030504020204" pitchFamily="34" charset="0"/>
              </a:rPr>
              <a:t>matriz</a:t>
            </a:r>
            <a:r>
              <a:rPr lang="en-US" sz="2400" dirty="0">
                <a:solidFill>
                  <a:srgbClr val="434343"/>
                </a:solidFill>
                <a:highlight>
                  <a:srgbClr val="FFFF00"/>
                </a:highlight>
                <a:latin typeface="Open Sans" panose="020B0606030504020204" pitchFamily="34" charset="0"/>
              </a:rPr>
              <a:t>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 err="1">
                <a:solidFill>
                  <a:srgbClr val="434343"/>
                </a:solidFill>
                <a:latin typeface="Open Sans" panose="020B0606030504020204" pitchFamily="34" charset="0"/>
              </a:rPr>
              <a:t>Esto</a:t>
            </a:r>
            <a:r>
              <a:rPr lang="en-US" sz="2400" dirty="0">
                <a:solidFill>
                  <a:srgbClr val="434343"/>
                </a:solidFill>
                <a:latin typeface="Open Sans" panose="020B0606030504020204" pitchFamily="34" charset="0"/>
              </a:rPr>
              <a:t> se </a:t>
            </a:r>
            <a:r>
              <a:rPr lang="en-US" sz="2400" dirty="0" err="1">
                <a:solidFill>
                  <a:srgbClr val="434343"/>
                </a:solidFill>
                <a:latin typeface="Open Sans" panose="020B0606030504020204" pitchFamily="34" charset="0"/>
              </a:rPr>
              <a:t>debe</a:t>
            </a:r>
            <a:r>
              <a:rPr lang="en-US" sz="2400" dirty="0">
                <a:solidFill>
                  <a:srgbClr val="434343"/>
                </a:solidFill>
                <a:latin typeface="Open Sans" panose="020B0606030504020204" pitchFamily="34" charset="0"/>
              </a:rPr>
              <a:t> a que </a:t>
            </a:r>
            <a:r>
              <a:rPr lang="en-US" sz="2400" dirty="0" err="1">
                <a:solidFill>
                  <a:srgbClr val="434343"/>
                </a:solidFill>
                <a:latin typeface="Open Sans" panose="020B0606030504020204" pitchFamily="34" charset="0"/>
              </a:rPr>
              <a:t>el</a:t>
            </a:r>
            <a:r>
              <a:rPr lang="en-US" sz="2400" dirty="0">
                <a:solidFill>
                  <a:srgbClr val="434343"/>
                </a:solidFill>
                <a:latin typeface="Open Sans" panose="020B0606030504020204" pitchFamily="34" charset="0"/>
              </a:rPr>
              <a:t> </a:t>
            </a:r>
            <a:r>
              <a:rPr lang="en-US" sz="2400" dirty="0" err="1">
                <a:solidFill>
                  <a:srgbClr val="434343"/>
                </a:solidFill>
                <a:highlight>
                  <a:srgbClr val="FFFF00"/>
                </a:highlight>
                <a:latin typeface="Open Sans" panose="020B0606030504020204" pitchFamily="34" charset="0"/>
              </a:rPr>
              <a:t>indice</a:t>
            </a:r>
            <a:r>
              <a:rPr lang="en-US" sz="2400" dirty="0">
                <a:solidFill>
                  <a:srgbClr val="434343"/>
                </a:solidFill>
                <a:highlight>
                  <a:srgbClr val="FFFF00"/>
                </a:highlight>
                <a:latin typeface="Open Sans" panose="020B0606030504020204" pitchFamily="34" charset="0"/>
              </a:rPr>
              <a:t> 3</a:t>
            </a:r>
            <a:r>
              <a:rPr lang="en-US" sz="2400" dirty="0">
                <a:solidFill>
                  <a:srgbClr val="434343"/>
                </a:solidFill>
                <a:latin typeface="Open Sans" panose="020B0606030504020204" pitchFamily="34" charset="0"/>
              </a:rPr>
              <a:t> de la variable “</a:t>
            </a:r>
            <a:r>
              <a:rPr lang="en-US" sz="2400" dirty="0" err="1">
                <a:solidFill>
                  <a:srgbClr val="434343"/>
                </a:solidFill>
                <a:latin typeface="Open Sans" panose="020B0606030504020204" pitchFamily="34" charset="0"/>
              </a:rPr>
              <a:t>matriz</a:t>
            </a:r>
            <a:r>
              <a:rPr lang="en-US" sz="2400" dirty="0">
                <a:solidFill>
                  <a:srgbClr val="434343"/>
                </a:solidFill>
                <a:latin typeface="Open Sans" panose="020B0606030504020204" pitchFamily="34" charset="0"/>
              </a:rPr>
              <a:t> de </a:t>
            </a:r>
            <a:r>
              <a:rPr lang="en-US" sz="2400" dirty="0" err="1">
                <a:solidFill>
                  <a:srgbClr val="434343"/>
                </a:solidFill>
                <a:latin typeface="Open Sans" panose="020B0606030504020204" pitchFamily="34" charset="0"/>
              </a:rPr>
              <a:t>edades</a:t>
            </a:r>
            <a:r>
              <a:rPr lang="en-US" sz="2400" dirty="0">
                <a:solidFill>
                  <a:srgbClr val="434343"/>
                </a:solidFill>
                <a:latin typeface="Open Sans" panose="020B0606030504020204" pitchFamily="34" charset="0"/>
              </a:rPr>
              <a:t>” es </a:t>
            </a:r>
            <a:r>
              <a:rPr lang="en-US" sz="2400" dirty="0" err="1">
                <a:solidFill>
                  <a:srgbClr val="434343"/>
                </a:solidFill>
                <a:latin typeface="Open Sans" panose="020B0606030504020204" pitchFamily="34" charset="0"/>
              </a:rPr>
              <a:t>este</a:t>
            </a:r>
            <a:r>
              <a:rPr lang="en-US" sz="2400" dirty="0">
                <a:solidFill>
                  <a:srgbClr val="434343"/>
                </a:solidFill>
                <a:latin typeface="Open Sans" panose="020B0606030504020204" pitchFamily="34" charset="0"/>
              </a:rPr>
              <a:t> array y no </a:t>
            </a:r>
            <a:r>
              <a:rPr lang="en-US" sz="2400" dirty="0" err="1">
                <a:solidFill>
                  <a:srgbClr val="434343"/>
                </a:solidFill>
                <a:latin typeface="Open Sans" panose="020B0606030504020204" pitchFamily="34" charset="0"/>
              </a:rPr>
              <a:t>otro</a:t>
            </a:r>
            <a:r>
              <a:rPr lang="en-US" sz="2400" dirty="0">
                <a:solidFill>
                  <a:srgbClr val="434343"/>
                </a:solidFill>
                <a:latin typeface="Open Sans" panose="020B0606030504020204" pitchFamily="34" charset="0"/>
              </a:rPr>
              <a:t>. </a:t>
            </a:r>
            <a:endParaRPr lang="en-US" sz="2400" b="0" i="0" u="none" strike="noStrike" dirty="0">
              <a:solidFill>
                <a:srgbClr val="434343"/>
              </a:solidFill>
              <a:effectLst/>
              <a:latin typeface="Open Sans" panose="020B0606030504020204" pitchFamily="34" charset="0"/>
            </a:endParaRPr>
          </a:p>
        </p:txBody>
      </p:sp>
      <p:sp>
        <p:nvSpPr>
          <p:cNvPr id="10" name="Bocadillo: rectángulo con esquinas redondeadas 9">
            <a:extLst>
              <a:ext uri="{FF2B5EF4-FFF2-40B4-BE49-F238E27FC236}">
                <a16:creationId xmlns:a16="http://schemas.microsoft.com/office/drawing/2014/main" id="{C86AB230-6E61-88C0-7F47-666899AED34F}"/>
              </a:ext>
            </a:extLst>
          </p:cNvPr>
          <p:cNvSpPr/>
          <p:nvPr/>
        </p:nvSpPr>
        <p:spPr>
          <a:xfrm>
            <a:off x="730332" y="3503222"/>
            <a:ext cx="2428504" cy="1522736"/>
          </a:xfrm>
          <a:prstGeom prst="wedgeRoundRect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Debemos</a:t>
            </a:r>
            <a:r>
              <a:rPr lang="en-US" dirty="0"/>
              <a:t> </a:t>
            </a:r>
            <a:r>
              <a:rPr lang="en-US" dirty="0" err="1"/>
              <a:t>tener</a:t>
            </a:r>
            <a:r>
              <a:rPr lang="en-US" dirty="0"/>
              <a:t> </a:t>
            </a:r>
            <a:r>
              <a:rPr lang="en-US" dirty="0" err="1"/>
              <a:t>mucho</a:t>
            </a:r>
            <a:r>
              <a:rPr lang="en-US" dirty="0"/>
              <a:t> </a:t>
            </a:r>
            <a:r>
              <a:rPr lang="en-US" dirty="0" err="1"/>
              <a:t>cuidado</a:t>
            </a:r>
            <a:r>
              <a:rPr lang="en-US" dirty="0"/>
              <a:t> a la hora de acceder a un valor!</a:t>
            </a:r>
            <a:endParaRPr lang="es-AR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CB7D1A3-1E9C-7202-1219-977767D280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9163" y="2943743"/>
            <a:ext cx="7433457" cy="3504256"/>
          </a:xfrm>
          <a:prstGeom prst="rect">
            <a:avLst/>
          </a:prstGeom>
        </p:spPr>
      </p:pic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24224966-4B27-101B-9AC5-D2D1F72A340A}"/>
              </a:ext>
            </a:extLst>
          </p:cNvPr>
          <p:cNvCxnSpPr>
            <a:cxnSpLocks/>
          </p:cNvCxnSpPr>
          <p:nvPr/>
        </p:nvCxnSpPr>
        <p:spPr>
          <a:xfrm flipH="1">
            <a:off x="9212775" y="3782291"/>
            <a:ext cx="542804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7A4C2DDB-BF24-14D6-42B4-30509BE58F76}"/>
              </a:ext>
            </a:extLst>
          </p:cNvPr>
          <p:cNvCxnSpPr>
            <a:cxnSpLocks/>
          </p:cNvCxnSpPr>
          <p:nvPr/>
        </p:nvCxnSpPr>
        <p:spPr>
          <a:xfrm flipH="1">
            <a:off x="9212775" y="4160322"/>
            <a:ext cx="542804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3009C199-4B9C-D54D-484F-59095B59CD8E}"/>
              </a:ext>
            </a:extLst>
          </p:cNvPr>
          <p:cNvCxnSpPr>
            <a:cxnSpLocks/>
          </p:cNvCxnSpPr>
          <p:nvPr/>
        </p:nvCxnSpPr>
        <p:spPr>
          <a:xfrm flipH="1">
            <a:off x="9258297" y="4516582"/>
            <a:ext cx="542804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5538C77E-2DAC-C986-03CC-8ACB1D058D6F}"/>
              </a:ext>
            </a:extLst>
          </p:cNvPr>
          <p:cNvCxnSpPr>
            <a:cxnSpLocks/>
          </p:cNvCxnSpPr>
          <p:nvPr/>
        </p:nvCxnSpPr>
        <p:spPr>
          <a:xfrm flipH="1">
            <a:off x="9258297" y="4914405"/>
            <a:ext cx="542804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0ED1033E-8082-1DBF-0CBB-B2F7AE568FD5}"/>
              </a:ext>
            </a:extLst>
          </p:cNvPr>
          <p:cNvCxnSpPr/>
          <p:nvPr/>
        </p:nvCxnSpPr>
        <p:spPr>
          <a:xfrm>
            <a:off x="5836722" y="5025958"/>
            <a:ext cx="2873829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5486FB6B-3F9B-3DF3-9221-2959D749D5BA}"/>
              </a:ext>
            </a:extLst>
          </p:cNvPr>
          <p:cNvSpPr txBox="1"/>
          <p:nvPr/>
        </p:nvSpPr>
        <p:spPr>
          <a:xfrm>
            <a:off x="9804564" y="3575185"/>
            <a:ext cx="4913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Open Sans" panose="020B0606030504020204" pitchFamily="34" charset="0"/>
              </a:rPr>
              <a:t>0</a:t>
            </a:r>
            <a:endParaRPr lang="es-AR" dirty="0">
              <a:solidFill>
                <a:schemeClr val="bg1"/>
              </a:solidFill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FA3E342E-0B69-8320-AE9B-5030EDEADBE7}"/>
              </a:ext>
            </a:extLst>
          </p:cNvPr>
          <p:cNvSpPr txBox="1"/>
          <p:nvPr/>
        </p:nvSpPr>
        <p:spPr>
          <a:xfrm>
            <a:off x="9804564" y="3975656"/>
            <a:ext cx="4913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Open Sans" panose="020B0606030504020204" pitchFamily="34" charset="0"/>
              </a:rPr>
              <a:t>1</a:t>
            </a:r>
            <a:endParaRPr lang="es-AR" dirty="0">
              <a:solidFill>
                <a:schemeClr val="bg1"/>
              </a:solidFill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FCFBAB20-E65A-0B60-E203-2D327E3C9805}"/>
              </a:ext>
            </a:extLst>
          </p:cNvPr>
          <p:cNvSpPr txBox="1"/>
          <p:nvPr/>
        </p:nvSpPr>
        <p:spPr>
          <a:xfrm>
            <a:off x="9529699" y="3198869"/>
            <a:ext cx="14829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Open Sans" panose="020B0606030504020204" pitchFamily="34" charset="0"/>
              </a:rPr>
              <a:t>Indices</a:t>
            </a:r>
            <a:endParaRPr lang="es-AR" dirty="0">
              <a:solidFill>
                <a:schemeClr val="bg1"/>
              </a:solidFill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F5529D6E-EC01-5569-76A5-837F16B293B7}"/>
              </a:ext>
            </a:extLst>
          </p:cNvPr>
          <p:cNvSpPr txBox="1"/>
          <p:nvPr/>
        </p:nvSpPr>
        <p:spPr>
          <a:xfrm>
            <a:off x="9788977" y="4353423"/>
            <a:ext cx="4913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Open Sans" panose="020B0606030504020204" pitchFamily="34" charset="0"/>
              </a:rPr>
              <a:t>2</a:t>
            </a:r>
            <a:endParaRPr lang="es-AR" dirty="0">
              <a:solidFill>
                <a:schemeClr val="bg1"/>
              </a:solidFill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9BF0F75E-D412-CF79-CA85-417DB7DC2C74}"/>
              </a:ext>
            </a:extLst>
          </p:cNvPr>
          <p:cNvSpPr txBox="1"/>
          <p:nvPr/>
        </p:nvSpPr>
        <p:spPr>
          <a:xfrm>
            <a:off x="9804564" y="4770565"/>
            <a:ext cx="4913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Open Sans" panose="020B0606030504020204" pitchFamily="34" charset="0"/>
              </a:rPr>
              <a:t>3</a:t>
            </a:r>
            <a:endParaRPr lang="es-A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57433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E2EEF8A5-14B7-DEBB-4B7E-E5434E3293F2}"/>
              </a:ext>
            </a:extLst>
          </p:cNvPr>
          <p:cNvSpPr txBox="1">
            <a:spLocks/>
          </p:cNvSpPr>
          <p:nvPr/>
        </p:nvSpPr>
        <p:spPr>
          <a:xfrm>
            <a:off x="2228106" y="60850"/>
            <a:ext cx="7735787" cy="7540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3200" b="1" dirty="0">
                <a:solidFill>
                  <a:srgbClr val="B00055"/>
                </a:solidFill>
                <a:latin typeface="Verdana" panose="020B0604030504040204" pitchFamily="34" charset="0"/>
              </a:rPr>
              <a:t>Matriz</a:t>
            </a:r>
          </a:p>
        </p:txBody>
      </p:sp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38E4A167-08A5-3479-9422-1E6A6083E5B9}"/>
              </a:ext>
            </a:extLst>
          </p:cNvPr>
          <p:cNvSpPr txBox="1">
            <a:spLocks/>
          </p:cNvSpPr>
          <p:nvPr/>
        </p:nvSpPr>
        <p:spPr>
          <a:xfrm>
            <a:off x="321618" y="1020679"/>
            <a:ext cx="11328075" cy="201940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n-US" sz="3300" b="1" dirty="0" err="1">
                <a:solidFill>
                  <a:schemeClr val="accent2"/>
                </a:solidFill>
                <a:latin typeface="Open Sans" panose="020B0606030504020204" pitchFamily="34" charset="0"/>
              </a:rPr>
              <a:t>Continuando</a:t>
            </a:r>
            <a:r>
              <a:rPr lang="en-US" sz="3300" b="1" dirty="0">
                <a:solidFill>
                  <a:schemeClr val="accent2"/>
                </a:solidFill>
                <a:latin typeface="Open Sans" panose="020B0606030504020204" pitchFamily="34" charset="0"/>
              </a:rPr>
              <a:t> con </a:t>
            </a:r>
            <a:r>
              <a:rPr lang="en-US" sz="3300" b="1" dirty="0" err="1">
                <a:solidFill>
                  <a:schemeClr val="accent2"/>
                </a:solidFill>
                <a:latin typeface="Open Sans" panose="020B0606030504020204" pitchFamily="34" charset="0"/>
              </a:rPr>
              <a:t>el</a:t>
            </a:r>
            <a:r>
              <a:rPr lang="en-US" sz="3300" b="1" dirty="0">
                <a:solidFill>
                  <a:schemeClr val="accent2"/>
                </a:solidFill>
                <a:latin typeface="Open Sans" panose="020B0606030504020204" pitchFamily="34" charset="0"/>
              </a:rPr>
              <a:t> </a:t>
            </a:r>
            <a:r>
              <a:rPr lang="en-US" sz="3300" b="1" dirty="0" err="1">
                <a:solidFill>
                  <a:schemeClr val="accent2"/>
                </a:solidFill>
                <a:latin typeface="Open Sans" panose="020B0606030504020204" pitchFamily="34" charset="0"/>
              </a:rPr>
              <a:t>ejemplo</a:t>
            </a:r>
            <a:r>
              <a:rPr lang="en-US" sz="3300" b="1" dirty="0">
                <a:solidFill>
                  <a:schemeClr val="accent2"/>
                </a:solidFill>
                <a:latin typeface="Open Sans" panose="020B0606030504020204" pitchFamily="34" charset="0"/>
              </a:rPr>
              <a:t>:</a:t>
            </a:r>
          </a:p>
          <a:p>
            <a:pPr marL="0" indent="0">
              <a:spcBef>
                <a:spcPts val="600"/>
              </a:spcBef>
              <a:buNone/>
            </a:pPr>
            <a:endParaRPr lang="en-US" sz="900" dirty="0">
              <a:solidFill>
                <a:srgbClr val="434343"/>
              </a:solidFill>
              <a:highlight>
                <a:srgbClr val="FFFF00"/>
              </a:highlight>
              <a:latin typeface="Open Sans" panose="020B0606030504020204" pitchFamily="34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2400" b="0" i="0" u="none" strike="noStrike" dirty="0">
                <a:solidFill>
                  <a:srgbClr val="434343"/>
                </a:solidFill>
                <a:effectLst/>
                <a:latin typeface="Open Sans" panose="020B0606030504020204" pitchFamily="34" charset="0"/>
              </a:rPr>
              <a:t>En </a:t>
            </a:r>
            <a:r>
              <a:rPr lang="en-US" sz="2400" b="0" i="0" u="none" strike="noStrike" dirty="0" err="1">
                <a:solidFill>
                  <a:srgbClr val="434343"/>
                </a:solidFill>
                <a:effectLst/>
                <a:latin typeface="Open Sans" panose="020B0606030504020204" pitchFamily="34" charset="0"/>
              </a:rPr>
              <a:t>el</a:t>
            </a:r>
            <a:r>
              <a:rPr lang="en-US" sz="2400" b="0" i="0" u="none" strike="noStrike" dirty="0">
                <a:solidFill>
                  <a:srgbClr val="434343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sz="2400" b="0" i="0" u="none" strike="noStrike" dirty="0" err="1">
                <a:solidFill>
                  <a:srgbClr val="434343"/>
                </a:solidFill>
                <a:effectLst/>
                <a:latin typeface="Open Sans" panose="020B0606030504020204" pitchFamily="34" charset="0"/>
              </a:rPr>
              <a:t>caso</a:t>
            </a:r>
            <a:r>
              <a:rPr lang="en-US" sz="2400" b="0" i="0" u="none" strike="noStrike" dirty="0">
                <a:solidFill>
                  <a:srgbClr val="434343"/>
                </a:solidFill>
                <a:effectLst/>
                <a:latin typeface="Open Sans" panose="020B0606030504020204" pitchFamily="34" charset="0"/>
              </a:rPr>
              <a:t> de </a:t>
            </a:r>
            <a:r>
              <a:rPr lang="en-US" sz="2400" b="0" i="0" u="none" strike="noStrike" dirty="0" err="1">
                <a:solidFill>
                  <a:srgbClr val="434343"/>
                </a:solidFill>
                <a:effectLst/>
                <a:latin typeface="Open Sans" panose="020B0606030504020204" pitchFamily="34" charset="0"/>
              </a:rPr>
              <a:t>querer</a:t>
            </a:r>
            <a:r>
              <a:rPr lang="en-US" sz="2400" b="0" i="0" u="none" strike="noStrike" dirty="0">
                <a:solidFill>
                  <a:srgbClr val="434343"/>
                </a:solidFill>
                <a:effectLst/>
                <a:latin typeface="Open Sans" panose="020B0606030504020204" pitchFamily="34" charset="0"/>
              </a:rPr>
              <a:t> acceder a un valor del array, que </a:t>
            </a:r>
            <a:r>
              <a:rPr lang="en-US" sz="2400" b="0" i="0" u="none" strike="noStrike" dirty="0" err="1">
                <a:solidFill>
                  <a:srgbClr val="434343"/>
                </a:solidFill>
                <a:effectLst/>
                <a:latin typeface="Open Sans" panose="020B0606030504020204" pitchFamily="34" charset="0"/>
              </a:rPr>
              <a:t>esta</a:t>
            </a:r>
            <a:r>
              <a:rPr lang="en-US" sz="2400" b="0" i="0" u="none" strike="noStrike" dirty="0">
                <a:solidFill>
                  <a:srgbClr val="434343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sz="2400" b="0" i="0" u="none" strike="noStrike" dirty="0" err="1">
                <a:solidFill>
                  <a:srgbClr val="434343"/>
                </a:solidFill>
                <a:effectLst/>
                <a:latin typeface="Open Sans" panose="020B0606030504020204" pitchFamily="34" charset="0"/>
              </a:rPr>
              <a:t>en</a:t>
            </a:r>
            <a:r>
              <a:rPr lang="en-US" sz="2400" b="0" i="0" u="none" strike="noStrike" dirty="0">
                <a:solidFill>
                  <a:srgbClr val="434343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sz="2400" b="0" i="0" u="none" strike="noStrike" dirty="0" err="1">
                <a:solidFill>
                  <a:srgbClr val="434343"/>
                </a:solidFill>
                <a:effectLst/>
                <a:latin typeface="Open Sans" panose="020B0606030504020204" pitchFamily="34" charset="0"/>
              </a:rPr>
              <a:t>el</a:t>
            </a:r>
            <a:r>
              <a:rPr lang="en-US" sz="2400" b="0" i="0" u="none" strike="noStrike" dirty="0">
                <a:solidFill>
                  <a:srgbClr val="434343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sz="2400" b="0" i="0" u="none" strike="noStrike" dirty="0" err="1">
                <a:solidFill>
                  <a:srgbClr val="434343"/>
                </a:solidFill>
                <a:effectLst/>
                <a:highlight>
                  <a:srgbClr val="FFFF00"/>
                </a:highlight>
                <a:latin typeface="Open Sans" panose="020B0606030504020204" pitchFamily="34" charset="0"/>
              </a:rPr>
              <a:t>indice</a:t>
            </a:r>
            <a:r>
              <a:rPr lang="en-US" sz="2400" b="0" i="0" u="none" strike="noStrike" dirty="0">
                <a:solidFill>
                  <a:srgbClr val="434343"/>
                </a:solidFill>
                <a:effectLst/>
                <a:highlight>
                  <a:srgbClr val="FFFF00"/>
                </a:highlight>
                <a:latin typeface="Open Sans" panose="020B0606030504020204" pitchFamily="34" charset="0"/>
              </a:rPr>
              <a:t> 3 </a:t>
            </a:r>
            <a:r>
              <a:rPr lang="en-US" sz="2400" b="0" i="0" u="none" strike="noStrike" dirty="0">
                <a:solidFill>
                  <a:srgbClr val="434343"/>
                </a:solidFill>
                <a:effectLst/>
                <a:latin typeface="Open Sans" panose="020B0606030504020204" pitchFamily="34" charset="0"/>
              </a:rPr>
              <a:t>de “</a:t>
            </a:r>
            <a:r>
              <a:rPr lang="en-US" sz="2400" b="0" i="0" u="none" strike="noStrike" dirty="0" err="1">
                <a:solidFill>
                  <a:srgbClr val="434343"/>
                </a:solidFill>
                <a:effectLst/>
                <a:latin typeface="Open Sans" panose="020B0606030504020204" pitchFamily="34" charset="0"/>
              </a:rPr>
              <a:t>matrizDeEdades</a:t>
            </a:r>
            <a:r>
              <a:rPr lang="en-US" sz="2400" b="0" i="0" u="none" strike="noStrike" dirty="0">
                <a:solidFill>
                  <a:srgbClr val="434343"/>
                </a:solidFill>
                <a:effectLst/>
                <a:latin typeface="Open Sans" panose="020B0606030504020204" pitchFamily="34" charset="0"/>
              </a:rPr>
              <a:t>”, </a:t>
            </a:r>
            <a:r>
              <a:rPr lang="en-US" sz="2400" b="0" i="0" u="none" strike="noStrike" dirty="0" err="1">
                <a:solidFill>
                  <a:srgbClr val="434343"/>
                </a:solidFill>
                <a:effectLst/>
                <a:latin typeface="Open Sans" panose="020B0606030504020204" pitchFamily="34" charset="0"/>
              </a:rPr>
              <a:t>utilizaremos</a:t>
            </a:r>
            <a:r>
              <a:rPr lang="en-US" sz="2400" b="0" i="0" u="none" strike="noStrike" dirty="0">
                <a:solidFill>
                  <a:srgbClr val="434343"/>
                </a:solidFill>
                <a:effectLst/>
                <a:latin typeface="Open Sans" panose="020B0606030504020204" pitchFamily="34" charset="0"/>
              </a:rPr>
              <a:t> la </a:t>
            </a:r>
            <a:r>
              <a:rPr lang="en-US" sz="2400" b="0" i="0" u="none" strike="noStrike" dirty="0" err="1">
                <a:solidFill>
                  <a:srgbClr val="434343"/>
                </a:solidFill>
                <a:effectLst/>
                <a:latin typeface="Open Sans" panose="020B0606030504020204" pitchFamily="34" charset="0"/>
              </a:rPr>
              <a:t>notacion</a:t>
            </a:r>
            <a:r>
              <a:rPr lang="en-US" sz="2400" b="0" i="0" u="none" strike="noStrike" dirty="0">
                <a:solidFill>
                  <a:srgbClr val="434343"/>
                </a:solidFill>
                <a:effectLst/>
                <a:latin typeface="Open Sans" panose="020B0606030504020204" pitchFamily="34" charset="0"/>
              </a:rPr>
              <a:t> de </a:t>
            </a:r>
            <a:r>
              <a:rPr lang="en-US" sz="2400" b="0" i="0" u="sng" strike="noStrike" dirty="0">
                <a:solidFill>
                  <a:srgbClr val="434343"/>
                </a:solidFill>
                <a:effectLst/>
                <a:latin typeface="Open Sans" panose="020B0606030504020204" pitchFamily="34" charset="0"/>
              </a:rPr>
              <a:t>doble </a:t>
            </a:r>
            <a:r>
              <a:rPr lang="en-US" sz="2400" b="0" i="0" u="sng" strike="noStrike" dirty="0" err="1">
                <a:solidFill>
                  <a:srgbClr val="434343"/>
                </a:solidFill>
                <a:effectLst/>
                <a:latin typeface="Open Sans" panose="020B0606030504020204" pitchFamily="34" charset="0"/>
              </a:rPr>
              <a:t>corchete</a:t>
            </a:r>
            <a:r>
              <a:rPr lang="en-US" sz="2400" b="0" i="0" u="sng" strike="noStrike" dirty="0">
                <a:solidFill>
                  <a:srgbClr val="434343"/>
                </a:solidFill>
                <a:effectLst/>
                <a:latin typeface="Open Sans" panose="020B0606030504020204" pitchFamily="34" charset="0"/>
              </a:rPr>
              <a:t> “[]”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rgbClr val="434343"/>
                </a:solidFill>
                <a:latin typeface="Open Sans" panose="020B0606030504020204" pitchFamily="34" charset="0"/>
              </a:rPr>
              <a:t>El primer par de </a:t>
            </a:r>
            <a:r>
              <a:rPr lang="en-US" sz="2400" dirty="0" err="1">
                <a:solidFill>
                  <a:srgbClr val="434343"/>
                </a:solidFill>
                <a:latin typeface="Open Sans" panose="020B0606030504020204" pitchFamily="34" charset="0"/>
              </a:rPr>
              <a:t>corchetes</a:t>
            </a:r>
            <a:r>
              <a:rPr lang="en-US" sz="2400" dirty="0">
                <a:solidFill>
                  <a:srgbClr val="434343"/>
                </a:solidFill>
                <a:latin typeface="Open Sans" panose="020B0606030504020204" pitchFamily="34" charset="0"/>
              </a:rPr>
              <a:t> </a:t>
            </a:r>
            <a:r>
              <a:rPr lang="en-US" sz="2400" dirty="0" err="1">
                <a:solidFill>
                  <a:srgbClr val="434343"/>
                </a:solidFill>
                <a:latin typeface="Open Sans" panose="020B0606030504020204" pitchFamily="34" charset="0"/>
              </a:rPr>
              <a:t>representa</a:t>
            </a:r>
            <a:r>
              <a:rPr lang="en-US" sz="2400" dirty="0">
                <a:solidFill>
                  <a:srgbClr val="434343"/>
                </a:solidFill>
                <a:latin typeface="Open Sans" panose="020B0606030504020204" pitchFamily="34" charset="0"/>
              </a:rPr>
              <a:t> la “fila” y </a:t>
            </a:r>
            <a:r>
              <a:rPr lang="en-US" sz="2400" dirty="0" err="1">
                <a:solidFill>
                  <a:srgbClr val="434343"/>
                </a:solidFill>
                <a:latin typeface="Open Sans" panose="020B0606030504020204" pitchFamily="34" charset="0"/>
              </a:rPr>
              <a:t>el</a:t>
            </a:r>
            <a:r>
              <a:rPr lang="en-US" sz="2400" dirty="0">
                <a:solidFill>
                  <a:srgbClr val="434343"/>
                </a:solidFill>
                <a:latin typeface="Open Sans" panose="020B0606030504020204" pitchFamily="34" charset="0"/>
              </a:rPr>
              <a:t> </a:t>
            </a:r>
            <a:r>
              <a:rPr lang="en-US" sz="2400" dirty="0" err="1">
                <a:solidFill>
                  <a:srgbClr val="434343"/>
                </a:solidFill>
                <a:latin typeface="Open Sans" panose="020B0606030504020204" pitchFamily="34" charset="0"/>
              </a:rPr>
              <a:t>segundo</a:t>
            </a:r>
            <a:r>
              <a:rPr lang="en-US" sz="2400" dirty="0">
                <a:solidFill>
                  <a:srgbClr val="434343"/>
                </a:solidFill>
                <a:latin typeface="Open Sans" panose="020B0606030504020204" pitchFamily="34" charset="0"/>
              </a:rPr>
              <a:t> la “</a:t>
            </a:r>
            <a:r>
              <a:rPr lang="en-US" sz="2400" dirty="0" err="1">
                <a:solidFill>
                  <a:srgbClr val="434343"/>
                </a:solidFill>
                <a:latin typeface="Open Sans" panose="020B0606030504020204" pitchFamily="34" charset="0"/>
              </a:rPr>
              <a:t>columna</a:t>
            </a:r>
            <a:r>
              <a:rPr lang="en-US" sz="2400" dirty="0">
                <a:solidFill>
                  <a:srgbClr val="434343"/>
                </a:solidFill>
                <a:latin typeface="Open Sans" panose="020B0606030504020204" pitchFamily="34" charset="0"/>
              </a:rPr>
              <a:t>”.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b="0" i="0" u="none" strike="noStrike" dirty="0">
                <a:solidFill>
                  <a:srgbClr val="434343"/>
                </a:solidFill>
                <a:effectLst/>
                <a:latin typeface="Open Sans" panose="020B0606030504020204" pitchFamily="34" charset="0"/>
              </a:rPr>
              <a:t>Este console.log </a:t>
            </a:r>
            <a:r>
              <a:rPr lang="en-US" sz="2400" b="0" i="0" u="none" strike="noStrike" dirty="0" err="1">
                <a:solidFill>
                  <a:srgbClr val="434343"/>
                </a:solidFill>
                <a:effectLst/>
                <a:latin typeface="Open Sans" panose="020B0606030504020204" pitchFamily="34" charset="0"/>
              </a:rPr>
              <a:t>entonces</a:t>
            </a:r>
            <a:r>
              <a:rPr lang="en-US" sz="2400" b="0" i="0" u="none" strike="noStrike" dirty="0">
                <a:solidFill>
                  <a:srgbClr val="434343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US" sz="2400" b="0" i="0" u="none" strike="noStrike" dirty="0" err="1">
                <a:solidFill>
                  <a:srgbClr val="434343"/>
                </a:solidFill>
                <a:effectLst/>
                <a:latin typeface="Open Sans" panose="020B0606030504020204" pitchFamily="34" charset="0"/>
              </a:rPr>
              <a:t>nos</a:t>
            </a:r>
            <a:r>
              <a:rPr lang="en-US" sz="2400" b="0" i="0" u="none" strike="noStrike" dirty="0">
                <a:solidFill>
                  <a:srgbClr val="434343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sz="2400" b="0" i="0" u="none" strike="noStrike" dirty="0" err="1">
                <a:solidFill>
                  <a:srgbClr val="434343"/>
                </a:solidFill>
                <a:effectLst/>
                <a:latin typeface="Open Sans" panose="020B0606030504020204" pitchFamily="34" charset="0"/>
              </a:rPr>
              <a:t>mostrara</a:t>
            </a:r>
            <a:r>
              <a:rPr lang="en-US" sz="2400" b="0" i="0" u="none" strike="noStrike" dirty="0">
                <a:solidFill>
                  <a:srgbClr val="434343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sz="2400" b="0" i="0" u="none" strike="noStrike" dirty="0" err="1">
                <a:solidFill>
                  <a:srgbClr val="434343"/>
                </a:solidFill>
                <a:effectLst/>
                <a:latin typeface="Open Sans" panose="020B0606030504020204" pitchFamily="34" charset="0"/>
              </a:rPr>
              <a:t>el</a:t>
            </a:r>
            <a:r>
              <a:rPr lang="en-US" sz="2400" b="0" i="0" u="none" strike="noStrike" dirty="0">
                <a:solidFill>
                  <a:srgbClr val="434343"/>
                </a:solidFill>
                <a:effectLst/>
                <a:latin typeface="Open Sans" panose="020B0606030504020204" pitchFamily="34" charset="0"/>
              </a:rPr>
              <a:t> valor de la </a:t>
            </a:r>
            <a:r>
              <a:rPr lang="en-US" sz="2400" b="0" i="0" u="none" strike="noStrike" dirty="0">
                <a:solidFill>
                  <a:srgbClr val="434343"/>
                </a:solidFill>
                <a:effectLst/>
                <a:highlight>
                  <a:srgbClr val="FFFF00"/>
                </a:highlight>
                <a:latin typeface="Open Sans" panose="020B0606030504020204" pitchFamily="34" charset="0"/>
              </a:rPr>
              <a:t>fila 3, </a:t>
            </a:r>
            <a:r>
              <a:rPr lang="en-US" sz="2400" b="0" i="0" u="none" strike="noStrike" dirty="0" err="1">
                <a:solidFill>
                  <a:srgbClr val="434343"/>
                </a:solidFill>
                <a:effectLst/>
                <a:highlight>
                  <a:srgbClr val="FFFF00"/>
                </a:highlight>
                <a:latin typeface="Open Sans" panose="020B0606030504020204" pitchFamily="34" charset="0"/>
              </a:rPr>
              <a:t>columna</a:t>
            </a:r>
            <a:r>
              <a:rPr lang="en-US" sz="2400" b="0" i="0" u="none" strike="noStrike" dirty="0">
                <a:solidFill>
                  <a:srgbClr val="434343"/>
                </a:solidFill>
                <a:effectLst/>
                <a:highlight>
                  <a:srgbClr val="FFFF00"/>
                </a:highlight>
                <a:latin typeface="Open Sans" panose="020B0606030504020204" pitchFamily="34" charset="0"/>
              </a:rPr>
              <a:t> 5 que equivale a 31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B121FEB-4E3B-B7FA-C170-112886413A8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8632"/>
          <a:stretch/>
        </p:blipFill>
        <p:spPr>
          <a:xfrm>
            <a:off x="321618" y="3485408"/>
            <a:ext cx="5598702" cy="2434442"/>
          </a:xfrm>
          <a:prstGeom prst="rect">
            <a:avLst/>
          </a:prstGeom>
        </p:spPr>
      </p:pic>
      <p:sp>
        <p:nvSpPr>
          <p:cNvPr id="6" name="Elipse 5">
            <a:extLst>
              <a:ext uri="{FF2B5EF4-FFF2-40B4-BE49-F238E27FC236}">
                <a16:creationId xmlns:a16="http://schemas.microsoft.com/office/drawing/2014/main" id="{80E9C7E5-A8F0-5E7F-5A56-276DF4BB1EE6}"/>
              </a:ext>
            </a:extLst>
          </p:cNvPr>
          <p:cNvSpPr/>
          <p:nvPr/>
        </p:nvSpPr>
        <p:spPr>
          <a:xfrm rot="21443845">
            <a:off x="4429714" y="5154320"/>
            <a:ext cx="372523" cy="328660"/>
          </a:xfrm>
          <a:prstGeom prst="ellipse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A6BB824E-F3F0-042C-D963-F3A094DE6A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3128" y="4440098"/>
            <a:ext cx="5158896" cy="750754"/>
          </a:xfrm>
          <a:prstGeom prst="rect">
            <a:avLst/>
          </a:prstGeom>
        </p:spPr>
      </p:pic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227A617D-411A-8741-4235-BE7203890DE3}"/>
              </a:ext>
            </a:extLst>
          </p:cNvPr>
          <p:cNvCxnSpPr>
            <a:cxnSpLocks/>
          </p:cNvCxnSpPr>
          <p:nvPr/>
        </p:nvCxnSpPr>
        <p:spPr>
          <a:xfrm flipV="1">
            <a:off x="10394370" y="4043548"/>
            <a:ext cx="0" cy="581891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21E4FC1E-7825-D319-E1AA-82B5B728C5F5}"/>
              </a:ext>
            </a:extLst>
          </p:cNvPr>
          <p:cNvCxnSpPr>
            <a:cxnSpLocks/>
          </p:cNvCxnSpPr>
          <p:nvPr/>
        </p:nvCxnSpPr>
        <p:spPr>
          <a:xfrm>
            <a:off x="10738754" y="4934464"/>
            <a:ext cx="0" cy="556805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6" name="CuadroTexto 15">
            <a:extLst>
              <a:ext uri="{FF2B5EF4-FFF2-40B4-BE49-F238E27FC236}">
                <a16:creationId xmlns:a16="http://schemas.microsoft.com/office/drawing/2014/main" id="{C0CFB3FE-1204-EA02-823A-FC7E809D76AA}"/>
              </a:ext>
            </a:extLst>
          </p:cNvPr>
          <p:cNvSpPr txBox="1"/>
          <p:nvPr/>
        </p:nvSpPr>
        <p:spPr>
          <a:xfrm>
            <a:off x="10098398" y="3611699"/>
            <a:ext cx="8416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434343"/>
                </a:solidFill>
                <a:highlight>
                  <a:srgbClr val="FFFF00"/>
                </a:highlight>
                <a:latin typeface="Open Sans" panose="020B0606030504020204" pitchFamily="34" charset="0"/>
              </a:rPr>
              <a:t>fila</a:t>
            </a:r>
            <a:endParaRPr lang="es-AR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05C1F202-68FF-2B5C-2522-4807E1D9EAE9}"/>
              </a:ext>
            </a:extLst>
          </p:cNvPr>
          <p:cNvSpPr txBox="1"/>
          <p:nvPr/>
        </p:nvSpPr>
        <p:spPr>
          <a:xfrm>
            <a:off x="10226139" y="5587402"/>
            <a:ext cx="13226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 err="1">
                <a:solidFill>
                  <a:srgbClr val="434343"/>
                </a:solidFill>
                <a:highlight>
                  <a:srgbClr val="FFFF00"/>
                </a:highlight>
                <a:latin typeface="Open Sans" panose="020B0606030504020204" pitchFamily="34" charset="0"/>
              </a:rPr>
              <a:t>columna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2561049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E2EEF8A5-14B7-DEBB-4B7E-E5434E3293F2}"/>
              </a:ext>
            </a:extLst>
          </p:cNvPr>
          <p:cNvSpPr txBox="1">
            <a:spLocks/>
          </p:cNvSpPr>
          <p:nvPr/>
        </p:nvSpPr>
        <p:spPr>
          <a:xfrm>
            <a:off x="2298861" y="266596"/>
            <a:ext cx="7735787" cy="7540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3200" b="1" dirty="0">
                <a:solidFill>
                  <a:srgbClr val="B00055"/>
                </a:solidFill>
                <a:latin typeface="Verdana" panose="020B0604030504040204" pitchFamily="34" charset="0"/>
              </a:rPr>
              <a:t>Matriz</a:t>
            </a:r>
          </a:p>
        </p:txBody>
      </p:sp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38E4A167-08A5-3479-9422-1E6A6083E5B9}"/>
              </a:ext>
            </a:extLst>
          </p:cNvPr>
          <p:cNvSpPr txBox="1">
            <a:spLocks/>
          </p:cNvSpPr>
          <p:nvPr/>
        </p:nvSpPr>
        <p:spPr>
          <a:xfrm>
            <a:off x="321618" y="1020679"/>
            <a:ext cx="11328075" cy="206096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n-US" sz="3000" b="1" dirty="0" err="1">
                <a:solidFill>
                  <a:schemeClr val="accent2"/>
                </a:solidFill>
                <a:latin typeface="Open Sans" panose="020B0606030504020204" pitchFamily="34" charset="0"/>
              </a:rPr>
              <a:t>Importante</a:t>
            </a:r>
            <a:r>
              <a:rPr lang="en-US" sz="3000" b="1" dirty="0">
                <a:solidFill>
                  <a:schemeClr val="accent2"/>
                </a:solidFill>
                <a:latin typeface="Open Sans" panose="020B0606030504020204" pitchFamily="34" charset="0"/>
              </a:rPr>
              <a:t>:</a:t>
            </a:r>
          </a:p>
          <a:p>
            <a:pPr marL="0" indent="0">
              <a:spcBef>
                <a:spcPts val="600"/>
              </a:spcBef>
              <a:buNone/>
            </a:pPr>
            <a:endParaRPr lang="en-US" sz="2400" dirty="0">
              <a:solidFill>
                <a:srgbClr val="434343"/>
              </a:solidFill>
              <a:highlight>
                <a:srgbClr val="FFFF00"/>
              </a:highlight>
              <a:latin typeface="Open Sans" panose="020B0606030504020204" pitchFamily="34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 err="1">
                <a:solidFill>
                  <a:srgbClr val="434343"/>
                </a:solidFill>
                <a:latin typeface="Open Sans" panose="020B0606030504020204" pitchFamily="34" charset="0"/>
              </a:rPr>
              <a:t>Nunca</a:t>
            </a:r>
            <a:r>
              <a:rPr lang="en-US" sz="2400" dirty="0">
                <a:solidFill>
                  <a:srgbClr val="434343"/>
                </a:solidFill>
                <a:latin typeface="Open Sans" panose="020B0606030504020204" pitchFamily="34" charset="0"/>
              </a:rPr>
              <a:t> </a:t>
            </a:r>
            <a:r>
              <a:rPr lang="en-US" sz="2400" dirty="0" err="1">
                <a:solidFill>
                  <a:srgbClr val="434343"/>
                </a:solidFill>
                <a:latin typeface="Open Sans" panose="020B0606030504020204" pitchFamily="34" charset="0"/>
              </a:rPr>
              <a:t>nos</a:t>
            </a:r>
            <a:r>
              <a:rPr lang="en-US" sz="2400" dirty="0">
                <a:solidFill>
                  <a:srgbClr val="434343"/>
                </a:solidFill>
                <a:latin typeface="Open Sans" panose="020B0606030504020204" pitchFamily="34" charset="0"/>
              </a:rPr>
              <a:t> </a:t>
            </a:r>
            <a:r>
              <a:rPr lang="en-US" sz="2400" dirty="0" err="1">
                <a:solidFill>
                  <a:srgbClr val="434343"/>
                </a:solidFill>
                <a:latin typeface="Open Sans" panose="020B0606030504020204" pitchFamily="34" charset="0"/>
              </a:rPr>
              <a:t>olvidemos</a:t>
            </a:r>
            <a:r>
              <a:rPr lang="en-US" sz="2400" dirty="0">
                <a:solidFill>
                  <a:srgbClr val="434343"/>
                </a:solidFill>
                <a:latin typeface="Open Sans" panose="020B0606030504020204" pitchFamily="34" charset="0"/>
              </a:rPr>
              <a:t> de </a:t>
            </a:r>
            <a:r>
              <a:rPr lang="en-US" sz="2400" dirty="0" err="1">
                <a:solidFill>
                  <a:srgbClr val="434343"/>
                </a:solidFill>
                <a:latin typeface="Open Sans" panose="020B0606030504020204" pitchFamily="34" charset="0"/>
              </a:rPr>
              <a:t>empezar</a:t>
            </a:r>
            <a:r>
              <a:rPr lang="en-US" sz="2400" dirty="0">
                <a:solidFill>
                  <a:srgbClr val="434343"/>
                </a:solidFill>
                <a:latin typeface="Open Sans" panose="020B0606030504020204" pitchFamily="34" charset="0"/>
              </a:rPr>
              <a:t> a </a:t>
            </a:r>
            <a:r>
              <a:rPr lang="en-US" sz="2400" dirty="0" err="1">
                <a:solidFill>
                  <a:srgbClr val="434343"/>
                </a:solidFill>
                <a:highlight>
                  <a:srgbClr val="FFFF00"/>
                </a:highlight>
                <a:latin typeface="Open Sans" panose="020B0606030504020204" pitchFamily="34" charset="0"/>
              </a:rPr>
              <a:t>contar</a:t>
            </a:r>
            <a:r>
              <a:rPr lang="en-US" sz="2400" dirty="0">
                <a:solidFill>
                  <a:srgbClr val="434343"/>
                </a:solidFill>
                <a:highlight>
                  <a:srgbClr val="FFFF00"/>
                </a:highlight>
                <a:latin typeface="Open Sans" panose="020B0606030504020204" pitchFamily="34" charset="0"/>
              </a:rPr>
              <a:t> las </a:t>
            </a:r>
            <a:r>
              <a:rPr lang="en-US" sz="2400" dirty="0" err="1">
                <a:solidFill>
                  <a:srgbClr val="434343"/>
                </a:solidFill>
                <a:highlight>
                  <a:srgbClr val="FFFF00"/>
                </a:highlight>
                <a:latin typeface="Open Sans" panose="020B0606030504020204" pitchFamily="34" charset="0"/>
              </a:rPr>
              <a:t>filas</a:t>
            </a:r>
            <a:r>
              <a:rPr lang="en-US" sz="2400" dirty="0">
                <a:solidFill>
                  <a:srgbClr val="434343"/>
                </a:solidFill>
                <a:highlight>
                  <a:srgbClr val="FFFF00"/>
                </a:highlight>
                <a:latin typeface="Open Sans" panose="020B0606030504020204" pitchFamily="34" charset="0"/>
              </a:rPr>
              <a:t> y las </a:t>
            </a:r>
            <a:r>
              <a:rPr lang="en-US" sz="2400" dirty="0" err="1">
                <a:solidFill>
                  <a:srgbClr val="434343"/>
                </a:solidFill>
                <a:highlight>
                  <a:srgbClr val="FFFF00"/>
                </a:highlight>
                <a:latin typeface="Open Sans" panose="020B0606030504020204" pitchFamily="34" charset="0"/>
              </a:rPr>
              <a:t>columnas</a:t>
            </a:r>
            <a:r>
              <a:rPr lang="en-US" sz="2400" dirty="0">
                <a:solidFill>
                  <a:srgbClr val="434343"/>
                </a:solidFill>
                <a:highlight>
                  <a:srgbClr val="FFFF00"/>
                </a:highlight>
                <a:latin typeface="Open Sans" panose="020B0606030504020204" pitchFamily="34" charset="0"/>
              </a:rPr>
              <a:t> </a:t>
            </a:r>
            <a:r>
              <a:rPr lang="en-US" sz="2400" dirty="0" err="1">
                <a:solidFill>
                  <a:srgbClr val="434343"/>
                </a:solidFill>
                <a:highlight>
                  <a:srgbClr val="FFFF00"/>
                </a:highlight>
                <a:latin typeface="Open Sans" panose="020B0606030504020204" pitchFamily="34" charset="0"/>
              </a:rPr>
              <a:t>siempre</a:t>
            </a:r>
            <a:r>
              <a:rPr lang="en-US" sz="2400" dirty="0">
                <a:solidFill>
                  <a:srgbClr val="434343"/>
                </a:solidFill>
                <a:highlight>
                  <a:srgbClr val="FFFF00"/>
                </a:highlight>
                <a:latin typeface="Open Sans" panose="020B0606030504020204" pitchFamily="34" charset="0"/>
              </a:rPr>
              <a:t> </a:t>
            </a:r>
            <a:r>
              <a:rPr lang="en-US" sz="2400" dirty="0" err="1">
                <a:solidFill>
                  <a:srgbClr val="434343"/>
                </a:solidFill>
                <a:highlight>
                  <a:srgbClr val="FFFF00"/>
                </a:highlight>
                <a:latin typeface="Open Sans" panose="020B0606030504020204" pitchFamily="34" charset="0"/>
              </a:rPr>
              <a:t>desde</a:t>
            </a:r>
            <a:r>
              <a:rPr lang="en-US" sz="2400" dirty="0">
                <a:solidFill>
                  <a:srgbClr val="434343"/>
                </a:solidFill>
                <a:highlight>
                  <a:srgbClr val="FFFF00"/>
                </a:highlight>
                <a:latin typeface="Open Sans" panose="020B0606030504020204" pitchFamily="34" charset="0"/>
              </a:rPr>
              <a:t> 0.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rgbClr val="434343"/>
                </a:solidFill>
                <a:latin typeface="Open Sans" panose="020B0606030504020204" pitchFamily="34" charset="0"/>
              </a:rPr>
              <a:t>Para que no </a:t>
            </a:r>
            <a:r>
              <a:rPr lang="en-US" sz="2400" dirty="0" err="1">
                <a:solidFill>
                  <a:srgbClr val="434343"/>
                </a:solidFill>
                <a:latin typeface="Open Sans" panose="020B0606030504020204" pitchFamily="34" charset="0"/>
              </a:rPr>
              <a:t>falle</a:t>
            </a:r>
            <a:r>
              <a:rPr lang="en-US" sz="2400" dirty="0">
                <a:solidFill>
                  <a:srgbClr val="434343"/>
                </a:solidFill>
                <a:latin typeface="Open Sans" panose="020B0606030504020204" pitchFamily="34" charset="0"/>
              </a:rPr>
              <a:t> </a:t>
            </a:r>
            <a:r>
              <a:rPr lang="en-US" sz="2400" dirty="0" err="1">
                <a:solidFill>
                  <a:srgbClr val="434343"/>
                </a:solidFill>
                <a:latin typeface="Open Sans" panose="020B0606030504020204" pitchFamily="34" charset="0"/>
              </a:rPr>
              <a:t>nuestro</a:t>
            </a:r>
            <a:r>
              <a:rPr lang="en-US" sz="2400" dirty="0">
                <a:solidFill>
                  <a:srgbClr val="434343"/>
                </a:solidFill>
                <a:latin typeface="Open Sans" panose="020B0606030504020204" pitchFamily="34" charset="0"/>
              </a:rPr>
              <a:t> </a:t>
            </a:r>
            <a:r>
              <a:rPr lang="en-US" sz="2400" dirty="0" err="1">
                <a:solidFill>
                  <a:srgbClr val="434343"/>
                </a:solidFill>
                <a:latin typeface="Open Sans" panose="020B0606030504020204" pitchFamily="34" charset="0"/>
              </a:rPr>
              <a:t>sistema</a:t>
            </a:r>
            <a:r>
              <a:rPr lang="en-US" sz="2400" dirty="0">
                <a:solidFill>
                  <a:srgbClr val="434343"/>
                </a:solidFill>
                <a:latin typeface="Open Sans" panose="020B0606030504020204" pitchFamily="34" charset="0"/>
              </a:rPr>
              <a:t> de </a:t>
            </a:r>
            <a:r>
              <a:rPr lang="en-US" sz="2400" dirty="0" err="1">
                <a:solidFill>
                  <a:srgbClr val="434343"/>
                </a:solidFill>
                <a:latin typeface="Open Sans" panose="020B0606030504020204" pitchFamily="34" charset="0"/>
              </a:rPr>
              <a:t>coordenadas</a:t>
            </a:r>
            <a:r>
              <a:rPr lang="en-US" sz="2400" dirty="0">
                <a:solidFill>
                  <a:srgbClr val="434343"/>
                </a:solidFill>
                <a:latin typeface="Open Sans" panose="020B0606030504020204" pitchFamily="34" charset="0"/>
              </a:rPr>
              <a:t> y </a:t>
            </a:r>
            <a:r>
              <a:rPr lang="en-US" sz="2400" dirty="0" err="1">
                <a:solidFill>
                  <a:srgbClr val="434343"/>
                </a:solidFill>
                <a:latin typeface="Open Sans" panose="020B0606030504020204" pitchFamily="34" charset="0"/>
              </a:rPr>
              <a:t>posicionamiento</a:t>
            </a:r>
            <a:r>
              <a:rPr lang="en-US" sz="2400" dirty="0">
                <a:solidFill>
                  <a:srgbClr val="434343"/>
                </a:solidFill>
                <a:latin typeface="Open Sans" panose="020B0606030504020204" pitchFamily="34" charset="0"/>
              </a:rPr>
              <a:t>, </a:t>
            </a:r>
            <a:r>
              <a:rPr lang="en-US" sz="2400" dirty="0" err="1">
                <a:solidFill>
                  <a:srgbClr val="434343"/>
                </a:solidFill>
                <a:latin typeface="Open Sans" panose="020B0606030504020204" pitchFamily="34" charset="0"/>
              </a:rPr>
              <a:t>debemos</a:t>
            </a:r>
            <a:r>
              <a:rPr lang="en-US" sz="2400" dirty="0">
                <a:solidFill>
                  <a:srgbClr val="434343"/>
                </a:solidFill>
                <a:latin typeface="Open Sans" panose="020B0606030504020204" pitchFamily="34" charset="0"/>
              </a:rPr>
              <a:t> </a:t>
            </a:r>
            <a:r>
              <a:rPr lang="en-US" sz="2400" dirty="0" err="1">
                <a:solidFill>
                  <a:srgbClr val="434343"/>
                </a:solidFill>
                <a:latin typeface="Open Sans" panose="020B0606030504020204" pitchFamily="34" charset="0"/>
              </a:rPr>
              <a:t>empezar</a:t>
            </a:r>
            <a:r>
              <a:rPr lang="en-US" sz="2400" dirty="0">
                <a:solidFill>
                  <a:srgbClr val="434343"/>
                </a:solidFill>
                <a:latin typeface="Open Sans" panose="020B0606030504020204" pitchFamily="34" charset="0"/>
              </a:rPr>
              <a:t> </a:t>
            </a:r>
            <a:r>
              <a:rPr lang="en-US" sz="2400" dirty="0" err="1">
                <a:solidFill>
                  <a:srgbClr val="434343"/>
                </a:solidFill>
                <a:latin typeface="Open Sans" panose="020B0606030504020204" pitchFamily="34" charset="0"/>
              </a:rPr>
              <a:t>por</a:t>
            </a:r>
            <a:r>
              <a:rPr lang="en-US" sz="2400" dirty="0">
                <a:solidFill>
                  <a:srgbClr val="434343"/>
                </a:solidFill>
                <a:latin typeface="Open Sans" panose="020B0606030504020204" pitchFamily="34" charset="0"/>
              </a:rPr>
              <a:t> </a:t>
            </a:r>
            <a:r>
              <a:rPr lang="en-US" sz="2400" dirty="0" err="1">
                <a:solidFill>
                  <a:srgbClr val="434343"/>
                </a:solidFill>
                <a:latin typeface="Open Sans" panose="020B0606030504020204" pitchFamily="34" charset="0"/>
              </a:rPr>
              <a:t>el</a:t>
            </a:r>
            <a:r>
              <a:rPr lang="en-US" sz="2400" dirty="0">
                <a:solidFill>
                  <a:srgbClr val="434343"/>
                </a:solidFill>
                <a:latin typeface="Open Sans" panose="020B0606030504020204" pitchFamily="34" charset="0"/>
              </a:rPr>
              <a:t> </a:t>
            </a:r>
            <a:r>
              <a:rPr lang="en-US" sz="2400" dirty="0">
                <a:solidFill>
                  <a:srgbClr val="434343"/>
                </a:solidFill>
                <a:highlight>
                  <a:srgbClr val="FFFF00"/>
                </a:highlight>
                <a:latin typeface="Open Sans" panose="020B0606030504020204" pitchFamily="34" charset="0"/>
              </a:rPr>
              <a:t>valor “(0,0)” </a:t>
            </a:r>
            <a:r>
              <a:rPr lang="en-US" sz="2400" dirty="0" err="1">
                <a:solidFill>
                  <a:srgbClr val="434343"/>
                </a:solidFill>
                <a:latin typeface="Open Sans" panose="020B0606030504020204" pitchFamily="34" charset="0"/>
              </a:rPr>
              <a:t>en</a:t>
            </a:r>
            <a:r>
              <a:rPr lang="en-US" sz="2400" dirty="0">
                <a:solidFill>
                  <a:srgbClr val="434343"/>
                </a:solidFill>
                <a:latin typeface="Open Sans" panose="020B0606030504020204" pitchFamily="34" charset="0"/>
              </a:rPr>
              <a:t> la </a:t>
            </a:r>
            <a:r>
              <a:rPr lang="en-US" sz="2400" dirty="0" err="1">
                <a:solidFill>
                  <a:srgbClr val="434343"/>
                </a:solidFill>
                <a:latin typeface="Open Sans" panose="020B0606030504020204" pitchFamily="34" charset="0"/>
              </a:rPr>
              <a:t>esquina</a:t>
            </a:r>
            <a:r>
              <a:rPr lang="en-US" sz="2400" dirty="0">
                <a:solidFill>
                  <a:srgbClr val="434343"/>
                </a:solidFill>
                <a:latin typeface="Open Sans" panose="020B0606030504020204" pitchFamily="34" charset="0"/>
              </a:rPr>
              <a:t> superior </a:t>
            </a:r>
            <a:r>
              <a:rPr lang="en-US" sz="2400" dirty="0" err="1">
                <a:solidFill>
                  <a:srgbClr val="434343"/>
                </a:solidFill>
                <a:latin typeface="Open Sans" panose="020B0606030504020204" pitchFamily="34" charset="0"/>
              </a:rPr>
              <a:t>izquierda</a:t>
            </a:r>
            <a:endParaRPr lang="en-US" sz="2400" dirty="0">
              <a:solidFill>
                <a:srgbClr val="434343"/>
              </a:solidFill>
              <a:latin typeface="Open Sans" panose="020B0606030504020204" pitchFamily="34" charset="0"/>
            </a:endParaRPr>
          </a:p>
          <a:p>
            <a:pPr marL="0" indent="0">
              <a:spcBef>
                <a:spcPts val="600"/>
              </a:spcBef>
              <a:buNone/>
            </a:pPr>
            <a:endParaRPr lang="en-US" sz="2400" dirty="0">
              <a:solidFill>
                <a:srgbClr val="434343"/>
              </a:solidFill>
              <a:highlight>
                <a:srgbClr val="FFFF00"/>
              </a:highlight>
              <a:latin typeface="Open Sans" panose="020B0606030504020204" pitchFamily="34" charset="0"/>
            </a:endParaRPr>
          </a:p>
        </p:txBody>
      </p:sp>
      <p:sp>
        <p:nvSpPr>
          <p:cNvPr id="9" name="Bocadillo: rectángulo con esquinas redondeadas 8">
            <a:extLst>
              <a:ext uri="{FF2B5EF4-FFF2-40B4-BE49-F238E27FC236}">
                <a16:creationId xmlns:a16="http://schemas.microsoft.com/office/drawing/2014/main" id="{10B5CE8C-36CC-CF22-4857-E630BB61661C}"/>
              </a:ext>
            </a:extLst>
          </p:cNvPr>
          <p:cNvSpPr/>
          <p:nvPr/>
        </p:nvSpPr>
        <p:spPr>
          <a:xfrm>
            <a:off x="445888" y="3841668"/>
            <a:ext cx="2161309" cy="1520041"/>
          </a:xfrm>
          <a:prstGeom prst="wedgeRoundRectCallout">
            <a:avLst>
              <a:gd name="adj1" fmla="val 39607"/>
              <a:gd name="adj2" fmla="val 70703"/>
              <a:gd name="adj3" fmla="val 16667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Pueden</a:t>
            </a:r>
            <a:r>
              <a:rPr lang="en-US" dirty="0"/>
              <a:t> </a:t>
            </a:r>
            <a:r>
              <a:rPr lang="en-US" dirty="0" err="1"/>
              <a:t>tomar</a:t>
            </a:r>
            <a:r>
              <a:rPr lang="en-US" dirty="0"/>
              <a:t> </a:t>
            </a:r>
            <a:r>
              <a:rPr lang="en-US" dirty="0" err="1"/>
              <a:t>esta</a:t>
            </a:r>
            <a:r>
              <a:rPr lang="en-US" dirty="0"/>
              <a:t> </a:t>
            </a:r>
            <a:r>
              <a:rPr lang="en-US" dirty="0" err="1"/>
              <a:t>guia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 </a:t>
            </a:r>
            <a:r>
              <a:rPr lang="en-US" dirty="0" err="1"/>
              <a:t>referencia</a:t>
            </a:r>
            <a:r>
              <a:rPr lang="en-US" dirty="0"/>
              <a:t> a la hora de </a:t>
            </a:r>
            <a:r>
              <a:rPr lang="en-US" dirty="0" err="1"/>
              <a:t>contar</a:t>
            </a:r>
            <a:endParaRPr lang="es-AR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5C88F439-1422-694D-AC4E-56C90EF9D9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4088" y="3390406"/>
            <a:ext cx="9064737" cy="2735727"/>
          </a:xfrm>
          <a:prstGeom prst="rect">
            <a:avLst/>
          </a:prstGeom>
        </p:spPr>
      </p:pic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804FA86A-F12A-B81C-CEAF-E879F09D1236}"/>
              </a:ext>
            </a:extLst>
          </p:cNvPr>
          <p:cNvCxnSpPr/>
          <p:nvPr/>
        </p:nvCxnSpPr>
        <p:spPr>
          <a:xfrm>
            <a:off x="5082640" y="4435434"/>
            <a:ext cx="48095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258796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E2EEF8A5-14B7-DEBB-4B7E-E5434E3293F2}"/>
              </a:ext>
            </a:extLst>
          </p:cNvPr>
          <p:cNvSpPr txBox="1">
            <a:spLocks/>
          </p:cNvSpPr>
          <p:nvPr/>
        </p:nvSpPr>
        <p:spPr>
          <a:xfrm>
            <a:off x="2298861" y="266596"/>
            <a:ext cx="7735787" cy="7540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3200" b="1" dirty="0">
                <a:solidFill>
                  <a:srgbClr val="B00055"/>
                </a:solidFill>
                <a:latin typeface="Verdana" panose="020B0604030504040204" pitchFamily="34" charset="0"/>
              </a:rPr>
              <a:t>Matriz</a:t>
            </a:r>
          </a:p>
        </p:txBody>
      </p:sp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38E4A167-08A5-3479-9422-1E6A6083E5B9}"/>
              </a:ext>
            </a:extLst>
          </p:cNvPr>
          <p:cNvSpPr txBox="1">
            <a:spLocks/>
          </p:cNvSpPr>
          <p:nvPr/>
        </p:nvSpPr>
        <p:spPr>
          <a:xfrm>
            <a:off x="321618" y="1020679"/>
            <a:ext cx="11328075" cy="198971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n-US" sz="3600" b="1" dirty="0" err="1">
                <a:solidFill>
                  <a:schemeClr val="accent2"/>
                </a:solidFill>
                <a:latin typeface="Open Sans" panose="020B0606030504020204" pitchFamily="34" charset="0"/>
              </a:rPr>
              <a:t>Ejemplo</a:t>
            </a:r>
            <a:r>
              <a:rPr lang="en-US" sz="3600" b="1" dirty="0">
                <a:solidFill>
                  <a:schemeClr val="accent2"/>
                </a:solidFill>
                <a:latin typeface="Open Sans" panose="020B0606030504020204" pitchFamily="34" charset="0"/>
              </a:rPr>
              <a:t>:</a:t>
            </a:r>
          </a:p>
          <a:p>
            <a:pPr marL="0" indent="0">
              <a:spcBef>
                <a:spcPts val="600"/>
              </a:spcBef>
              <a:buNone/>
            </a:pPr>
            <a:endParaRPr lang="en-US" sz="1100" dirty="0">
              <a:solidFill>
                <a:srgbClr val="434343"/>
              </a:solidFill>
              <a:highlight>
                <a:srgbClr val="FFFF00"/>
              </a:highlight>
              <a:latin typeface="Open Sans" panose="020B0606030504020204" pitchFamily="34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rgbClr val="434343"/>
                </a:solidFill>
                <a:latin typeface="Open Sans" panose="020B0606030504020204" pitchFamily="34" charset="0"/>
              </a:rPr>
              <a:t>Que </a:t>
            </a:r>
            <a:r>
              <a:rPr lang="en-US" sz="2400" dirty="0" err="1">
                <a:solidFill>
                  <a:srgbClr val="434343"/>
                </a:solidFill>
                <a:latin typeface="Open Sans" panose="020B0606030504020204" pitchFamily="34" charset="0"/>
              </a:rPr>
              <a:t>pensarias</a:t>
            </a:r>
            <a:r>
              <a:rPr lang="en-US" sz="2400" dirty="0">
                <a:solidFill>
                  <a:srgbClr val="434343"/>
                </a:solidFill>
                <a:latin typeface="Open Sans" panose="020B0606030504020204" pitchFamily="34" charset="0"/>
              </a:rPr>
              <a:t> </a:t>
            </a:r>
            <a:r>
              <a:rPr lang="en-US" sz="2400" dirty="0" err="1">
                <a:solidFill>
                  <a:srgbClr val="434343"/>
                </a:solidFill>
                <a:latin typeface="Open Sans" panose="020B0606030504020204" pitchFamily="34" charset="0"/>
              </a:rPr>
              <a:t>si</a:t>
            </a:r>
            <a:r>
              <a:rPr lang="en-US" sz="2400" dirty="0">
                <a:solidFill>
                  <a:srgbClr val="434343"/>
                </a:solidFill>
                <a:latin typeface="Open Sans" panose="020B0606030504020204" pitchFamily="34" charset="0"/>
              </a:rPr>
              <a:t> </a:t>
            </a:r>
            <a:r>
              <a:rPr lang="en-US" sz="2400" dirty="0" err="1">
                <a:solidFill>
                  <a:srgbClr val="434343"/>
                </a:solidFill>
                <a:latin typeface="Open Sans" panose="020B0606030504020204" pitchFamily="34" charset="0"/>
              </a:rPr>
              <a:t>te</a:t>
            </a:r>
            <a:r>
              <a:rPr lang="en-US" sz="2400" dirty="0">
                <a:solidFill>
                  <a:srgbClr val="434343"/>
                </a:solidFill>
                <a:latin typeface="Open Sans" panose="020B0606030504020204" pitchFamily="34" charset="0"/>
              </a:rPr>
              <a:t> </a:t>
            </a:r>
            <a:r>
              <a:rPr lang="en-US" sz="2400" dirty="0" err="1">
                <a:solidFill>
                  <a:srgbClr val="434343"/>
                </a:solidFill>
                <a:latin typeface="Open Sans" panose="020B0606030504020204" pitchFamily="34" charset="0"/>
              </a:rPr>
              <a:t>digo</a:t>
            </a:r>
            <a:r>
              <a:rPr lang="en-US" sz="2400" dirty="0">
                <a:solidFill>
                  <a:srgbClr val="434343"/>
                </a:solidFill>
                <a:latin typeface="Open Sans" panose="020B0606030504020204" pitchFamily="34" charset="0"/>
              </a:rPr>
              <a:t> que </a:t>
            </a:r>
            <a:r>
              <a:rPr lang="en-US" sz="2400" dirty="0" err="1">
                <a:solidFill>
                  <a:srgbClr val="434343"/>
                </a:solidFill>
                <a:latin typeface="Open Sans" panose="020B0606030504020204" pitchFamily="34" charset="0"/>
              </a:rPr>
              <a:t>esto</a:t>
            </a:r>
            <a:r>
              <a:rPr lang="en-US" sz="2400" dirty="0">
                <a:solidFill>
                  <a:srgbClr val="434343"/>
                </a:solidFill>
                <a:latin typeface="Open Sans" panose="020B0606030504020204" pitchFamily="34" charset="0"/>
              </a:rPr>
              <a:t> es </a:t>
            </a:r>
            <a:r>
              <a:rPr lang="en-US" sz="2400" dirty="0" err="1">
                <a:solidFill>
                  <a:srgbClr val="434343"/>
                </a:solidFill>
                <a:latin typeface="Open Sans" panose="020B0606030504020204" pitchFamily="34" charset="0"/>
              </a:rPr>
              <a:t>tambien</a:t>
            </a:r>
            <a:r>
              <a:rPr lang="en-US" sz="2400" dirty="0">
                <a:solidFill>
                  <a:srgbClr val="434343"/>
                </a:solidFill>
                <a:latin typeface="Open Sans" panose="020B0606030504020204" pitchFamily="34" charset="0"/>
              </a:rPr>
              <a:t> </a:t>
            </a:r>
            <a:r>
              <a:rPr lang="en-US" sz="2400" dirty="0" err="1">
                <a:solidFill>
                  <a:srgbClr val="434343"/>
                </a:solidFill>
                <a:latin typeface="Open Sans" panose="020B0606030504020204" pitchFamily="34" charset="0"/>
              </a:rPr>
              <a:t>una</a:t>
            </a:r>
            <a:r>
              <a:rPr lang="en-US" sz="2400" dirty="0">
                <a:solidFill>
                  <a:srgbClr val="434343"/>
                </a:solidFill>
                <a:latin typeface="Open Sans" panose="020B0606030504020204" pitchFamily="34" charset="0"/>
              </a:rPr>
              <a:t> </a:t>
            </a:r>
            <a:r>
              <a:rPr lang="en-US" sz="2400" dirty="0" err="1">
                <a:solidFill>
                  <a:srgbClr val="434343"/>
                </a:solidFill>
                <a:latin typeface="Open Sans" panose="020B0606030504020204" pitchFamily="34" charset="0"/>
              </a:rPr>
              <a:t>matriz</a:t>
            </a:r>
            <a:r>
              <a:rPr lang="en-US" sz="2400" dirty="0">
                <a:solidFill>
                  <a:srgbClr val="434343"/>
                </a:solidFill>
                <a:latin typeface="Open Sans" panose="020B0606030504020204" pitchFamily="34" charset="0"/>
              </a:rPr>
              <a:t>? Pues </a:t>
            </a:r>
            <a:r>
              <a:rPr lang="en-US" sz="2400" u="sng" dirty="0" err="1">
                <a:solidFill>
                  <a:srgbClr val="434343"/>
                </a:solidFill>
                <a:latin typeface="Open Sans" panose="020B0606030504020204" pitchFamily="34" charset="0"/>
              </a:rPr>
              <a:t>si</a:t>
            </a:r>
            <a:r>
              <a:rPr lang="en-US" sz="2400" u="sng" dirty="0">
                <a:solidFill>
                  <a:srgbClr val="434343"/>
                </a:solidFill>
                <a:latin typeface="Open Sans" panose="020B0606030504020204" pitchFamily="34" charset="0"/>
              </a:rPr>
              <a:t> lo es!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rgbClr val="434343"/>
                </a:solidFill>
                <a:latin typeface="Open Sans" panose="020B0606030504020204" pitchFamily="34" charset="0"/>
              </a:rPr>
              <a:t>Para </a:t>
            </a:r>
            <a:r>
              <a:rPr lang="en-US" sz="2400" dirty="0" err="1">
                <a:solidFill>
                  <a:srgbClr val="434343"/>
                </a:solidFill>
                <a:latin typeface="Open Sans" panose="020B0606030504020204" pitchFamily="34" charset="0"/>
              </a:rPr>
              <a:t>cada</a:t>
            </a:r>
            <a:r>
              <a:rPr lang="en-US" sz="2400" dirty="0">
                <a:solidFill>
                  <a:srgbClr val="434343"/>
                </a:solidFill>
                <a:latin typeface="Open Sans" panose="020B0606030504020204" pitchFamily="34" charset="0"/>
              </a:rPr>
              <a:t> </a:t>
            </a:r>
            <a:r>
              <a:rPr lang="en-US" sz="2400" dirty="0" err="1">
                <a:solidFill>
                  <a:srgbClr val="434343"/>
                </a:solidFill>
                <a:latin typeface="Open Sans" panose="020B0606030504020204" pitchFamily="34" charset="0"/>
              </a:rPr>
              <a:t>cuadrito</a:t>
            </a:r>
            <a:r>
              <a:rPr lang="en-US" sz="2400" dirty="0">
                <a:solidFill>
                  <a:srgbClr val="434343"/>
                </a:solidFill>
                <a:latin typeface="Open Sans" panose="020B0606030504020204" pitchFamily="34" charset="0"/>
              </a:rPr>
              <a:t> </a:t>
            </a:r>
            <a:r>
              <a:rPr lang="en-US" sz="2400" dirty="0" err="1">
                <a:solidFill>
                  <a:srgbClr val="434343"/>
                </a:solidFill>
                <a:latin typeface="Open Sans" panose="020B0606030504020204" pitchFamily="34" charset="0"/>
              </a:rPr>
              <a:t>esta</a:t>
            </a:r>
            <a:r>
              <a:rPr lang="en-US" sz="2400" dirty="0">
                <a:solidFill>
                  <a:srgbClr val="434343"/>
                </a:solidFill>
                <a:latin typeface="Open Sans" panose="020B0606030504020204" pitchFamily="34" charset="0"/>
              </a:rPr>
              <a:t> la </a:t>
            </a:r>
            <a:r>
              <a:rPr lang="en-US" sz="2400" dirty="0" err="1">
                <a:solidFill>
                  <a:srgbClr val="434343"/>
                </a:solidFill>
                <a:latin typeface="Open Sans" panose="020B0606030504020204" pitchFamily="34" charset="0"/>
              </a:rPr>
              <a:t>informacion</a:t>
            </a:r>
            <a:r>
              <a:rPr lang="en-US" sz="2400" dirty="0">
                <a:solidFill>
                  <a:srgbClr val="434343"/>
                </a:solidFill>
                <a:latin typeface="Open Sans" panose="020B0606030504020204" pitchFamily="34" charset="0"/>
              </a:rPr>
              <a:t> del color del pixel y </a:t>
            </a:r>
            <a:r>
              <a:rPr lang="en-US" sz="2400" dirty="0" err="1">
                <a:solidFill>
                  <a:srgbClr val="434343"/>
                </a:solidFill>
                <a:latin typeface="Open Sans" panose="020B0606030504020204" pitchFamily="34" charset="0"/>
              </a:rPr>
              <a:t>cada</a:t>
            </a:r>
            <a:r>
              <a:rPr lang="en-US" sz="2400" dirty="0">
                <a:solidFill>
                  <a:srgbClr val="434343"/>
                </a:solidFill>
                <a:latin typeface="Open Sans" panose="020B0606030504020204" pitchFamily="34" charset="0"/>
              </a:rPr>
              <a:t> </a:t>
            </a:r>
            <a:r>
              <a:rPr lang="en-US" sz="2400" dirty="0" err="1">
                <a:solidFill>
                  <a:srgbClr val="434343"/>
                </a:solidFill>
                <a:latin typeface="Open Sans" panose="020B0606030504020204" pitchFamily="34" charset="0"/>
              </a:rPr>
              <a:t>caracter</a:t>
            </a:r>
            <a:r>
              <a:rPr lang="en-US" sz="2400" dirty="0">
                <a:solidFill>
                  <a:srgbClr val="434343"/>
                </a:solidFill>
                <a:latin typeface="Open Sans" panose="020B0606030504020204" pitchFamily="34" charset="0"/>
              </a:rPr>
              <a:t> </a:t>
            </a:r>
            <a:r>
              <a:rPr lang="en-US" sz="2400" dirty="0" err="1">
                <a:solidFill>
                  <a:srgbClr val="434343"/>
                </a:solidFill>
                <a:latin typeface="Open Sans" panose="020B0606030504020204" pitchFamily="34" charset="0"/>
              </a:rPr>
              <a:t>referencia</a:t>
            </a:r>
            <a:r>
              <a:rPr lang="en-US" sz="2400" dirty="0">
                <a:solidFill>
                  <a:srgbClr val="434343"/>
                </a:solidFill>
                <a:latin typeface="Open Sans" panose="020B0606030504020204" pitchFamily="34" charset="0"/>
              </a:rPr>
              <a:t> </a:t>
            </a:r>
            <a:r>
              <a:rPr lang="en-US" sz="2400" dirty="0">
                <a:solidFill>
                  <a:srgbClr val="434343"/>
                </a:solidFill>
                <a:highlight>
                  <a:srgbClr val="FFFF00"/>
                </a:highlight>
                <a:latin typeface="Open Sans" panose="020B0606030504020204" pitchFamily="34" charset="0"/>
              </a:rPr>
              <a:t>“b”</a:t>
            </a:r>
            <a:r>
              <a:rPr lang="en-US" sz="2400" dirty="0">
                <a:solidFill>
                  <a:srgbClr val="434343"/>
                </a:solidFill>
                <a:latin typeface="Open Sans" panose="020B0606030504020204" pitchFamily="34" charset="0"/>
              </a:rPr>
              <a:t> </a:t>
            </a:r>
            <a:r>
              <a:rPr lang="en-US" sz="2400" dirty="0" err="1">
                <a:solidFill>
                  <a:srgbClr val="434343"/>
                </a:solidFill>
                <a:latin typeface="Open Sans" panose="020B0606030504020204" pitchFamily="34" charset="0"/>
              </a:rPr>
              <a:t>si</a:t>
            </a:r>
            <a:r>
              <a:rPr lang="en-US" sz="2400" dirty="0">
                <a:solidFill>
                  <a:srgbClr val="434343"/>
                </a:solidFill>
                <a:latin typeface="Open Sans" panose="020B0606030504020204" pitchFamily="34" charset="0"/>
              </a:rPr>
              <a:t> es </a:t>
            </a:r>
            <a:r>
              <a:rPr lang="en-US" sz="2400" dirty="0" err="1">
                <a:solidFill>
                  <a:srgbClr val="434343"/>
                </a:solidFill>
                <a:highlight>
                  <a:srgbClr val="FFFF00"/>
                </a:highlight>
                <a:latin typeface="Open Sans" panose="020B0606030504020204" pitchFamily="34" charset="0"/>
              </a:rPr>
              <a:t>blanco</a:t>
            </a:r>
            <a:r>
              <a:rPr lang="en-US" sz="2400" dirty="0">
                <a:solidFill>
                  <a:srgbClr val="434343"/>
                </a:solidFill>
                <a:latin typeface="Open Sans" panose="020B0606030504020204" pitchFamily="34" charset="0"/>
              </a:rPr>
              <a:t> y </a:t>
            </a:r>
            <a:r>
              <a:rPr lang="en-US" sz="2400" dirty="0">
                <a:solidFill>
                  <a:srgbClr val="434343"/>
                </a:solidFill>
                <a:highlight>
                  <a:srgbClr val="FFFF00"/>
                </a:highlight>
                <a:latin typeface="Open Sans" panose="020B0606030504020204" pitchFamily="34" charset="0"/>
              </a:rPr>
              <a:t>“r”</a:t>
            </a:r>
            <a:r>
              <a:rPr lang="en-US" sz="2400" dirty="0">
                <a:solidFill>
                  <a:srgbClr val="434343"/>
                </a:solidFill>
                <a:latin typeface="Open Sans" panose="020B0606030504020204" pitchFamily="34" charset="0"/>
              </a:rPr>
              <a:t> </a:t>
            </a:r>
            <a:r>
              <a:rPr lang="en-US" sz="2400" dirty="0" err="1">
                <a:solidFill>
                  <a:srgbClr val="434343"/>
                </a:solidFill>
                <a:latin typeface="Open Sans" panose="020B0606030504020204" pitchFamily="34" charset="0"/>
              </a:rPr>
              <a:t>si</a:t>
            </a:r>
            <a:r>
              <a:rPr lang="en-US" sz="2400" dirty="0">
                <a:solidFill>
                  <a:srgbClr val="434343"/>
                </a:solidFill>
                <a:latin typeface="Open Sans" panose="020B0606030504020204" pitchFamily="34" charset="0"/>
              </a:rPr>
              <a:t> es </a:t>
            </a:r>
            <a:r>
              <a:rPr lang="en-US" sz="2400" dirty="0">
                <a:solidFill>
                  <a:srgbClr val="434343"/>
                </a:solidFill>
                <a:highlight>
                  <a:srgbClr val="FFFF00"/>
                </a:highlight>
                <a:latin typeface="Open Sans" panose="020B0606030504020204" pitchFamily="34" charset="0"/>
              </a:rPr>
              <a:t>rojo</a:t>
            </a:r>
            <a:r>
              <a:rPr lang="en-US" sz="2400" dirty="0">
                <a:solidFill>
                  <a:srgbClr val="434343"/>
                </a:solidFill>
                <a:latin typeface="Open Sans" panose="020B0606030504020204" pitchFamily="34" charset="0"/>
              </a:rPr>
              <a:t>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rgbClr val="434343"/>
                </a:solidFill>
                <a:latin typeface="Open Sans" panose="020B0606030504020204" pitchFamily="34" charset="0"/>
              </a:rPr>
              <a:t>Este </a:t>
            </a:r>
            <a:r>
              <a:rPr lang="en-US" sz="2400" dirty="0" err="1">
                <a:solidFill>
                  <a:srgbClr val="434343"/>
                </a:solidFill>
                <a:latin typeface="Open Sans" panose="020B0606030504020204" pitchFamily="34" charset="0"/>
              </a:rPr>
              <a:t>dibujo</a:t>
            </a:r>
            <a:r>
              <a:rPr lang="en-US" sz="2400" dirty="0">
                <a:solidFill>
                  <a:srgbClr val="434343"/>
                </a:solidFill>
                <a:latin typeface="Open Sans" panose="020B0606030504020204" pitchFamily="34" charset="0"/>
              </a:rPr>
              <a:t> no </a:t>
            </a:r>
            <a:r>
              <a:rPr lang="en-US" sz="2400" dirty="0" err="1">
                <a:solidFill>
                  <a:srgbClr val="434343"/>
                </a:solidFill>
                <a:latin typeface="Open Sans" panose="020B0606030504020204" pitchFamily="34" charset="0"/>
              </a:rPr>
              <a:t>esta</a:t>
            </a:r>
            <a:r>
              <a:rPr lang="en-US" sz="2400" dirty="0">
                <a:solidFill>
                  <a:srgbClr val="434343"/>
                </a:solidFill>
                <a:latin typeface="Open Sans" panose="020B0606030504020204" pitchFamily="34" charset="0"/>
              </a:rPr>
              <a:t> </a:t>
            </a:r>
            <a:r>
              <a:rPr lang="en-US" sz="2400" dirty="0" err="1">
                <a:solidFill>
                  <a:srgbClr val="434343"/>
                </a:solidFill>
                <a:latin typeface="Open Sans" panose="020B0606030504020204" pitchFamily="34" charset="0"/>
              </a:rPr>
              <a:t>completo</a:t>
            </a:r>
            <a:r>
              <a:rPr lang="en-US" sz="2400" dirty="0">
                <a:solidFill>
                  <a:srgbClr val="434343"/>
                </a:solidFill>
                <a:latin typeface="Open Sans" panose="020B0606030504020204" pitchFamily="34" charset="0"/>
              </a:rPr>
              <a:t>, </a:t>
            </a:r>
            <a:r>
              <a:rPr lang="en-US" sz="2400" dirty="0" err="1">
                <a:solidFill>
                  <a:srgbClr val="434343"/>
                </a:solidFill>
                <a:latin typeface="Open Sans" panose="020B0606030504020204" pitchFamily="34" charset="0"/>
              </a:rPr>
              <a:t>estas</a:t>
            </a:r>
            <a:r>
              <a:rPr lang="en-US" sz="2400" dirty="0">
                <a:solidFill>
                  <a:srgbClr val="434343"/>
                </a:solidFill>
                <a:latin typeface="Open Sans" panose="020B0606030504020204" pitchFamily="34" charset="0"/>
              </a:rPr>
              <a:t> solo son las dos </a:t>
            </a:r>
            <a:r>
              <a:rPr lang="en-US" sz="2400" dirty="0" err="1">
                <a:solidFill>
                  <a:srgbClr val="434343"/>
                </a:solidFill>
                <a:latin typeface="Open Sans" panose="020B0606030504020204" pitchFamily="34" charset="0"/>
              </a:rPr>
              <a:t>primeras</a:t>
            </a:r>
            <a:r>
              <a:rPr lang="en-US" sz="2400" dirty="0">
                <a:solidFill>
                  <a:srgbClr val="434343"/>
                </a:solidFill>
                <a:latin typeface="Open Sans" panose="020B0606030504020204" pitchFamily="34" charset="0"/>
              </a:rPr>
              <a:t> </a:t>
            </a:r>
            <a:r>
              <a:rPr lang="en-US" sz="2400" dirty="0" err="1">
                <a:solidFill>
                  <a:srgbClr val="434343"/>
                </a:solidFill>
                <a:latin typeface="Open Sans" panose="020B0606030504020204" pitchFamily="34" charset="0"/>
              </a:rPr>
              <a:t>lineas</a:t>
            </a:r>
            <a:r>
              <a:rPr lang="en-US" sz="2400" dirty="0">
                <a:solidFill>
                  <a:srgbClr val="434343"/>
                </a:solidFill>
                <a:latin typeface="Open Sans" panose="020B0606030504020204" pitchFamily="34" charset="0"/>
              </a:rPr>
              <a:t> de la </a:t>
            </a:r>
            <a:r>
              <a:rPr lang="en-US" sz="2400" dirty="0" err="1">
                <a:solidFill>
                  <a:srgbClr val="434343"/>
                </a:solidFill>
                <a:latin typeface="Open Sans" panose="020B0606030504020204" pitchFamily="34" charset="0"/>
              </a:rPr>
              <a:t>matriz</a:t>
            </a:r>
            <a:endParaRPr lang="en-US" sz="2400" dirty="0">
              <a:solidFill>
                <a:srgbClr val="434343"/>
              </a:solidFill>
              <a:latin typeface="Open Sans" panose="020B0606030504020204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9B1BD5D-5895-C070-4C41-EC1CD618DF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618" y="3089209"/>
            <a:ext cx="9128166" cy="3068745"/>
          </a:xfrm>
          <a:prstGeom prst="rect">
            <a:avLst/>
          </a:prstGeom>
        </p:spPr>
      </p:pic>
      <p:pic>
        <p:nvPicPr>
          <p:cNvPr id="2050" name="Picture 2" descr="8-bit mario by raivcesleinadnayr on DeviantArt">
            <a:extLst>
              <a:ext uri="{FF2B5EF4-FFF2-40B4-BE49-F238E27FC236}">
                <a16:creationId xmlns:a16="http://schemas.microsoft.com/office/drawing/2014/main" id="{6E6B2AE1-57B6-8F1C-12D9-DB1FD336CF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2254" y="3089208"/>
            <a:ext cx="3068746" cy="3068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873764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0EBD4BB0-A941-F06D-1BC3-BC986C5D21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A26D3819-8427-ECFC-3EFF-0E82B68BB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89C0B770-FD61-05AF-F83C-CEC29EF007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09"/>
            <a:ext cx="12192000" cy="6846582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67A0ADED-D619-8402-3125-3D3D79B537D7}"/>
              </a:ext>
            </a:extLst>
          </p:cNvPr>
          <p:cNvSpPr txBox="1"/>
          <p:nvPr/>
        </p:nvSpPr>
        <p:spPr>
          <a:xfrm>
            <a:off x="3174670" y="2274838"/>
            <a:ext cx="632559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7200" b="1" dirty="0" err="1">
                <a:solidFill>
                  <a:schemeClr val="bg1"/>
                </a:solidFill>
                <a:latin typeface="Verdana" panose="020B0604030504040204" pitchFamily="34" charset="0"/>
              </a:rPr>
              <a:t>Recorrer</a:t>
            </a:r>
            <a:r>
              <a:rPr lang="en-US" sz="7200" b="1" dirty="0">
                <a:solidFill>
                  <a:schemeClr val="bg1"/>
                </a:solidFill>
                <a:latin typeface="Verdana" panose="020B0604030504040204" pitchFamily="34" charset="0"/>
              </a:rPr>
              <a:t> </a:t>
            </a:r>
            <a:r>
              <a:rPr lang="en-US" sz="7200" b="1" dirty="0" err="1">
                <a:solidFill>
                  <a:schemeClr val="bg1"/>
                </a:solidFill>
                <a:latin typeface="Verdana" panose="020B0604030504040204" pitchFamily="34" charset="0"/>
              </a:rPr>
              <a:t>una</a:t>
            </a:r>
            <a:r>
              <a:rPr lang="en-US" sz="7200" b="1" dirty="0">
                <a:solidFill>
                  <a:schemeClr val="bg1"/>
                </a:solidFill>
                <a:latin typeface="Verdana" panose="020B0604030504040204" pitchFamily="34" charset="0"/>
              </a:rPr>
              <a:t> </a:t>
            </a:r>
            <a:r>
              <a:rPr lang="en-US" sz="7200" b="1" dirty="0" err="1">
                <a:solidFill>
                  <a:schemeClr val="bg1"/>
                </a:solidFill>
                <a:latin typeface="Verdana" panose="020B0604030504040204" pitchFamily="34" charset="0"/>
              </a:rPr>
              <a:t>Matriz</a:t>
            </a:r>
            <a:endParaRPr lang="es-AR" sz="7200" b="1" dirty="0">
              <a:solidFill>
                <a:schemeClr val="bg1"/>
              </a:solidFill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473370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E2EEF8A5-14B7-DEBB-4B7E-E5434E3293F2}"/>
              </a:ext>
            </a:extLst>
          </p:cNvPr>
          <p:cNvSpPr txBox="1">
            <a:spLocks/>
          </p:cNvSpPr>
          <p:nvPr/>
        </p:nvSpPr>
        <p:spPr>
          <a:xfrm>
            <a:off x="2298861" y="266596"/>
            <a:ext cx="7735787" cy="7540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3200" b="1" dirty="0">
                <a:solidFill>
                  <a:srgbClr val="B00055"/>
                </a:solidFill>
                <a:latin typeface="Verdana" panose="020B0604030504040204" pitchFamily="34" charset="0"/>
              </a:rPr>
              <a:t>Recorrer una Matriz</a:t>
            </a:r>
          </a:p>
        </p:txBody>
      </p:sp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38E4A167-08A5-3479-9422-1E6A6083E5B9}"/>
              </a:ext>
            </a:extLst>
          </p:cNvPr>
          <p:cNvSpPr txBox="1">
            <a:spLocks/>
          </p:cNvSpPr>
          <p:nvPr/>
        </p:nvSpPr>
        <p:spPr>
          <a:xfrm>
            <a:off x="499750" y="1261429"/>
            <a:ext cx="11429013" cy="1760837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s-AR" sz="3300" b="1" i="0" u="none" strike="noStrike" dirty="0">
                <a:solidFill>
                  <a:schemeClr val="accent2"/>
                </a:solidFill>
                <a:effectLst/>
                <a:latin typeface="Open Sans" panose="020B0606030504020204" pitchFamily="34" charset="0"/>
              </a:rPr>
              <a:t>Recorrido de un matriz</a:t>
            </a:r>
          </a:p>
          <a:p>
            <a:pPr marL="0" indent="0">
              <a:spcBef>
                <a:spcPts val="600"/>
              </a:spcBef>
              <a:buNone/>
            </a:pPr>
            <a:endParaRPr lang="es-AR" sz="2400" b="1" i="0" u="none" strike="noStrike" dirty="0">
              <a:solidFill>
                <a:schemeClr val="accent2"/>
              </a:solidFill>
              <a:effectLst/>
              <a:latin typeface="Open Sans" panose="020B0606030504020204" pitchFamily="34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s-AR" sz="2400" i="0" u="none" strike="noStrike" dirty="0">
                <a:solidFill>
                  <a:schemeClr val="bg2">
                    <a:lumMod val="25000"/>
                  </a:schemeClr>
                </a:solidFill>
                <a:effectLst/>
                <a:latin typeface="Open Sans" panose="020B0606030504020204" pitchFamily="34" charset="0"/>
              </a:rPr>
              <a:t>Cuando recorremos una matriz, tenemos 4 posibles formas de hacerlo.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s-AR" sz="2400" i="0" u="none" strike="noStrike" dirty="0">
                <a:solidFill>
                  <a:schemeClr val="bg2">
                    <a:lumMod val="25000"/>
                  </a:schemeClr>
                </a:solidFill>
                <a:effectLst/>
                <a:latin typeface="Open Sans" panose="020B0606030504020204" pitchFamily="34" charset="0"/>
              </a:rPr>
              <a:t>Podemos recorrer solo una fila, solo una columna, recorrerla por filas o recorrerla por columnas.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s-AR" sz="2400" i="0" u="none" strike="noStrike" dirty="0">
                <a:solidFill>
                  <a:schemeClr val="bg2">
                    <a:lumMod val="25000"/>
                  </a:schemeClr>
                </a:solidFill>
                <a:effectLst/>
                <a:latin typeface="Open Sans" panose="020B0606030504020204" pitchFamily="34" charset="0"/>
              </a:rPr>
              <a:t>Veamos cada una de estas situaciones:</a:t>
            </a:r>
            <a:endParaRPr lang="es-AR" sz="2000" i="0" u="none" strike="noStrike" dirty="0">
              <a:solidFill>
                <a:schemeClr val="bg2">
                  <a:lumMod val="25000"/>
                </a:schemeClr>
              </a:solidFill>
              <a:effectLst/>
              <a:highlight>
                <a:srgbClr val="FFFF00"/>
              </a:highlight>
              <a:latin typeface="Open Sans" panose="020B0606030504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A756655-AF2C-A10E-55FC-4519713790E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6293"/>
          <a:stretch/>
        </p:blipFill>
        <p:spPr>
          <a:xfrm>
            <a:off x="3550722" y="3642425"/>
            <a:ext cx="4745405" cy="3109232"/>
          </a:xfrm>
          <a:prstGeom prst="rect">
            <a:avLst/>
          </a:prstGeom>
        </p:spPr>
      </p:pic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2EBE1543-7AA0-8DF3-81CA-15FD206E2DFA}"/>
              </a:ext>
            </a:extLst>
          </p:cNvPr>
          <p:cNvCxnSpPr/>
          <p:nvPr/>
        </p:nvCxnSpPr>
        <p:spPr>
          <a:xfrm>
            <a:off x="2838203" y="4548249"/>
            <a:ext cx="84314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3" name="CuadroTexto 12">
            <a:extLst>
              <a:ext uri="{FF2B5EF4-FFF2-40B4-BE49-F238E27FC236}">
                <a16:creationId xmlns:a16="http://schemas.microsoft.com/office/drawing/2014/main" id="{0C12BE54-8C94-4BF7-3417-032A90E139A4}"/>
              </a:ext>
            </a:extLst>
          </p:cNvPr>
          <p:cNvSpPr txBox="1"/>
          <p:nvPr/>
        </p:nvSpPr>
        <p:spPr>
          <a:xfrm>
            <a:off x="2251117" y="4357645"/>
            <a:ext cx="7110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Open Sans" panose="020B0606030504020204" pitchFamily="34" charset="0"/>
              </a:rPr>
              <a:t>F</a:t>
            </a:r>
            <a:r>
              <a:rPr lang="es-AR" b="1" dirty="0" err="1">
                <a:solidFill>
                  <a:schemeClr val="accent2"/>
                </a:solidFill>
                <a:latin typeface="Open Sans" panose="020B0606030504020204" pitchFamily="34" charset="0"/>
              </a:rPr>
              <a:t>ila</a:t>
            </a:r>
            <a:endParaRPr lang="es-AR" b="1" dirty="0">
              <a:solidFill>
                <a:schemeClr val="accent2"/>
              </a:solidFill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9051A66A-248B-C48F-B402-C98FB52956C6}"/>
              </a:ext>
            </a:extLst>
          </p:cNvPr>
          <p:cNvSpPr txBox="1"/>
          <p:nvPr/>
        </p:nvSpPr>
        <p:spPr>
          <a:xfrm>
            <a:off x="6830425" y="3273093"/>
            <a:ext cx="13041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chemeClr val="accent5"/>
                </a:solidFill>
                <a:latin typeface="Open Sans" panose="020B0606030504020204" pitchFamily="34" charset="0"/>
              </a:rPr>
              <a:t>Columna</a:t>
            </a:r>
            <a:endParaRPr lang="es-AR" b="1" dirty="0">
              <a:solidFill>
                <a:schemeClr val="accent5"/>
              </a:solidFill>
            </a:endParaRP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FE5E5884-7F18-BCF5-800F-DEB43037E66A}"/>
              </a:ext>
            </a:extLst>
          </p:cNvPr>
          <p:cNvSpPr/>
          <p:nvPr/>
        </p:nvSpPr>
        <p:spPr>
          <a:xfrm>
            <a:off x="4013860" y="4286992"/>
            <a:ext cx="3758540" cy="498762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4C69280C-B599-21F0-C64C-50E5154CAF21}"/>
              </a:ext>
            </a:extLst>
          </p:cNvPr>
          <p:cNvSpPr/>
          <p:nvPr/>
        </p:nvSpPr>
        <p:spPr>
          <a:xfrm>
            <a:off x="7012379" y="4233553"/>
            <a:ext cx="831273" cy="2131621"/>
          </a:xfrm>
          <a:prstGeom prst="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6AC4A81D-B509-BF54-AE03-4A90898AF1E3}"/>
              </a:ext>
            </a:extLst>
          </p:cNvPr>
          <p:cNvCxnSpPr/>
          <p:nvPr/>
        </p:nvCxnSpPr>
        <p:spPr>
          <a:xfrm>
            <a:off x="7428015" y="3693226"/>
            <a:ext cx="0" cy="44532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0" name="CuadroTexto 19">
            <a:extLst>
              <a:ext uri="{FF2B5EF4-FFF2-40B4-BE49-F238E27FC236}">
                <a16:creationId xmlns:a16="http://schemas.microsoft.com/office/drawing/2014/main" id="{BD28B7C7-20B2-A975-376B-172426B37C13}"/>
              </a:ext>
            </a:extLst>
          </p:cNvPr>
          <p:cNvSpPr txBox="1"/>
          <p:nvPr/>
        </p:nvSpPr>
        <p:spPr>
          <a:xfrm>
            <a:off x="3836450" y="3364544"/>
            <a:ext cx="186963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s-AR" sz="2400" b="1" i="0" u="none" strike="noStrike" dirty="0">
                <a:solidFill>
                  <a:schemeClr val="bg2">
                    <a:lumMod val="25000"/>
                  </a:schemeClr>
                </a:solidFill>
                <a:effectLst/>
                <a:latin typeface="Open Sans" panose="020B0606030504020204" pitchFamily="34" charset="0"/>
              </a:rPr>
              <a:t>La matriz : </a:t>
            </a:r>
          </a:p>
        </p:txBody>
      </p:sp>
    </p:spTree>
    <p:extLst>
      <p:ext uri="{BB962C8B-B14F-4D97-AF65-F5344CB8AC3E}">
        <p14:creationId xmlns:p14="http://schemas.microsoft.com/office/powerpoint/2010/main" val="400995977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E2EEF8A5-14B7-DEBB-4B7E-E5434E3293F2}"/>
              </a:ext>
            </a:extLst>
          </p:cNvPr>
          <p:cNvSpPr txBox="1">
            <a:spLocks/>
          </p:cNvSpPr>
          <p:nvPr/>
        </p:nvSpPr>
        <p:spPr>
          <a:xfrm>
            <a:off x="2298861" y="266596"/>
            <a:ext cx="7735787" cy="7540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3200" b="1" dirty="0">
                <a:solidFill>
                  <a:srgbClr val="B00055"/>
                </a:solidFill>
                <a:latin typeface="Verdana" panose="020B0604030504040204" pitchFamily="34" charset="0"/>
              </a:rPr>
              <a:t>Recorrer una Matriz</a:t>
            </a:r>
          </a:p>
        </p:txBody>
      </p:sp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38E4A167-08A5-3479-9422-1E6A6083E5B9}"/>
              </a:ext>
            </a:extLst>
          </p:cNvPr>
          <p:cNvSpPr txBox="1">
            <a:spLocks/>
          </p:cNvSpPr>
          <p:nvPr/>
        </p:nvSpPr>
        <p:spPr>
          <a:xfrm>
            <a:off x="499750" y="1261430"/>
            <a:ext cx="11429013" cy="15827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s-AR" sz="3300" b="1" i="0" u="none" strike="noStrike" dirty="0">
                <a:solidFill>
                  <a:schemeClr val="accent2"/>
                </a:solidFill>
                <a:effectLst/>
                <a:latin typeface="Open Sans" panose="020B0606030504020204" pitchFamily="34" charset="0"/>
              </a:rPr>
              <a:t>Recorrer una fila</a:t>
            </a:r>
            <a:endParaRPr lang="es-AR" sz="2400" b="1" i="0" u="none" strike="noStrike" dirty="0">
              <a:solidFill>
                <a:schemeClr val="accent2"/>
              </a:solidFill>
              <a:effectLst/>
              <a:latin typeface="Open Sans" panose="020B0606030504020204" pitchFamily="34" charset="0"/>
            </a:endParaRPr>
          </a:p>
          <a:p>
            <a:pPr marL="0" indent="0">
              <a:spcBef>
                <a:spcPts val="600"/>
              </a:spcBef>
              <a:buNone/>
            </a:pPr>
            <a:endParaRPr lang="es-AR" sz="2400" i="0" u="none" strike="noStrike" dirty="0">
              <a:solidFill>
                <a:schemeClr val="bg2">
                  <a:lumMod val="25000"/>
                </a:schemeClr>
              </a:solidFill>
              <a:effectLst/>
              <a:latin typeface="Open Sans" panose="020B0606030504020204" pitchFamily="34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s-AR" sz="2400" i="0" u="none" strike="noStrike" dirty="0">
                <a:solidFill>
                  <a:schemeClr val="bg2">
                    <a:lumMod val="25000"/>
                  </a:schemeClr>
                </a:solidFill>
                <a:effectLst/>
                <a:latin typeface="Open Sans" panose="020B0606030504020204" pitchFamily="34" charset="0"/>
              </a:rPr>
              <a:t>Debemos determinar qué fila queremos recorrer, por ejemplo la fila 1.</a:t>
            </a:r>
            <a:endParaRPr lang="es-AR" sz="2000" i="0" u="none" strike="noStrike" dirty="0">
              <a:solidFill>
                <a:schemeClr val="bg2">
                  <a:lumMod val="25000"/>
                </a:schemeClr>
              </a:solidFill>
              <a:effectLst/>
              <a:highlight>
                <a:srgbClr val="FFFF00"/>
              </a:highlight>
              <a:latin typeface="Open Sans" panose="020B0606030504020204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2F6405B-B53E-001D-BBA9-C1C4896566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2392" y="2844139"/>
            <a:ext cx="2750272" cy="1653701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58EA7962-49F7-48FA-D5A2-F05BFB40A66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7500"/>
          <a:stretch/>
        </p:blipFill>
        <p:spPr>
          <a:xfrm>
            <a:off x="5037023" y="3056542"/>
            <a:ext cx="5828900" cy="1228896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51132657-CFE6-09E4-E5C0-8F0A012B09DA}"/>
              </a:ext>
            </a:extLst>
          </p:cNvPr>
          <p:cNvSpPr txBox="1"/>
          <p:nvPr/>
        </p:nvSpPr>
        <p:spPr>
          <a:xfrm>
            <a:off x="499750" y="4811740"/>
            <a:ext cx="1121011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400" i="0" u="none" strike="noStrike" dirty="0">
                <a:solidFill>
                  <a:schemeClr val="bg2">
                    <a:lumMod val="25000"/>
                  </a:schemeClr>
                </a:solidFill>
                <a:effectLst/>
                <a:latin typeface="Open Sans" panose="020B0606030504020204" pitchFamily="34" charset="0"/>
              </a:rPr>
              <a:t>Recorremos los elementos de la fila elegida, con </a:t>
            </a:r>
            <a:r>
              <a:rPr lang="es-AR" sz="2400" i="0" u="none" strike="noStrike" dirty="0">
                <a:solidFill>
                  <a:schemeClr val="bg2">
                    <a:lumMod val="25000"/>
                  </a:schemeClr>
                </a:solidFill>
                <a:effectLst/>
                <a:highlight>
                  <a:srgbClr val="FFFF00"/>
                </a:highlight>
                <a:latin typeface="Open Sans" panose="020B0606030504020204" pitchFamily="34" charset="0"/>
              </a:rPr>
              <a:t>matriz[1].</a:t>
            </a:r>
            <a:r>
              <a:rPr lang="es-AR" sz="2400" i="0" u="none" strike="noStrike" dirty="0" err="1">
                <a:solidFill>
                  <a:schemeClr val="bg2">
                    <a:lumMod val="25000"/>
                  </a:schemeClr>
                </a:solidFill>
                <a:effectLst/>
                <a:highlight>
                  <a:srgbClr val="FFFF00"/>
                </a:highlight>
                <a:latin typeface="Open Sans" panose="020B0606030504020204" pitchFamily="34" charset="0"/>
              </a:rPr>
              <a:t>length</a:t>
            </a:r>
            <a:r>
              <a:rPr lang="es-AR" sz="2400" i="0" u="none" strike="noStrike" dirty="0">
                <a:solidFill>
                  <a:schemeClr val="bg2">
                    <a:lumMod val="25000"/>
                  </a:schemeClr>
                </a:solidFill>
                <a:effectLst/>
                <a:latin typeface="Open Sans" panose="020B0606030504020204" pitchFamily="34" charset="0"/>
              </a:rPr>
              <a:t>, “medimos” la cantidad de elementos de la fila. </a:t>
            </a:r>
          </a:p>
          <a:p>
            <a:r>
              <a:rPr lang="es-AR" sz="2400" i="0" u="none" strike="noStrike" dirty="0">
                <a:solidFill>
                  <a:schemeClr val="bg2">
                    <a:lumMod val="25000"/>
                  </a:schemeClr>
                </a:solidFill>
                <a:effectLst/>
                <a:latin typeface="Open Sans" panose="020B0606030504020204" pitchFamily="34" charset="0"/>
              </a:rPr>
              <a:t>Al acceder a los elementos matriz[1][i], mantenemos fija la fila.</a:t>
            </a:r>
          </a:p>
          <a:p>
            <a:r>
              <a:rPr lang="es-AR" sz="2400" i="0" u="none" strike="noStrike" dirty="0">
                <a:solidFill>
                  <a:schemeClr val="bg2">
                    <a:lumMod val="25000"/>
                  </a:schemeClr>
                </a:solidFill>
                <a:effectLst/>
                <a:latin typeface="Open Sans" panose="020B0606030504020204" pitchFamily="34" charset="0"/>
              </a:rPr>
              <a:t>Obtenemos 0, 2, 4, 6.</a:t>
            </a:r>
          </a:p>
        </p:txBody>
      </p:sp>
      <p:sp>
        <p:nvSpPr>
          <p:cNvPr id="11" name="Flecha: a la derecha 10">
            <a:extLst>
              <a:ext uri="{FF2B5EF4-FFF2-40B4-BE49-F238E27FC236}">
                <a16:creationId xmlns:a16="http://schemas.microsoft.com/office/drawing/2014/main" id="{C028CC7A-F303-60A8-E13B-5B5F30733047}"/>
              </a:ext>
            </a:extLst>
          </p:cNvPr>
          <p:cNvSpPr/>
          <p:nvPr/>
        </p:nvSpPr>
        <p:spPr>
          <a:xfrm>
            <a:off x="1347849" y="3538847"/>
            <a:ext cx="434543" cy="285008"/>
          </a:xfrm>
          <a:prstGeom prst="right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AR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C4D03AD6-61B3-C40B-07B2-8B527893A376}"/>
              </a:ext>
            </a:extLst>
          </p:cNvPr>
          <p:cNvSpPr txBox="1"/>
          <p:nvPr/>
        </p:nvSpPr>
        <p:spPr>
          <a:xfrm>
            <a:off x="570758" y="3496685"/>
            <a:ext cx="8245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Open Sans" panose="020B0606030504020204" pitchFamily="34" charset="0"/>
              </a:rPr>
              <a:t>F</a:t>
            </a:r>
            <a:r>
              <a:rPr lang="es-AR" b="1" dirty="0" err="1">
                <a:solidFill>
                  <a:schemeClr val="accent2"/>
                </a:solidFill>
                <a:latin typeface="Open Sans" panose="020B0606030504020204" pitchFamily="34" charset="0"/>
              </a:rPr>
              <a:t>ila</a:t>
            </a:r>
            <a:r>
              <a:rPr lang="es-AR" b="1" dirty="0">
                <a:solidFill>
                  <a:schemeClr val="accent2"/>
                </a:solidFill>
                <a:latin typeface="Open Sans" panose="020B0606030504020204" pitchFamily="34" charset="0"/>
              </a:rPr>
              <a:t> 1</a:t>
            </a:r>
            <a:endParaRPr lang="es-AR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734413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E2EEF8A5-14B7-DEBB-4B7E-E5434E3293F2}"/>
              </a:ext>
            </a:extLst>
          </p:cNvPr>
          <p:cNvSpPr txBox="1">
            <a:spLocks/>
          </p:cNvSpPr>
          <p:nvPr/>
        </p:nvSpPr>
        <p:spPr>
          <a:xfrm>
            <a:off x="2298861" y="266596"/>
            <a:ext cx="7735787" cy="7540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3200" b="1" dirty="0">
                <a:solidFill>
                  <a:srgbClr val="B00055"/>
                </a:solidFill>
                <a:latin typeface="Verdana" panose="020B0604030504040204" pitchFamily="34" charset="0"/>
              </a:rPr>
              <a:t>Recorrer una Matriz</a:t>
            </a:r>
          </a:p>
        </p:txBody>
      </p:sp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38E4A167-08A5-3479-9422-1E6A6083E5B9}"/>
              </a:ext>
            </a:extLst>
          </p:cNvPr>
          <p:cNvSpPr txBox="1">
            <a:spLocks/>
          </p:cNvSpPr>
          <p:nvPr/>
        </p:nvSpPr>
        <p:spPr>
          <a:xfrm>
            <a:off x="499750" y="1261430"/>
            <a:ext cx="11429013" cy="158271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s-AR" sz="3300" b="1" i="0" u="none" strike="noStrike" dirty="0">
                <a:solidFill>
                  <a:schemeClr val="accent2"/>
                </a:solidFill>
                <a:effectLst/>
                <a:latin typeface="Open Sans" panose="020B0606030504020204" pitchFamily="34" charset="0"/>
              </a:rPr>
              <a:t>Recorrer una Columna</a:t>
            </a:r>
            <a:endParaRPr lang="es-AR" sz="2400" b="1" i="0" u="none" strike="noStrike" dirty="0">
              <a:solidFill>
                <a:schemeClr val="accent2"/>
              </a:solidFill>
              <a:effectLst/>
              <a:latin typeface="Open Sans" panose="020B0606030504020204" pitchFamily="34" charset="0"/>
            </a:endParaRPr>
          </a:p>
          <a:p>
            <a:pPr marL="0" indent="0">
              <a:spcBef>
                <a:spcPts val="600"/>
              </a:spcBef>
              <a:buNone/>
            </a:pPr>
            <a:endParaRPr lang="es-AR" sz="2400" i="0" u="none" strike="noStrike" dirty="0">
              <a:solidFill>
                <a:schemeClr val="bg2">
                  <a:lumMod val="25000"/>
                </a:schemeClr>
              </a:solidFill>
              <a:effectLst/>
              <a:latin typeface="Open Sans" panose="020B0606030504020204" pitchFamily="34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s-AR" sz="2400" i="0" u="none" strike="noStrike" dirty="0">
                <a:solidFill>
                  <a:schemeClr val="bg2">
                    <a:lumMod val="25000"/>
                  </a:schemeClr>
                </a:solidFill>
                <a:effectLst/>
                <a:latin typeface="Open Sans" panose="020B0606030504020204" pitchFamily="34" charset="0"/>
              </a:rPr>
              <a:t>Ahora determinamos la columna que queremos recorrer, por ejemplo la columna 2.</a:t>
            </a:r>
            <a:endParaRPr lang="es-AR" sz="2000" i="0" u="none" strike="noStrike" dirty="0">
              <a:solidFill>
                <a:schemeClr val="bg2">
                  <a:lumMod val="25000"/>
                </a:schemeClr>
              </a:solidFill>
              <a:effectLst/>
              <a:highlight>
                <a:srgbClr val="FFFF00"/>
              </a:highlight>
              <a:latin typeface="Open Sans" panose="020B0606030504020204" pitchFamily="34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51132657-CFE6-09E4-E5C0-8F0A012B09DA}"/>
              </a:ext>
            </a:extLst>
          </p:cNvPr>
          <p:cNvSpPr txBox="1"/>
          <p:nvPr/>
        </p:nvSpPr>
        <p:spPr>
          <a:xfrm>
            <a:off x="499750" y="4811740"/>
            <a:ext cx="1121011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400" i="0" u="none" strike="noStrike" dirty="0">
                <a:solidFill>
                  <a:schemeClr val="bg2">
                    <a:lumMod val="25000"/>
                  </a:schemeClr>
                </a:solidFill>
                <a:effectLst/>
                <a:latin typeface="Open Sans" panose="020B0606030504020204" pitchFamily="34" charset="0"/>
              </a:rPr>
              <a:t>Recorremos los elementos de la columna elegida, con </a:t>
            </a:r>
            <a:r>
              <a:rPr lang="es-AR" sz="2400" i="0" u="none" strike="noStrike" dirty="0" err="1">
                <a:solidFill>
                  <a:schemeClr val="bg2">
                    <a:lumMod val="25000"/>
                  </a:schemeClr>
                </a:solidFill>
                <a:effectLst/>
                <a:highlight>
                  <a:srgbClr val="FFFF00"/>
                </a:highlight>
                <a:latin typeface="Open Sans" panose="020B0606030504020204" pitchFamily="34" charset="0"/>
              </a:rPr>
              <a:t>matriz.length</a:t>
            </a:r>
            <a:r>
              <a:rPr lang="es-AR" sz="2400" i="0" u="none" strike="noStrike" dirty="0">
                <a:solidFill>
                  <a:schemeClr val="bg2">
                    <a:lumMod val="25000"/>
                  </a:schemeClr>
                </a:solidFill>
                <a:effectLst/>
                <a:latin typeface="Open Sans" panose="020B0606030504020204" pitchFamily="34" charset="0"/>
              </a:rPr>
              <a:t>, “medimos” la cantidad de elementos de la columna, esto sería la cantidad de </a:t>
            </a:r>
            <a:r>
              <a:rPr lang="es-AR" sz="2400" i="0" u="sng" strike="noStrike" dirty="0">
                <a:solidFill>
                  <a:schemeClr val="bg2">
                    <a:lumMod val="25000"/>
                  </a:schemeClr>
                </a:solidFill>
                <a:effectLst/>
                <a:latin typeface="Open Sans" panose="020B0606030504020204" pitchFamily="34" charset="0"/>
              </a:rPr>
              <a:t>filas de la matriz</a:t>
            </a:r>
            <a:r>
              <a:rPr lang="es-AR" sz="2400" i="0" u="none" strike="noStrike" dirty="0">
                <a:solidFill>
                  <a:schemeClr val="bg2">
                    <a:lumMod val="25000"/>
                  </a:schemeClr>
                </a:solidFill>
                <a:effectLst/>
                <a:latin typeface="Open Sans" panose="020B0606030504020204" pitchFamily="34" charset="0"/>
              </a:rPr>
              <a:t>.</a:t>
            </a:r>
          </a:p>
          <a:p>
            <a:r>
              <a:rPr lang="es-AR" sz="2400" i="0" u="none" strike="noStrike" dirty="0">
                <a:solidFill>
                  <a:schemeClr val="bg2">
                    <a:lumMod val="25000"/>
                  </a:schemeClr>
                </a:solidFill>
                <a:effectLst/>
                <a:latin typeface="Open Sans" panose="020B0606030504020204" pitchFamily="34" charset="0"/>
              </a:rPr>
              <a:t>Al acceder a los elementos </a:t>
            </a:r>
            <a:r>
              <a:rPr lang="es-AR" sz="2400" i="0" u="none" strike="noStrike" dirty="0">
                <a:solidFill>
                  <a:schemeClr val="bg2">
                    <a:lumMod val="25000"/>
                  </a:schemeClr>
                </a:solidFill>
                <a:effectLst/>
                <a:highlight>
                  <a:srgbClr val="FFFF00"/>
                </a:highlight>
                <a:latin typeface="Open Sans" panose="020B0606030504020204" pitchFamily="34" charset="0"/>
              </a:rPr>
              <a:t>matriz[i][2] </a:t>
            </a:r>
            <a:r>
              <a:rPr lang="es-AR" sz="2400" i="0" u="none" strike="noStrike" dirty="0">
                <a:solidFill>
                  <a:schemeClr val="bg2">
                    <a:lumMod val="25000"/>
                  </a:schemeClr>
                </a:solidFill>
                <a:effectLst/>
                <a:latin typeface="Open Sans" panose="020B0606030504020204" pitchFamily="34" charset="0"/>
              </a:rPr>
              <a:t>, mantenemos fija la columna.</a:t>
            </a:r>
          </a:p>
          <a:p>
            <a:r>
              <a:rPr lang="es-AR" sz="2400" i="0" u="none" strike="noStrike" dirty="0">
                <a:solidFill>
                  <a:schemeClr val="bg2">
                    <a:lumMod val="25000"/>
                  </a:schemeClr>
                </a:solidFill>
                <a:effectLst/>
                <a:latin typeface="Open Sans" panose="020B0606030504020204" pitchFamily="34" charset="0"/>
              </a:rPr>
              <a:t>Obtenemos 5, 4, 10.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1AD5A28-8888-3E22-E447-9B150A9F04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3247" y="2927702"/>
            <a:ext cx="2972215" cy="1800476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1DE80D9C-6E4A-BDC6-5F27-1B408197C4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0867" y="3084890"/>
            <a:ext cx="5334744" cy="1257475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57F6B1F8-F489-7CED-BA76-905270A23D93}"/>
              </a:ext>
            </a:extLst>
          </p:cNvPr>
          <p:cNvSpPr txBox="1"/>
          <p:nvPr/>
        </p:nvSpPr>
        <p:spPr>
          <a:xfrm>
            <a:off x="2751249" y="2618948"/>
            <a:ext cx="14348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chemeClr val="accent5"/>
                </a:solidFill>
                <a:latin typeface="Open Sans" panose="020B0606030504020204" pitchFamily="34" charset="0"/>
              </a:rPr>
              <a:t>Columna</a:t>
            </a:r>
            <a:r>
              <a:rPr lang="en-US" b="1" dirty="0">
                <a:solidFill>
                  <a:schemeClr val="accent5"/>
                </a:solidFill>
                <a:latin typeface="Open Sans" panose="020B0606030504020204" pitchFamily="34" charset="0"/>
              </a:rPr>
              <a:t> 2</a:t>
            </a:r>
            <a:endParaRPr lang="es-AR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79215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E2EEF8A5-14B7-DEBB-4B7E-E5434E3293F2}"/>
              </a:ext>
            </a:extLst>
          </p:cNvPr>
          <p:cNvSpPr txBox="1">
            <a:spLocks/>
          </p:cNvSpPr>
          <p:nvPr/>
        </p:nvSpPr>
        <p:spPr>
          <a:xfrm>
            <a:off x="2298861" y="266596"/>
            <a:ext cx="7735787" cy="7540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3200" b="1" dirty="0">
                <a:solidFill>
                  <a:srgbClr val="B00055"/>
                </a:solidFill>
                <a:latin typeface="Verdana" panose="020B0604030504040204" pitchFamily="34" charset="0"/>
              </a:rPr>
              <a:t>Recorrer una Matriz</a:t>
            </a:r>
          </a:p>
        </p:txBody>
      </p:sp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38E4A167-08A5-3479-9422-1E6A6083E5B9}"/>
              </a:ext>
            </a:extLst>
          </p:cNvPr>
          <p:cNvSpPr txBox="1">
            <a:spLocks/>
          </p:cNvSpPr>
          <p:nvPr/>
        </p:nvSpPr>
        <p:spPr>
          <a:xfrm>
            <a:off x="285994" y="1020680"/>
            <a:ext cx="11429013" cy="14639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s-AR" sz="3300" b="1" i="0" u="none" strike="noStrike" dirty="0">
                <a:solidFill>
                  <a:schemeClr val="accent2"/>
                </a:solidFill>
                <a:effectLst/>
                <a:latin typeface="Open Sans" panose="020B0606030504020204" pitchFamily="34" charset="0"/>
              </a:rPr>
              <a:t>Recorrer por Filas</a:t>
            </a:r>
            <a:endParaRPr lang="es-AR" sz="2400" b="1" i="0" u="none" strike="noStrike" dirty="0">
              <a:solidFill>
                <a:schemeClr val="accent2"/>
              </a:solidFill>
              <a:effectLst/>
              <a:latin typeface="Open Sans" panose="020B0606030504020204" pitchFamily="34" charset="0"/>
            </a:endParaRPr>
          </a:p>
          <a:p>
            <a:pPr marL="0" indent="0">
              <a:spcBef>
                <a:spcPts val="600"/>
              </a:spcBef>
              <a:buNone/>
            </a:pPr>
            <a:endParaRPr lang="es-AR" sz="800" i="0" u="none" strike="noStrike" dirty="0">
              <a:solidFill>
                <a:schemeClr val="bg2">
                  <a:lumMod val="25000"/>
                </a:schemeClr>
              </a:solidFill>
              <a:effectLst/>
              <a:latin typeface="Open Sans" panose="020B0606030504020204" pitchFamily="34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s-AR" sz="2000" i="0" u="none" strike="noStrike" dirty="0">
                <a:solidFill>
                  <a:schemeClr val="bg2">
                    <a:lumMod val="25000"/>
                  </a:schemeClr>
                </a:solidFill>
                <a:effectLst/>
                <a:latin typeface="Open Sans" panose="020B0606030504020204" pitchFamily="34" charset="0"/>
              </a:rPr>
              <a:t>Podemos recorrer la matriz completa recorriendo primero la fila 0, luego la 1 y así hasta terminar con todas las filas. 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B05F295-95EB-A864-0DC6-0A683F216A0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1958"/>
          <a:stretch/>
        </p:blipFill>
        <p:spPr>
          <a:xfrm>
            <a:off x="1694720" y="2484638"/>
            <a:ext cx="8802559" cy="2147975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12E8E1E5-EEF4-16F9-F1B4-1A28EDBF751B}"/>
              </a:ext>
            </a:extLst>
          </p:cNvPr>
          <p:cNvSpPr txBox="1"/>
          <p:nvPr/>
        </p:nvSpPr>
        <p:spPr>
          <a:xfrm>
            <a:off x="285994" y="4879400"/>
            <a:ext cx="11791211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000" i="0" u="none" strike="noStrike" dirty="0">
                <a:solidFill>
                  <a:schemeClr val="bg2">
                    <a:lumMod val="25000"/>
                  </a:schemeClr>
                </a:solidFill>
                <a:effectLst/>
                <a:latin typeface="Open Sans" panose="020B0606030504020204" pitchFamily="34" charset="0"/>
              </a:rPr>
              <a:t>El primer </a:t>
            </a:r>
            <a:r>
              <a:rPr lang="es-AR" sz="2000" i="0" u="none" strike="noStrike" dirty="0" err="1">
                <a:solidFill>
                  <a:schemeClr val="bg2">
                    <a:lumMod val="25000"/>
                  </a:schemeClr>
                </a:solidFill>
                <a:effectLst/>
                <a:latin typeface="Open Sans" panose="020B0606030504020204" pitchFamily="34" charset="0"/>
              </a:rPr>
              <a:t>for</a:t>
            </a:r>
            <a:r>
              <a:rPr lang="es-AR" sz="2000" i="0" u="none" strike="noStrike" dirty="0">
                <a:solidFill>
                  <a:schemeClr val="bg2">
                    <a:lumMod val="25000"/>
                  </a:schemeClr>
                </a:solidFill>
                <a:effectLst/>
                <a:latin typeface="Open Sans" panose="020B0606030504020204" pitchFamily="34" charset="0"/>
              </a:rPr>
              <a:t> recorre por filas, es decir, comienza con la fila 0, y cuando está posicionado en esta fila, hay otro </a:t>
            </a:r>
            <a:r>
              <a:rPr lang="es-AR" sz="2000" i="0" u="none" strike="noStrike" dirty="0" err="1">
                <a:solidFill>
                  <a:schemeClr val="bg2">
                    <a:lumMod val="25000"/>
                  </a:schemeClr>
                </a:solidFill>
                <a:effectLst/>
                <a:latin typeface="Open Sans" panose="020B0606030504020204" pitchFamily="34" charset="0"/>
              </a:rPr>
              <a:t>for</a:t>
            </a:r>
            <a:r>
              <a:rPr lang="es-AR" sz="2000" i="0" u="none" strike="noStrike" dirty="0">
                <a:solidFill>
                  <a:schemeClr val="bg2">
                    <a:lumMod val="25000"/>
                  </a:schemeClr>
                </a:solidFill>
                <a:effectLst/>
                <a:latin typeface="Open Sans" panose="020B0606030504020204" pitchFamily="34" charset="0"/>
              </a:rPr>
              <a:t> que recorre todos los elementos de esta fila, cuando termina de recorrerlos, recién entonces el primer </a:t>
            </a:r>
            <a:r>
              <a:rPr lang="es-AR" sz="2000" i="0" u="none" strike="noStrike" dirty="0" err="1">
                <a:solidFill>
                  <a:schemeClr val="bg2">
                    <a:lumMod val="25000"/>
                  </a:schemeClr>
                </a:solidFill>
                <a:effectLst/>
                <a:latin typeface="Open Sans" panose="020B0606030504020204" pitchFamily="34" charset="0"/>
              </a:rPr>
              <a:t>for</a:t>
            </a:r>
            <a:r>
              <a:rPr lang="es-AR" sz="2000" i="0" u="none" strike="noStrike" dirty="0">
                <a:solidFill>
                  <a:schemeClr val="bg2">
                    <a:lumMod val="25000"/>
                  </a:schemeClr>
                </a:solidFill>
                <a:effectLst/>
                <a:latin typeface="Open Sans" panose="020B0606030504020204" pitchFamily="34" charset="0"/>
              </a:rPr>
              <a:t> pasa a la segunda fila.</a:t>
            </a:r>
          </a:p>
          <a:p>
            <a:r>
              <a:rPr lang="es-AR" sz="2000" i="0" u="none" strike="noStrike" dirty="0">
                <a:solidFill>
                  <a:schemeClr val="bg2">
                    <a:lumMod val="25000"/>
                  </a:schemeClr>
                </a:solidFill>
                <a:effectLst/>
                <a:latin typeface="Open Sans" panose="020B0606030504020204" pitchFamily="34" charset="0"/>
              </a:rPr>
              <a:t> </a:t>
            </a:r>
          </a:p>
          <a:p>
            <a:r>
              <a:rPr lang="es-AR" sz="2000" i="0" u="none" strike="noStrike" dirty="0">
                <a:solidFill>
                  <a:schemeClr val="bg2">
                    <a:lumMod val="25000"/>
                  </a:schemeClr>
                </a:solidFill>
                <a:effectLst/>
                <a:latin typeface="Open Sans" panose="020B0606030504020204" pitchFamily="34" charset="0"/>
              </a:rPr>
              <a:t>Esto se repite hasta que finalicen todas las filas.</a:t>
            </a:r>
          </a:p>
          <a:p>
            <a:endParaRPr lang="es-AR" sz="1800" i="0" u="none" strike="noStrike" dirty="0">
              <a:solidFill>
                <a:schemeClr val="bg2">
                  <a:lumMod val="25000"/>
                </a:schemeClr>
              </a:solidFill>
              <a:effectLst/>
              <a:latin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577568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E2EEF8A5-14B7-DEBB-4B7E-E5434E3293F2}"/>
              </a:ext>
            </a:extLst>
          </p:cNvPr>
          <p:cNvSpPr txBox="1">
            <a:spLocks/>
          </p:cNvSpPr>
          <p:nvPr/>
        </p:nvSpPr>
        <p:spPr>
          <a:xfrm>
            <a:off x="2298861" y="266596"/>
            <a:ext cx="7735787" cy="7540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3200" b="1" dirty="0">
                <a:solidFill>
                  <a:srgbClr val="B00055"/>
                </a:solidFill>
                <a:latin typeface="Verdana" panose="020B0604030504040204" pitchFamily="34" charset="0"/>
              </a:rPr>
              <a:t>Recorrer una Matriz</a:t>
            </a:r>
          </a:p>
        </p:txBody>
      </p:sp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38E4A167-08A5-3479-9422-1E6A6083E5B9}"/>
              </a:ext>
            </a:extLst>
          </p:cNvPr>
          <p:cNvSpPr txBox="1">
            <a:spLocks/>
          </p:cNvSpPr>
          <p:nvPr/>
        </p:nvSpPr>
        <p:spPr>
          <a:xfrm>
            <a:off x="499750" y="922183"/>
            <a:ext cx="2932219" cy="4426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s-AR" sz="2400" b="1" i="0" u="none" strike="noStrike" dirty="0">
                <a:solidFill>
                  <a:schemeClr val="accent2"/>
                </a:solidFill>
                <a:effectLst/>
                <a:latin typeface="Open Sans" panose="020B0606030504020204" pitchFamily="34" charset="0"/>
              </a:rPr>
              <a:t>Recorrer por filas</a:t>
            </a:r>
          </a:p>
          <a:p>
            <a:pPr marL="0" indent="0">
              <a:spcBef>
                <a:spcPts val="600"/>
              </a:spcBef>
              <a:buNone/>
            </a:pPr>
            <a:endParaRPr lang="es-AR" sz="800" i="0" u="none" strike="noStrike" dirty="0">
              <a:solidFill>
                <a:schemeClr val="bg2">
                  <a:lumMod val="25000"/>
                </a:schemeClr>
              </a:solidFill>
              <a:effectLst/>
              <a:latin typeface="Open Sans" panose="020B0606030504020204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3B06C67-BEA1-6661-EE78-C5504FF5AD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6068" y="1087922"/>
            <a:ext cx="2762636" cy="1619476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09C9DF3F-8B96-DF0A-42A8-0FB59EAC4BF3}"/>
              </a:ext>
            </a:extLst>
          </p:cNvPr>
          <p:cNvSpPr txBox="1"/>
          <p:nvPr/>
        </p:nvSpPr>
        <p:spPr>
          <a:xfrm>
            <a:off x="499750" y="1617337"/>
            <a:ext cx="6095010" cy="37933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s-AR" sz="2000" i="0" u="none" strike="noStrike" dirty="0">
                <a:solidFill>
                  <a:schemeClr val="bg2">
                    <a:lumMod val="25000"/>
                  </a:schemeClr>
                </a:solidFill>
                <a:effectLst/>
                <a:latin typeface="Open Sans" panose="020B0606030504020204" pitchFamily="34" charset="0"/>
              </a:rPr>
              <a:t>En el primer </a:t>
            </a:r>
            <a:r>
              <a:rPr lang="es-AR" sz="2000" i="0" u="none" strike="noStrike" dirty="0" err="1">
                <a:solidFill>
                  <a:schemeClr val="bg2">
                    <a:lumMod val="25000"/>
                  </a:schemeClr>
                </a:solidFill>
                <a:effectLst/>
                <a:latin typeface="Open Sans" panose="020B0606030504020204" pitchFamily="34" charset="0"/>
              </a:rPr>
              <a:t>for</a:t>
            </a:r>
            <a:r>
              <a:rPr lang="es-AR" sz="2000" i="0" u="none" strike="noStrike" dirty="0">
                <a:solidFill>
                  <a:schemeClr val="bg2">
                    <a:lumMod val="25000"/>
                  </a:schemeClr>
                </a:solidFill>
                <a:effectLst/>
                <a:latin typeface="Open Sans" panose="020B0606030504020204" pitchFamily="34" charset="0"/>
              </a:rPr>
              <a:t> “medimos” la cantidad de filas, </a:t>
            </a:r>
            <a:r>
              <a:rPr lang="es-AR" sz="2000" i="0" u="none" strike="noStrike" dirty="0" err="1">
                <a:solidFill>
                  <a:schemeClr val="bg2">
                    <a:lumMod val="25000"/>
                  </a:schemeClr>
                </a:solidFill>
                <a:effectLst/>
                <a:highlight>
                  <a:srgbClr val="FFFF00"/>
                </a:highlight>
                <a:latin typeface="Open Sans" panose="020B0606030504020204" pitchFamily="34" charset="0"/>
              </a:rPr>
              <a:t>matriz.length</a:t>
            </a:r>
            <a:r>
              <a:rPr lang="es-AR" sz="2000" i="0" u="none" strike="noStrike" dirty="0">
                <a:solidFill>
                  <a:schemeClr val="bg2">
                    <a:lumMod val="25000"/>
                  </a:schemeClr>
                </a:solidFill>
                <a:effectLst/>
                <a:latin typeface="Open Sans" panose="020B0606030504020204" pitchFamily="34" charset="0"/>
              </a:rPr>
              <a:t>, en este caso 3, comienza con la fila 0, el segundo </a:t>
            </a:r>
            <a:r>
              <a:rPr lang="es-AR" sz="2000" i="0" u="none" strike="noStrike" dirty="0" err="1">
                <a:solidFill>
                  <a:schemeClr val="bg2">
                    <a:lumMod val="25000"/>
                  </a:schemeClr>
                </a:solidFill>
                <a:effectLst/>
                <a:latin typeface="Open Sans" panose="020B0606030504020204" pitchFamily="34" charset="0"/>
              </a:rPr>
              <a:t>for</a:t>
            </a:r>
            <a:r>
              <a:rPr lang="es-AR" sz="2000" i="0" u="none" strike="noStrike" dirty="0">
                <a:solidFill>
                  <a:schemeClr val="bg2">
                    <a:lumMod val="25000"/>
                  </a:schemeClr>
                </a:solidFill>
                <a:effectLst/>
                <a:latin typeface="Open Sans" panose="020B0606030504020204" pitchFamily="34" charset="0"/>
              </a:rPr>
              <a:t> recorrerá sus elementos, fila tiene valor 0</a:t>
            </a:r>
          </a:p>
          <a:p>
            <a:pPr marL="0" indent="0">
              <a:spcBef>
                <a:spcPts val="600"/>
              </a:spcBef>
              <a:buNone/>
            </a:pPr>
            <a:endParaRPr lang="es-AR" sz="2000" dirty="0">
              <a:solidFill>
                <a:schemeClr val="bg2">
                  <a:lumMod val="25000"/>
                </a:schemeClr>
              </a:solidFill>
              <a:highlight>
                <a:srgbClr val="FFFF00"/>
              </a:highlight>
              <a:latin typeface="Open Sans" panose="020B0606030504020204" pitchFamily="34" charset="0"/>
            </a:endParaRPr>
          </a:p>
          <a:p>
            <a:pPr marL="0" indent="0">
              <a:spcBef>
                <a:spcPts val="600"/>
              </a:spcBef>
              <a:buNone/>
            </a:pPr>
            <a:endParaRPr lang="es-AR" sz="2000" dirty="0">
              <a:solidFill>
                <a:schemeClr val="bg2">
                  <a:lumMod val="25000"/>
                </a:schemeClr>
              </a:solidFill>
              <a:highlight>
                <a:srgbClr val="FFFF00"/>
              </a:highlight>
              <a:latin typeface="Open Sans" panose="020B0606030504020204" pitchFamily="34" charset="0"/>
            </a:endParaRP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s-AR" sz="2000" i="0" u="none" strike="noStrike" dirty="0">
                <a:solidFill>
                  <a:schemeClr val="bg2">
                    <a:lumMod val="25000"/>
                  </a:schemeClr>
                </a:solidFill>
                <a:effectLst/>
                <a:latin typeface="Open Sans" panose="020B0606030504020204" pitchFamily="34" charset="0"/>
              </a:rPr>
              <a:t>Luego pasa a la segunda fila, ahora fila toma el valor 1</a:t>
            </a:r>
            <a:endParaRPr lang="es-AR" sz="2000" dirty="0">
              <a:solidFill>
                <a:schemeClr val="bg2">
                  <a:lumMod val="25000"/>
                </a:schemeClr>
              </a:solidFill>
              <a:latin typeface="Open Sans" panose="020B0606030504020204" pitchFamily="34" charset="0"/>
            </a:endParaRPr>
          </a:p>
          <a:p>
            <a:pPr marL="0" indent="0">
              <a:spcBef>
                <a:spcPts val="600"/>
              </a:spcBef>
              <a:buNone/>
            </a:pPr>
            <a:endParaRPr lang="es-AR" sz="2000" dirty="0">
              <a:solidFill>
                <a:schemeClr val="bg2">
                  <a:lumMod val="25000"/>
                </a:schemeClr>
              </a:solidFill>
              <a:latin typeface="Open Sans" panose="020B0606030504020204" pitchFamily="34" charset="0"/>
            </a:endParaRPr>
          </a:p>
          <a:p>
            <a:pPr marL="0" indent="0">
              <a:spcBef>
                <a:spcPts val="600"/>
              </a:spcBef>
              <a:buNone/>
            </a:pPr>
            <a:endParaRPr lang="es-AR" sz="1050" dirty="0">
              <a:solidFill>
                <a:schemeClr val="bg2">
                  <a:lumMod val="25000"/>
                </a:schemeClr>
              </a:solidFill>
              <a:latin typeface="Open Sans" panose="020B0606030504020204" pitchFamily="34" charset="0"/>
            </a:endParaRP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s-AR" sz="2000" i="0" u="none" strike="noStrike" dirty="0">
                <a:solidFill>
                  <a:schemeClr val="bg2">
                    <a:lumMod val="25000"/>
                  </a:schemeClr>
                </a:solidFill>
                <a:effectLst/>
                <a:latin typeface="Open Sans" panose="020B0606030504020204" pitchFamily="34" charset="0"/>
              </a:rPr>
              <a:t>Y,  por último, la tercera fila toma el valor 2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39BE7F14-87F1-20A0-FDFA-5CB8BC415F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6025" y="2940895"/>
            <a:ext cx="2922722" cy="1619476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3ED7EECE-8C37-6D8D-6FA8-52E5EE46A8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8611" y="4907945"/>
            <a:ext cx="2972215" cy="1724266"/>
          </a:xfrm>
          <a:prstGeom prst="rect">
            <a:avLst/>
          </a:prstGeom>
        </p:spPr>
      </p:pic>
      <p:sp>
        <p:nvSpPr>
          <p:cNvPr id="14" name="Flecha: a la derecha 13">
            <a:extLst>
              <a:ext uri="{FF2B5EF4-FFF2-40B4-BE49-F238E27FC236}">
                <a16:creationId xmlns:a16="http://schemas.microsoft.com/office/drawing/2014/main" id="{9BE8695F-E9DE-973F-194E-B7FA042B7131}"/>
              </a:ext>
            </a:extLst>
          </p:cNvPr>
          <p:cNvSpPr/>
          <p:nvPr/>
        </p:nvSpPr>
        <p:spPr>
          <a:xfrm rot="19905014">
            <a:off x="6670109" y="1656608"/>
            <a:ext cx="1033154" cy="356260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9" name="Flecha: a la derecha 18">
            <a:extLst>
              <a:ext uri="{FF2B5EF4-FFF2-40B4-BE49-F238E27FC236}">
                <a16:creationId xmlns:a16="http://schemas.microsoft.com/office/drawing/2014/main" id="{D778FC3D-F377-D2DD-ADCF-C263A03BF9A7}"/>
              </a:ext>
            </a:extLst>
          </p:cNvPr>
          <p:cNvSpPr/>
          <p:nvPr/>
        </p:nvSpPr>
        <p:spPr>
          <a:xfrm>
            <a:off x="6698815" y="3625932"/>
            <a:ext cx="1033154" cy="356260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0" name="Flecha: a la derecha 19">
            <a:extLst>
              <a:ext uri="{FF2B5EF4-FFF2-40B4-BE49-F238E27FC236}">
                <a16:creationId xmlns:a16="http://schemas.microsoft.com/office/drawing/2014/main" id="{C8082319-DA8E-0224-6346-8FEE60DB3B3C}"/>
              </a:ext>
            </a:extLst>
          </p:cNvPr>
          <p:cNvSpPr/>
          <p:nvPr/>
        </p:nvSpPr>
        <p:spPr>
          <a:xfrm rot="2152749">
            <a:off x="6234161" y="5580128"/>
            <a:ext cx="1742859" cy="356260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48C1B546-CC47-C0F2-95E7-FBE69AC992AD}"/>
              </a:ext>
            </a:extLst>
          </p:cNvPr>
          <p:cNvSpPr txBox="1"/>
          <p:nvPr/>
        </p:nvSpPr>
        <p:spPr>
          <a:xfrm>
            <a:off x="10758747" y="1041697"/>
            <a:ext cx="9604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800" i="0" u="none" strike="noStrike" dirty="0">
                <a:solidFill>
                  <a:schemeClr val="bg2">
                    <a:lumMod val="25000"/>
                  </a:schemeClr>
                </a:solidFill>
                <a:effectLst/>
                <a:latin typeface="Open Sans" panose="020B0606030504020204" pitchFamily="34" charset="0"/>
              </a:rPr>
              <a:t>Fila 1 valor 0</a:t>
            </a:r>
            <a:endParaRPr lang="es-AR" dirty="0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7D0CF09C-F54F-A60C-18ED-EAF34D56FE76}"/>
              </a:ext>
            </a:extLst>
          </p:cNvPr>
          <p:cNvSpPr txBox="1"/>
          <p:nvPr/>
        </p:nvSpPr>
        <p:spPr>
          <a:xfrm>
            <a:off x="10744701" y="3480896"/>
            <a:ext cx="9604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800" i="0" u="none" strike="noStrike" dirty="0">
                <a:solidFill>
                  <a:schemeClr val="bg2">
                    <a:lumMod val="25000"/>
                  </a:schemeClr>
                </a:solidFill>
                <a:effectLst/>
                <a:latin typeface="Open Sans" panose="020B0606030504020204" pitchFamily="34" charset="0"/>
              </a:rPr>
              <a:t>Fila 2 valor </a:t>
            </a:r>
            <a:r>
              <a:rPr lang="es-AR" dirty="0">
                <a:solidFill>
                  <a:schemeClr val="bg2">
                    <a:lumMod val="25000"/>
                  </a:schemeClr>
                </a:solidFill>
                <a:latin typeface="Open Sans" panose="020B0606030504020204" pitchFamily="34" charset="0"/>
              </a:rPr>
              <a:t>1</a:t>
            </a:r>
            <a:endParaRPr lang="es-AR" dirty="0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06C8196D-C684-571E-3FC1-8C0A3FFCC0DD}"/>
              </a:ext>
            </a:extLst>
          </p:cNvPr>
          <p:cNvSpPr txBox="1"/>
          <p:nvPr/>
        </p:nvSpPr>
        <p:spPr>
          <a:xfrm>
            <a:off x="10731833" y="5941597"/>
            <a:ext cx="9604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800" i="0" u="none" strike="noStrike" dirty="0">
                <a:solidFill>
                  <a:schemeClr val="bg2">
                    <a:lumMod val="25000"/>
                  </a:schemeClr>
                </a:solidFill>
                <a:effectLst/>
                <a:latin typeface="Open Sans" panose="020B0606030504020204" pitchFamily="34" charset="0"/>
              </a:rPr>
              <a:t>Fila 3 valor 2</a:t>
            </a:r>
            <a:endParaRPr lang="es-AR" dirty="0"/>
          </a:p>
        </p:txBody>
      </p:sp>
      <p:sp>
        <p:nvSpPr>
          <p:cNvPr id="26" name="Bocadillo: rectángulo con esquinas redondeadas 25">
            <a:extLst>
              <a:ext uri="{FF2B5EF4-FFF2-40B4-BE49-F238E27FC236}">
                <a16:creationId xmlns:a16="http://schemas.microsoft.com/office/drawing/2014/main" id="{70E7CA26-3648-E830-7C00-C6A4BCF0CB84}"/>
              </a:ext>
            </a:extLst>
          </p:cNvPr>
          <p:cNvSpPr/>
          <p:nvPr/>
        </p:nvSpPr>
        <p:spPr>
          <a:xfrm>
            <a:off x="1763485" y="5601935"/>
            <a:ext cx="2972215" cy="1030276"/>
          </a:xfrm>
          <a:prstGeom prst="wedgeRoundRect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AR" dirty="0"/>
              <a:t>Lo que obtendremos será</a:t>
            </a:r>
          </a:p>
          <a:p>
            <a:pPr algn="ctr"/>
            <a:r>
              <a:rPr lang="es-AR" dirty="0"/>
              <a:t>1,3,5,7, 0,2,4,6,8,9,10,11</a:t>
            </a:r>
          </a:p>
        </p:txBody>
      </p:sp>
    </p:spTree>
    <p:extLst>
      <p:ext uri="{BB962C8B-B14F-4D97-AF65-F5344CB8AC3E}">
        <p14:creationId xmlns:p14="http://schemas.microsoft.com/office/powerpoint/2010/main" val="222223946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E2EEF8A5-14B7-DEBB-4B7E-E5434E3293F2}"/>
              </a:ext>
            </a:extLst>
          </p:cNvPr>
          <p:cNvSpPr txBox="1">
            <a:spLocks/>
          </p:cNvSpPr>
          <p:nvPr/>
        </p:nvSpPr>
        <p:spPr>
          <a:xfrm>
            <a:off x="2298861" y="266596"/>
            <a:ext cx="7735787" cy="7540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3200" b="1" dirty="0">
                <a:solidFill>
                  <a:srgbClr val="B00055"/>
                </a:solidFill>
                <a:latin typeface="Verdana" panose="020B0604030504040204" pitchFamily="34" charset="0"/>
              </a:rPr>
              <a:t>Recorrer una Matriz</a:t>
            </a:r>
          </a:p>
        </p:txBody>
      </p:sp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38E4A167-08A5-3479-9422-1E6A6083E5B9}"/>
              </a:ext>
            </a:extLst>
          </p:cNvPr>
          <p:cNvSpPr txBox="1">
            <a:spLocks/>
          </p:cNvSpPr>
          <p:nvPr/>
        </p:nvSpPr>
        <p:spPr>
          <a:xfrm>
            <a:off x="285994" y="1317872"/>
            <a:ext cx="11429013" cy="14639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s-AR" sz="3300" b="1" i="0" u="none" strike="noStrike" dirty="0">
                <a:solidFill>
                  <a:schemeClr val="accent2"/>
                </a:solidFill>
                <a:effectLst/>
                <a:latin typeface="Open Sans" panose="020B0606030504020204" pitchFamily="34" charset="0"/>
              </a:rPr>
              <a:t>Recorrer por Columnas</a:t>
            </a:r>
            <a:endParaRPr lang="es-AR" sz="2400" b="1" i="0" u="none" strike="noStrike" dirty="0">
              <a:solidFill>
                <a:schemeClr val="accent2"/>
              </a:solidFill>
              <a:effectLst/>
              <a:latin typeface="Open Sans" panose="020B0606030504020204" pitchFamily="34" charset="0"/>
            </a:endParaRPr>
          </a:p>
          <a:p>
            <a:pPr marL="0" indent="0">
              <a:spcBef>
                <a:spcPts val="600"/>
              </a:spcBef>
              <a:buNone/>
            </a:pPr>
            <a:endParaRPr lang="es-AR" sz="800" i="0" u="none" strike="noStrike" dirty="0">
              <a:solidFill>
                <a:schemeClr val="bg2">
                  <a:lumMod val="25000"/>
                </a:schemeClr>
              </a:solidFill>
              <a:effectLst/>
              <a:latin typeface="Open Sans" panose="020B0606030504020204" pitchFamily="34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s-AR" sz="2000" i="0" u="none" strike="noStrike" dirty="0">
                <a:solidFill>
                  <a:schemeClr val="bg2">
                    <a:lumMod val="25000"/>
                  </a:schemeClr>
                </a:solidFill>
                <a:effectLst/>
                <a:latin typeface="Open Sans" panose="020B0606030504020204" pitchFamily="34" charset="0"/>
              </a:rPr>
              <a:t>Ahora vamos a recorrer la matriz completa, recorriendo primero la columna 0, luego la 1 y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s-AR" sz="2000" i="0" u="none" strike="noStrike" dirty="0">
                <a:solidFill>
                  <a:schemeClr val="bg2">
                    <a:lumMod val="25000"/>
                  </a:schemeClr>
                </a:solidFill>
                <a:effectLst/>
                <a:latin typeface="Open Sans" panose="020B0606030504020204" pitchFamily="34" charset="0"/>
              </a:rPr>
              <a:t>así hasta terminar con todas las columnas.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2E8E1E5-EEF4-16F9-F1B4-1A28EDBF751B}"/>
              </a:ext>
            </a:extLst>
          </p:cNvPr>
          <p:cNvSpPr txBox="1"/>
          <p:nvPr/>
        </p:nvSpPr>
        <p:spPr>
          <a:xfrm>
            <a:off x="285994" y="4766585"/>
            <a:ext cx="1179121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000" i="0" u="none" strike="noStrike" dirty="0">
                <a:solidFill>
                  <a:schemeClr val="bg2">
                    <a:lumMod val="25000"/>
                  </a:schemeClr>
                </a:solidFill>
                <a:effectLst/>
                <a:latin typeface="Open Sans" panose="020B0606030504020204" pitchFamily="34" charset="0"/>
              </a:rPr>
              <a:t>El primer </a:t>
            </a:r>
            <a:r>
              <a:rPr lang="es-AR" sz="2000" i="0" u="none" strike="noStrike" dirty="0" err="1">
                <a:solidFill>
                  <a:schemeClr val="bg2">
                    <a:lumMod val="25000"/>
                  </a:schemeClr>
                </a:solidFill>
                <a:effectLst/>
                <a:latin typeface="Open Sans" panose="020B0606030504020204" pitchFamily="34" charset="0"/>
              </a:rPr>
              <a:t>for</a:t>
            </a:r>
            <a:r>
              <a:rPr lang="es-AR" sz="2000" i="0" u="none" strike="noStrike" dirty="0">
                <a:solidFill>
                  <a:schemeClr val="bg2">
                    <a:lumMod val="25000"/>
                  </a:schemeClr>
                </a:solidFill>
                <a:effectLst/>
                <a:latin typeface="Open Sans" panose="020B0606030504020204" pitchFamily="34" charset="0"/>
              </a:rPr>
              <a:t> recorre por columnas, es decir, comienza con la columna 0, y cuando está posicionado en esta columna, hay otro </a:t>
            </a:r>
            <a:r>
              <a:rPr lang="es-AR" sz="2000" i="0" u="none" strike="noStrike" dirty="0" err="1">
                <a:solidFill>
                  <a:schemeClr val="bg2">
                    <a:lumMod val="25000"/>
                  </a:schemeClr>
                </a:solidFill>
                <a:effectLst/>
                <a:latin typeface="Open Sans" panose="020B0606030504020204" pitchFamily="34" charset="0"/>
              </a:rPr>
              <a:t>for</a:t>
            </a:r>
            <a:r>
              <a:rPr lang="es-AR" sz="2000" i="0" u="none" strike="noStrike" dirty="0">
                <a:solidFill>
                  <a:schemeClr val="bg2">
                    <a:lumMod val="25000"/>
                  </a:schemeClr>
                </a:solidFill>
                <a:effectLst/>
                <a:latin typeface="Open Sans" panose="020B0606030504020204" pitchFamily="34" charset="0"/>
              </a:rPr>
              <a:t> que recorre todos los elementos de esta columna.</a:t>
            </a:r>
          </a:p>
          <a:p>
            <a:r>
              <a:rPr lang="es-AR" sz="2000" i="0" u="none" strike="noStrike" dirty="0">
                <a:solidFill>
                  <a:schemeClr val="bg2">
                    <a:lumMod val="25000"/>
                  </a:schemeClr>
                </a:solidFill>
                <a:effectLst/>
                <a:latin typeface="Open Sans" panose="020B0606030504020204" pitchFamily="34" charset="0"/>
              </a:rPr>
              <a:t> </a:t>
            </a:r>
          </a:p>
          <a:p>
            <a:r>
              <a:rPr lang="es-AR" sz="2000" i="0" u="none" strike="noStrike" dirty="0">
                <a:solidFill>
                  <a:schemeClr val="bg2">
                    <a:lumMod val="25000"/>
                  </a:schemeClr>
                </a:solidFill>
                <a:effectLst/>
                <a:latin typeface="Open Sans" panose="020B0606030504020204" pitchFamily="34" charset="0"/>
              </a:rPr>
              <a:t>Cuando termina de recorrerlos, recién entonces el primer </a:t>
            </a:r>
            <a:r>
              <a:rPr lang="es-AR" sz="2000" i="0" u="none" strike="noStrike" dirty="0" err="1">
                <a:solidFill>
                  <a:schemeClr val="bg2">
                    <a:lumMod val="25000"/>
                  </a:schemeClr>
                </a:solidFill>
                <a:effectLst/>
                <a:latin typeface="Open Sans" panose="020B0606030504020204" pitchFamily="34" charset="0"/>
              </a:rPr>
              <a:t>for</a:t>
            </a:r>
            <a:r>
              <a:rPr lang="es-AR" sz="2000" i="0" u="none" strike="noStrike" dirty="0">
                <a:solidFill>
                  <a:schemeClr val="bg2">
                    <a:lumMod val="25000"/>
                  </a:schemeClr>
                </a:solidFill>
                <a:effectLst/>
                <a:latin typeface="Open Sans" panose="020B0606030504020204" pitchFamily="34" charset="0"/>
              </a:rPr>
              <a:t> pasa a la segunda columna. </a:t>
            </a:r>
          </a:p>
          <a:p>
            <a:endParaRPr lang="es-AR" sz="2000" i="0" u="none" strike="noStrike" dirty="0">
              <a:solidFill>
                <a:schemeClr val="bg2">
                  <a:lumMod val="25000"/>
                </a:schemeClr>
              </a:solidFill>
              <a:effectLst/>
              <a:latin typeface="Open Sans" panose="020B0606030504020204" pitchFamily="34" charset="0"/>
            </a:endParaRPr>
          </a:p>
          <a:p>
            <a:r>
              <a:rPr lang="es-AR" sz="2000" i="0" u="none" strike="noStrike" dirty="0">
                <a:solidFill>
                  <a:schemeClr val="bg2">
                    <a:lumMod val="25000"/>
                  </a:schemeClr>
                </a:solidFill>
                <a:effectLst/>
                <a:latin typeface="Open Sans" panose="020B0606030504020204" pitchFamily="34" charset="0"/>
              </a:rPr>
              <a:t>Esto se repite hasta que finalicen todas las columnas.</a:t>
            </a:r>
            <a:endParaRPr lang="es-AR" sz="1800" i="0" u="none" strike="noStrike" dirty="0">
              <a:solidFill>
                <a:schemeClr val="bg2">
                  <a:lumMod val="25000"/>
                </a:schemeClr>
              </a:solidFill>
              <a:effectLst/>
              <a:latin typeface="Open Sans" panose="020B0606030504020204" pitchFamily="34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B9CC91A9-B08C-AE9E-1743-2C6E23D58A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0971" y="2781830"/>
            <a:ext cx="9435699" cy="79068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0C91E4F3-21BC-0EA7-3CEC-266BB645DF1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1617" r="1170"/>
          <a:stretch/>
        </p:blipFill>
        <p:spPr>
          <a:xfrm>
            <a:off x="1192443" y="3429000"/>
            <a:ext cx="9435699" cy="1077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61418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E2EEF8A5-14B7-DEBB-4B7E-E5434E3293F2}"/>
              </a:ext>
            </a:extLst>
          </p:cNvPr>
          <p:cNvSpPr txBox="1">
            <a:spLocks/>
          </p:cNvSpPr>
          <p:nvPr/>
        </p:nvSpPr>
        <p:spPr>
          <a:xfrm>
            <a:off x="2281048" y="144495"/>
            <a:ext cx="7735787" cy="5257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3200" b="1" dirty="0">
                <a:solidFill>
                  <a:srgbClr val="B00055"/>
                </a:solidFill>
                <a:latin typeface="Verdana" panose="020B0604030504040204" pitchFamily="34" charset="0"/>
              </a:rPr>
              <a:t>Recorrer una Matriz</a:t>
            </a:r>
          </a:p>
        </p:txBody>
      </p:sp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38E4A167-08A5-3479-9422-1E6A6083E5B9}"/>
              </a:ext>
            </a:extLst>
          </p:cNvPr>
          <p:cNvSpPr txBox="1">
            <a:spLocks/>
          </p:cNvSpPr>
          <p:nvPr/>
        </p:nvSpPr>
        <p:spPr>
          <a:xfrm>
            <a:off x="327556" y="933913"/>
            <a:ext cx="3324105" cy="3921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s-AR" sz="2000" b="1" i="0" u="none" strike="noStrike" dirty="0">
                <a:solidFill>
                  <a:schemeClr val="accent2"/>
                </a:solidFill>
                <a:effectLst/>
                <a:latin typeface="Open Sans" panose="020B0606030504020204" pitchFamily="34" charset="0"/>
              </a:rPr>
              <a:t>Recorrer por Columnas</a:t>
            </a:r>
          </a:p>
          <a:p>
            <a:pPr marL="0" indent="0">
              <a:spcBef>
                <a:spcPts val="600"/>
              </a:spcBef>
              <a:buNone/>
            </a:pPr>
            <a:endParaRPr lang="es-AR" sz="800" i="0" u="none" strike="noStrike" dirty="0">
              <a:solidFill>
                <a:schemeClr val="bg2">
                  <a:lumMod val="25000"/>
                </a:schemeClr>
              </a:solidFill>
              <a:effectLst/>
              <a:latin typeface="Open Sans" panose="020B0606030504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2E8E1E5-EEF4-16F9-F1B4-1A28EDBF751B}"/>
              </a:ext>
            </a:extLst>
          </p:cNvPr>
          <p:cNvSpPr txBox="1"/>
          <p:nvPr/>
        </p:nvSpPr>
        <p:spPr>
          <a:xfrm>
            <a:off x="410684" y="1494933"/>
            <a:ext cx="6864660" cy="492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AR" sz="2000" i="0" u="none" strike="noStrike" dirty="0">
                <a:solidFill>
                  <a:schemeClr val="bg2">
                    <a:lumMod val="25000"/>
                  </a:schemeClr>
                </a:solidFill>
                <a:effectLst/>
                <a:latin typeface="Open Sans" panose="020B0606030504020204" pitchFamily="34" charset="0"/>
              </a:rPr>
              <a:t>En el primer </a:t>
            </a:r>
            <a:r>
              <a:rPr lang="es-AR" sz="2000" i="0" u="none" strike="noStrike" dirty="0" err="1">
                <a:solidFill>
                  <a:schemeClr val="bg2">
                    <a:lumMod val="25000"/>
                  </a:schemeClr>
                </a:solidFill>
                <a:effectLst/>
                <a:latin typeface="Open Sans" panose="020B0606030504020204" pitchFamily="34" charset="0"/>
              </a:rPr>
              <a:t>for</a:t>
            </a:r>
            <a:r>
              <a:rPr lang="es-AR" sz="2000" i="0" u="none" strike="noStrike" dirty="0">
                <a:solidFill>
                  <a:schemeClr val="bg2">
                    <a:lumMod val="25000"/>
                  </a:schemeClr>
                </a:solidFill>
                <a:effectLst/>
                <a:latin typeface="Open Sans" panose="020B0606030504020204" pitchFamily="34" charset="0"/>
              </a:rPr>
              <a:t> “medimos” la cantidad de columnas, </a:t>
            </a:r>
            <a:r>
              <a:rPr lang="es-AR" sz="2000" i="0" u="none" strike="noStrike" dirty="0">
                <a:solidFill>
                  <a:schemeClr val="bg2">
                    <a:lumMod val="25000"/>
                  </a:schemeClr>
                </a:solidFill>
                <a:effectLst/>
                <a:highlight>
                  <a:srgbClr val="FFFF00"/>
                </a:highlight>
                <a:latin typeface="Open Sans" panose="020B0606030504020204" pitchFamily="34" charset="0"/>
              </a:rPr>
              <a:t>matriz[0].</a:t>
            </a:r>
            <a:r>
              <a:rPr lang="es-AR" sz="2000" i="0" u="none" strike="noStrike" dirty="0" err="1">
                <a:solidFill>
                  <a:schemeClr val="bg2">
                    <a:lumMod val="25000"/>
                  </a:schemeClr>
                </a:solidFill>
                <a:effectLst/>
                <a:highlight>
                  <a:srgbClr val="FFFF00"/>
                </a:highlight>
                <a:latin typeface="Open Sans" panose="020B0606030504020204" pitchFamily="34" charset="0"/>
              </a:rPr>
              <a:t>length</a:t>
            </a:r>
            <a:r>
              <a:rPr lang="es-AR" sz="2000" i="0" u="none" strike="noStrike" dirty="0">
                <a:solidFill>
                  <a:schemeClr val="bg2">
                    <a:lumMod val="25000"/>
                  </a:schemeClr>
                </a:solidFill>
                <a:effectLst/>
                <a:latin typeface="Open Sans" panose="020B0606030504020204" pitchFamily="34" charset="0"/>
              </a:rPr>
              <a:t>, en este caso 4, comienza con la columna 0, el segundo </a:t>
            </a:r>
            <a:r>
              <a:rPr lang="es-AR" sz="2000" i="0" u="none" strike="noStrike" dirty="0" err="1">
                <a:solidFill>
                  <a:schemeClr val="bg2">
                    <a:lumMod val="25000"/>
                  </a:schemeClr>
                </a:solidFill>
                <a:effectLst/>
                <a:latin typeface="Open Sans" panose="020B0606030504020204" pitchFamily="34" charset="0"/>
              </a:rPr>
              <a:t>for</a:t>
            </a:r>
            <a:r>
              <a:rPr lang="es-AR" sz="2000" i="0" u="none" strike="noStrike" dirty="0">
                <a:solidFill>
                  <a:schemeClr val="bg2">
                    <a:lumMod val="25000"/>
                  </a:schemeClr>
                </a:solidFill>
                <a:effectLst/>
                <a:latin typeface="Open Sans" panose="020B0606030504020204" pitchFamily="34" charset="0"/>
              </a:rPr>
              <a:t> recorrerá sus elementos, columna tiene valor 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AR" sz="2000" dirty="0">
              <a:solidFill>
                <a:schemeClr val="bg2">
                  <a:lumMod val="25000"/>
                </a:schemeClr>
              </a:solidFill>
              <a:latin typeface="Open Sans" panose="020B06060305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sz="2000" i="0" u="none" strike="noStrike" dirty="0">
                <a:solidFill>
                  <a:schemeClr val="bg2">
                    <a:lumMod val="25000"/>
                  </a:schemeClr>
                </a:solidFill>
                <a:effectLst/>
                <a:latin typeface="Open Sans" panose="020B0606030504020204" pitchFamily="34" charset="0"/>
              </a:rPr>
              <a:t>Luego pasa a la segunda columna, ahora columna toma el valor 1.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dirty="0">
              <a:solidFill>
                <a:schemeClr val="bg2">
                  <a:lumMod val="25000"/>
                </a:schemeClr>
              </a:solidFill>
              <a:latin typeface="Open Sans" panose="020B06060305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dirty="0">
              <a:solidFill>
                <a:schemeClr val="bg2">
                  <a:lumMod val="25000"/>
                </a:schemeClr>
              </a:solidFill>
              <a:latin typeface="Open Sans" panose="020B0606030504020204" pitchFamily="34" charset="0"/>
            </a:endParaRPr>
          </a:p>
          <a:p>
            <a:endParaRPr lang="es-AR" dirty="0">
              <a:solidFill>
                <a:schemeClr val="bg2">
                  <a:lumMod val="25000"/>
                </a:schemeClr>
              </a:solidFill>
              <a:latin typeface="Open Sans" panose="020B06060305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sz="2000" i="0" u="none" strike="noStrike" dirty="0">
                <a:solidFill>
                  <a:schemeClr val="bg2">
                    <a:lumMod val="25000"/>
                  </a:schemeClr>
                </a:solidFill>
                <a:effectLst/>
                <a:latin typeface="Open Sans" panose="020B0606030504020204" pitchFamily="34" charset="0"/>
              </a:rPr>
              <a:t>En la siguiente iteración columna toma el valor 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sz="2000" dirty="0">
              <a:solidFill>
                <a:schemeClr val="bg2">
                  <a:lumMod val="25000"/>
                </a:schemeClr>
              </a:solidFill>
              <a:latin typeface="Open Sans" panose="020B06060305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sz="2000" dirty="0">
              <a:solidFill>
                <a:schemeClr val="bg2">
                  <a:lumMod val="25000"/>
                </a:schemeClr>
              </a:solidFill>
              <a:latin typeface="Open Sans" panose="020B06060305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sz="2000" dirty="0">
              <a:solidFill>
                <a:schemeClr val="bg2">
                  <a:lumMod val="25000"/>
                </a:schemeClr>
              </a:solidFill>
              <a:latin typeface="Open Sans" panose="020B06060305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AR" sz="2000" dirty="0">
              <a:solidFill>
                <a:schemeClr val="bg2">
                  <a:lumMod val="25000"/>
                </a:schemeClr>
              </a:solidFill>
              <a:latin typeface="Open Sans" panose="020B06060305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sz="2000" i="0" u="none" strike="noStrike" dirty="0">
                <a:solidFill>
                  <a:schemeClr val="bg2">
                    <a:lumMod val="25000"/>
                  </a:schemeClr>
                </a:solidFill>
                <a:effectLst/>
                <a:latin typeface="Open Sans" panose="020B0606030504020204" pitchFamily="34" charset="0"/>
              </a:rPr>
              <a:t>Y, por último, la última columna, toma el valor 3</a:t>
            </a:r>
            <a:endParaRPr lang="es-AR" sz="2000" dirty="0">
              <a:solidFill>
                <a:schemeClr val="bg2">
                  <a:lumMod val="25000"/>
                </a:schemeClr>
              </a:solidFill>
              <a:latin typeface="Open Sans" panose="020B0606030504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9504746-A2A8-55C3-CF29-5E66DF7799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7407" y="1216767"/>
            <a:ext cx="1796357" cy="1016121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94770B7A-FD49-100A-0841-E1A8F0C793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1180" y="2654137"/>
            <a:ext cx="2032670" cy="1085774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95AFB1DC-FA2C-D1CA-4757-DF0207D8A8A8}"/>
              </a:ext>
            </a:extLst>
          </p:cNvPr>
          <p:cNvSpPr txBox="1"/>
          <p:nvPr/>
        </p:nvSpPr>
        <p:spPr>
          <a:xfrm>
            <a:off x="8006693" y="857696"/>
            <a:ext cx="9010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000" i="0" u="none" strike="noStrike" dirty="0">
                <a:solidFill>
                  <a:schemeClr val="bg2">
                    <a:lumMod val="25000"/>
                  </a:schemeClr>
                </a:solidFill>
                <a:effectLst/>
                <a:latin typeface="Open Sans" panose="020B0606030504020204" pitchFamily="34" charset="0"/>
              </a:rPr>
              <a:t>columna </a:t>
            </a:r>
            <a:r>
              <a:rPr lang="es-AR" sz="1000" dirty="0">
                <a:solidFill>
                  <a:schemeClr val="bg2">
                    <a:lumMod val="25000"/>
                  </a:schemeClr>
                </a:solidFill>
                <a:latin typeface="Open Sans" panose="020B0606030504020204" pitchFamily="34" charset="0"/>
              </a:rPr>
              <a:t>0</a:t>
            </a:r>
          </a:p>
          <a:p>
            <a:r>
              <a:rPr lang="es-AR" sz="1000" i="0" u="none" strike="noStrike" dirty="0">
                <a:solidFill>
                  <a:schemeClr val="bg2">
                    <a:lumMod val="25000"/>
                  </a:schemeClr>
                </a:solidFill>
                <a:effectLst/>
                <a:latin typeface="Open Sans" panose="020B0606030504020204" pitchFamily="34" charset="0"/>
              </a:rPr>
              <a:t>valor 0</a:t>
            </a:r>
          </a:p>
        </p:txBody>
      </p:sp>
      <p:sp>
        <p:nvSpPr>
          <p:cNvPr id="13" name="Flecha: a la derecha 12">
            <a:extLst>
              <a:ext uri="{FF2B5EF4-FFF2-40B4-BE49-F238E27FC236}">
                <a16:creationId xmlns:a16="http://schemas.microsoft.com/office/drawing/2014/main" id="{9C4CA5B4-6717-A0E2-399A-A16F68E0941C}"/>
              </a:ext>
            </a:extLst>
          </p:cNvPr>
          <p:cNvSpPr/>
          <p:nvPr/>
        </p:nvSpPr>
        <p:spPr>
          <a:xfrm>
            <a:off x="7155488" y="1712277"/>
            <a:ext cx="710790" cy="336154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0CC8978B-2BA9-496D-0BB0-0CCC3C213BD1}"/>
              </a:ext>
            </a:extLst>
          </p:cNvPr>
          <p:cNvSpPr txBox="1"/>
          <p:nvPr/>
        </p:nvSpPr>
        <p:spPr>
          <a:xfrm>
            <a:off x="8457213" y="2338459"/>
            <a:ext cx="9010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000" i="0" u="none" strike="noStrike" dirty="0">
                <a:solidFill>
                  <a:schemeClr val="bg2">
                    <a:lumMod val="25000"/>
                  </a:schemeClr>
                </a:solidFill>
                <a:effectLst/>
                <a:latin typeface="Open Sans" panose="020B0606030504020204" pitchFamily="34" charset="0"/>
              </a:rPr>
              <a:t>columna 1</a:t>
            </a:r>
            <a:endParaRPr lang="es-AR" sz="1000" dirty="0">
              <a:solidFill>
                <a:schemeClr val="bg2">
                  <a:lumMod val="25000"/>
                </a:schemeClr>
              </a:solidFill>
              <a:latin typeface="Open Sans" panose="020B0606030504020204" pitchFamily="34" charset="0"/>
            </a:endParaRPr>
          </a:p>
          <a:p>
            <a:r>
              <a:rPr lang="es-AR" sz="1000" i="0" u="none" strike="noStrike" dirty="0">
                <a:solidFill>
                  <a:schemeClr val="bg2">
                    <a:lumMod val="25000"/>
                  </a:schemeClr>
                </a:solidFill>
                <a:effectLst/>
                <a:latin typeface="Open Sans" panose="020B0606030504020204" pitchFamily="34" charset="0"/>
              </a:rPr>
              <a:t>valor </a:t>
            </a:r>
            <a:r>
              <a:rPr lang="es-AR" sz="1000" dirty="0">
                <a:solidFill>
                  <a:schemeClr val="bg2">
                    <a:lumMod val="25000"/>
                  </a:schemeClr>
                </a:solidFill>
                <a:latin typeface="Open Sans" panose="020B0606030504020204" pitchFamily="34" charset="0"/>
              </a:rPr>
              <a:t>1</a:t>
            </a:r>
            <a:endParaRPr lang="es-AR" sz="1000" i="0" u="none" strike="noStrike" dirty="0">
              <a:solidFill>
                <a:schemeClr val="bg2">
                  <a:lumMod val="25000"/>
                </a:schemeClr>
              </a:solidFill>
              <a:effectLst/>
              <a:latin typeface="Open Sans" panose="020B0606030504020204" pitchFamily="34" charset="0"/>
            </a:endParaRPr>
          </a:p>
        </p:txBody>
      </p:sp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2734AC21-F431-CAFA-BE63-9F99BF390FAC}"/>
              </a:ext>
            </a:extLst>
          </p:cNvPr>
          <p:cNvSpPr/>
          <p:nvPr/>
        </p:nvSpPr>
        <p:spPr>
          <a:xfrm>
            <a:off x="6792686" y="3042365"/>
            <a:ext cx="1101130" cy="336154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A064AF39-FA84-24D7-8CB8-55D94ECD31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6693" y="4266455"/>
            <a:ext cx="1941233" cy="1085774"/>
          </a:xfrm>
          <a:prstGeom prst="rect">
            <a:avLst/>
          </a:prstGeom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B5732433-94B2-6B38-61EB-E1ADC09D843F}"/>
              </a:ext>
            </a:extLst>
          </p:cNvPr>
          <p:cNvSpPr txBox="1"/>
          <p:nvPr/>
        </p:nvSpPr>
        <p:spPr>
          <a:xfrm>
            <a:off x="8892154" y="3866345"/>
            <a:ext cx="9010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000" i="0" u="none" strike="noStrike" dirty="0">
                <a:solidFill>
                  <a:schemeClr val="bg2">
                    <a:lumMod val="25000"/>
                  </a:schemeClr>
                </a:solidFill>
                <a:effectLst/>
                <a:latin typeface="Open Sans" panose="020B0606030504020204" pitchFamily="34" charset="0"/>
              </a:rPr>
              <a:t>columna </a:t>
            </a:r>
            <a:r>
              <a:rPr lang="es-AR" sz="1000" dirty="0">
                <a:solidFill>
                  <a:schemeClr val="bg2">
                    <a:lumMod val="25000"/>
                  </a:schemeClr>
                </a:solidFill>
                <a:latin typeface="Open Sans" panose="020B0606030504020204" pitchFamily="34" charset="0"/>
              </a:rPr>
              <a:t>2</a:t>
            </a:r>
          </a:p>
          <a:p>
            <a:r>
              <a:rPr lang="es-AR" sz="1000" i="0" u="none" strike="noStrike" dirty="0">
                <a:solidFill>
                  <a:schemeClr val="bg2">
                    <a:lumMod val="25000"/>
                  </a:schemeClr>
                </a:solidFill>
                <a:effectLst/>
                <a:latin typeface="Open Sans" panose="020B0606030504020204" pitchFamily="34" charset="0"/>
              </a:rPr>
              <a:t>valor 2</a:t>
            </a:r>
          </a:p>
        </p:txBody>
      </p:sp>
      <p:sp>
        <p:nvSpPr>
          <p:cNvPr id="19" name="Flecha: a la derecha 18">
            <a:extLst>
              <a:ext uri="{FF2B5EF4-FFF2-40B4-BE49-F238E27FC236}">
                <a16:creationId xmlns:a16="http://schemas.microsoft.com/office/drawing/2014/main" id="{C78301B5-14F8-E2F4-1A1E-1682EA72E454}"/>
              </a:ext>
            </a:extLst>
          </p:cNvPr>
          <p:cNvSpPr/>
          <p:nvPr/>
        </p:nvSpPr>
        <p:spPr>
          <a:xfrm>
            <a:off x="6741152" y="4473188"/>
            <a:ext cx="1190028" cy="336154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84A8F320-C935-90F7-0646-62F73879E3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4506" y="5512134"/>
            <a:ext cx="1920797" cy="733277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C6D37686-4204-D430-C3C0-BA4B3F687133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16130"/>
          <a:stretch/>
        </p:blipFill>
        <p:spPr>
          <a:xfrm>
            <a:off x="8015599" y="6245411"/>
            <a:ext cx="1938610" cy="361314"/>
          </a:xfrm>
          <a:prstGeom prst="rect">
            <a:avLst/>
          </a:prstGeom>
        </p:spPr>
      </p:pic>
      <p:sp>
        <p:nvSpPr>
          <p:cNvPr id="24" name="Flecha: a la derecha 23">
            <a:extLst>
              <a:ext uri="{FF2B5EF4-FFF2-40B4-BE49-F238E27FC236}">
                <a16:creationId xmlns:a16="http://schemas.microsoft.com/office/drawing/2014/main" id="{4A90109E-2607-31AF-A98A-A6B1377EB938}"/>
              </a:ext>
            </a:extLst>
          </p:cNvPr>
          <p:cNvSpPr/>
          <p:nvPr/>
        </p:nvSpPr>
        <p:spPr>
          <a:xfrm>
            <a:off x="6632295" y="5973437"/>
            <a:ext cx="1190028" cy="336154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520BE3A6-5F6B-E31D-44F4-B8AD8E482FEB}"/>
              </a:ext>
            </a:extLst>
          </p:cNvPr>
          <p:cNvSpPr txBox="1"/>
          <p:nvPr/>
        </p:nvSpPr>
        <p:spPr>
          <a:xfrm>
            <a:off x="9945303" y="5882341"/>
            <a:ext cx="9010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000" i="0" u="none" strike="noStrike" dirty="0">
                <a:solidFill>
                  <a:schemeClr val="bg2">
                    <a:lumMod val="25000"/>
                  </a:schemeClr>
                </a:solidFill>
                <a:effectLst/>
                <a:latin typeface="Open Sans" panose="020B0606030504020204" pitchFamily="34" charset="0"/>
              </a:rPr>
              <a:t>columna 3</a:t>
            </a:r>
            <a:endParaRPr lang="es-AR" sz="1000" dirty="0">
              <a:solidFill>
                <a:schemeClr val="bg2">
                  <a:lumMod val="25000"/>
                </a:schemeClr>
              </a:solidFill>
              <a:latin typeface="Open Sans" panose="020B0606030504020204" pitchFamily="34" charset="0"/>
            </a:endParaRPr>
          </a:p>
          <a:p>
            <a:r>
              <a:rPr lang="es-AR" sz="1000" i="0" u="none" strike="noStrike" dirty="0">
                <a:solidFill>
                  <a:schemeClr val="bg2">
                    <a:lumMod val="25000"/>
                  </a:schemeClr>
                </a:solidFill>
                <a:effectLst/>
                <a:latin typeface="Open Sans" panose="020B0606030504020204" pitchFamily="34" charset="0"/>
              </a:rPr>
              <a:t>valor </a:t>
            </a:r>
            <a:r>
              <a:rPr lang="es-AR" sz="1000" dirty="0">
                <a:solidFill>
                  <a:schemeClr val="bg2">
                    <a:lumMod val="25000"/>
                  </a:schemeClr>
                </a:solidFill>
                <a:latin typeface="Open Sans" panose="020B0606030504020204" pitchFamily="34" charset="0"/>
              </a:rPr>
              <a:t>3</a:t>
            </a:r>
            <a:endParaRPr lang="es-AR" sz="1000" i="0" u="none" strike="noStrike" dirty="0">
              <a:solidFill>
                <a:schemeClr val="bg2">
                  <a:lumMod val="25000"/>
                </a:schemeClr>
              </a:solidFill>
              <a:effectLst/>
              <a:latin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139708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0EBD4BB0-A941-F06D-1BC3-BC986C5D21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A26D3819-8427-ECFC-3EFF-0E82B68BB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89C0B770-FD61-05AF-F83C-CEC29EF007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09"/>
            <a:ext cx="12192000" cy="6846582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67A0ADED-D619-8402-3125-3D3D79B537D7}"/>
              </a:ext>
            </a:extLst>
          </p:cNvPr>
          <p:cNvSpPr txBox="1"/>
          <p:nvPr/>
        </p:nvSpPr>
        <p:spPr>
          <a:xfrm>
            <a:off x="3122715" y="1978852"/>
            <a:ext cx="632559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7200" b="1" dirty="0" err="1">
                <a:solidFill>
                  <a:schemeClr val="bg1"/>
                </a:solidFill>
                <a:latin typeface="Verdana" panose="020B0604030504040204" pitchFamily="34" charset="0"/>
              </a:rPr>
              <a:t>Veamos</a:t>
            </a:r>
            <a:r>
              <a:rPr lang="en-US" sz="7200" b="1" dirty="0">
                <a:solidFill>
                  <a:schemeClr val="bg1"/>
                </a:solidFill>
                <a:latin typeface="Verdana" panose="020B0604030504040204" pitchFamily="34" charset="0"/>
              </a:rPr>
              <a:t> un </a:t>
            </a:r>
            <a:r>
              <a:rPr lang="en-US" sz="7200" b="1" dirty="0" err="1">
                <a:solidFill>
                  <a:schemeClr val="bg1"/>
                </a:solidFill>
                <a:latin typeface="Verdana" panose="020B0604030504040204" pitchFamily="34" charset="0"/>
              </a:rPr>
              <a:t>ejercicio</a:t>
            </a:r>
            <a:r>
              <a:rPr lang="en-US" sz="7200" b="1" dirty="0">
                <a:solidFill>
                  <a:schemeClr val="bg1"/>
                </a:solidFill>
                <a:latin typeface="Verdana" panose="020B0604030504040204" pitchFamily="34" charset="0"/>
              </a:rPr>
              <a:t> </a:t>
            </a:r>
            <a:r>
              <a:rPr lang="en-US" sz="7200" b="1" dirty="0" err="1">
                <a:solidFill>
                  <a:schemeClr val="bg1"/>
                </a:solidFill>
                <a:latin typeface="Verdana" panose="020B0604030504040204" pitchFamily="34" charset="0"/>
              </a:rPr>
              <a:t>practico</a:t>
            </a:r>
            <a:endParaRPr lang="es-AR" sz="7200" b="1" dirty="0">
              <a:solidFill>
                <a:schemeClr val="bg1"/>
              </a:solidFill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559281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E2EEF8A5-14B7-DEBB-4B7E-E5434E3293F2}"/>
              </a:ext>
            </a:extLst>
          </p:cNvPr>
          <p:cNvSpPr txBox="1">
            <a:spLocks/>
          </p:cNvSpPr>
          <p:nvPr/>
        </p:nvSpPr>
        <p:spPr>
          <a:xfrm>
            <a:off x="2298861" y="266596"/>
            <a:ext cx="7735787" cy="7540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3200" b="1" dirty="0">
                <a:solidFill>
                  <a:srgbClr val="B00055"/>
                </a:solidFill>
                <a:latin typeface="Verdana" panose="020B0604030504040204" pitchFamily="34" charset="0"/>
              </a:rPr>
              <a:t>Ejemplo Matriz</a:t>
            </a:r>
          </a:p>
        </p:txBody>
      </p:sp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38E4A167-08A5-3479-9422-1E6A6083E5B9}"/>
              </a:ext>
            </a:extLst>
          </p:cNvPr>
          <p:cNvSpPr txBox="1">
            <a:spLocks/>
          </p:cNvSpPr>
          <p:nvPr/>
        </p:nvSpPr>
        <p:spPr>
          <a:xfrm>
            <a:off x="499750" y="1261430"/>
            <a:ext cx="11429013" cy="12323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s-AR" b="1" i="0" u="none" strike="noStrike" dirty="0">
                <a:solidFill>
                  <a:schemeClr val="accent2"/>
                </a:solidFill>
                <a:effectLst/>
                <a:latin typeface="Open Sans" panose="020B0606030504020204" pitchFamily="34" charset="0"/>
              </a:rPr>
              <a:t>Definición de una matriz</a:t>
            </a:r>
          </a:p>
          <a:p>
            <a:pPr marL="0" indent="0">
              <a:spcBef>
                <a:spcPts val="600"/>
              </a:spcBef>
              <a:buNone/>
            </a:pPr>
            <a:endParaRPr lang="es-AR" sz="800" b="1" i="0" u="none" strike="noStrike" dirty="0">
              <a:solidFill>
                <a:schemeClr val="accent2"/>
              </a:solidFill>
              <a:effectLst/>
              <a:latin typeface="Open Sans" panose="020B0606030504020204" pitchFamily="34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s-AR" sz="2400" i="0" u="none" strike="noStrike" dirty="0">
                <a:solidFill>
                  <a:schemeClr val="bg2">
                    <a:lumMod val="25000"/>
                  </a:schemeClr>
                </a:solidFill>
                <a:effectLst/>
                <a:latin typeface="Open Sans" panose="020B0606030504020204" pitchFamily="34" charset="0"/>
              </a:rPr>
              <a:t>Vimos cómo definir una matriz y qué obtenemos cuando definimos una.</a:t>
            </a:r>
            <a:endParaRPr lang="es-AR" sz="2400" i="0" u="none" strike="noStrike" dirty="0">
              <a:solidFill>
                <a:schemeClr val="bg2">
                  <a:lumMod val="25000"/>
                </a:schemeClr>
              </a:solidFill>
              <a:effectLst/>
              <a:highlight>
                <a:srgbClr val="FFFF00"/>
              </a:highlight>
              <a:latin typeface="Open Sans" panose="020B0606030504020204" pitchFamily="34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AC0B1C2-2189-9C6A-0D25-A8AAFB27007C}"/>
              </a:ext>
            </a:extLst>
          </p:cNvPr>
          <p:cNvSpPr txBox="1"/>
          <p:nvPr/>
        </p:nvSpPr>
        <p:spPr>
          <a:xfrm>
            <a:off x="499750" y="5697403"/>
            <a:ext cx="1066849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400" dirty="0">
                <a:solidFill>
                  <a:schemeClr val="bg2">
                    <a:lumMod val="25000"/>
                  </a:schemeClr>
                </a:solidFill>
                <a:latin typeface="Open Sans" panose="020B0606030504020204" pitchFamily="34" charset="0"/>
              </a:rPr>
              <a:t>Para este ejemplo</a:t>
            </a:r>
            <a:r>
              <a:rPr lang="es-AR" sz="2400" i="0" u="none" strike="noStrike" dirty="0">
                <a:solidFill>
                  <a:schemeClr val="bg2">
                    <a:lumMod val="25000"/>
                  </a:schemeClr>
                </a:solidFill>
                <a:effectLst/>
                <a:latin typeface="Open Sans" panose="020B0606030504020204" pitchFamily="34" charset="0"/>
              </a:rPr>
              <a:t> definimos una matriz que representa el estado de las butacas de un cine.</a:t>
            </a:r>
            <a:endParaRPr lang="es-AR" sz="24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7D7412E-2389-9A80-1B49-E604388043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070" y="2451604"/>
            <a:ext cx="9205356" cy="2999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67382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E2EEF8A5-14B7-DEBB-4B7E-E5434E3293F2}"/>
              </a:ext>
            </a:extLst>
          </p:cNvPr>
          <p:cNvSpPr txBox="1">
            <a:spLocks/>
          </p:cNvSpPr>
          <p:nvPr/>
        </p:nvSpPr>
        <p:spPr>
          <a:xfrm>
            <a:off x="2298861" y="266596"/>
            <a:ext cx="7735787" cy="7540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3200" b="1" dirty="0">
                <a:solidFill>
                  <a:srgbClr val="B00055"/>
                </a:solidFill>
                <a:latin typeface="Verdana" panose="020B0604030504040204" pitchFamily="34" charset="0"/>
              </a:rPr>
              <a:t>Ejemplo Matriz</a:t>
            </a:r>
          </a:p>
        </p:txBody>
      </p:sp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38E4A167-08A5-3479-9422-1E6A6083E5B9}"/>
              </a:ext>
            </a:extLst>
          </p:cNvPr>
          <p:cNvSpPr txBox="1">
            <a:spLocks/>
          </p:cNvSpPr>
          <p:nvPr/>
        </p:nvSpPr>
        <p:spPr>
          <a:xfrm>
            <a:off x="499750" y="1261429"/>
            <a:ext cx="11429013" cy="171333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s-AR" b="1" i="0" u="none" strike="noStrike" dirty="0">
                <a:solidFill>
                  <a:schemeClr val="accent2"/>
                </a:solidFill>
                <a:effectLst/>
                <a:latin typeface="Open Sans" panose="020B0606030504020204" pitchFamily="34" charset="0"/>
              </a:rPr>
              <a:t>Definición de una matriz</a:t>
            </a:r>
          </a:p>
          <a:p>
            <a:pPr marL="0" indent="0">
              <a:spcBef>
                <a:spcPts val="600"/>
              </a:spcBef>
              <a:buNone/>
            </a:pPr>
            <a:endParaRPr lang="es-AR" sz="800" b="1" i="0" u="none" strike="noStrike" dirty="0">
              <a:solidFill>
                <a:schemeClr val="accent2"/>
              </a:solidFill>
              <a:effectLst/>
              <a:latin typeface="Open Sans" panose="020B0606030504020204" pitchFamily="34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s-AR" sz="2400" i="0" u="none" strike="noStrike" dirty="0">
                <a:solidFill>
                  <a:schemeClr val="bg2">
                    <a:lumMod val="25000"/>
                  </a:schemeClr>
                </a:solidFill>
                <a:effectLst/>
                <a:latin typeface="Open Sans" panose="020B0606030504020204" pitchFamily="34" charset="0"/>
              </a:rPr>
              <a:t>Como sabemos, los cines tienes filas y, a su vez, las filas se dividen en posiciones en la fila.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s-AR" sz="2400" i="0" u="none" strike="noStrike" dirty="0">
                <a:solidFill>
                  <a:schemeClr val="bg2">
                    <a:lumMod val="25000"/>
                  </a:schemeClr>
                </a:solidFill>
                <a:effectLst/>
                <a:latin typeface="Open Sans" panose="020B0606030504020204" pitchFamily="34" charset="0"/>
              </a:rPr>
              <a:t>En una matriz tenemos </a:t>
            </a:r>
            <a:r>
              <a:rPr lang="es-AR" sz="2400" i="0" u="none" strike="noStrike" dirty="0">
                <a:solidFill>
                  <a:schemeClr val="bg2">
                    <a:lumMod val="25000"/>
                  </a:schemeClr>
                </a:solidFill>
                <a:effectLst/>
                <a:highlight>
                  <a:srgbClr val="FFFF00"/>
                </a:highlight>
                <a:latin typeface="Open Sans" panose="020B0606030504020204" pitchFamily="34" charset="0"/>
              </a:rPr>
              <a:t>filas</a:t>
            </a:r>
            <a:r>
              <a:rPr lang="es-AR" sz="2400" i="0" u="none" strike="noStrike" dirty="0">
                <a:solidFill>
                  <a:schemeClr val="bg2">
                    <a:lumMod val="25000"/>
                  </a:schemeClr>
                </a:solidFill>
                <a:effectLst/>
                <a:latin typeface="Open Sans" panose="020B0606030504020204" pitchFamily="34" charset="0"/>
              </a:rPr>
              <a:t> y </a:t>
            </a:r>
            <a:r>
              <a:rPr lang="es-AR" sz="2400" i="0" u="none" strike="noStrike" dirty="0">
                <a:solidFill>
                  <a:schemeClr val="bg2">
                    <a:lumMod val="25000"/>
                  </a:schemeClr>
                </a:solidFill>
                <a:effectLst/>
                <a:highlight>
                  <a:srgbClr val="FFFF00"/>
                </a:highlight>
                <a:latin typeface="Open Sans" panose="020B0606030504020204" pitchFamily="34" charset="0"/>
              </a:rPr>
              <a:t>columnas.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EF36CE5-38C3-545D-11AE-73262830CD9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952" b="27057"/>
          <a:stretch/>
        </p:blipFill>
        <p:spPr>
          <a:xfrm>
            <a:off x="3503221" y="3077982"/>
            <a:ext cx="6952864" cy="2562797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AA138402-1F38-79EE-699F-3F78CAD36E55}"/>
              </a:ext>
            </a:extLst>
          </p:cNvPr>
          <p:cNvSpPr txBox="1"/>
          <p:nvPr/>
        </p:nvSpPr>
        <p:spPr>
          <a:xfrm>
            <a:off x="2091541" y="3291835"/>
            <a:ext cx="7466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>
                <a:solidFill>
                  <a:schemeClr val="bg2">
                    <a:lumMod val="25000"/>
                  </a:schemeClr>
                </a:solidFill>
                <a:highlight>
                  <a:srgbClr val="FFFF00"/>
                </a:highlight>
                <a:latin typeface="Open Sans" panose="020B0606030504020204" pitchFamily="34" charset="0"/>
              </a:rPr>
              <a:t>F</a:t>
            </a:r>
            <a:r>
              <a:rPr lang="es-AR" sz="1800" i="0" u="none" strike="noStrike" dirty="0">
                <a:solidFill>
                  <a:schemeClr val="bg2">
                    <a:lumMod val="25000"/>
                  </a:schemeClr>
                </a:solidFill>
                <a:effectLst/>
                <a:highlight>
                  <a:srgbClr val="FFFF00"/>
                </a:highlight>
                <a:latin typeface="Open Sans" panose="020B0606030504020204" pitchFamily="34" charset="0"/>
              </a:rPr>
              <a:t>ilas</a:t>
            </a:r>
            <a:endParaRPr lang="es-AR" dirty="0"/>
          </a:p>
        </p:txBody>
      </p:sp>
      <p:sp>
        <p:nvSpPr>
          <p:cNvPr id="7" name="Flecha: a la derecha 6">
            <a:extLst>
              <a:ext uri="{FF2B5EF4-FFF2-40B4-BE49-F238E27FC236}">
                <a16:creationId xmlns:a16="http://schemas.microsoft.com/office/drawing/2014/main" id="{8CD5E606-BDAC-0DCF-6171-2A3ABB20F163}"/>
              </a:ext>
            </a:extLst>
          </p:cNvPr>
          <p:cNvSpPr/>
          <p:nvPr/>
        </p:nvSpPr>
        <p:spPr>
          <a:xfrm>
            <a:off x="2838202" y="3360717"/>
            <a:ext cx="540327" cy="249382"/>
          </a:xfrm>
          <a:prstGeom prst="right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72F77432-8A1D-2899-074C-3FED47F95CC1}"/>
              </a:ext>
            </a:extLst>
          </p:cNvPr>
          <p:cNvSpPr txBox="1"/>
          <p:nvPr/>
        </p:nvSpPr>
        <p:spPr>
          <a:xfrm>
            <a:off x="5701640" y="6272542"/>
            <a:ext cx="15423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800" i="0" u="none" strike="noStrike" dirty="0">
                <a:solidFill>
                  <a:schemeClr val="bg2">
                    <a:lumMod val="25000"/>
                  </a:schemeClr>
                </a:solidFill>
                <a:effectLst/>
                <a:highlight>
                  <a:srgbClr val="FFFF00"/>
                </a:highlight>
                <a:latin typeface="Open Sans" panose="020B0606030504020204" pitchFamily="34" charset="0"/>
              </a:rPr>
              <a:t>columnas</a:t>
            </a:r>
            <a:endParaRPr lang="es-AR" dirty="0"/>
          </a:p>
        </p:txBody>
      </p:sp>
      <p:sp>
        <p:nvSpPr>
          <p:cNvPr id="10" name="Flecha: a la derecha 9">
            <a:extLst>
              <a:ext uri="{FF2B5EF4-FFF2-40B4-BE49-F238E27FC236}">
                <a16:creationId xmlns:a16="http://schemas.microsoft.com/office/drawing/2014/main" id="{9332A97C-2AD4-B3B7-E46C-FFD645FCC848}"/>
              </a:ext>
            </a:extLst>
          </p:cNvPr>
          <p:cNvSpPr/>
          <p:nvPr/>
        </p:nvSpPr>
        <p:spPr>
          <a:xfrm rot="16200000">
            <a:off x="6021282" y="5786251"/>
            <a:ext cx="540327" cy="249382"/>
          </a:xfrm>
          <a:prstGeom prst="right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8403003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E2EEF8A5-14B7-DEBB-4B7E-E5434E3293F2}"/>
              </a:ext>
            </a:extLst>
          </p:cNvPr>
          <p:cNvSpPr txBox="1">
            <a:spLocks/>
          </p:cNvSpPr>
          <p:nvPr/>
        </p:nvSpPr>
        <p:spPr>
          <a:xfrm>
            <a:off x="2298861" y="266596"/>
            <a:ext cx="7735787" cy="7540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3200" b="1" dirty="0">
                <a:solidFill>
                  <a:srgbClr val="B00055"/>
                </a:solidFill>
                <a:latin typeface="Verdana" panose="020B0604030504040204" pitchFamily="34" charset="0"/>
              </a:rPr>
              <a:t>Ejemplo Matriz</a:t>
            </a:r>
          </a:p>
        </p:txBody>
      </p:sp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38E4A167-08A5-3479-9422-1E6A6083E5B9}"/>
              </a:ext>
            </a:extLst>
          </p:cNvPr>
          <p:cNvSpPr txBox="1">
            <a:spLocks/>
          </p:cNvSpPr>
          <p:nvPr/>
        </p:nvSpPr>
        <p:spPr>
          <a:xfrm>
            <a:off x="499750" y="1261429"/>
            <a:ext cx="5699169" cy="49315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s-AR" b="1" i="0" u="none" strike="noStrike" dirty="0">
                <a:solidFill>
                  <a:schemeClr val="accent2"/>
                </a:solidFill>
                <a:effectLst/>
                <a:latin typeface="Open Sans" panose="020B0606030504020204" pitchFamily="34" charset="0"/>
              </a:rPr>
              <a:t>La matriz de ejemplo: qué estamos representando</a:t>
            </a:r>
          </a:p>
          <a:p>
            <a:pPr marL="0" indent="0">
              <a:spcBef>
                <a:spcPts val="600"/>
              </a:spcBef>
              <a:buNone/>
            </a:pPr>
            <a:endParaRPr lang="es-AR" sz="800" b="1" i="0" u="none" strike="noStrike" dirty="0">
              <a:solidFill>
                <a:schemeClr val="accent2"/>
              </a:solidFill>
              <a:effectLst/>
              <a:latin typeface="Open Sans" panose="020B0606030504020204" pitchFamily="34" charset="0"/>
            </a:endParaRPr>
          </a:p>
          <a:p>
            <a:pPr marL="0" indent="0">
              <a:spcBef>
                <a:spcPts val="600"/>
              </a:spcBef>
              <a:buNone/>
            </a:pPr>
            <a:endParaRPr lang="es-AR" sz="800" b="1" i="0" u="none" strike="noStrike" dirty="0">
              <a:solidFill>
                <a:schemeClr val="accent2"/>
              </a:solidFill>
              <a:effectLst/>
              <a:latin typeface="Open Sans" panose="020B0606030504020204" pitchFamily="34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s-AR" sz="2400" i="0" u="none" strike="noStrike" dirty="0">
                <a:solidFill>
                  <a:schemeClr val="bg2">
                    <a:lumMod val="25000"/>
                  </a:schemeClr>
                </a:solidFill>
                <a:effectLst/>
                <a:latin typeface="Open Sans" panose="020B0606030504020204" pitchFamily="34" charset="0"/>
              </a:rPr>
              <a:t>Cuando indiquemos una fila y columna, lo que vamos a obtener es el estado de una butaca, si está ocupada o no.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s-AR" sz="2400" i="0" u="none" strike="noStrike" dirty="0">
                <a:solidFill>
                  <a:schemeClr val="bg2">
                    <a:lumMod val="25000"/>
                  </a:schemeClr>
                </a:solidFill>
                <a:effectLst/>
                <a:latin typeface="Open Sans" panose="020B0606030504020204" pitchFamily="34" charset="0"/>
              </a:rPr>
              <a:t>Esto ocurre en cualquier matriz, al indicar una posición obtenemos el valor de esa posición.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s-AR" sz="2400" i="0" u="none" strike="noStrike" dirty="0">
                <a:solidFill>
                  <a:schemeClr val="bg2">
                    <a:lumMod val="25000"/>
                  </a:schemeClr>
                </a:solidFill>
                <a:effectLst/>
                <a:latin typeface="Open Sans" panose="020B0606030504020204" pitchFamily="34" charset="0"/>
              </a:rPr>
              <a:t>Vamos a ver a ahora qué podemos hacer con esta matriz.</a:t>
            </a:r>
          </a:p>
        </p:txBody>
      </p:sp>
      <p:pic>
        <p:nvPicPr>
          <p:cNvPr id="1026" name="Picture 2" descr="Personas en la sala de cine. Niños y adultos ven cine sentados en sillas  rojas con palomitas de maíz en el cine. Entretenimiento viendo concepto de  multitud | Vector Premium">
            <a:extLst>
              <a:ext uri="{FF2B5EF4-FFF2-40B4-BE49-F238E27FC236}">
                <a16:creationId xmlns:a16="http://schemas.microsoft.com/office/drawing/2014/main" id="{7AA467B6-F422-C87C-C419-7005D1E784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6331" y="2202015"/>
            <a:ext cx="5251492" cy="3154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108106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0EBD4BB0-A941-F06D-1BC3-BC986C5D21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A26D3819-8427-ECFC-3EFF-0E82B68BB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89C0B770-FD61-05AF-F83C-CEC29EF007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09"/>
            <a:ext cx="12192000" cy="6846582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67A0ADED-D619-8402-3125-3D3D79B537D7}"/>
              </a:ext>
            </a:extLst>
          </p:cNvPr>
          <p:cNvSpPr txBox="1"/>
          <p:nvPr/>
        </p:nvSpPr>
        <p:spPr>
          <a:xfrm>
            <a:off x="2998024" y="2536992"/>
            <a:ext cx="632559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7200" b="1" dirty="0">
                <a:solidFill>
                  <a:schemeClr val="bg1"/>
                </a:solidFill>
                <a:latin typeface="Verdana" panose="020B0604030504040204" pitchFamily="34" charset="0"/>
              </a:rPr>
              <a:t>Un </a:t>
            </a:r>
            <a:r>
              <a:rPr lang="en-US" sz="7200" b="1" dirty="0" err="1">
                <a:solidFill>
                  <a:schemeClr val="bg1"/>
                </a:solidFill>
                <a:latin typeface="Verdana" panose="020B0604030504040204" pitchFamily="34" charset="0"/>
              </a:rPr>
              <a:t>Ciclo</a:t>
            </a:r>
            <a:r>
              <a:rPr lang="en-US" sz="7200" b="1" dirty="0">
                <a:solidFill>
                  <a:schemeClr val="bg1"/>
                </a:solidFill>
                <a:latin typeface="Verdana" panose="020B0604030504040204" pitchFamily="34" charset="0"/>
              </a:rPr>
              <a:t> For</a:t>
            </a:r>
            <a:endParaRPr lang="es-AR" sz="7200" b="1" dirty="0">
              <a:solidFill>
                <a:schemeClr val="bg1"/>
              </a:solidFill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776432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E2EEF8A5-14B7-DEBB-4B7E-E5434E3293F2}"/>
              </a:ext>
            </a:extLst>
          </p:cNvPr>
          <p:cNvSpPr txBox="1">
            <a:spLocks/>
          </p:cNvSpPr>
          <p:nvPr/>
        </p:nvSpPr>
        <p:spPr>
          <a:xfrm>
            <a:off x="2298861" y="266596"/>
            <a:ext cx="7735787" cy="7540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3200" b="1" dirty="0">
                <a:solidFill>
                  <a:srgbClr val="B00055"/>
                </a:solidFill>
                <a:latin typeface="Verdana" panose="020B0604030504040204" pitchFamily="34" charset="0"/>
              </a:rPr>
              <a:t>Un Ciclo </a:t>
            </a:r>
            <a:r>
              <a:rPr lang="es-ES" sz="3200" b="1" dirty="0" err="1">
                <a:solidFill>
                  <a:srgbClr val="B00055"/>
                </a:solidFill>
                <a:latin typeface="Verdana" panose="020B0604030504040204" pitchFamily="34" charset="0"/>
              </a:rPr>
              <a:t>For</a:t>
            </a:r>
            <a:endParaRPr lang="es-ES" sz="3200" b="1" dirty="0">
              <a:solidFill>
                <a:srgbClr val="B00055"/>
              </a:solidFill>
              <a:latin typeface="Verdana" panose="020B0604030504040204" pitchFamily="34" charset="0"/>
            </a:endParaRPr>
          </a:p>
        </p:txBody>
      </p:sp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38E4A167-08A5-3479-9422-1E6A6083E5B9}"/>
              </a:ext>
            </a:extLst>
          </p:cNvPr>
          <p:cNvSpPr txBox="1">
            <a:spLocks/>
          </p:cNvSpPr>
          <p:nvPr/>
        </p:nvSpPr>
        <p:spPr>
          <a:xfrm>
            <a:off x="499750" y="1261429"/>
            <a:ext cx="11084629" cy="19389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s-AR" sz="2400" i="0" u="none" strike="noStrike" dirty="0">
                <a:solidFill>
                  <a:schemeClr val="bg2">
                    <a:lumMod val="25000"/>
                  </a:schemeClr>
                </a:solidFill>
                <a:effectLst/>
                <a:latin typeface="Open Sans" panose="020B0606030504020204" pitchFamily="34" charset="0"/>
              </a:rPr>
              <a:t>Para efectuar un ciclo </a:t>
            </a:r>
            <a:r>
              <a:rPr lang="es-AR" sz="2400" i="0" u="none" strike="noStrike" dirty="0" err="1">
                <a:solidFill>
                  <a:schemeClr val="bg2">
                    <a:lumMod val="25000"/>
                  </a:schemeClr>
                </a:solidFill>
                <a:effectLst/>
                <a:latin typeface="Open Sans" panose="020B0606030504020204" pitchFamily="34" charset="0"/>
              </a:rPr>
              <a:t>for</a:t>
            </a:r>
            <a:r>
              <a:rPr lang="es-AR" sz="2400" i="0" u="none" strike="noStrike" dirty="0">
                <a:solidFill>
                  <a:schemeClr val="bg2">
                    <a:lumMod val="25000"/>
                  </a:schemeClr>
                </a:solidFill>
                <a:effectLst/>
                <a:latin typeface="Open Sans" panose="020B0606030504020204" pitchFamily="34" charset="0"/>
              </a:rPr>
              <a:t> debemos saber cuántas veces debe iterar.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s-AR" sz="2400" i="0" u="none" strike="noStrike" dirty="0">
                <a:solidFill>
                  <a:schemeClr val="bg2">
                    <a:lumMod val="25000"/>
                  </a:schemeClr>
                </a:solidFill>
                <a:effectLst/>
                <a:latin typeface="Open Sans" panose="020B0606030504020204" pitchFamily="34" charset="0"/>
              </a:rPr>
              <a:t>Si bien para nuestro ejemplo podemos poner directamente los valores, es mejor que la matriz “se mida a sí misma”.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s-AR" sz="2400" i="0" u="none" strike="noStrike" dirty="0">
                <a:solidFill>
                  <a:schemeClr val="bg2">
                    <a:lumMod val="25000"/>
                  </a:schemeClr>
                </a:solidFill>
                <a:effectLst/>
                <a:latin typeface="Open Sans" panose="020B0606030504020204" pitchFamily="34" charset="0"/>
              </a:rPr>
              <a:t>Podemos hacerlo de dos formas.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DC0788B-7888-87D1-19F9-D63953B940A2}"/>
              </a:ext>
            </a:extLst>
          </p:cNvPr>
          <p:cNvSpPr txBox="1"/>
          <p:nvPr/>
        </p:nvSpPr>
        <p:spPr>
          <a:xfrm>
            <a:off x="499750" y="5596571"/>
            <a:ext cx="1122119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400" i="0" u="none" strike="noStrike" dirty="0">
                <a:solidFill>
                  <a:schemeClr val="bg2">
                    <a:lumMod val="25000"/>
                  </a:schemeClr>
                </a:solidFill>
                <a:effectLst/>
                <a:latin typeface="Open Sans" panose="020B0606030504020204" pitchFamily="34" charset="0"/>
              </a:rPr>
              <a:t>Si bien medimos solo la fila 0, todas las columnas tienen la misma cantidad de filas.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12FB71D3-CC11-67FF-5966-ABB15918FA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750" y="3200400"/>
            <a:ext cx="7933061" cy="1611712"/>
          </a:xfrm>
          <a:prstGeom prst="rect">
            <a:avLst/>
          </a:prstGeom>
        </p:spPr>
      </p:pic>
      <p:sp>
        <p:nvSpPr>
          <p:cNvPr id="11" name="Flecha: hacia abajo 10">
            <a:extLst>
              <a:ext uri="{FF2B5EF4-FFF2-40B4-BE49-F238E27FC236}">
                <a16:creationId xmlns:a16="http://schemas.microsoft.com/office/drawing/2014/main" id="{2DCA0052-D0BE-E2D6-E10C-D5C4EAA8CCC1}"/>
              </a:ext>
            </a:extLst>
          </p:cNvPr>
          <p:cNvSpPr/>
          <p:nvPr/>
        </p:nvSpPr>
        <p:spPr>
          <a:xfrm rot="5400000">
            <a:off x="9675723" y="1745609"/>
            <a:ext cx="846462" cy="3528987"/>
          </a:xfrm>
          <a:prstGeom prst="down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12" name="Flecha: hacia abajo 11">
            <a:extLst>
              <a:ext uri="{FF2B5EF4-FFF2-40B4-BE49-F238E27FC236}">
                <a16:creationId xmlns:a16="http://schemas.microsoft.com/office/drawing/2014/main" id="{FEB3FB10-E85E-DD03-0D3A-275DB74BE6E5}"/>
              </a:ext>
            </a:extLst>
          </p:cNvPr>
          <p:cNvSpPr/>
          <p:nvPr/>
        </p:nvSpPr>
        <p:spPr>
          <a:xfrm rot="5400000">
            <a:off x="9721245" y="2675913"/>
            <a:ext cx="846462" cy="3528987"/>
          </a:xfrm>
          <a:prstGeom prst="down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3E0032A8-7B2A-4655-7721-AA080819A4B8}"/>
              </a:ext>
            </a:extLst>
          </p:cNvPr>
          <p:cNvSpPr txBox="1"/>
          <p:nvPr/>
        </p:nvSpPr>
        <p:spPr>
          <a:xfrm>
            <a:off x="8593282" y="3334354"/>
            <a:ext cx="33665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800" i="0" u="none" strike="noStrike" dirty="0">
                <a:effectLst/>
                <a:latin typeface="Open Sans" panose="020B0606030504020204" pitchFamily="34" charset="0"/>
              </a:rPr>
              <a:t>Medimos la cantidad de filas</a:t>
            </a:r>
            <a:endParaRPr lang="es-AR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7D866864-FD33-69C2-CCAC-0FB181B01FB9}"/>
              </a:ext>
            </a:extLst>
          </p:cNvPr>
          <p:cNvSpPr txBox="1"/>
          <p:nvPr/>
        </p:nvSpPr>
        <p:spPr>
          <a:xfrm>
            <a:off x="8670471" y="4305814"/>
            <a:ext cx="336650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100" i="0" u="none" strike="noStrike" dirty="0">
                <a:effectLst/>
                <a:latin typeface="Open Sans" panose="020B0606030504020204" pitchFamily="34" charset="0"/>
              </a:rPr>
              <a:t>Medimos la cantidad de columnas de la fila 0</a:t>
            </a:r>
            <a:endParaRPr lang="es-AR" sz="1100" dirty="0"/>
          </a:p>
        </p:txBody>
      </p:sp>
    </p:spTree>
    <p:extLst>
      <p:ext uri="{BB962C8B-B14F-4D97-AF65-F5344CB8AC3E}">
        <p14:creationId xmlns:p14="http://schemas.microsoft.com/office/powerpoint/2010/main" val="36303553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E2EEF8A5-14B7-DEBB-4B7E-E5434E3293F2}"/>
              </a:ext>
            </a:extLst>
          </p:cNvPr>
          <p:cNvSpPr txBox="1">
            <a:spLocks/>
          </p:cNvSpPr>
          <p:nvPr/>
        </p:nvSpPr>
        <p:spPr>
          <a:xfrm>
            <a:off x="2298861" y="266596"/>
            <a:ext cx="7735787" cy="7540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3200" b="1" dirty="0">
                <a:solidFill>
                  <a:srgbClr val="B00055"/>
                </a:solidFill>
                <a:latin typeface="Verdana" panose="020B0604030504040204" pitchFamily="34" charset="0"/>
              </a:rPr>
              <a:t>Un Ciclo </a:t>
            </a:r>
            <a:r>
              <a:rPr lang="es-ES" sz="3200" b="1" dirty="0" err="1">
                <a:solidFill>
                  <a:srgbClr val="B00055"/>
                </a:solidFill>
                <a:latin typeface="Verdana" panose="020B0604030504040204" pitchFamily="34" charset="0"/>
              </a:rPr>
              <a:t>For</a:t>
            </a:r>
            <a:endParaRPr lang="es-ES" sz="3200" b="1" dirty="0">
              <a:solidFill>
                <a:srgbClr val="B00055"/>
              </a:solidFill>
              <a:latin typeface="Verdana" panose="020B0604030504040204" pitchFamily="34" charset="0"/>
            </a:endParaRPr>
          </a:p>
        </p:txBody>
      </p:sp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38E4A167-08A5-3479-9422-1E6A6083E5B9}"/>
              </a:ext>
            </a:extLst>
          </p:cNvPr>
          <p:cNvSpPr txBox="1">
            <a:spLocks/>
          </p:cNvSpPr>
          <p:nvPr/>
        </p:nvSpPr>
        <p:spPr>
          <a:xfrm>
            <a:off x="499750" y="1261429"/>
            <a:ext cx="11084629" cy="19389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s-AR" sz="2400" i="0" u="none" strike="noStrike" dirty="0">
                <a:solidFill>
                  <a:schemeClr val="bg2">
                    <a:lumMod val="25000"/>
                  </a:schemeClr>
                </a:solidFill>
                <a:effectLst/>
                <a:highlight>
                  <a:srgbClr val="FFFF00"/>
                </a:highlight>
                <a:latin typeface="Open Sans" panose="020B0606030504020204" pitchFamily="34" charset="0"/>
              </a:rPr>
              <a:t>Recorrer una fila</a:t>
            </a:r>
          </a:p>
          <a:p>
            <a:pPr marL="0" indent="0">
              <a:spcBef>
                <a:spcPts val="600"/>
              </a:spcBef>
              <a:buNone/>
            </a:pPr>
            <a:endParaRPr lang="es-AR" sz="900" i="0" u="none" strike="noStrike" dirty="0">
              <a:solidFill>
                <a:schemeClr val="bg2">
                  <a:lumMod val="25000"/>
                </a:schemeClr>
              </a:solidFill>
              <a:effectLst/>
              <a:highlight>
                <a:srgbClr val="FFFF00"/>
              </a:highlight>
              <a:latin typeface="Open Sans" panose="020B0606030504020204" pitchFamily="34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s-AR" sz="2400" i="0" u="none" strike="noStrike" dirty="0">
                <a:solidFill>
                  <a:schemeClr val="bg2">
                    <a:lumMod val="25000"/>
                  </a:schemeClr>
                </a:solidFill>
                <a:effectLst/>
                <a:latin typeface="Open Sans" panose="020B0606030504020204" pitchFamily="34" charset="0"/>
              </a:rPr>
              <a:t>Ahora vamos a recorrer la matriz. Por ejemplo, queremos saber si en la fila 1 hay butacas libres.</a:t>
            </a:r>
          </a:p>
          <a:p>
            <a:pPr marL="0" indent="0">
              <a:spcBef>
                <a:spcPts val="600"/>
              </a:spcBef>
              <a:buNone/>
            </a:pPr>
            <a:endParaRPr lang="es-AR" sz="2400" i="0" u="none" strike="noStrike" dirty="0">
              <a:solidFill>
                <a:schemeClr val="bg2">
                  <a:lumMod val="25000"/>
                </a:schemeClr>
              </a:solidFill>
              <a:effectLst/>
              <a:highlight>
                <a:srgbClr val="FFFF00"/>
              </a:highlight>
              <a:latin typeface="Open Sans" panose="020B0606030504020204" pitchFamily="34" charset="0"/>
            </a:endParaRPr>
          </a:p>
          <a:p>
            <a:pPr marL="0" indent="0">
              <a:spcBef>
                <a:spcPts val="600"/>
              </a:spcBef>
              <a:buNone/>
            </a:pPr>
            <a:endParaRPr lang="es-AR" sz="2400" i="0" u="none" strike="noStrike" dirty="0">
              <a:solidFill>
                <a:schemeClr val="bg2">
                  <a:lumMod val="25000"/>
                </a:schemeClr>
              </a:solidFill>
              <a:effectLst/>
              <a:latin typeface="Open Sans" panose="020B0606030504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DC0788B-7888-87D1-19F9-D63953B940A2}"/>
              </a:ext>
            </a:extLst>
          </p:cNvPr>
          <p:cNvSpPr txBox="1"/>
          <p:nvPr/>
        </p:nvSpPr>
        <p:spPr>
          <a:xfrm>
            <a:off x="499750" y="5596571"/>
            <a:ext cx="1137557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400" i="0" u="none" strike="noStrike" dirty="0">
                <a:solidFill>
                  <a:schemeClr val="bg2">
                    <a:lumMod val="25000"/>
                  </a:schemeClr>
                </a:solidFill>
                <a:effectLst/>
                <a:latin typeface="Open Sans" panose="020B0606030504020204" pitchFamily="34" charset="0"/>
              </a:rPr>
              <a:t>Utilizamos un solo </a:t>
            </a:r>
            <a:r>
              <a:rPr lang="es-AR" sz="2400" i="0" u="none" strike="noStrike" dirty="0" err="1">
                <a:solidFill>
                  <a:schemeClr val="bg2">
                    <a:lumMod val="25000"/>
                  </a:schemeClr>
                </a:solidFill>
                <a:effectLst/>
                <a:latin typeface="Open Sans" panose="020B0606030504020204" pitchFamily="34" charset="0"/>
              </a:rPr>
              <a:t>for</a:t>
            </a:r>
            <a:r>
              <a:rPr lang="es-AR" sz="2400" i="0" u="none" strike="noStrike" dirty="0">
                <a:solidFill>
                  <a:schemeClr val="bg2">
                    <a:lumMod val="25000"/>
                  </a:schemeClr>
                </a:solidFill>
                <a:effectLst/>
                <a:latin typeface="Open Sans" panose="020B0606030504020204" pitchFamily="34" charset="0"/>
              </a:rPr>
              <a:t>, podemos fijar la fila y solo recorremos la fila indicada, preguntando por cada elemento —columna— de la fila.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04957D60-BA1F-F52E-98F4-F05F88A554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4414" y="2718512"/>
            <a:ext cx="9579429" cy="2770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39091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E2EEF8A5-14B7-DEBB-4B7E-E5434E3293F2}"/>
              </a:ext>
            </a:extLst>
          </p:cNvPr>
          <p:cNvSpPr txBox="1">
            <a:spLocks/>
          </p:cNvSpPr>
          <p:nvPr/>
        </p:nvSpPr>
        <p:spPr>
          <a:xfrm>
            <a:off x="2298861" y="266596"/>
            <a:ext cx="7735787" cy="7540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3200" b="1" dirty="0">
                <a:solidFill>
                  <a:srgbClr val="B00055"/>
                </a:solidFill>
                <a:latin typeface="Verdana" panose="020B0604030504040204" pitchFamily="34" charset="0"/>
              </a:rPr>
              <a:t>Un Ciclo </a:t>
            </a:r>
            <a:r>
              <a:rPr lang="es-ES" sz="3200" b="1" dirty="0" err="1">
                <a:solidFill>
                  <a:srgbClr val="B00055"/>
                </a:solidFill>
                <a:latin typeface="Verdana" panose="020B0604030504040204" pitchFamily="34" charset="0"/>
              </a:rPr>
              <a:t>For</a:t>
            </a:r>
            <a:endParaRPr lang="es-ES" sz="3200" b="1" dirty="0">
              <a:solidFill>
                <a:srgbClr val="B00055"/>
              </a:solidFill>
              <a:latin typeface="Verdana" panose="020B0604030504040204" pitchFamily="34" charset="0"/>
            </a:endParaRPr>
          </a:p>
        </p:txBody>
      </p:sp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38E4A167-08A5-3479-9422-1E6A6083E5B9}"/>
              </a:ext>
            </a:extLst>
          </p:cNvPr>
          <p:cNvSpPr txBox="1">
            <a:spLocks/>
          </p:cNvSpPr>
          <p:nvPr/>
        </p:nvSpPr>
        <p:spPr>
          <a:xfrm>
            <a:off x="499750" y="1261429"/>
            <a:ext cx="11084629" cy="19389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s-AR" sz="2400" i="0" u="none" strike="noStrike" dirty="0">
                <a:solidFill>
                  <a:schemeClr val="bg2">
                    <a:lumMod val="25000"/>
                  </a:schemeClr>
                </a:solidFill>
                <a:effectLst/>
                <a:highlight>
                  <a:srgbClr val="FFFF00"/>
                </a:highlight>
                <a:latin typeface="Open Sans" panose="020B0606030504020204" pitchFamily="34" charset="0"/>
              </a:rPr>
              <a:t>Recorrer una columna</a:t>
            </a:r>
          </a:p>
          <a:p>
            <a:pPr marL="0" indent="0">
              <a:spcBef>
                <a:spcPts val="600"/>
              </a:spcBef>
              <a:buNone/>
            </a:pPr>
            <a:endParaRPr lang="es-AR" sz="900" i="0" u="none" strike="noStrike" dirty="0">
              <a:solidFill>
                <a:schemeClr val="bg2">
                  <a:lumMod val="25000"/>
                </a:schemeClr>
              </a:solidFill>
              <a:effectLst/>
              <a:highlight>
                <a:srgbClr val="FFFF00"/>
              </a:highlight>
              <a:latin typeface="Open Sans" panose="020B0606030504020204" pitchFamily="34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s-AR" sz="2400" i="0" u="none" strike="noStrike" dirty="0">
                <a:solidFill>
                  <a:schemeClr val="bg2">
                    <a:lumMod val="25000"/>
                  </a:schemeClr>
                </a:solidFill>
                <a:effectLst/>
                <a:latin typeface="Open Sans" panose="020B0606030504020204" pitchFamily="34" charset="0"/>
              </a:rPr>
              <a:t>Si quisiéramos comprobar que la columna central —las butacas del medio— están ocupadas, entonces deberíamos recorrer por columna.</a:t>
            </a:r>
          </a:p>
          <a:p>
            <a:pPr marL="0" indent="0">
              <a:spcBef>
                <a:spcPts val="600"/>
              </a:spcBef>
              <a:buNone/>
            </a:pPr>
            <a:endParaRPr lang="es-AR" sz="2400" i="0" u="none" strike="noStrike" dirty="0">
              <a:solidFill>
                <a:schemeClr val="bg2">
                  <a:lumMod val="25000"/>
                </a:schemeClr>
              </a:solidFill>
              <a:effectLst/>
              <a:highlight>
                <a:srgbClr val="FFFF00"/>
              </a:highlight>
              <a:latin typeface="Open Sans" panose="020B0606030504020204" pitchFamily="34" charset="0"/>
            </a:endParaRPr>
          </a:p>
          <a:p>
            <a:pPr marL="0" indent="0">
              <a:spcBef>
                <a:spcPts val="600"/>
              </a:spcBef>
              <a:buNone/>
            </a:pPr>
            <a:endParaRPr lang="es-AR" sz="2400" i="0" u="none" strike="noStrike" dirty="0">
              <a:solidFill>
                <a:schemeClr val="bg2">
                  <a:lumMod val="25000"/>
                </a:schemeClr>
              </a:solidFill>
              <a:effectLst/>
              <a:latin typeface="Open Sans" panose="020B0606030504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DC0788B-7888-87D1-19F9-D63953B940A2}"/>
              </a:ext>
            </a:extLst>
          </p:cNvPr>
          <p:cNvSpPr txBox="1"/>
          <p:nvPr/>
        </p:nvSpPr>
        <p:spPr>
          <a:xfrm>
            <a:off x="499750" y="5450452"/>
            <a:ext cx="1143495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400" i="0" u="none" strike="noStrike" dirty="0">
                <a:solidFill>
                  <a:schemeClr val="bg2">
                    <a:lumMod val="25000"/>
                  </a:schemeClr>
                </a:solidFill>
                <a:effectLst/>
                <a:latin typeface="Open Sans" panose="020B0606030504020204" pitchFamily="34" charset="0"/>
              </a:rPr>
              <a:t>En este caso, también utilizamos un único </a:t>
            </a:r>
            <a:r>
              <a:rPr lang="es-AR" sz="2400" i="0" u="none" strike="noStrike" dirty="0" err="1">
                <a:solidFill>
                  <a:schemeClr val="bg2">
                    <a:lumMod val="25000"/>
                  </a:schemeClr>
                </a:solidFill>
                <a:effectLst/>
                <a:latin typeface="Open Sans" panose="020B0606030504020204" pitchFamily="34" charset="0"/>
              </a:rPr>
              <a:t>for</a:t>
            </a:r>
            <a:r>
              <a:rPr lang="es-AR" sz="2400" i="0" u="none" strike="noStrike" dirty="0">
                <a:solidFill>
                  <a:schemeClr val="bg2">
                    <a:lumMod val="25000"/>
                  </a:schemeClr>
                </a:solidFill>
                <a:effectLst/>
                <a:latin typeface="Open Sans" panose="020B0606030504020204" pitchFamily="34" charset="0"/>
              </a:rPr>
              <a:t>, pero fijamos la columna, por tener cantidad de elementos par —0,1,2,3— elegimos 1 como elemento central, también podría haber sido 2.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37E8281A-7A16-CA1D-1629-4232ADA1B7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912" y="2717639"/>
            <a:ext cx="9169730" cy="2653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76978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E2EEF8A5-14B7-DEBB-4B7E-E5434E3293F2}"/>
              </a:ext>
            </a:extLst>
          </p:cNvPr>
          <p:cNvSpPr txBox="1">
            <a:spLocks/>
          </p:cNvSpPr>
          <p:nvPr/>
        </p:nvSpPr>
        <p:spPr>
          <a:xfrm>
            <a:off x="2298861" y="266596"/>
            <a:ext cx="7735787" cy="7540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3200" b="1" dirty="0">
                <a:solidFill>
                  <a:srgbClr val="B00055"/>
                </a:solidFill>
                <a:latin typeface="Verdana" panose="020B0604030504040204" pitchFamily="34" charset="0"/>
              </a:rPr>
              <a:t>Un Ciclo </a:t>
            </a:r>
            <a:r>
              <a:rPr lang="es-ES" sz="3200" b="1" dirty="0" err="1">
                <a:solidFill>
                  <a:srgbClr val="B00055"/>
                </a:solidFill>
                <a:latin typeface="Verdana" panose="020B0604030504040204" pitchFamily="34" charset="0"/>
              </a:rPr>
              <a:t>For</a:t>
            </a:r>
            <a:endParaRPr lang="es-ES" sz="3200" b="1" dirty="0">
              <a:solidFill>
                <a:srgbClr val="B00055"/>
              </a:solidFill>
              <a:latin typeface="Verdana" panose="020B0604030504040204" pitchFamily="34" charset="0"/>
            </a:endParaRPr>
          </a:p>
        </p:txBody>
      </p:sp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38E4A167-08A5-3479-9422-1E6A6083E5B9}"/>
              </a:ext>
            </a:extLst>
          </p:cNvPr>
          <p:cNvSpPr txBox="1">
            <a:spLocks/>
          </p:cNvSpPr>
          <p:nvPr/>
        </p:nvSpPr>
        <p:spPr>
          <a:xfrm>
            <a:off x="624439" y="1154551"/>
            <a:ext cx="11084629" cy="8523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endParaRPr lang="es-AR" sz="800" b="1" i="0" u="none" strike="noStrike" dirty="0">
              <a:solidFill>
                <a:schemeClr val="accent2"/>
              </a:solidFill>
              <a:effectLst/>
              <a:latin typeface="Open Sans" panose="020B0606030504020204" pitchFamily="34" charset="0"/>
            </a:endParaRPr>
          </a:p>
          <a:p>
            <a:pPr marL="0" indent="0" algn="ctr">
              <a:spcBef>
                <a:spcPts val="600"/>
              </a:spcBef>
              <a:buNone/>
            </a:pPr>
            <a:r>
              <a:rPr lang="es-AR" sz="2400" i="0" u="none" strike="noStrike" dirty="0">
                <a:solidFill>
                  <a:schemeClr val="bg2">
                    <a:lumMod val="25000"/>
                  </a:schemeClr>
                </a:solidFill>
                <a:effectLst/>
                <a:highlight>
                  <a:srgbClr val="FFFF00"/>
                </a:highlight>
                <a:latin typeface="Open Sans" panose="020B0606030504020204" pitchFamily="34" charset="0"/>
              </a:rPr>
              <a:t>¿Qué podemos hacer utilizando solo un ciclo </a:t>
            </a:r>
            <a:r>
              <a:rPr lang="es-AR" sz="2400" dirty="0" err="1">
                <a:solidFill>
                  <a:schemeClr val="bg2">
                    <a:lumMod val="25000"/>
                  </a:schemeClr>
                </a:solidFill>
                <a:highlight>
                  <a:srgbClr val="FFFF00"/>
                </a:highlight>
                <a:latin typeface="Open Sans" panose="020B0606030504020204" pitchFamily="34" charset="0"/>
              </a:rPr>
              <a:t>F</a:t>
            </a:r>
            <a:r>
              <a:rPr lang="es-AR" sz="2400" i="0" u="none" strike="noStrike" dirty="0" err="1">
                <a:solidFill>
                  <a:schemeClr val="bg2">
                    <a:lumMod val="25000"/>
                  </a:schemeClr>
                </a:solidFill>
                <a:effectLst/>
                <a:highlight>
                  <a:srgbClr val="FFFF00"/>
                </a:highlight>
                <a:latin typeface="Open Sans" panose="020B0606030504020204" pitchFamily="34" charset="0"/>
              </a:rPr>
              <a:t>or</a:t>
            </a:r>
            <a:r>
              <a:rPr lang="es-AR" sz="2400" i="0" u="none" strike="noStrike" dirty="0">
                <a:solidFill>
                  <a:schemeClr val="bg2">
                    <a:lumMod val="25000"/>
                  </a:schemeClr>
                </a:solidFill>
                <a:effectLst/>
                <a:highlight>
                  <a:srgbClr val="FFFF00"/>
                </a:highlight>
                <a:latin typeface="Open Sans" panose="020B0606030504020204" pitchFamily="34" charset="0"/>
              </a:rPr>
              <a:t> en una matriz?</a:t>
            </a:r>
          </a:p>
          <a:p>
            <a:pPr marL="0" indent="0">
              <a:spcBef>
                <a:spcPts val="600"/>
              </a:spcBef>
              <a:buNone/>
            </a:pPr>
            <a:endParaRPr lang="es-AR" sz="900" i="0" u="none" strike="noStrike" dirty="0">
              <a:solidFill>
                <a:schemeClr val="bg2">
                  <a:lumMod val="25000"/>
                </a:schemeClr>
              </a:solidFill>
              <a:effectLst/>
              <a:highlight>
                <a:srgbClr val="FFFF00"/>
              </a:highlight>
              <a:latin typeface="Open Sans" panose="020B0606030504020204" pitchFamily="34" charset="0"/>
            </a:endParaRPr>
          </a:p>
          <a:p>
            <a:pPr marL="0" indent="0">
              <a:spcBef>
                <a:spcPts val="600"/>
              </a:spcBef>
              <a:buNone/>
            </a:pPr>
            <a:endParaRPr lang="es-AR" sz="2400" i="0" u="none" strike="noStrike" dirty="0">
              <a:solidFill>
                <a:schemeClr val="bg2">
                  <a:lumMod val="25000"/>
                </a:schemeClr>
              </a:solidFill>
              <a:effectLst/>
              <a:highlight>
                <a:srgbClr val="FFFF00"/>
              </a:highlight>
              <a:latin typeface="Open Sans" panose="020B0606030504020204" pitchFamily="34" charset="0"/>
            </a:endParaRPr>
          </a:p>
          <a:p>
            <a:pPr marL="0" indent="0">
              <a:spcBef>
                <a:spcPts val="600"/>
              </a:spcBef>
              <a:buNone/>
            </a:pPr>
            <a:endParaRPr lang="es-AR" sz="2400" i="0" u="none" strike="noStrike" dirty="0">
              <a:solidFill>
                <a:schemeClr val="bg2">
                  <a:lumMod val="25000"/>
                </a:schemeClr>
              </a:solidFill>
              <a:effectLst/>
              <a:latin typeface="Open Sans" panose="020B0606030504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3FEC3A4-2E51-4133-C8C6-0253A23BBA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659" y="2140800"/>
            <a:ext cx="10019394" cy="4344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7810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0EBD4BB0-A941-F06D-1BC3-BC986C5D21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A26D3819-8427-ECFC-3EFF-0E82B68BB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89C0B770-FD61-05AF-F83C-CEC29EF007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09"/>
            <a:ext cx="12192000" cy="6846582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67A0ADED-D619-8402-3125-3D3D79B537D7}"/>
              </a:ext>
            </a:extLst>
          </p:cNvPr>
          <p:cNvSpPr txBox="1"/>
          <p:nvPr/>
        </p:nvSpPr>
        <p:spPr>
          <a:xfrm>
            <a:off x="2998024" y="2536992"/>
            <a:ext cx="632559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7200" b="1" dirty="0">
                <a:solidFill>
                  <a:schemeClr val="bg1"/>
                </a:solidFill>
                <a:latin typeface="Verdana" panose="020B0604030504040204" pitchFamily="34" charset="0"/>
              </a:rPr>
              <a:t>Dos </a:t>
            </a:r>
            <a:r>
              <a:rPr lang="en-US" sz="7200" b="1" dirty="0" err="1">
                <a:solidFill>
                  <a:schemeClr val="bg1"/>
                </a:solidFill>
                <a:latin typeface="Verdana" panose="020B0604030504040204" pitchFamily="34" charset="0"/>
              </a:rPr>
              <a:t>Ciclos</a:t>
            </a:r>
            <a:r>
              <a:rPr lang="en-US" sz="7200" b="1" dirty="0">
                <a:solidFill>
                  <a:schemeClr val="bg1"/>
                </a:solidFill>
                <a:latin typeface="Verdana" panose="020B0604030504040204" pitchFamily="34" charset="0"/>
              </a:rPr>
              <a:t> For</a:t>
            </a:r>
            <a:endParaRPr lang="es-AR" sz="7200" b="1" dirty="0">
              <a:solidFill>
                <a:schemeClr val="bg1"/>
              </a:solidFill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273154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E2EEF8A5-14B7-DEBB-4B7E-E5434E3293F2}"/>
              </a:ext>
            </a:extLst>
          </p:cNvPr>
          <p:cNvSpPr txBox="1">
            <a:spLocks/>
          </p:cNvSpPr>
          <p:nvPr/>
        </p:nvSpPr>
        <p:spPr>
          <a:xfrm>
            <a:off x="2298861" y="266596"/>
            <a:ext cx="7735787" cy="7540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3200" b="1" dirty="0">
                <a:solidFill>
                  <a:srgbClr val="B00055"/>
                </a:solidFill>
                <a:latin typeface="Verdana" panose="020B0604030504040204" pitchFamily="34" charset="0"/>
              </a:rPr>
              <a:t>Dos Ciclos </a:t>
            </a:r>
            <a:r>
              <a:rPr lang="es-ES" sz="3200" b="1" dirty="0" err="1">
                <a:solidFill>
                  <a:srgbClr val="B00055"/>
                </a:solidFill>
                <a:latin typeface="Verdana" panose="020B0604030504040204" pitchFamily="34" charset="0"/>
              </a:rPr>
              <a:t>For</a:t>
            </a:r>
            <a:endParaRPr lang="es-ES" sz="3200" b="1" dirty="0">
              <a:solidFill>
                <a:srgbClr val="B00055"/>
              </a:solidFill>
              <a:latin typeface="Verdana" panose="020B0604030504040204" pitchFamily="34" charset="0"/>
            </a:endParaRPr>
          </a:p>
        </p:txBody>
      </p:sp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38E4A167-08A5-3479-9422-1E6A6083E5B9}"/>
              </a:ext>
            </a:extLst>
          </p:cNvPr>
          <p:cNvSpPr txBox="1">
            <a:spLocks/>
          </p:cNvSpPr>
          <p:nvPr/>
        </p:nvSpPr>
        <p:spPr>
          <a:xfrm>
            <a:off x="1264722" y="1445497"/>
            <a:ext cx="10064338" cy="51459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s-AR" sz="3200" i="0" u="none" strike="noStrike" dirty="0">
                <a:solidFill>
                  <a:schemeClr val="bg2">
                    <a:lumMod val="25000"/>
                  </a:schemeClr>
                </a:solidFill>
                <a:effectLst/>
                <a:latin typeface="Open Sans" panose="020B0606030504020204" pitchFamily="34" charset="0"/>
              </a:rPr>
              <a:t>Si utilizamos dos ciclos </a:t>
            </a:r>
            <a:r>
              <a:rPr lang="es-AR" sz="3200" i="0" u="none" strike="noStrike" dirty="0" err="1">
                <a:solidFill>
                  <a:schemeClr val="bg2">
                    <a:lumMod val="25000"/>
                  </a:schemeClr>
                </a:solidFill>
                <a:effectLst/>
                <a:latin typeface="Open Sans" panose="020B0606030504020204" pitchFamily="34" charset="0"/>
              </a:rPr>
              <a:t>for</a:t>
            </a:r>
            <a:r>
              <a:rPr lang="es-AR" sz="3200" i="0" u="none" strike="noStrike" dirty="0">
                <a:solidFill>
                  <a:schemeClr val="bg2">
                    <a:lumMod val="25000"/>
                  </a:schemeClr>
                </a:solidFill>
                <a:effectLst/>
                <a:latin typeface="Open Sans" panose="020B0606030504020204" pitchFamily="34" charset="0"/>
              </a:rPr>
              <a:t> podemos recorrer la matriz posición a posición, es decir, podemos </a:t>
            </a:r>
            <a:r>
              <a:rPr lang="es-AR" sz="3200" i="0" u="none" strike="noStrike" dirty="0">
                <a:solidFill>
                  <a:schemeClr val="bg2">
                    <a:lumMod val="25000"/>
                  </a:schemeClr>
                </a:solidFill>
                <a:effectLst/>
                <a:highlight>
                  <a:srgbClr val="FFFF00"/>
                </a:highlight>
                <a:latin typeface="Open Sans" panose="020B0606030504020204" pitchFamily="34" charset="0"/>
              </a:rPr>
              <a:t>recorrerla completa</a:t>
            </a:r>
            <a:r>
              <a:rPr lang="es-AR" sz="3200" i="0" u="none" strike="noStrike" dirty="0">
                <a:solidFill>
                  <a:schemeClr val="bg2">
                    <a:lumMod val="25000"/>
                  </a:schemeClr>
                </a:solidFill>
                <a:effectLst/>
                <a:latin typeface="Open Sans" panose="020B0606030504020204" pitchFamily="34" charset="0"/>
              </a:rPr>
              <a:t>, no solo una fila o una columna determinada.</a:t>
            </a:r>
          </a:p>
          <a:p>
            <a:pPr marL="0" indent="0">
              <a:spcBef>
                <a:spcPts val="600"/>
              </a:spcBef>
              <a:buNone/>
            </a:pPr>
            <a:endParaRPr lang="es-AR" sz="800" i="0" u="none" strike="noStrike" dirty="0">
              <a:solidFill>
                <a:schemeClr val="bg2">
                  <a:lumMod val="25000"/>
                </a:schemeClr>
              </a:solidFill>
              <a:effectLst/>
              <a:latin typeface="Open Sans" panose="020B0606030504020204" pitchFamily="34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s-AR" sz="3200" i="0" u="none" strike="noStrike" dirty="0">
                <a:solidFill>
                  <a:schemeClr val="bg2">
                    <a:lumMod val="25000"/>
                  </a:schemeClr>
                </a:solidFill>
                <a:effectLst/>
                <a:latin typeface="Open Sans" panose="020B0606030504020204" pitchFamily="34" charset="0"/>
              </a:rPr>
              <a:t>Pero vamos a tener que decidir si recorremos </a:t>
            </a:r>
            <a:r>
              <a:rPr lang="es-AR" sz="3200" i="0" u="none" strike="noStrike" dirty="0">
                <a:solidFill>
                  <a:schemeClr val="bg2">
                    <a:lumMod val="25000"/>
                  </a:schemeClr>
                </a:solidFill>
                <a:effectLst/>
                <a:highlight>
                  <a:srgbClr val="FFFF00"/>
                </a:highlight>
                <a:latin typeface="Open Sans" panose="020B0606030504020204" pitchFamily="34" charset="0"/>
              </a:rPr>
              <a:t>primero las filas </a:t>
            </a:r>
            <a:r>
              <a:rPr lang="es-AR" sz="3200" i="0" u="none" strike="noStrike" dirty="0">
                <a:solidFill>
                  <a:schemeClr val="bg2">
                    <a:lumMod val="25000"/>
                  </a:schemeClr>
                </a:solidFill>
                <a:effectLst/>
                <a:latin typeface="Open Sans" panose="020B0606030504020204" pitchFamily="34" charset="0"/>
              </a:rPr>
              <a:t>o las </a:t>
            </a:r>
            <a:r>
              <a:rPr lang="es-AR" sz="3200" i="0" u="none" strike="noStrike" dirty="0">
                <a:solidFill>
                  <a:schemeClr val="bg2">
                    <a:lumMod val="25000"/>
                  </a:schemeClr>
                </a:solidFill>
                <a:effectLst/>
                <a:highlight>
                  <a:srgbClr val="FFFF00"/>
                </a:highlight>
                <a:latin typeface="Open Sans" panose="020B0606030504020204" pitchFamily="34" charset="0"/>
              </a:rPr>
              <a:t>columnas</a:t>
            </a:r>
            <a:r>
              <a:rPr lang="es-AR" sz="3200" i="0" u="none" strike="noStrike" dirty="0">
                <a:solidFill>
                  <a:schemeClr val="bg2">
                    <a:lumMod val="25000"/>
                  </a:schemeClr>
                </a:solidFill>
                <a:effectLst/>
                <a:latin typeface="Open Sans" panose="020B0606030504020204" pitchFamily="34" charset="0"/>
              </a:rPr>
              <a:t>.</a:t>
            </a:r>
          </a:p>
          <a:p>
            <a:pPr marL="0" indent="0">
              <a:spcBef>
                <a:spcPts val="600"/>
              </a:spcBef>
              <a:buNone/>
            </a:pPr>
            <a:endParaRPr lang="es-AR" sz="800" i="0" u="none" strike="noStrike" dirty="0">
              <a:solidFill>
                <a:schemeClr val="bg2">
                  <a:lumMod val="25000"/>
                </a:schemeClr>
              </a:solidFill>
              <a:effectLst/>
              <a:latin typeface="Open Sans" panose="020B0606030504020204" pitchFamily="34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s-AR" sz="3200" i="0" u="none" strike="noStrike" dirty="0">
                <a:solidFill>
                  <a:schemeClr val="bg2">
                    <a:lumMod val="25000"/>
                  </a:schemeClr>
                </a:solidFill>
                <a:effectLst/>
                <a:latin typeface="Open Sans" panose="020B0606030504020204" pitchFamily="34" charset="0"/>
              </a:rPr>
              <a:t>Esto quiere decir, definir si queremos comprobar algo que ocurre en las filas o queremos comprobar algo que pasa en las columnas. </a:t>
            </a:r>
          </a:p>
        </p:txBody>
      </p:sp>
    </p:spTree>
    <p:extLst>
      <p:ext uri="{BB962C8B-B14F-4D97-AF65-F5344CB8AC3E}">
        <p14:creationId xmlns:p14="http://schemas.microsoft.com/office/powerpoint/2010/main" val="13321633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0EBD4BB0-A941-F06D-1BC3-BC986C5D21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A26D3819-8427-ECFC-3EFF-0E82B68BB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89C0B770-FD61-05AF-F83C-CEC29EF007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09"/>
            <a:ext cx="12192000" cy="6846582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67A0ADED-D619-8402-3125-3D3D79B537D7}"/>
              </a:ext>
            </a:extLst>
          </p:cNvPr>
          <p:cNvSpPr txBox="1"/>
          <p:nvPr/>
        </p:nvSpPr>
        <p:spPr>
          <a:xfrm>
            <a:off x="2980211" y="2228233"/>
            <a:ext cx="632559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7200" b="1" dirty="0" err="1">
                <a:solidFill>
                  <a:schemeClr val="bg1"/>
                </a:solidFill>
                <a:latin typeface="Verdana" panose="020B0604030504040204" pitchFamily="34" charset="0"/>
              </a:rPr>
              <a:t>Recorrer</a:t>
            </a:r>
            <a:r>
              <a:rPr lang="en-US" sz="7200" b="1" dirty="0">
                <a:solidFill>
                  <a:schemeClr val="bg1"/>
                </a:solidFill>
                <a:latin typeface="Verdana" panose="020B0604030504040204" pitchFamily="34" charset="0"/>
              </a:rPr>
              <a:t> </a:t>
            </a:r>
            <a:r>
              <a:rPr lang="en-US" sz="7200" b="1" dirty="0" err="1">
                <a:solidFill>
                  <a:schemeClr val="bg1"/>
                </a:solidFill>
                <a:latin typeface="Verdana" panose="020B0604030504040204" pitchFamily="34" charset="0"/>
              </a:rPr>
              <a:t>por</a:t>
            </a:r>
            <a:r>
              <a:rPr lang="en-US" sz="7200" b="1" dirty="0">
                <a:solidFill>
                  <a:schemeClr val="bg1"/>
                </a:solidFill>
                <a:latin typeface="Verdana" panose="020B0604030504040204" pitchFamily="34" charset="0"/>
              </a:rPr>
              <a:t> Fila</a:t>
            </a:r>
            <a:endParaRPr lang="es-AR" sz="7200" b="1" dirty="0">
              <a:solidFill>
                <a:schemeClr val="bg1"/>
              </a:solidFill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293273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E2EEF8A5-14B7-DEBB-4B7E-E5434E3293F2}"/>
              </a:ext>
            </a:extLst>
          </p:cNvPr>
          <p:cNvSpPr txBox="1">
            <a:spLocks/>
          </p:cNvSpPr>
          <p:nvPr/>
        </p:nvSpPr>
        <p:spPr>
          <a:xfrm>
            <a:off x="2298861" y="266596"/>
            <a:ext cx="7735787" cy="7540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3200" b="1" dirty="0">
                <a:solidFill>
                  <a:srgbClr val="B00055"/>
                </a:solidFill>
                <a:latin typeface="Verdana" panose="020B0604030504040204" pitchFamily="34" charset="0"/>
              </a:rPr>
              <a:t>Dos Ciclos </a:t>
            </a:r>
            <a:r>
              <a:rPr lang="es-ES" sz="3200" b="1" dirty="0" err="1">
                <a:solidFill>
                  <a:srgbClr val="B00055"/>
                </a:solidFill>
                <a:latin typeface="Verdana" panose="020B0604030504040204" pitchFamily="34" charset="0"/>
              </a:rPr>
              <a:t>For</a:t>
            </a:r>
            <a:endParaRPr lang="es-ES" sz="3200" b="1" dirty="0">
              <a:solidFill>
                <a:srgbClr val="B00055"/>
              </a:solidFill>
              <a:latin typeface="Verdana" panose="020B0604030504040204" pitchFamily="34" charset="0"/>
            </a:endParaRPr>
          </a:p>
        </p:txBody>
      </p:sp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38E4A167-08A5-3479-9422-1E6A6083E5B9}"/>
              </a:ext>
            </a:extLst>
          </p:cNvPr>
          <p:cNvSpPr txBox="1">
            <a:spLocks/>
          </p:cNvSpPr>
          <p:nvPr/>
        </p:nvSpPr>
        <p:spPr>
          <a:xfrm>
            <a:off x="499750" y="1162354"/>
            <a:ext cx="11084629" cy="19389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s-AR" b="1" i="0" u="none" strike="noStrike" dirty="0">
                <a:solidFill>
                  <a:schemeClr val="accent2"/>
                </a:solidFill>
                <a:effectLst/>
                <a:latin typeface="Open Sans" panose="020B0606030504020204" pitchFamily="34" charset="0"/>
              </a:rPr>
              <a:t>Recorrer por fila</a:t>
            </a:r>
          </a:p>
          <a:p>
            <a:pPr marL="0" indent="0">
              <a:spcBef>
                <a:spcPts val="600"/>
              </a:spcBef>
              <a:buNone/>
            </a:pPr>
            <a:endParaRPr lang="es-AR" sz="800" i="0" u="none" strike="noStrike" dirty="0">
              <a:solidFill>
                <a:schemeClr val="bg2">
                  <a:lumMod val="25000"/>
                </a:schemeClr>
              </a:solidFill>
              <a:effectLst/>
              <a:latin typeface="Open Sans" panose="020B0606030504020204" pitchFamily="34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s-AR" sz="2400" i="0" u="none" strike="noStrike" dirty="0">
                <a:solidFill>
                  <a:schemeClr val="bg2">
                    <a:lumMod val="25000"/>
                  </a:schemeClr>
                </a:solidFill>
                <a:effectLst/>
                <a:latin typeface="Open Sans" panose="020B0606030504020204" pitchFamily="34" charset="0"/>
              </a:rPr>
              <a:t>Para nuestra matriz de ejemplo queremos ver las filas que tengan butacas libre.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s-AR" sz="2400" i="0" u="none" strike="noStrike" dirty="0">
                <a:solidFill>
                  <a:schemeClr val="bg2">
                    <a:lumMod val="25000"/>
                  </a:schemeClr>
                </a:solidFill>
                <a:effectLst/>
                <a:latin typeface="Open Sans" panose="020B0606030504020204" pitchFamily="34" charset="0"/>
              </a:rPr>
              <a:t>Veamos primero qué quiere decir esto.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DC0788B-7888-87D1-19F9-D63953B940A2}"/>
              </a:ext>
            </a:extLst>
          </p:cNvPr>
          <p:cNvSpPr txBox="1"/>
          <p:nvPr/>
        </p:nvSpPr>
        <p:spPr>
          <a:xfrm>
            <a:off x="7950529" y="3542139"/>
            <a:ext cx="390104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400" i="0" u="none" strike="noStrike" dirty="0">
                <a:solidFill>
                  <a:schemeClr val="bg2">
                    <a:lumMod val="25000"/>
                  </a:schemeClr>
                </a:solidFill>
                <a:effectLst/>
                <a:latin typeface="Open Sans" panose="020B0606030504020204" pitchFamily="34" charset="0"/>
              </a:rPr>
              <a:t>Vamos a tener que comprobar </a:t>
            </a:r>
            <a:r>
              <a:rPr lang="es-AR" sz="2400" i="0" u="none" strike="noStrike" dirty="0">
                <a:solidFill>
                  <a:schemeClr val="bg2">
                    <a:lumMod val="25000"/>
                  </a:schemeClr>
                </a:solidFill>
                <a:effectLst/>
                <a:highlight>
                  <a:srgbClr val="FFFF00"/>
                </a:highlight>
                <a:latin typeface="Open Sans" panose="020B0606030504020204" pitchFamily="34" charset="0"/>
              </a:rPr>
              <a:t>para cada fila </a:t>
            </a:r>
            <a:r>
              <a:rPr lang="es-AR" sz="2400" i="0" u="none" strike="noStrike" dirty="0">
                <a:solidFill>
                  <a:schemeClr val="bg2">
                    <a:lumMod val="25000"/>
                  </a:schemeClr>
                </a:solidFill>
                <a:effectLst/>
                <a:latin typeface="Open Sans" panose="020B0606030504020204" pitchFamily="34" charset="0"/>
              </a:rPr>
              <a:t>si tiene butacas libres.</a:t>
            </a:r>
          </a:p>
          <a:p>
            <a:endParaRPr lang="es-AR" sz="2400" i="0" u="none" strike="noStrike" dirty="0">
              <a:solidFill>
                <a:schemeClr val="bg2">
                  <a:lumMod val="25000"/>
                </a:schemeClr>
              </a:solidFill>
              <a:effectLst/>
              <a:latin typeface="Open Sans" panose="020B0606030504020204" pitchFamily="34" charset="0"/>
            </a:endParaRPr>
          </a:p>
          <a:p>
            <a:r>
              <a:rPr lang="es-AR" sz="2400" i="0" u="none" strike="noStrike" dirty="0">
                <a:solidFill>
                  <a:schemeClr val="bg2">
                    <a:lumMod val="25000"/>
                  </a:schemeClr>
                </a:solidFill>
                <a:effectLst/>
                <a:latin typeface="Open Sans" panose="020B0606030504020204" pitchFamily="34" charset="0"/>
              </a:rPr>
              <a:t>El resultado debería ser fila 0, fila 1, fila 2, fila 4.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88357B3-DB66-F95B-50D8-A8D39265B1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750" y="3108690"/>
            <a:ext cx="7102562" cy="3311727"/>
          </a:xfrm>
          <a:prstGeom prst="rect">
            <a:avLst/>
          </a:prstGeom>
        </p:spPr>
      </p:pic>
      <p:sp>
        <p:nvSpPr>
          <p:cNvPr id="8" name="Bocadillo: rectángulo con esquinas redondeadas 7">
            <a:extLst>
              <a:ext uri="{FF2B5EF4-FFF2-40B4-BE49-F238E27FC236}">
                <a16:creationId xmlns:a16="http://schemas.microsoft.com/office/drawing/2014/main" id="{A49B025C-6381-6070-FB8C-3A24FF223C94}"/>
              </a:ext>
            </a:extLst>
          </p:cNvPr>
          <p:cNvSpPr/>
          <p:nvPr/>
        </p:nvSpPr>
        <p:spPr>
          <a:xfrm>
            <a:off x="7822869" y="3342903"/>
            <a:ext cx="4156364" cy="2749138"/>
          </a:xfrm>
          <a:prstGeom prst="wedgeRoundRectCallou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2755149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E2EEF8A5-14B7-DEBB-4B7E-E5434E3293F2}"/>
              </a:ext>
            </a:extLst>
          </p:cNvPr>
          <p:cNvSpPr txBox="1">
            <a:spLocks/>
          </p:cNvSpPr>
          <p:nvPr/>
        </p:nvSpPr>
        <p:spPr>
          <a:xfrm>
            <a:off x="2298861" y="266596"/>
            <a:ext cx="7735787" cy="7540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3200" b="1" dirty="0">
                <a:solidFill>
                  <a:srgbClr val="B00055"/>
                </a:solidFill>
                <a:latin typeface="Verdana" panose="020B0604030504040204" pitchFamily="34" charset="0"/>
              </a:rPr>
              <a:t>Dos Ciclos </a:t>
            </a:r>
            <a:r>
              <a:rPr lang="es-ES" sz="3200" b="1" dirty="0" err="1">
                <a:solidFill>
                  <a:srgbClr val="B00055"/>
                </a:solidFill>
                <a:latin typeface="Verdana" panose="020B0604030504040204" pitchFamily="34" charset="0"/>
              </a:rPr>
              <a:t>For</a:t>
            </a:r>
            <a:endParaRPr lang="es-ES" sz="3200" b="1" dirty="0">
              <a:solidFill>
                <a:srgbClr val="B00055"/>
              </a:solidFill>
              <a:latin typeface="Verdana" panose="020B0604030504040204" pitchFamily="34" charset="0"/>
            </a:endParaRPr>
          </a:p>
        </p:txBody>
      </p:sp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38E4A167-08A5-3479-9422-1E6A6083E5B9}"/>
              </a:ext>
            </a:extLst>
          </p:cNvPr>
          <p:cNvSpPr txBox="1">
            <a:spLocks/>
          </p:cNvSpPr>
          <p:nvPr/>
        </p:nvSpPr>
        <p:spPr>
          <a:xfrm>
            <a:off x="499750" y="1020680"/>
            <a:ext cx="11084629" cy="19389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s-AR" b="1" i="0" u="none" strike="noStrike" dirty="0">
                <a:solidFill>
                  <a:schemeClr val="accent2"/>
                </a:solidFill>
                <a:effectLst/>
                <a:latin typeface="Open Sans" panose="020B0606030504020204" pitchFamily="34" charset="0"/>
              </a:rPr>
              <a:t>Recorrer por Columna</a:t>
            </a:r>
          </a:p>
          <a:p>
            <a:pPr marL="0" indent="0">
              <a:spcBef>
                <a:spcPts val="600"/>
              </a:spcBef>
              <a:buNone/>
            </a:pPr>
            <a:endParaRPr lang="es-AR" sz="800" i="0" u="none" strike="noStrike" dirty="0">
              <a:solidFill>
                <a:schemeClr val="bg2">
                  <a:lumMod val="25000"/>
                </a:schemeClr>
              </a:solidFill>
              <a:effectLst/>
              <a:latin typeface="Open Sans" panose="020B0606030504020204" pitchFamily="34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s-AR" sz="2400" i="0" u="none" strike="noStrike" dirty="0">
                <a:solidFill>
                  <a:schemeClr val="bg2">
                    <a:lumMod val="25000"/>
                  </a:schemeClr>
                </a:solidFill>
                <a:effectLst/>
                <a:latin typeface="Open Sans" panose="020B0606030504020204" pitchFamily="34" charset="0"/>
              </a:rPr>
              <a:t>Recorremos la matriz con dos </a:t>
            </a:r>
            <a:r>
              <a:rPr lang="es-AR" sz="2400" i="0" u="none" strike="noStrike" dirty="0" err="1">
                <a:solidFill>
                  <a:schemeClr val="bg2">
                    <a:lumMod val="25000"/>
                  </a:schemeClr>
                </a:solidFill>
                <a:effectLst/>
                <a:latin typeface="Open Sans" panose="020B0606030504020204" pitchFamily="34" charset="0"/>
              </a:rPr>
              <a:t>for</a:t>
            </a:r>
            <a:r>
              <a:rPr lang="es-AR" sz="2400" i="0" u="none" strike="noStrike" dirty="0">
                <a:solidFill>
                  <a:schemeClr val="bg2">
                    <a:lumMod val="25000"/>
                  </a:schemeClr>
                </a:solidFill>
                <a:effectLst/>
                <a:latin typeface="Open Sans" panose="020B0606030504020204" pitchFamily="34" charset="0"/>
              </a:rPr>
              <a:t>: el primero recorre cada columna y el segundo cada elemento de la columna.</a:t>
            </a:r>
          </a:p>
        </p:txBody>
      </p:sp>
      <p:sp>
        <p:nvSpPr>
          <p:cNvPr id="6" name="Bocadillo: rectángulo con esquinas redondeadas 5">
            <a:extLst>
              <a:ext uri="{FF2B5EF4-FFF2-40B4-BE49-F238E27FC236}">
                <a16:creationId xmlns:a16="http://schemas.microsoft.com/office/drawing/2014/main" id="{E326DFBA-06D8-F70A-3144-0000B766866A}"/>
              </a:ext>
            </a:extLst>
          </p:cNvPr>
          <p:cNvSpPr/>
          <p:nvPr/>
        </p:nvSpPr>
        <p:spPr>
          <a:xfrm>
            <a:off x="9066810" y="2838202"/>
            <a:ext cx="3054927" cy="3048403"/>
          </a:xfrm>
          <a:prstGeom prst="wedgeRoundRectCallout">
            <a:avLst>
              <a:gd name="adj1" fmla="val -40833"/>
              <a:gd name="adj2" fmla="val 62977"/>
              <a:gd name="adj3" fmla="val 16667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s-AR" sz="1600" b="0" i="0" u="none" strike="noStrike" dirty="0">
                <a:solidFill>
                  <a:schemeClr val="tx1"/>
                </a:solidFill>
                <a:effectLst/>
                <a:latin typeface="Rubik"/>
              </a:rPr>
              <a:t>Para recorrer por columnas debemos posicionarnos en cada columna y recorrerla completa. 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s-AR" sz="1600" b="0" i="0" u="none" strike="noStrike" dirty="0">
                <a:solidFill>
                  <a:schemeClr val="tx1"/>
                </a:solidFill>
                <a:effectLst/>
                <a:latin typeface="Rubik"/>
              </a:rPr>
              <a:t>Para saber cuántas columnas tenemos, medimos alguna fila de la matriz, por ejemplo la fila 0 </a:t>
            </a:r>
            <a:r>
              <a:rPr lang="es-AR" sz="1600" b="1" u="none" strike="noStrike" dirty="0">
                <a:solidFill>
                  <a:schemeClr val="tx1"/>
                </a:solidFill>
                <a:effectLst/>
                <a:latin typeface="Rubik"/>
              </a:rPr>
              <a:t>matriz[0].</a:t>
            </a:r>
            <a:r>
              <a:rPr lang="es-AR" sz="1600" b="1" u="none" strike="noStrike" dirty="0" err="1">
                <a:solidFill>
                  <a:schemeClr val="tx1"/>
                </a:solidFill>
                <a:effectLst/>
                <a:latin typeface="Rubik"/>
              </a:rPr>
              <a:t>length</a:t>
            </a:r>
            <a:r>
              <a:rPr lang="es-AR" sz="1600" b="1" u="none" strike="noStrike" dirty="0">
                <a:solidFill>
                  <a:schemeClr val="tx1"/>
                </a:solidFill>
                <a:effectLst/>
                <a:latin typeface="Rubik"/>
              </a:rPr>
              <a:t> </a:t>
            </a:r>
            <a:r>
              <a:rPr lang="es-AR" sz="1600" b="0" i="0" u="none" strike="noStrike" dirty="0">
                <a:solidFill>
                  <a:schemeClr val="tx1"/>
                </a:solidFill>
                <a:effectLst/>
                <a:latin typeface="Rubik"/>
              </a:rPr>
              <a:t>o </a:t>
            </a:r>
            <a:r>
              <a:rPr lang="es-AR" sz="1600" b="1" i="0" u="none" strike="noStrike" dirty="0">
                <a:solidFill>
                  <a:schemeClr val="tx1"/>
                </a:solidFill>
                <a:effectLst/>
                <a:latin typeface="Rubik"/>
              </a:rPr>
              <a:t>matriz[i].</a:t>
            </a:r>
            <a:r>
              <a:rPr lang="es-AR" sz="1600" b="1" i="0" u="none" strike="noStrike" dirty="0" err="1">
                <a:solidFill>
                  <a:schemeClr val="tx1"/>
                </a:solidFill>
                <a:effectLst/>
                <a:latin typeface="Rubik"/>
              </a:rPr>
              <a:t>length</a:t>
            </a:r>
            <a:r>
              <a:rPr lang="es-AR" sz="1600" b="0" i="0" u="none" strike="noStrike" dirty="0">
                <a:solidFill>
                  <a:schemeClr val="tx1"/>
                </a:solidFill>
                <a:effectLst/>
                <a:latin typeface="Rubik"/>
              </a:rPr>
              <a:t>, si i tiene el valor de una fila.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39D3ED8F-D144-9F36-85A7-A5705AC162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083" y="2474199"/>
            <a:ext cx="8312727" cy="4117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05919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E2EEF8A5-14B7-DEBB-4B7E-E5434E3293F2}"/>
              </a:ext>
            </a:extLst>
          </p:cNvPr>
          <p:cNvSpPr txBox="1">
            <a:spLocks/>
          </p:cNvSpPr>
          <p:nvPr/>
        </p:nvSpPr>
        <p:spPr>
          <a:xfrm>
            <a:off x="2298861" y="266596"/>
            <a:ext cx="7735787" cy="7540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3200" b="1" dirty="0">
                <a:solidFill>
                  <a:srgbClr val="B00055"/>
                </a:solidFill>
                <a:latin typeface="Verdana" panose="020B0604030504040204" pitchFamily="34" charset="0"/>
              </a:rPr>
              <a:t>Recorrer una matriz</a:t>
            </a:r>
          </a:p>
        </p:txBody>
      </p:sp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38E4A167-08A5-3479-9422-1E6A6083E5B9}"/>
              </a:ext>
            </a:extLst>
          </p:cNvPr>
          <p:cNvSpPr txBox="1">
            <a:spLocks/>
          </p:cNvSpPr>
          <p:nvPr/>
        </p:nvSpPr>
        <p:spPr>
          <a:xfrm>
            <a:off x="511625" y="1364234"/>
            <a:ext cx="11084629" cy="19389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s-AR" b="1" dirty="0">
                <a:solidFill>
                  <a:schemeClr val="accent2"/>
                </a:solidFill>
                <a:latin typeface="Open Sans" panose="020B0606030504020204" pitchFamily="34" charset="0"/>
              </a:rPr>
              <a:t>RECUERDEN QUE…</a:t>
            </a:r>
            <a:endParaRPr lang="es-AR" b="1" i="0" u="none" strike="noStrike" dirty="0">
              <a:solidFill>
                <a:schemeClr val="accent2"/>
              </a:solidFill>
              <a:effectLst/>
              <a:latin typeface="Open Sans" panose="020B0606030504020204" pitchFamily="34" charset="0"/>
            </a:endParaRPr>
          </a:p>
          <a:p>
            <a:pPr marL="0" indent="0">
              <a:spcBef>
                <a:spcPts val="600"/>
              </a:spcBef>
              <a:buNone/>
            </a:pPr>
            <a:endParaRPr lang="es-AR" sz="800" i="0" u="none" strike="noStrike" dirty="0">
              <a:solidFill>
                <a:schemeClr val="bg2">
                  <a:lumMod val="25000"/>
                </a:schemeClr>
              </a:solidFill>
              <a:effectLst/>
              <a:latin typeface="Open Sans" panose="020B0606030504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F4C646B-B9C5-6D9D-706B-E0898D066C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9611" y="2131839"/>
            <a:ext cx="6915037" cy="4085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30540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0EBD4BB0-A941-F06D-1BC3-BC986C5D21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A26D3819-8427-ECFC-3EFF-0E82B68BB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89C0B770-FD61-05AF-F83C-CEC29EF007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09"/>
            <a:ext cx="12192000" cy="6846582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67A0ADED-D619-8402-3125-3D3D79B537D7}"/>
              </a:ext>
            </a:extLst>
          </p:cNvPr>
          <p:cNvSpPr txBox="1"/>
          <p:nvPr/>
        </p:nvSpPr>
        <p:spPr>
          <a:xfrm>
            <a:off x="4297878" y="1690688"/>
            <a:ext cx="747502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6000" b="1" dirty="0">
                <a:solidFill>
                  <a:schemeClr val="bg1"/>
                </a:solidFill>
                <a:latin typeface="Verdana" panose="020B0604030504040204" pitchFamily="34" charset="0"/>
              </a:rPr>
              <a:t>Momento de poner a prueba lo aprendido!</a:t>
            </a:r>
          </a:p>
        </p:txBody>
      </p:sp>
      <p:pic>
        <p:nvPicPr>
          <p:cNvPr id="1028" name="Picture 4" descr="Diseño PNG Y SVG De Chica Con Personaje De Computadora Chica Para Camisetas">
            <a:extLst>
              <a:ext uri="{FF2B5EF4-FFF2-40B4-BE49-F238E27FC236}">
                <a16:creationId xmlns:a16="http://schemas.microsoft.com/office/drawing/2014/main" id="{CD34D88C-A898-2F46-0DEA-24E567FC45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420" y="1825625"/>
            <a:ext cx="4876800" cy="487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615061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7608</TotalTime>
  <Words>1798</Words>
  <Application>Microsoft Office PowerPoint</Application>
  <PresentationFormat>Panorámica</PresentationFormat>
  <Paragraphs>244</Paragraphs>
  <Slides>55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55</vt:i4>
      </vt:variant>
    </vt:vector>
  </HeadingPairs>
  <TitlesOfParts>
    <vt:vector size="63" baseType="lpstr">
      <vt:lpstr>Aptos</vt:lpstr>
      <vt:lpstr>Aptos Display</vt:lpstr>
      <vt:lpstr>Arial</vt:lpstr>
      <vt:lpstr>Open Sans</vt:lpstr>
      <vt:lpstr>Rubik</vt:lpstr>
      <vt:lpstr>Saira</vt:lpstr>
      <vt:lpstr>Verdana</vt:lpstr>
      <vt:lpstr>Tema de Office</vt:lpstr>
      <vt:lpstr>Presentación de PowerPoint</vt:lpstr>
      <vt:lpstr>Índice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Franco Ojeda</dc:creator>
  <cp:lastModifiedBy>Franco Ojeda</cp:lastModifiedBy>
  <cp:revision>31</cp:revision>
  <dcterms:created xsi:type="dcterms:W3CDTF">2024-06-06T18:16:04Z</dcterms:created>
  <dcterms:modified xsi:type="dcterms:W3CDTF">2024-11-14T01:11:59Z</dcterms:modified>
</cp:coreProperties>
</file>