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9"/>
  </p:notesMasterIdLst>
  <p:sldIdLst>
    <p:sldId id="262" r:id="rId2"/>
    <p:sldId id="280" r:id="rId3"/>
    <p:sldId id="278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305" r:id="rId28"/>
    <p:sldId id="306" r:id="rId29"/>
    <p:sldId id="307" r:id="rId30"/>
    <p:sldId id="308" r:id="rId31"/>
    <p:sldId id="309" r:id="rId32"/>
    <p:sldId id="310" r:id="rId33"/>
    <p:sldId id="311" r:id="rId34"/>
    <p:sldId id="267" r:id="rId35"/>
    <p:sldId id="312" r:id="rId36"/>
    <p:sldId id="268" r:id="rId37"/>
    <p:sldId id="313" r:id="rId38"/>
  </p:sldIdLst>
  <p:sldSz cx="9144000" cy="5143500" type="screen16x9"/>
  <p:notesSz cx="6858000" cy="9144000"/>
  <p:embeddedFontLst>
    <p:embeddedFont>
      <p:font typeface="Lato" panose="020F0502020204030203" pitchFamily="34" charset="0"/>
      <p:regular r:id="rId40"/>
      <p:bold r:id="rId41"/>
      <p:italic r:id="rId42"/>
      <p:boldItalic r:id="rId43"/>
    </p:embeddedFont>
    <p:embeddedFont>
      <p:font typeface="Russo One" panose="020B0604020202020204" charset="0"/>
      <p:regular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ernardita Bauque" initials="" lastIdx="4" clrIdx="0"/>
  <p:cmAuthor id="1" name="catalina llarin" initials="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718CB89-29BF-476F-BAC4-F03CFA606FF7}">
  <a:tblStyle styleId="{B718CB89-29BF-476F-BAC4-F03CFA606FF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D083AE6-46FA-4A59-8FB0-9F97EB10719F}" styleName="Estilo claro 3 - Acento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d6070746ec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d6070746ec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3112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2565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9669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86005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06516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8604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62670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90595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22280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24585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19815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25055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50466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66957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00188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81284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04991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0223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87087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23035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96106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3331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79429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20224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18744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5814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87912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013411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25636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770484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394365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726213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d6070746ec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d6070746ec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465538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d6070746ec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d6070746ec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9602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9875" y="-4950"/>
            <a:ext cx="9153900" cy="770700"/>
            <a:chOff x="-9875" y="-4950"/>
            <a:chExt cx="9153900" cy="770700"/>
          </a:xfrm>
        </p:grpSpPr>
        <p:sp>
          <p:nvSpPr>
            <p:cNvPr id="51" name="Google Shape;51;p12"/>
            <p:cNvSpPr/>
            <p:nvPr/>
          </p:nvSpPr>
          <p:spPr>
            <a:xfrm>
              <a:off x="-9875" y="-4950"/>
              <a:ext cx="9153900" cy="770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2" name="Google Shape;5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712025" y="109800"/>
              <a:ext cx="1048575" cy="54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da-IT/ejercicios-frontend/blob/master/modulo-1/ejercicios/08-html-semantico.md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>
            <a:spLocks noGrp="1"/>
          </p:cNvSpPr>
          <p:nvPr>
            <p:ph type="body" idx="4294967295"/>
          </p:nvPr>
        </p:nvSpPr>
        <p:spPr>
          <a:xfrm>
            <a:off x="484909" y="1320657"/>
            <a:ext cx="4759325" cy="22621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 err="1">
                <a:solidFill>
                  <a:srgbClr val="CD0055"/>
                </a:solidFill>
                <a:latin typeface="Russo One"/>
                <a:ea typeface="Russo One"/>
                <a:cs typeface="Russo One"/>
                <a:sym typeface="Russo One"/>
              </a:rPr>
              <a:t>Clase</a:t>
            </a:r>
            <a:r>
              <a:rPr lang="en-US" sz="4400" b="1" dirty="0">
                <a:solidFill>
                  <a:srgbClr val="CD0055"/>
                </a:solidFill>
                <a:latin typeface="Russo One"/>
                <a:ea typeface="Russo One"/>
                <a:cs typeface="Russo One"/>
                <a:sym typeface="Russo One"/>
              </a:rPr>
              <a:t> 3: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rgbClr val="CD0055"/>
                </a:solidFill>
                <a:latin typeface="Russo One"/>
                <a:ea typeface="Russo One"/>
                <a:cs typeface="Russo One"/>
                <a:sym typeface="Russo One"/>
              </a:rPr>
              <a:t>HTML Avanzado</a:t>
            </a:r>
            <a:endParaRPr sz="4400" b="1" dirty="0">
              <a:solidFill>
                <a:srgbClr val="CD0055"/>
              </a:solidFill>
              <a:latin typeface="Russo One"/>
              <a:ea typeface="Russo One"/>
              <a:cs typeface="Russo One"/>
              <a:sym typeface="Russo One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4000" dirty="0"/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4234" y="1215032"/>
            <a:ext cx="3424075" cy="3403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37777EF-90F3-E966-8050-96D4E3F5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71;p15"/>
          <p:cNvSpPr txBox="1">
            <a:spLocks/>
          </p:cNvSpPr>
          <p:nvPr/>
        </p:nvSpPr>
        <p:spPr>
          <a:xfrm>
            <a:off x="1556328" y="1465262"/>
            <a:ext cx="6105236" cy="1557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AR" sz="36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Inspeccionando elementos en las herramientas de desarrollo del navegador</a:t>
            </a:r>
          </a:p>
        </p:txBody>
      </p:sp>
    </p:spTree>
    <p:extLst>
      <p:ext uri="{BB962C8B-B14F-4D97-AF65-F5344CB8AC3E}">
        <p14:creationId xmlns:p14="http://schemas.microsoft.com/office/powerpoint/2010/main" val="3181872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7" y="568624"/>
            <a:ext cx="8275206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8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Inspeccionando elementos en las herramientas de desarrollo del navegador</a:t>
            </a:r>
          </a:p>
          <a:p>
            <a:pPr algn="just"/>
            <a:endParaRPr lang="es-AR" sz="28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Las herramientas de desarrollo del navegador (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DevTools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) son una parte esencial del trabajo como desarrollador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front-end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. Estas herramientas </a:t>
            </a:r>
            <a:r>
              <a:rPr lang="es-AR" sz="16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permiten inspeccionar, depurar y modificar elementos de una página web en tiempo real.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es-AR" sz="1600" b="1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¿Cómo acceder a las herramientas de desarrollo?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En Chrome o Edge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Haz clic derecho sobre un elemento de la página y selecciona "Inspeccionar". O usa el atajo de teclado: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Ctrl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+ Shift + I (Windows) o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Cmd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+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Option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+ I (Mac).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En Firefox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Haz clic derecho sobre un elemento y selecciona "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Inspeccionar".O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usa el atajo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Ctrl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+ Shift + I (Windows) o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Cmd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+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Option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+ I (Mac).</a:t>
            </a:r>
          </a:p>
        </p:txBody>
      </p:sp>
    </p:spTree>
    <p:extLst>
      <p:ext uri="{BB962C8B-B14F-4D97-AF65-F5344CB8AC3E}">
        <p14:creationId xmlns:p14="http://schemas.microsoft.com/office/powerpoint/2010/main" val="3626230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7" y="961170"/>
            <a:ext cx="8275206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Funciones principales de </a:t>
            </a:r>
            <a:r>
              <a:rPr lang="es-AR" sz="24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DevTools</a:t>
            </a:r>
            <a:r>
              <a:rPr lang="es-AR" sz="24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 para HTML:</a:t>
            </a:r>
          </a:p>
          <a:p>
            <a:pPr algn="just"/>
            <a:endParaRPr lang="es-AR" sz="24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Inspección de elementos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Al seleccionar un elemento en la página, se resalta su código en la pestaña "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Elements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" o "Inspector". Permite ver las etiquetas, atributos, contenido y estructura.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s-AR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Edición en tiempo real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Puedes hacer clic en una etiqueta o atributo dentro de 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DevTools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y modificar su contenido directamente. Ejemplo: Cambiar el texto de un título &lt;h1&gt; en la página sin alterar el archivo original.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s-AR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Visualización de estilos CSS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La pestaña "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Styles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" muestra los estilos aplicados a un elemento y permite probar nuevos estilos. 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s-AR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Vista jerárquica del DOM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Observa cómo los elementos HTML están anidados unos dentro de otros.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s-AR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Monitoreo de eventos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Puedes ver qué eventos JavaScript están vinculados a ciertos elementos.</a:t>
            </a:r>
          </a:p>
        </p:txBody>
      </p:sp>
    </p:spTree>
    <p:extLst>
      <p:ext uri="{BB962C8B-B14F-4D97-AF65-F5344CB8AC3E}">
        <p14:creationId xmlns:p14="http://schemas.microsoft.com/office/powerpoint/2010/main" val="3717537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7" y="691975"/>
            <a:ext cx="590174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8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Funciones principales de </a:t>
            </a:r>
            <a:r>
              <a:rPr lang="es-AR" sz="28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DevTools</a:t>
            </a:r>
            <a:r>
              <a:rPr lang="es-AR" sz="28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 para HTML:</a:t>
            </a:r>
          </a:p>
          <a:p>
            <a:pPr algn="just"/>
            <a:endParaRPr lang="es-AR" sz="28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Actividad práctica:</a:t>
            </a:r>
            <a:b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</a:br>
            <a:b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</a:b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Necesitamos una voluntaria que comparta pantalla!</a:t>
            </a:r>
            <a:b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</a:b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Abre una página web cualquiera (como la página de Google).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Usa "Inspeccionar" para identificar entre todas: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Un &lt;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header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Una imagen &lt;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img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Un enlace &lt;a&gt;.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Ahora con la ayuda y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guia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del profe, podemos cambiar temporalmente el texto de un botón o un párrafo.</a:t>
            </a:r>
          </a:p>
        </p:txBody>
      </p:sp>
      <p:pic>
        <p:nvPicPr>
          <p:cNvPr id="2" name="Google Shape;154;p24">
            <a:extLst>
              <a:ext uri="{FF2B5EF4-FFF2-40B4-BE49-F238E27FC236}">
                <a16:creationId xmlns:a16="http://schemas.microsoft.com/office/drawing/2014/main" id="{8E6E28B7-0B21-00C1-9507-EE7D55A3719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6145" y="2230583"/>
            <a:ext cx="2853323" cy="27843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3414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37777EF-90F3-E966-8050-96D4E3F5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71;p15"/>
          <p:cNvSpPr txBox="1">
            <a:spLocks/>
          </p:cNvSpPr>
          <p:nvPr/>
        </p:nvSpPr>
        <p:spPr>
          <a:xfrm>
            <a:off x="1556328" y="1465262"/>
            <a:ext cx="6105236" cy="1557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6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Layout </a:t>
            </a:r>
            <a:r>
              <a:rPr lang="en-US" sz="3600" dirty="0" err="1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semántico</a:t>
            </a:r>
            <a:r>
              <a:rPr lang="en-US" sz="36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 (header - nav - footer - main - aside - section - article)</a:t>
            </a:r>
            <a:endParaRPr lang="es-AR" sz="3600" dirty="0">
              <a:solidFill>
                <a:schemeClr val="tx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</p:spTree>
    <p:extLst>
      <p:ext uri="{BB962C8B-B14F-4D97-AF65-F5344CB8AC3E}">
        <p14:creationId xmlns:p14="http://schemas.microsoft.com/office/powerpoint/2010/main" val="2859847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92833" y="1044297"/>
            <a:ext cx="827520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Layout </a:t>
            </a:r>
            <a:r>
              <a:rPr lang="en-US" sz="40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semántico</a:t>
            </a:r>
            <a:endParaRPr lang="en-US" sz="40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endParaRPr lang="es-AR" sz="40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Un </a:t>
            </a:r>
            <a:r>
              <a:rPr lang="es-AR" sz="24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layout</a:t>
            </a: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semántico utiliza etiquetas de HTML5 que describen el propósito del contenido que contienen. 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Esto no solo mejora la accesibilidad y el SEO, sino que también hace que el código sea más fácil de leer y mantener.</a:t>
            </a:r>
          </a:p>
        </p:txBody>
      </p:sp>
    </p:spTree>
    <p:extLst>
      <p:ext uri="{BB962C8B-B14F-4D97-AF65-F5344CB8AC3E}">
        <p14:creationId xmlns:p14="http://schemas.microsoft.com/office/powerpoint/2010/main" val="407670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88214" y="781060"/>
            <a:ext cx="8275206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Etiquetas</a:t>
            </a:r>
            <a:r>
              <a:rPr lang="en-US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 </a:t>
            </a:r>
            <a:r>
              <a:rPr lang="en-US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semánticas</a:t>
            </a:r>
            <a:r>
              <a:rPr lang="en-US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 del layout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es-AR" sz="7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1. &lt;</a:t>
            </a:r>
            <a:r>
              <a:rPr lang="es-AR" sz="18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header</a:t>
            </a: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Representa el encabezado de una página o sección.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Contiene logotipos, títulos o menús de navegación.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Puede haber múltiples &lt;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header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 en una página (por ejemplo, uno global y otros en secciones o artículos).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7703FFA-4848-AAB1-E60B-B6EB425BC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6982" y="3167904"/>
            <a:ext cx="3343689" cy="1806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483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88214" y="781060"/>
            <a:ext cx="8275206" cy="207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Etiquetas</a:t>
            </a:r>
            <a:r>
              <a:rPr lang="en-US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 </a:t>
            </a:r>
            <a:r>
              <a:rPr lang="en-US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semánticas</a:t>
            </a:r>
            <a:r>
              <a:rPr lang="en-US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 del layout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es-AR" sz="7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2. &lt;</a:t>
            </a:r>
            <a:r>
              <a:rPr lang="es-AR" sz="18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nav</a:t>
            </a: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Representa una sección de navegación con enlaces que llevan a otras páginas o a partes del mismo documento.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Ideal para menús principales o secundarios.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6BE800F-2286-C026-C8D6-F8F905997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6798" y="2966854"/>
            <a:ext cx="4430404" cy="190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475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88214" y="781060"/>
            <a:ext cx="8275206" cy="207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Etiquetas</a:t>
            </a:r>
            <a:r>
              <a:rPr lang="en-US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 </a:t>
            </a:r>
            <a:r>
              <a:rPr lang="en-US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semánticas</a:t>
            </a:r>
            <a:r>
              <a:rPr lang="en-US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 del layout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es-AR" sz="7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3. &lt;</a:t>
            </a:r>
            <a:r>
              <a:rPr lang="es-AR" sz="18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footer</a:t>
            </a: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Representa el pie de página de una página o sección.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Contiene información como derechos de autor, enlaces secundarios o información de contacto.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02512B7-8E65-F3AD-5B53-7B8E05A5F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782" y="3052369"/>
            <a:ext cx="7421418" cy="152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045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88214" y="781060"/>
            <a:ext cx="8275206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Etiquetas</a:t>
            </a:r>
            <a:r>
              <a:rPr lang="en-US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 </a:t>
            </a:r>
            <a:r>
              <a:rPr lang="en-US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semánticas</a:t>
            </a:r>
            <a:r>
              <a:rPr lang="en-US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 del layout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es-AR" sz="7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4. &lt;</a:t>
            </a:r>
            <a:r>
              <a:rPr lang="es-AR" sz="18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main</a:t>
            </a: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Representa el contenido principal del documento.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Solo debe haber un &lt;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main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 por página.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 el foco principal de la página y excluye encabezados, barras laterales y pies de página.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4A50730-BE90-B247-25CB-2A6E2025C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510" y="3273322"/>
            <a:ext cx="4688958" cy="147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481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88214" y="781060"/>
            <a:ext cx="8275206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Etiquetas</a:t>
            </a:r>
            <a:r>
              <a:rPr lang="en-US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 </a:t>
            </a:r>
            <a:r>
              <a:rPr lang="en-US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semánticas</a:t>
            </a:r>
            <a:r>
              <a:rPr lang="en-US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 del layout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es-AR" sz="7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5. &lt;aside&gt;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Representa contenido relacionado pero secundario al contenido principal.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 usa para barras laterales, citas destacadas, enlaces relacionados, etc.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C23C94B-E03F-70A4-2502-DF10EC5D0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9360" y="2769382"/>
            <a:ext cx="4212914" cy="1955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736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88214" y="781060"/>
            <a:ext cx="8275206" cy="207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Etiquetas</a:t>
            </a:r>
            <a:r>
              <a:rPr lang="en-US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 </a:t>
            </a:r>
            <a:r>
              <a:rPr lang="en-US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semánticas</a:t>
            </a:r>
            <a:r>
              <a:rPr lang="en-US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 del layout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es-AR" sz="7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6. &lt;</a:t>
            </a:r>
            <a:r>
              <a:rPr lang="es-AR" sz="18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section</a:t>
            </a: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Representa una sección genérica de un documento.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Agrupa contenido relacionado que sigue un mismo tema o propósito.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Puede contener encabezados y otros elementos semánticos.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6B8ACA0-E7DC-975C-F0CC-16FFCEC5F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855" y="3207204"/>
            <a:ext cx="6354618" cy="1471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147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88214" y="781060"/>
            <a:ext cx="8275206" cy="207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Etiquetas</a:t>
            </a:r>
            <a:r>
              <a:rPr lang="en-US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 </a:t>
            </a:r>
            <a:r>
              <a:rPr lang="en-US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semánticas</a:t>
            </a:r>
            <a:r>
              <a:rPr lang="en-US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 del layout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es-AR" sz="7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7. &lt;</a:t>
            </a:r>
            <a:r>
              <a:rPr lang="es-AR" sz="18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article</a:t>
            </a: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Representa contenido independiente y autocontenido, como un artículo, una publicación de blog o un comentario.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Un &lt;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article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 puede incluir su propio &lt;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header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 y &lt;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footer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978167A-F436-65A4-2B85-8714EBD60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026" y="3010794"/>
            <a:ext cx="3657948" cy="1886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643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7" y="443346"/>
            <a:ext cx="5901748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Etiquetas semánticas del </a:t>
            </a:r>
            <a:r>
              <a:rPr lang="es-AR" sz="24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layout</a:t>
            </a:r>
            <a:endParaRPr lang="es-AR" sz="24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algn="just"/>
            <a:endParaRPr lang="es-AR" sz="24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Actividad práctica:</a:t>
            </a:r>
            <a:b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</a:br>
            <a:b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</a:b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Necesitamos una voluntaria que comparta pantalla!</a:t>
            </a:r>
            <a:b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</a:br>
            <a:endParaRPr lang="es-AR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Analizar un sitio web: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Inspeccionar un sitio conocido (como un blog o una página de noticias).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Identificar las etiquetas &lt;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header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&gt;, &lt;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footer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&gt;, &lt;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nav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&gt;, etc.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Crear un 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layout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simple: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Construir una página con: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Encabezado (&lt;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header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&gt;).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Menú de navegación (&lt;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nav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&gt;).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Contenido principal (&lt;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main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&gt;).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Barra lateral (&lt;aside&gt;).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Pie de página (&lt;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footer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&gt;).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Pueden basarse en el siguiente modelo: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69C6057-6D70-6E6F-655C-E1E8E20D1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499" y="1537854"/>
            <a:ext cx="2487419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856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37777EF-90F3-E966-8050-96D4E3F5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71;p15"/>
          <p:cNvSpPr txBox="1">
            <a:spLocks/>
          </p:cNvSpPr>
          <p:nvPr/>
        </p:nvSpPr>
        <p:spPr>
          <a:xfrm>
            <a:off x="1657928" y="2005590"/>
            <a:ext cx="6105236" cy="1557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AR" sz="36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Imágenes semánticas (&lt;figure&gt; y &lt;</a:t>
            </a:r>
            <a:r>
              <a:rPr lang="es-AR" sz="3600" dirty="0" err="1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figcaption</a:t>
            </a:r>
            <a:r>
              <a:rPr lang="es-AR" sz="36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&gt;)</a:t>
            </a:r>
          </a:p>
        </p:txBody>
      </p:sp>
    </p:spTree>
    <p:extLst>
      <p:ext uri="{BB962C8B-B14F-4D97-AF65-F5344CB8AC3E}">
        <p14:creationId xmlns:p14="http://schemas.microsoft.com/office/powerpoint/2010/main" val="2187516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88214" y="781060"/>
            <a:ext cx="768898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40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Imágenes semánticas (&lt;figure&gt; y &lt;</a:t>
            </a:r>
            <a:r>
              <a:rPr lang="es-AR" sz="40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figcaption</a:t>
            </a:r>
            <a:r>
              <a:rPr lang="es-AR" sz="40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&gt;)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es-AR" sz="24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En HTML5, las etiquetas &lt;figure&gt; y &lt;</a:t>
            </a:r>
            <a:r>
              <a:rPr lang="es-AR" sz="24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figcaption</a:t>
            </a: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 permiten presentar imágenes de una forma semántica y más significativa, especialmente cuando estas necesitan una descripción o están relacionadas con el contenido principal.</a:t>
            </a:r>
          </a:p>
        </p:txBody>
      </p:sp>
    </p:spTree>
    <p:extLst>
      <p:ext uri="{BB962C8B-B14F-4D97-AF65-F5344CB8AC3E}">
        <p14:creationId xmlns:p14="http://schemas.microsoft.com/office/powerpoint/2010/main" val="24460464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88213" y="781060"/>
            <a:ext cx="816927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8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&lt;figure&gt;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 etiqueta &lt;figure&gt; se utiliza para encapsular contenido visual o ilustrativo que complementa el contenido principal, como imágenes, gráficos, diagramas o incluso fragmentos de código.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 considera semántica porque indica que el contenido tiene un propósito ilustrativo específico.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 ideal para imágenes con descripciones o agrupadas con contenido relacionado.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66A9909-F9BA-2824-39EA-FBAD89653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891" y="3301056"/>
            <a:ext cx="6964218" cy="118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010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88213" y="781060"/>
            <a:ext cx="8169277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&lt;</a:t>
            </a:r>
            <a:r>
              <a:rPr lang="es-AR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figcaption</a:t>
            </a:r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&gt;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 etiqueta &lt;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figcaption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 se usa para proporcionar una descripción o leyenda para el contenido dentro de &lt;figure&gt;.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Normalmente es un texto breve que explica o da contexto a la imagen.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Debe colocarse como el primer o último hijo de &lt;figure&gt;.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F7C5806-F633-3832-B99B-71F1B2FE9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787" y="3191163"/>
            <a:ext cx="7607758" cy="1040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1940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88213" y="781060"/>
            <a:ext cx="8169277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Combinando varias imágenes en &lt;figure&gt;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 etiqueta &lt;figure&gt; también puede contener varias imágenes con una sola descripción.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E0692CD-2151-299E-0699-A6B587882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55" y="3004554"/>
            <a:ext cx="7929418" cy="141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7504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37777EF-90F3-E966-8050-96D4E3F5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71;p15"/>
          <p:cNvSpPr txBox="1">
            <a:spLocks/>
          </p:cNvSpPr>
          <p:nvPr/>
        </p:nvSpPr>
        <p:spPr>
          <a:xfrm>
            <a:off x="1657928" y="1793153"/>
            <a:ext cx="6105236" cy="1557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t-BR" sz="36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Texto </a:t>
            </a:r>
            <a:r>
              <a:rPr lang="pt-BR" sz="3600" dirty="0" err="1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semántico</a:t>
            </a:r>
            <a:r>
              <a:rPr lang="pt-BR" sz="36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 (&lt;</a:t>
            </a:r>
            <a:r>
              <a:rPr lang="pt-BR" sz="3600" dirty="0" err="1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blockquote</a:t>
            </a:r>
            <a:r>
              <a:rPr lang="pt-BR" sz="36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&gt;, &lt;cite&gt;, &lt;q&gt;, &lt;em&gt;, &lt;</a:t>
            </a:r>
            <a:r>
              <a:rPr lang="pt-BR" sz="3600" dirty="0" err="1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strong</a:t>
            </a:r>
            <a:r>
              <a:rPr lang="pt-BR" sz="36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&gt;)</a:t>
            </a:r>
            <a:endParaRPr lang="es-AR" sz="3600" dirty="0">
              <a:solidFill>
                <a:schemeClr val="tx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</p:spTree>
    <p:extLst>
      <p:ext uri="{BB962C8B-B14F-4D97-AF65-F5344CB8AC3E}">
        <p14:creationId xmlns:p14="http://schemas.microsoft.com/office/powerpoint/2010/main" val="26365281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88213" y="781060"/>
            <a:ext cx="816927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Texto </a:t>
            </a:r>
            <a:r>
              <a:rPr lang="pt-BR" sz="40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semántico</a:t>
            </a:r>
            <a:r>
              <a:rPr lang="pt-BR" sz="40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 (&lt;</a:t>
            </a:r>
            <a:r>
              <a:rPr lang="pt-BR" sz="40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blockquote</a:t>
            </a:r>
            <a:r>
              <a:rPr lang="pt-BR" sz="40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&gt;, &lt;cite&gt;, &lt;q&gt;, &lt;em&gt;, &lt;</a:t>
            </a:r>
            <a:r>
              <a:rPr lang="pt-BR" sz="40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strong</a:t>
            </a:r>
            <a:r>
              <a:rPr lang="pt-BR" sz="40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&gt;)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es-AR" sz="24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HTML incluye etiquetas semánticas específicas para dar un significado claro al texto, mejorando la legibilidad, accesibilidad y el contexto tanto para humanos como para máquinas.</a:t>
            </a:r>
          </a:p>
        </p:txBody>
      </p:sp>
    </p:spTree>
    <p:extLst>
      <p:ext uri="{BB962C8B-B14F-4D97-AF65-F5344CB8AC3E}">
        <p14:creationId xmlns:p14="http://schemas.microsoft.com/office/powerpoint/2010/main" val="5033383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88213" y="781060"/>
            <a:ext cx="8169277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Texto </a:t>
            </a:r>
            <a:r>
              <a:rPr lang="pt-BR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semantico</a:t>
            </a:r>
            <a:endParaRPr lang="pt-BR" sz="32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1. &lt;</a:t>
            </a:r>
            <a:r>
              <a:rPr lang="es-AR" sz="18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blockquote</a:t>
            </a: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 usa para representar una cita larga de otro texto o fuente.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Por lo general, se muestra con una sangría o formato especial en los navegadores.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Puede incluir un atributo cite para indicar la fuente de la cita.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ED456B0-7838-7D66-920D-FFC185A16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381" y="3713968"/>
            <a:ext cx="7961745" cy="71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3834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88213" y="781060"/>
            <a:ext cx="816927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Texto </a:t>
            </a:r>
            <a:r>
              <a:rPr lang="pt-BR" sz="36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semantico</a:t>
            </a:r>
            <a:endParaRPr lang="pt-BR" sz="36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es-AR" sz="20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2. &lt;cite&gt;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 utiliza para citar el título de una obra, como un libro, película, artículo, o cualquier fuente publicada.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Generalmente se muestra en cursiva por defecto en los navegadores.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60D8135-27DB-4C34-A33E-49B79D174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36" y="3932611"/>
            <a:ext cx="8095673" cy="49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1827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88213" y="781060"/>
            <a:ext cx="816927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Texto </a:t>
            </a:r>
            <a:r>
              <a:rPr lang="pt-BR" sz="36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semantico</a:t>
            </a:r>
            <a:endParaRPr lang="pt-BR" sz="36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es-AR" sz="20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3. &lt;q&gt;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 utiliza para representar una cita breve en línea.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 diferencia de &lt;</a:t>
            </a:r>
            <a:r>
              <a:rPr lang="es-AR" sz="20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blockquote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 porque no crea un bloque separado, sino que la cita queda dentro del texto.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Los navegadores suelen rodear el contenido con comillas automáticamente.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489498E-F54C-D53D-CD69-16001F50A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854" y="4081984"/>
            <a:ext cx="7347527" cy="64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1453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88213" y="781060"/>
            <a:ext cx="816927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Texto </a:t>
            </a:r>
            <a:r>
              <a:rPr lang="pt-BR" sz="36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semantico</a:t>
            </a:r>
            <a:endParaRPr lang="pt-BR" sz="36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es-AR" sz="20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4. &lt;em&gt;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Representa texto que debe tener énfasis.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En navegadores, normalmente se muestra en cursiva, pero el propósito es semántico, indicando una entonación especial al leer el texto.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66CCB11-CCE5-F75D-2F40-7E37F58F4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963" y="3854547"/>
            <a:ext cx="7495309" cy="594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8319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88213" y="781060"/>
            <a:ext cx="8169277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Texto </a:t>
            </a:r>
            <a:r>
              <a:rPr lang="pt-BR" sz="36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semantico</a:t>
            </a:r>
            <a:endParaRPr lang="pt-BR" sz="36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es-AR" sz="20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5. &lt;</a:t>
            </a:r>
            <a:r>
              <a:rPr lang="es-AR" sz="20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strong</a:t>
            </a:r>
            <a:r>
              <a:rPr lang="es-AR" sz="20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Indica texto que es fuertemente importante.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En navegadores, suele mostrarse en negrita, pero semánticamente significa que el texto tiene mayor relevancia.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0A24A2E-371B-8DBB-C4D5-6E42A1CE2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763" y="3617651"/>
            <a:ext cx="7384473" cy="649026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F7C75FB6-DD96-8D2B-25FE-3FEBCEE10E2E}"/>
              </a:ext>
            </a:extLst>
          </p:cNvPr>
          <p:cNvSpPr/>
          <p:nvPr/>
        </p:nvSpPr>
        <p:spPr>
          <a:xfrm>
            <a:off x="6313055" y="4174153"/>
            <a:ext cx="2466108" cy="87224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800" b="1" dirty="0">
                <a:solidFill>
                  <a:schemeClr val="bg2"/>
                </a:solidFill>
              </a:rPr>
              <a:t>Diferencias clave entre &lt;em&gt; y &lt;</a:t>
            </a:r>
            <a:r>
              <a:rPr lang="es-AR" sz="800" b="1" dirty="0" err="1">
                <a:solidFill>
                  <a:schemeClr val="bg2"/>
                </a:solidFill>
              </a:rPr>
              <a:t>strong</a:t>
            </a:r>
            <a:r>
              <a:rPr lang="es-AR" sz="800" b="1" dirty="0">
                <a:solidFill>
                  <a:schemeClr val="bg2"/>
                </a:solidFill>
              </a:rPr>
              <a:t>&gt;</a:t>
            </a:r>
          </a:p>
          <a:p>
            <a:endParaRPr lang="es-AR" sz="800" dirty="0">
              <a:solidFill>
                <a:schemeClr val="bg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800" dirty="0">
                <a:solidFill>
                  <a:schemeClr val="bg2"/>
                </a:solidFill>
              </a:rPr>
              <a:t>&lt;em&gt;: Énfasis ligero, como resaltar una idea en una oración.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800" dirty="0">
                <a:solidFill>
                  <a:schemeClr val="bg2"/>
                </a:solidFill>
              </a:rPr>
              <a:t>&lt;</a:t>
            </a:r>
            <a:r>
              <a:rPr lang="es-AR" sz="800" dirty="0" err="1">
                <a:solidFill>
                  <a:schemeClr val="bg2"/>
                </a:solidFill>
              </a:rPr>
              <a:t>strong</a:t>
            </a:r>
            <a:r>
              <a:rPr lang="es-AR" sz="800" dirty="0">
                <a:solidFill>
                  <a:schemeClr val="bg2"/>
                </a:solidFill>
              </a:rPr>
              <a:t>&gt;: Importancia o urgencia crítica.</a:t>
            </a:r>
          </a:p>
        </p:txBody>
      </p:sp>
    </p:spTree>
    <p:extLst>
      <p:ext uri="{BB962C8B-B14F-4D97-AF65-F5344CB8AC3E}">
        <p14:creationId xmlns:p14="http://schemas.microsoft.com/office/powerpoint/2010/main" val="29029468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37777EF-90F3-E966-8050-96D4E3F5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71;p15"/>
          <p:cNvSpPr txBox="1">
            <a:spLocks/>
          </p:cNvSpPr>
          <p:nvPr/>
        </p:nvSpPr>
        <p:spPr>
          <a:xfrm>
            <a:off x="1699492" y="1973263"/>
            <a:ext cx="6105236" cy="1557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AR" sz="36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Diferencias entre &lt;</a:t>
            </a:r>
            <a:r>
              <a:rPr lang="es-AR" sz="3600" dirty="0" err="1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article</a:t>
            </a:r>
            <a:r>
              <a:rPr lang="es-AR" sz="36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&gt; y &lt;</a:t>
            </a:r>
            <a:r>
              <a:rPr lang="es-AR" sz="3600" dirty="0" err="1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section</a:t>
            </a:r>
            <a:r>
              <a:rPr lang="es-AR" sz="36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5704270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1555423" y="912904"/>
            <a:ext cx="61274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Comparación de &lt;</a:t>
            </a:r>
            <a:r>
              <a:rPr lang="es-AR" sz="24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article</a:t>
            </a:r>
            <a:r>
              <a:rPr lang="es-AR" sz="24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&gt; y &lt;</a:t>
            </a:r>
            <a:r>
              <a:rPr lang="es-AR" sz="24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section</a:t>
            </a:r>
            <a:r>
              <a:rPr lang="es-AR" sz="24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&gt;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ADD1096-26C2-2F37-573F-FB3416600B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300525"/>
              </p:ext>
            </p:extLst>
          </p:nvPr>
        </p:nvGraphicFramePr>
        <p:xfrm>
          <a:off x="311150" y="1671955"/>
          <a:ext cx="8521701" cy="237744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840567">
                  <a:extLst>
                    <a:ext uri="{9D8B030D-6E8A-4147-A177-3AD203B41FA5}">
                      <a16:colId xmlns:a16="http://schemas.microsoft.com/office/drawing/2014/main" val="2309986214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1270558876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9067751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s-AR" sz="1400" b="1"/>
                        <a:t>Aspecto</a:t>
                      </a:r>
                      <a:endParaRPr lang="es-AR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AR" sz="1400" b="1" dirty="0"/>
                        <a:t>&lt;</a:t>
                      </a:r>
                      <a:r>
                        <a:rPr lang="es-AR" sz="1400" b="1" dirty="0" err="1"/>
                        <a:t>article</a:t>
                      </a:r>
                      <a:r>
                        <a:rPr lang="es-AR" sz="1400" b="1" dirty="0"/>
                        <a:t>&gt;</a:t>
                      </a:r>
                      <a:endParaRPr lang="es-A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AR" sz="1400" b="1"/>
                        <a:t>&lt;section&gt;</a:t>
                      </a:r>
                      <a:endParaRPr lang="es-AR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493049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s-AR" sz="1400" b="1"/>
                        <a:t>Propósito</a:t>
                      </a:r>
                      <a:endParaRPr lang="es-AR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AR" sz="1400" dirty="0">
                          <a:solidFill>
                            <a:schemeClr val="accent6"/>
                          </a:solidFill>
                        </a:rPr>
                        <a:t>Contenido independiente.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AR" sz="1400" dirty="0">
                          <a:solidFill>
                            <a:schemeClr val="accent6"/>
                          </a:solidFill>
                        </a:rPr>
                        <a:t>Agrupación temática de contenido.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445914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s-AR" sz="1400" b="1"/>
                        <a:t>Reutilización</a:t>
                      </a:r>
                      <a:endParaRPr lang="es-AR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AR" sz="1400">
                          <a:solidFill>
                            <a:schemeClr val="accent6"/>
                          </a:solidFill>
                        </a:rPr>
                        <a:t>Puede reutilizarse en otros contextos.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AR" sz="1400" dirty="0">
                          <a:solidFill>
                            <a:schemeClr val="accent6"/>
                          </a:solidFill>
                        </a:rPr>
                        <a:t>Depende del contexto principal.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763012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s-AR" sz="1400" b="1"/>
                        <a:t>Necesidad de encabezado</a:t>
                      </a:r>
                      <a:endParaRPr lang="es-AR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AR" sz="1400">
                          <a:solidFill>
                            <a:schemeClr val="accent6"/>
                          </a:solidFill>
                        </a:rPr>
                        <a:t>Opcional.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AR" sz="1400" dirty="0">
                          <a:solidFill>
                            <a:schemeClr val="accent6"/>
                          </a:solidFill>
                        </a:rPr>
                        <a:t>Requiere un encabezado (&lt;h1&gt; - &lt;h6&gt;).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817253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s-AR" sz="1400" b="1" dirty="0"/>
                        <a:t>Ejemplo típico</a:t>
                      </a:r>
                      <a:endParaRPr lang="es-A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AR" sz="1400">
                          <a:solidFill>
                            <a:schemeClr val="accent6"/>
                          </a:solidFill>
                        </a:rPr>
                        <a:t>Entrada de blog, artículo de noticias.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AR" sz="1400" dirty="0">
                          <a:solidFill>
                            <a:schemeClr val="accent6"/>
                          </a:solidFill>
                        </a:rPr>
                        <a:t>Sección "Acerca de nosotros", "Servicios".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1519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34124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37777EF-90F3-E966-8050-96D4E3F5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71;p15"/>
          <p:cNvSpPr txBox="1">
            <a:spLocks/>
          </p:cNvSpPr>
          <p:nvPr/>
        </p:nvSpPr>
        <p:spPr>
          <a:xfrm>
            <a:off x="1699492" y="1973263"/>
            <a:ext cx="6105236" cy="1557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AR" sz="36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Seccionado del contenido</a:t>
            </a:r>
          </a:p>
        </p:txBody>
      </p:sp>
    </p:spTree>
    <p:extLst>
      <p:ext uri="{BB962C8B-B14F-4D97-AF65-F5344CB8AC3E}">
        <p14:creationId xmlns:p14="http://schemas.microsoft.com/office/powerpoint/2010/main" val="32442973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87361" y="887278"/>
            <a:ext cx="8169277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Seccionado </a:t>
            </a:r>
            <a:r>
              <a:rPr lang="pt-BR" sz="40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del</a:t>
            </a:r>
            <a:r>
              <a:rPr lang="pt-BR" sz="40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 </a:t>
            </a:r>
            <a:r>
              <a:rPr lang="pt-BR" sz="40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contenido</a:t>
            </a:r>
            <a:endParaRPr lang="pt-BR" sz="40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es-AR" sz="24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seccionado del contenido en HTML se refiere a la manera de </a:t>
            </a:r>
            <a:r>
              <a:rPr lang="es-AR" sz="24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estructurar y organizar la información dentro de una página web</a:t>
            </a: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, utilizando etiquetas semánticas que dividen el contenido en bloques significativos. 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4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Esto facilita la comprensión tanto para los usuarios como para los navegadores y motores de búsqueda.</a:t>
            </a:r>
          </a:p>
        </p:txBody>
      </p:sp>
    </p:spTree>
    <p:extLst>
      <p:ext uri="{BB962C8B-B14F-4D97-AF65-F5344CB8AC3E}">
        <p14:creationId xmlns:p14="http://schemas.microsoft.com/office/powerpoint/2010/main" val="25229185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87361" y="716406"/>
            <a:ext cx="8169277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Jerarquía de seccionado en HTML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Las etiquetas de seccionado principales incluyen: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sz="18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&lt;</a:t>
            </a:r>
            <a:r>
              <a:rPr lang="es-AR" sz="1800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header</a:t>
            </a:r>
            <a:r>
              <a:rPr lang="es-AR" sz="18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</a:t>
            </a: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sz="18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&lt;</a:t>
            </a:r>
            <a:r>
              <a:rPr lang="es-AR" sz="1800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footer</a:t>
            </a:r>
            <a:r>
              <a:rPr lang="es-AR" sz="18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</a:t>
            </a: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sz="18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&lt;</a:t>
            </a:r>
            <a:r>
              <a:rPr lang="es-AR" sz="1800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main</a:t>
            </a:r>
            <a:r>
              <a:rPr lang="es-AR" sz="18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</a:t>
            </a: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sz="18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&lt;</a:t>
            </a:r>
            <a:r>
              <a:rPr lang="es-AR" sz="1800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section</a:t>
            </a:r>
            <a:r>
              <a:rPr lang="es-AR" sz="18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</a:t>
            </a: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sz="18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&lt;</a:t>
            </a:r>
            <a:r>
              <a:rPr lang="es-AR" sz="1800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article</a:t>
            </a:r>
            <a:r>
              <a:rPr lang="es-AR" sz="18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</a:t>
            </a: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sz="18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&lt;</a:t>
            </a:r>
            <a:r>
              <a:rPr lang="es-AR" sz="1800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nav</a:t>
            </a:r>
            <a:r>
              <a:rPr lang="es-AR" sz="18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</a:t>
            </a: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sz="18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&lt;aside&gt;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Estas etiquetas crean una jerarquía lógica que ayuda a definir el propósito de cada parte de la página.</a:t>
            </a:r>
          </a:p>
        </p:txBody>
      </p:sp>
    </p:spTree>
    <p:extLst>
      <p:ext uri="{BB962C8B-B14F-4D97-AF65-F5344CB8AC3E}">
        <p14:creationId xmlns:p14="http://schemas.microsoft.com/office/powerpoint/2010/main" val="13243275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6561" y="1099715"/>
            <a:ext cx="849038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8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Esquema de una página bien seccionada: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Encabezado (&lt;</a:t>
            </a:r>
            <a:r>
              <a:rPr lang="es-AR" sz="16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header</a:t>
            </a: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&gt;): 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Contiene el título principal, logotipo o menú de navegación.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Navegación (&lt;</a:t>
            </a:r>
            <a:r>
              <a:rPr lang="es-AR" sz="16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nav</a:t>
            </a: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&gt;): 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Lista de enlaces para moverse dentro del sitio.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Contenido principal (&lt;</a:t>
            </a:r>
            <a:r>
              <a:rPr lang="es-AR" sz="16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main</a:t>
            </a: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&gt;): 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Incluye secciones, artículos y elementos principales del documento.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Barra lateral (&lt;aside&gt;): 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Contiene contenido complementario o secundario.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Pie de página (&lt;</a:t>
            </a:r>
            <a:r>
              <a:rPr lang="es-AR" sz="16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footer</a:t>
            </a: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&gt;): 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Contiene información como derechos de autor, enlaces legales o contacto.</a:t>
            </a:r>
          </a:p>
        </p:txBody>
      </p:sp>
    </p:spTree>
    <p:extLst>
      <p:ext uri="{BB962C8B-B14F-4D97-AF65-F5344CB8AC3E}">
        <p14:creationId xmlns:p14="http://schemas.microsoft.com/office/powerpoint/2010/main" val="18495026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C3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>
            <a:spLocks noGrp="1"/>
          </p:cNvSpPr>
          <p:nvPr>
            <p:ph type="title" idx="4294967295"/>
          </p:nvPr>
        </p:nvSpPr>
        <p:spPr>
          <a:xfrm>
            <a:off x="798945" y="1771795"/>
            <a:ext cx="4129088" cy="534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400" dirty="0">
                <a:solidFill>
                  <a:srgbClr val="4A4A4A"/>
                </a:solidFill>
                <a:latin typeface="Russo One"/>
                <a:ea typeface="Russo One"/>
                <a:cs typeface="Russo One"/>
                <a:sym typeface="Russo One"/>
              </a:rPr>
              <a:t>Veamos un ejemplo de </a:t>
            </a:r>
            <a:endParaRPr sz="4400" dirty="0">
              <a:solidFill>
                <a:srgbClr val="4A4A4A"/>
              </a:solidFill>
              <a:latin typeface="Russo One"/>
              <a:ea typeface="Russo One"/>
              <a:cs typeface="Russo One"/>
              <a:sym typeface="Russo O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400" dirty="0">
                <a:solidFill>
                  <a:srgbClr val="CD0055"/>
                </a:solidFill>
                <a:latin typeface="Russo One"/>
                <a:ea typeface="Russo One"/>
                <a:cs typeface="Russo One"/>
                <a:sym typeface="Russo One"/>
              </a:rPr>
              <a:t>este tema</a:t>
            </a:r>
            <a:endParaRPr sz="4400" dirty="0">
              <a:solidFill>
                <a:srgbClr val="CD0055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154" name="Google Shape;15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7025" y="691975"/>
            <a:ext cx="4392225" cy="439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1721499" y="260841"/>
            <a:ext cx="57775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8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Ejemplo de Visual Studio </a:t>
            </a:r>
            <a:r>
              <a:rPr lang="es-AR" sz="28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Code</a:t>
            </a:r>
            <a:endParaRPr lang="es-AR" sz="28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EEDABDF-2B56-AE22-EA93-5D3290F20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018" y="1030282"/>
            <a:ext cx="2402966" cy="386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9380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E3969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>
            <a:spLocks noGrp="1"/>
          </p:cNvSpPr>
          <p:nvPr>
            <p:ph type="title" idx="4294967295"/>
          </p:nvPr>
        </p:nvSpPr>
        <p:spPr>
          <a:xfrm>
            <a:off x="701964" y="1198995"/>
            <a:ext cx="4135438" cy="28876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400" dirty="0">
                <a:solidFill>
                  <a:srgbClr val="EAC3FF"/>
                </a:solidFill>
                <a:latin typeface="Russo One"/>
                <a:ea typeface="Russo One"/>
                <a:cs typeface="Russo One"/>
                <a:sym typeface="Russo One"/>
              </a:rPr>
              <a:t>Ahora es momento </a:t>
            </a:r>
            <a:endParaRPr sz="4400" dirty="0">
              <a:solidFill>
                <a:srgbClr val="EAC3FF"/>
              </a:solidFill>
              <a:latin typeface="Russo One"/>
              <a:ea typeface="Russo One"/>
              <a:cs typeface="Russo One"/>
              <a:sym typeface="Russo O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400" dirty="0">
                <a:solidFill>
                  <a:srgbClr val="EAC3FF"/>
                </a:solidFill>
                <a:latin typeface="Russo One"/>
                <a:ea typeface="Russo One"/>
                <a:cs typeface="Russo One"/>
                <a:sym typeface="Russo One"/>
              </a:rPr>
              <a:t>de aplicar </a:t>
            </a:r>
            <a:r>
              <a:rPr lang="es" sz="4400" dirty="0">
                <a:solidFill>
                  <a:srgbClr val="F0F000"/>
                </a:solidFill>
                <a:latin typeface="Russo One"/>
                <a:ea typeface="Russo One"/>
                <a:cs typeface="Russo One"/>
                <a:sym typeface="Russo One"/>
              </a:rPr>
              <a:t>lo aprendido en clase</a:t>
            </a:r>
            <a:endParaRPr sz="4400" dirty="0">
              <a:solidFill>
                <a:srgbClr val="F0F000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160" name="Google Shape;16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9375" y="951150"/>
            <a:ext cx="4078050" cy="407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90379" y="1215169"/>
            <a:ext cx="849038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48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Ejercitación 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32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32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  <a:hlinkClick r:id="rId3"/>
              </a:rPr>
              <a:t>https://github.com/Ada-IT/ejercicios-frontend/blob/master/modulo-1/ejercicios/08-html-semantico.md</a:t>
            </a:r>
            <a:r>
              <a:rPr lang="es-AR" sz="32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endParaRPr lang="es-AR" sz="32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97309208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CD0055"/>
      </a:dk1>
      <a:lt1>
        <a:srgbClr val="FFFFFF"/>
      </a:lt1>
      <a:dk2>
        <a:srgbClr val="000000"/>
      </a:dk2>
      <a:lt2>
        <a:srgbClr val="F0F000"/>
      </a:lt2>
      <a:accent1>
        <a:srgbClr val="FF9936"/>
      </a:accent1>
      <a:accent2>
        <a:srgbClr val="E98FB5"/>
      </a:accent2>
      <a:accent3>
        <a:srgbClr val="F2D6E1"/>
      </a:accent3>
      <a:accent4>
        <a:srgbClr val="FFAB40"/>
      </a:accent4>
      <a:accent5>
        <a:srgbClr val="9E0046"/>
      </a:accent5>
      <a:accent6>
        <a:srgbClr val="455A6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1804</TotalTime>
  <Words>1589</Words>
  <Application>Microsoft Office PowerPoint</Application>
  <PresentationFormat>Presentación en pantalla (16:9)</PresentationFormat>
  <Paragraphs>209</Paragraphs>
  <Slides>37</Slides>
  <Notes>37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1" baseType="lpstr">
      <vt:lpstr>Russo One</vt:lpstr>
      <vt:lpstr>Lato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Veamos un ejemplo de  este tema</vt:lpstr>
      <vt:lpstr>Presentación de PowerPoint</vt:lpstr>
      <vt:lpstr>Ahora es momento  de aplicar lo aprendido en clase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Franco Ojeda</cp:lastModifiedBy>
  <cp:revision>4</cp:revision>
  <dcterms:modified xsi:type="dcterms:W3CDTF">2025-01-02T20:28:12Z</dcterms:modified>
</cp:coreProperties>
</file>