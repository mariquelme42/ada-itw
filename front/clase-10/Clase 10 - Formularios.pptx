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1"/>
  </p:notesMasterIdLst>
  <p:sldIdLst>
    <p:sldId id="262" r:id="rId2"/>
    <p:sldId id="288" r:id="rId3"/>
    <p:sldId id="353" r:id="rId4"/>
    <p:sldId id="354" r:id="rId5"/>
    <p:sldId id="355" r:id="rId6"/>
    <p:sldId id="356" r:id="rId7"/>
    <p:sldId id="357" r:id="rId8"/>
    <p:sldId id="358" r:id="rId9"/>
    <p:sldId id="359" r:id="rId10"/>
    <p:sldId id="360" r:id="rId11"/>
    <p:sldId id="361" r:id="rId12"/>
    <p:sldId id="362" r:id="rId13"/>
    <p:sldId id="363" r:id="rId14"/>
    <p:sldId id="364" r:id="rId15"/>
    <p:sldId id="365" r:id="rId16"/>
    <p:sldId id="366" r:id="rId17"/>
    <p:sldId id="367" r:id="rId18"/>
    <p:sldId id="368" r:id="rId19"/>
    <p:sldId id="369" r:id="rId20"/>
    <p:sldId id="370" r:id="rId21"/>
    <p:sldId id="371" r:id="rId22"/>
    <p:sldId id="372" r:id="rId23"/>
    <p:sldId id="373" r:id="rId24"/>
    <p:sldId id="374" r:id="rId25"/>
    <p:sldId id="375" r:id="rId26"/>
    <p:sldId id="376" r:id="rId27"/>
    <p:sldId id="377" r:id="rId28"/>
    <p:sldId id="378" r:id="rId29"/>
    <p:sldId id="379" r:id="rId30"/>
    <p:sldId id="380" r:id="rId31"/>
    <p:sldId id="381" r:id="rId32"/>
    <p:sldId id="382" r:id="rId33"/>
    <p:sldId id="383" r:id="rId34"/>
    <p:sldId id="384" r:id="rId35"/>
    <p:sldId id="385" r:id="rId36"/>
    <p:sldId id="386" r:id="rId37"/>
    <p:sldId id="387" r:id="rId38"/>
    <p:sldId id="267" r:id="rId39"/>
    <p:sldId id="390" r:id="rId40"/>
    <p:sldId id="391" r:id="rId41"/>
    <p:sldId id="392" r:id="rId42"/>
    <p:sldId id="393" r:id="rId43"/>
    <p:sldId id="394" r:id="rId44"/>
    <p:sldId id="395" r:id="rId45"/>
    <p:sldId id="396" r:id="rId46"/>
    <p:sldId id="388" r:id="rId47"/>
    <p:sldId id="389" r:id="rId48"/>
    <p:sldId id="268" r:id="rId49"/>
    <p:sldId id="397" r:id="rId50"/>
  </p:sldIdLst>
  <p:sldSz cx="9144000" cy="5143500" type="screen16x9"/>
  <p:notesSz cx="6858000" cy="9144000"/>
  <p:embeddedFontLst>
    <p:embeddedFont>
      <p:font typeface="Lato" panose="020F0502020204030203" pitchFamily="34" charset="0"/>
      <p:regular r:id="rId52"/>
      <p:bold r:id="rId53"/>
      <p:italic r:id="rId54"/>
      <p:boldItalic r:id="rId55"/>
    </p:embeddedFont>
    <p:embeddedFont>
      <p:font typeface="Russo One" panose="020B0604020202020204" charset="0"/>
      <p:regular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ernardita Bauque" initials="" lastIdx="4" clrIdx="0"/>
  <p:cmAuthor id="1" name="catalina llarin" initials="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18CB89-29BF-476F-BAC4-F03CFA606FF7}">
  <a:tblStyle styleId="{B718CB89-29BF-476F-BAC4-F03CFA606FF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ommentAuthors" Target="comment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d6070746ec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d6070746ec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4587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5999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5797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9279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78761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824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70782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56149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21000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86036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53392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16628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42452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85634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71553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3832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00079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55076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38274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68704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07363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73819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03102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96726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24151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51200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11272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0530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31812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66450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761558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875942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04135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48190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17585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885029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d6070746ec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d6070746ec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072075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20390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703736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720856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348055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915816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059051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839563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067055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d6070746ec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d6070746ec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6683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9875" y="-4950"/>
            <a:ext cx="9153900" cy="770700"/>
            <a:chOff x="-9875" y="-4950"/>
            <a:chExt cx="9153900" cy="770700"/>
          </a:xfrm>
        </p:grpSpPr>
        <p:sp>
          <p:nvSpPr>
            <p:cNvPr id="51" name="Google Shape;51;p12"/>
            <p:cNvSpPr/>
            <p:nvPr/>
          </p:nvSpPr>
          <p:spPr>
            <a:xfrm>
              <a:off x="-9875" y="-4950"/>
              <a:ext cx="9153900" cy="770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2" name="Google Shape;5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712025" y="109800"/>
              <a:ext cx="1048575" cy="54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s/docs/Learn_web_development/Extensions/Forms/Your_first_form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developer.mozilla.org/es/docs/Learn_web_development/Extensions/Forms/Styling_web_forms" TargetMode="External"/><Relationship Id="rId5" Type="http://schemas.openxmlformats.org/officeDocument/2006/relationships/hyperlink" Target="https://developer.mozilla.org/es/docs/Learn_web_development/Extensions/Forms/Basic_native_form_controls" TargetMode="External"/><Relationship Id="rId4" Type="http://schemas.openxmlformats.org/officeDocument/2006/relationships/hyperlink" Target="https://developer.mozilla.org/es/docs/Learn_web_development/Extensions/Forms/How_to_structure_a_web_form" TargetMode="Externa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hyperlink" Target="https://blog.logrocket.com/how-to-style-forms-with-css-a-beginners-guide/" TargetMode="External"/><Relationship Id="rId3" Type="http://schemas.openxmlformats.org/officeDocument/2006/relationships/hyperlink" Target="https://marksheet.io/html-forms.html" TargetMode="External"/><Relationship Id="rId7" Type="http://schemas.openxmlformats.org/officeDocument/2006/relationships/hyperlink" Target="https://htmlreference.io/forms/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developer.mozilla.org/en-US/docs/Learn/Forms/Other_form_controls" TargetMode="External"/><Relationship Id="rId5" Type="http://schemas.openxmlformats.org/officeDocument/2006/relationships/hyperlink" Target="https://developer.mozilla.org/en-US/docs/Learn/Forms/HTML5_input_types" TargetMode="External"/><Relationship Id="rId4" Type="http://schemas.openxmlformats.org/officeDocument/2006/relationships/hyperlink" Target="https://www.internetingishard.com/html-and-css/forms/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da-IT/ejercicios-frontend/blob/master/modulo-2/ejercicios/21-formularios.md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>
            <a:spLocks noGrp="1"/>
          </p:cNvSpPr>
          <p:nvPr>
            <p:ph type="body" idx="4294967295"/>
          </p:nvPr>
        </p:nvSpPr>
        <p:spPr>
          <a:xfrm>
            <a:off x="738909" y="1551566"/>
            <a:ext cx="4759325" cy="22621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400" b="1" dirty="0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Clase 10 :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400" b="1" dirty="0">
                <a:solidFill>
                  <a:srgbClr val="CD0055"/>
                </a:solidFill>
                <a:latin typeface="Russo One"/>
                <a:sym typeface="Russo One"/>
              </a:rPr>
              <a:t>Formularios</a:t>
            </a:r>
            <a:endParaRPr sz="4000" dirty="0"/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4234" y="1215032"/>
            <a:ext cx="3424075" cy="3403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768763" y="2180431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60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Formularios</a:t>
            </a:r>
          </a:p>
        </p:txBody>
      </p:sp>
    </p:spTree>
    <p:extLst>
      <p:ext uri="{BB962C8B-B14F-4D97-AF65-F5344CB8AC3E}">
        <p14:creationId xmlns:p14="http://schemas.microsoft.com/office/powerpoint/2010/main" val="3609074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6" y="688695"/>
            <a:ext cx="8035349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Formularios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Los formularios son elementos que tienen campos que nos permiten obtener datos del usuario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encontrarlos por todo internet en diferentes formatos: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Buscadores (ejemplos)</a:t>
            </a:r>
          </a:p>
        </p:txBody>
      </p:sp>
      <p:pic>
        <p:nvPicPr>
          <p:cNvPr id="1026" name="Picture 2" descr="Google">
            <a:extLst>
              <a:ext uri="{FF2B5EF4-FFF2-40B4-BE49-F238E27FC236}">
                <a16:creationId xmlns:a16="http://schemas.microsoft.com/office/drawing/2014/main" id="{712C8BB9-EB6B-0D10-2150-27DC069CA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231" y="2828492"/>
            <a:ext cx="1922207" cy="928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Youtube search">
            <a:extLst>
              <a:ext uri="{FF2B5EF4-FFF2-40B4-BE49-F238E27FC236}">
                <a16:creationId xmlns:a16="http://schemas.microsoft.com/office/drawing/2014/main" id="{CC06A583-FE41-05D8-0CA0-AF1A74728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0804" y="4639291"/>
            <a:ext cx="4555850" cy="223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witter post">
            <a:extLst>
              <a:ext uri="{FF2B5EF4-FFF2-40B4-BE49-F238E27FC236}">
                <a16:creationId xmlns:a16="http://schemas.microsoft.com/office/drawing/2014/main" id="{3913812B-5BD1-EB29-3BC5-324DF939C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35" y="4046481"/>
            <a:ext cx="2188875" cy="816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acebook post">
            <a:extLst>
              <a:ext uri="{FF2B5EF4-FFF2-40B4-BE49-F238E27FC236}">
                <a16:creationId xmlns:a16="http://schemas.microsoft.com/office/drawing/2014/main" id="{FDB9A1C7-FE9A-4514-BF9F-5294AF4E8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1842" y="2828492"/>
            <a:ext cx="2462927" cy="1559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5239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6" y="688695"/>
            <a:ext cx="8321677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Formularios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definir un formulario utilizamos la etiqueta </a:t>
            </a:r>
            <a:r>
              <a:rPr lang="es-AR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form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Los formularios tienen 3 atributos importantes: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action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url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a donde se van a enviar o 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submitear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los datos del formulario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method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acepta como valor un método de HTTP para establecer la forma en que se van a enviar los datos: 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get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o post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	- </a:t>
            </a:r>
            <a:r>
              <a:rPr lang="es-AR" b="1" dirty="0" err="1">
                <a:solidFill>
                  <a:schemeClr val="accent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Get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manda los datos por 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query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string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(en la 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url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ej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nombre=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valor&amp;apellido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=valor)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	- </a:t>
            </a:r>
            <a:r>
              <a:rPr lang="es-AR" b="1" dirty="0">
                <a:solidFill>
                  <a:schemeClr val="accent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Post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los datos viajan en el cuerpo del mensaje no se pueden ver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enctype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establece el tipo de media que vamos a enviar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	- </a:t>
            </a:r>
            <a:r>
              <a:rPr lang="es-AR" b="1" dirty="0">
                <a:solidFill>
                  <a:schemeClr val="accent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Por defecto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'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application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/x-www-form-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urlencoded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’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	- </a:t>
            </a:r>
            <a:r>
              <a:rPr lang="es-AR" b="1" dirty="0">
                <a:solidFill>
                  <a:schemeClr val="accent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enviar archivos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'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multipart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/form-data’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	- </a:t>
            </a:r>
            <a:r>
              <a:rPr lang="es-AR" b="1" dirty="0">
                <a:solidFill>
                  <a:schemeClr val="accent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Texto plano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'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text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/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plain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4143619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6" y="688695"/>
            <a:ext cx="8321677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Formularios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formulario va a tener un montón de elementos HTML que le permitan al usuario ingresar datos, por ejemplo nombre de usuario y contraseña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Utilizando un botón vamos a ejecutar el formulario y enviar todos los datos a otro documento en el cual tenemos programado la forma de analizarlos y actuar en consecuencia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recibir y utilizar los datos podemos utilizar varios lenguajes de 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programacion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como C#, Java, JavaScript, PHP, Ruby, 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etc</a:t>
            </a:r>
            <a:endParaRPr lang="es-AR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Cada campo de texto va a tener un nombre y de esta forma vamos a reconocer que tipo de dato es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Al terminar de utilizar los datos enviamos un archivo de respuesta, por ejemplo al verificar que el usuario nos envió credenciales válidas, le podemos mostrar la página que antes no podía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0FA7848-19BF-E506-98C1-7DA24B85B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530" y="1355833"/>
            <a:ext cx="6855833" cy="96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273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6" y="688695"/>
            <a:ext cx="832167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4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Inputs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Usando los inputs le permitimos al usuario que ingrese o seleccione datos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Existen distintos tipos de inputs y cada uno de ellos tiene una funcionalidad distinta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Por medio del atributo </a:t>
            </a:r>
            <a:r>
              <a:rPr lang="es-AR" sz="2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type</a:t>
            </a:r>
            <a:r>
              <a:rPr lang="es-AR" sz="2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definimos que tipo de campo es</a:t>
            </a:r>
          </a:p>
        </p:txBody>
      </p:sp>
    </p:spTree>
    <p:extLst>
      <p:ext uri="{BB962C8B-B14F-4D97-AF65-F5344CB8AC3E}">
        <p14:creationId xmlns:p14="http://schemas.microsoft.com/office/powerpoint/2010/main" val="3696735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6" y="688695"/>
            <a:ext cx="8321677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Imputs</a:t>
            </a:r>
            <a:endParaRPr lang="es-AR" sz="32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Texto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 utilizan para ingresar una línea de texto como puede ser un nombre, apellido, email, dirección,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etc</a:t>
            </a: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definir este tipo de input utilizamos el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type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text</a:t>
            </a: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Con el atributo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name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definimos el nombre de la variable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C22D723-1A67-61F6-31BF-BD92084F2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395" y="3443281"/>
            <a:ext cx="5382376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594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6" y="688695"/>
            <a:ext cx="832167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Imputs</a:t>
            </a:r>
            <a:endParaRPr lang="es-AR" sz="36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Texto – Continuación 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Con el atributo </a:t>
            </a: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value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podemos definir el valor del contenido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usuario va a ver este texto pre ingresado en el campo de texto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caso de querer remplazarlo deberá borrar el valor actual y luego ingresar uno nuevo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9AB22A4-1CFB-AC5C-9A4A-ADC58305A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687" y="3791922"/>
            <a:ext cx="6897063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101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6" y="688695"/>
            <a:ext cx="832167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Imputs</a:t>
            </a:r>
            <a:endParaRPr lang="es-AR" sz="32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Texto – Continuación 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Por medio del atributo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placeholder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podemos establecer un texto dentro del input a modo de ejemplo. Este texto no es el valor final del campo y solo lo utilizamos para ayudar al usuario a entender que tipo de valor debe ingresar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 utilizamos el atributo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value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placeholder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al mismo tiempo vamos a ver el valor asignado dentro del atributo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value</a:t>
            </a: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61D2665-742E-30A4-E93B-E74087B34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21" y="3776180"/>
            <a:ext cx="7983064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445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6" y="688695"/>
            <a:ext cx="832167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Imputs</a:t>
            </a:r>
            <a:endParaRPr lang="es-AR" sz="24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Texto – Continuación 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Existe un atributo 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size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que nos permite establecer el tamaño del campo de texto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Este atributo acepta un valor numérico con la cantidad de caracteres que queremos ver en el campo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Este atributo solo limita la forma en que se ve el campo y no la cantidad de caracteres que puede ingresar el usuario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Dado que es un atributo visual lo vamos a cambiar desde CSS en el futuro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limitar la cantidad de caracteres que puede ingresar un usuario utilizamos el atributo 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maxlength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que acepta un valor numérico con la cantidad máxima de caracteres esperados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F8BF6F3-7414-F05D-32D4-E7142D9E2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728" y="2993948"/>
            <a:ext cx="5861024" cy="49311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B02A3F9-530B-6AF3-44E0-8BD2FC3D3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5271" y="4382014"/>
            <a:ext cx="6098480" cy="50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665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6" y="688695"/>
            <a:ext cx="8321677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Imputs</a:t>
            </a:r>
            <a:endParaRPr lang="es-AR" sz="24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Password</a:t>
            </a:r>
            <a:endParaRPr lang="es-AR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Permite ingresar un 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password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o contraseña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 como el campo de texto pero no se ven los caracteres ingresados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definir este tipo de input utilizamos el 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type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password</a:t>
            </a:r>
            <a:endParaRPr lang="es-AR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utilizar los atributos 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name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value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size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maxlength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al igual que los campos de texto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 bien el usuario no puede ver los caracteres ingresados esto no significa que sea seguro ya que es solo un efecto visual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Utilizamos HTTPS para enviar los datos de forma segura entre nuestro cliente al servidor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9694461-6FB5-791A-734C-A0FA5FDC3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500" y="3518102"/>
            <a:ext cx="5677692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2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6" y="688695"/>
            <a:ext cx="8321677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Imputs</a:t>
            </a:r>
            <a:endParaRPr lang="es-AR" sz="28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Submit</a:t>
            </a: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buttons</a:t>
            </a: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Permite enviar 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submitear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los datos del formulario a otro documento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definir este tipo de input utilizamos el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type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submit</a:t>
            </a: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utilizar el atributo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name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pero no es necesario ya que es tan solo un botón y no nos brinda ningún dato extra importante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atributo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value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acepta un texto y nos es útil para mostrar un mensaje al usuario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56167B0-E0EE-8649-47D7-51545F2C4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327" y="3485775"/>
            <a:ext cx="6230219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985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6" y="688695"/>
            <a:ext cx="8321677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Imputs</a:t>
            </a:r>
            <a:endParaRPr lang="es-AR" sz="28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Radio </a:t>
            </a: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buttons</a:t>
            </a: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Permite que el usuario seleccione sólo un valor entre algunas opciones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definir este tipo de input utilizamos el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type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radio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Utilizamos el atributo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name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para identificar este elemento y luego obtener su valor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Dado que este elemento se utiliza junto a otros iguales y la idea es que el usuario seleccione uno solo debemos nombrar a todos los elementos con el mismo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name</a:t>
            </a: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dar un contexto del valor de este elemento debemos escribir algún texto descriptivo junto a ellos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459809C-035B-8C5C-A6C2-E9C69C82B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130" y="3774301"/>
            <a:ext cx="4546208" cy="118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64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6" y="688695"/>
            <a:ext cx="832167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Imputs</a:t>
            </a:r>
            <a:endParaRPr lang="es-AR" sz="28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Radio </a:t>
            </a: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buttons</a:t>
            </a: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– Continuación 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seleccionar inicialmente un radio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button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utilizando el atributo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checked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con el mismo valor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checked</a:t>
            </a: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Sólo un elemento radio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button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tiene que tener este valor ya que se utilizan para selección única como verdadero o falso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079C2DF-43C4-3804-73F9-D17736634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368" y="3182114"/>
            <a:ext cx="6301264" cy="131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383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6" y="688695"/>
            <a:ext cx="8321677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0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Imputs</a:t>
            </a:r>
            <a:endParaRPr lang="es-AR" sz="20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2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2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Checkboxes</a:t>
            </a:r>
            <a:endParaRPr lang="es-AR" sz="12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2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Permite que el usuario seleccione/deseleccione </a:t>
            </a:r>
            <a:r>
              <a:rPr lang="es-AR" sz="12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multiples</a:t>
            </a:r>
            <a:r>
              <a:rPr lang="es-AR" sz="1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valores entre algunas opciones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definir este tipo de input utilizamos el </a:t>
            </a:r>
            <a:r>
              <a:rPr lang="es-AR" sz="12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type</a:t>
            </a:r>
            <a:r>
              <a:rPr lang="es-AR" sz="1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AR" sz="12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checkbox</a:t>
            </a:r>
            <a:endParaRPr lang="es-AR" sz="12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Utilizamos el atributo </a:t>
            </a:r>
            <a:r>
              <a:rPr lang="es-AR" sz="12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name</a:t>
            </a:r>
            <a:r>
              <a:rPr lang="es-AR" sz="1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para identificar este elemento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Dado que la selección es múltiple debemos utilizar el mismo </a:t>
            </a:r>
            <a:r>
              <a:rPr lang="es-AR" sz="12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name</a:t>
            </a:r>
            <a:r>
              <a:rPr lang="es-AR" sz="1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para todos los </a:t>
            </a:r>
            <a:r>
              <a:rPr lang="es-AR" sz="12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checkboxes</a:t>
            </a:r>
            <a:r>
              <a:rPr lang="es-AR" sz="1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de un mismo criterio (ejemplo: elegir super </a:t>
            </a:r>
            <a:r>
              <a:rPr lang="es-AR" sz="12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heroes</a:t>
            </a:r>
            <a:r>
              <a:rPr lang="es-AR" sz="1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que te gustan)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Por medio del atributo </a:t>
            </a:r>
            <a:r>
              <a:rPr lang="es-AR" sz="12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value</a:t>
            </a:r>
            <a:r>
              <a:rPr lang="es-AR" sz="1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establecemos el valor de cada uno de estos elementos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atributo </a:t>
            </a:r>
            <a:r>
              <a:rPr lang="es-AR" sz="12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checked</a:t>
            </a:r>
            <a:r>
              <a:rPr lang="es-AR" sz="1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nos permite activar o seleccionar inicialmente este elemento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4F2538B-4EB2-17FC-3895-39FD40229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652" y="3085274"/>
            <a:ext cx="7001164" cy="172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656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6" y="688695"/>
            <a:ext cx="8321677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Hidden</a:t>
            </a:r>
            <a:endParaRPr lang="es-AR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algunos casos podemos necesitar agregar algunos datos que no queremos que el usuario vea en el formulario, para esto utilizamos inputs ocultos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definir este tipo de input utilizamos el 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type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hidden</a:t>
            </a:r>
            <a:endParaRPr lang="es-AR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Utilizamos el atributo 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name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para identificar este valor y el atributo 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value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para establecer el valor del mismo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 el usuario ve el código fuente si puede ver estos campos y valores ya que son parte del código del a página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Un caso de uso puede ser ocultar el id de un producto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DDE0421-8157-18DB-CC4B-A608E9558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337" y="3430211"/>
            <a:ext cx="7173326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934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11161" y="463480"/>
            <a:ext cx="8321677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Hidden</a:t>
            </a: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Image</a:t>
            </a: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buttons</a:t>
            </a: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Permite enviar 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submitear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los datos del formulario a otro documento utilizando una imagen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definir este tipo de input utilizamos el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type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image</a:t>
            </a: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Al igual que las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imagenes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este elemento tiene el atributo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src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que nos permite establecer cual es la fuente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utilizar los atributos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height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width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para establecer el alto y ancho respectivamente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Al ser un atributo visual, en el futuro, lo vamos a controlar desde CSS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F2C8F67-CC7A-4FAD-7BDC-6A201FA4D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983" y="2976079"/>
            <a:ext cx="4966276" cy="97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33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11161" y="463480"/>
            <a:ext cx="8321677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Hidden</a:t>
            </a:r>
            <a:endParaRPr lang="es-AR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Campos especiales en HTML5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HTML5 incorpora nuevos tipos de inputs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 el browser no soporta estos nuevos tipos de inputs, muestra un input de texto normal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Todos ellos tienen el atributo 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name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que nos permite identificar el valor ingresado (variable)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b="1" dirty="0">
                <a:solidFill>
                  <a:schemeClr val="accent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1. Date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AutoNum type="arabicPeriod"/>
            </a:pPr>
            <a:endParaRPr lang="es-AR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muchos casos necesitamos pedirle al usuario que ingrese una fecha, puede ser para saber su nacimiento, vencimiento de la tarjeta de crédito, año en el que termino el colegio o para saber su experiencia laboral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definir este tipo de input utilizamos el </a:t>
            </a:r>
            <a:r>
              <a:rPr lang="es-AR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type</a:t>
            </a:r>
            <a:r>
              <a:rPr lang="es-AR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date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0DE5DB9-C7D2-65E7-707A-EFBEF808C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" y="3881906"/>
            <a:ext cx="5343661" cy="96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664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11161" y="463480"/>
            <a:ext cx="832167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Hidden</a:t>
            </a: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Campos especiales en HTML5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accent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2. Email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Este nuevo tipo de input permite que el usuario ingrese su email o correo electrónico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definir este tipo de input utilizamos el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type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email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C073622-4427-D170-1237-42920A2B5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653" y="3489229"/>
            <a:ext cx="4772691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9548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11161" y="463480"/>
            <a:ext cx="8321677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Hidden</a:t>
            </a: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Campos especiales en HTML5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accent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3. URL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Este nuevo tipo de input permite que el usuario ingrese una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url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, por ejemplo el usuario puede ingresar la dirección de su sitio personal, trabajos realizados online o cuenta de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twitter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con la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url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completa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definir este tipo de input utilizamos el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type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url</a:t>
            </a: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761228B-FA30-5A24-35DE-BB4FF376E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59" y="3763819"/>
            <a:ext cx="4698881" cy="104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436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11161" y="463480"/>
            <a:ext cx="8321677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Hidden</a:t>
            </a: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Campos especiales en HTML5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solidFill>
                  <a:schemeClr val="accent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4. </a:t>
            </a:r>
            <a:r>
              <a:rPr lang="es-AR" sz="1600" b="1" dirty="0" err="1">
                <a:solidFill>
                  <a:schemeClr val="accent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Search</a:t>
            </a:r>
            <a:endParaRPr lang="es-AR" sz="16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Utilizando este nuevo tipo de input podemos pedirle al usuario que ingrese un criterio por el cual vamos a realizar algún tipo de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busqueda</a:t>
            </a: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definir este tipo de input utilizamos el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type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search</a:t>
            </a: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Algunos browsers agregan la funcionalidad de borrar el contenido por medio de algún botón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Esta funcionalidad la podemos construir con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css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js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sin problema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8D0FA8B-D822-959F-A789-DB4533370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863" y="3870036"/>
            <a:ext cx="4245370" cy="95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712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11161" y="463480"/>
            <a:ext cx="8321677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Hidden</a:t>
            </a: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Campos especiales en HTML5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solidFill>
                  <a:schemeClr val="accent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4. File </a:t>
            </a:r>
            <a:r>
              <a:rPr lang="es-AR" sz="1600" b="1" dirty="0" err="1">
                <a:solidFill>
                  <a:schemeClr val="accent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upload</a:t>
            </a:r>
            <a:endParaRPr lang="es-AR" sz="16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Permite seleccionar un archivo que será enviado con el resto de los datos del formulario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definir este tipo de input utilizamos el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type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file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Al utilizar este tipo de inputs debemos establecer el atributo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method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del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formualrio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en post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También debemos establecer el atributo del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fomr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enctype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en '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multipart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/form-data'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Utilizamos el atributo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name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para identificar este archivo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1DF13FE-4BFB-AD8C-0AD4-6E6536B4C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196" y="3868624"/>
            <a:ext cx="5983605" cy="86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7541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11161" y="463480"/>
            <a:ext cx="832167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Text </a:t>
            </a:r>
            <a:r>
              <a:rPr lang="es-AR" sz="28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area</a:t>
            </a: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Permite ingresar texto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multilinea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, se puede utilizar para notas, una bio o cualquier texto que ocupe más de una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linea</a:t>
            </a: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 diferencia del resto de las etiquetas el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text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area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tiene contenido, es decir que tiene una etiqueta de apertura y una de cierre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También utilizamos el atributo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name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para identificar a este elemento y obtener su valor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utilizar el atributo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placeholder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para establecer un valor inicial al igual que en el resto de los inputs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BF6FDC-353D-36D8-86F6-50D4128C6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72" y="2679473"/>
            <a:ext cx="7121107" cy="50351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D7AAFC4-8A7E-6DE3-4B4B-E19F62B457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338" y="4126965"/>
            <a:ext cx="7592485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2105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89670" y="934534"/>
            <a:ext cx="832167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Text </a:t>
            </a:r>
            <a:r>
              <a:rPr lang="es-AR" sz="36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area</a:t>
            </a: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limitar el ancho de este elemento por medio del atributo </a:t>
            </a: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cols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que acepta un valor numérico con la cantidad de caracteres que queremos ver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También podemos cambiar la cantidad de </a:t>
            </a: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lineas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que muestra el </a:t>
            </a: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textarea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utilizando el atributo </a:t>
            </a: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rows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y acepta un valor numérico con la cantidad de líneas que queremos ver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2241D77-0261-05D1-3955-2EB3DEFFB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435" y="4030525"/>
            <a:ext cx="7976128" cy="49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0943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31235" y="694389"/>
            <a:ext cx="509371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Drop-down</a:t>
            </a:r>
            <a:endParaRPr lang="es-AR" sz="28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Permite seleccionar una o varias opciones de una lista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 utiliza cuando tenemos que mostrar muchas opciones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Este elemento está compuesto de dos partes: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	- </a:t>
            </a: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Etiqueta </a:t>
            </a: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select</a:t>
            </a: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establecer que es un 	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drop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down</a:t>
            </a: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	- </a:t>
            </a: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Etiquetas </a:t>
            </a: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option</a:t>
            </a:r>
            <a:r>
              <a:rPr lang="es-AR" sz="16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establecer las 	opciones y valores del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select</a:t>
            </a: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Identificamos el elemento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select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con el atributo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name</a:t>
            </a: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2211175-7CBA-C32F-97CB-F94D69CF3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7882" y="1944255"/>
            <a:ext cx="3088687" cy="171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5860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31235" y="694389"/>
            <a:ext cx="77814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Drop-down</a:t>
            </a:r>
            <a:r>
              <a:rPr lang="es-AR" sz="28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 – Continuación 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Establecemos el valor de la etiqueta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option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con el atributo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value</a:t>
            </a: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Por medio del atributo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selected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y el valor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selected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podemos seleccionar inicialmente un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option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dentro del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select</a:t>
            </a: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 no utilizamos el atributo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selected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el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drop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down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utiliza el primer elemento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CA3BDAF-EB1A-94A5-D503-F07F52D50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841" y="2660071"/>
            <a:ext cx="4776653" cy="209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5216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31235" y="694389"/>
            <a:ext cx="7781492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Drop-down</a:t>
            </a:r>
            <a:r>
              <a:rPr lang="es-AR" sz="28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 – Continuación 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transformar el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select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en un selector de múltiples valores utilizando el atributo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multiple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con el valor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multiple</a:t>
            </a: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establecer el atributo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size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con un valor numérico con la cantidad de elementos que queremos mostrar en la lista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seleccionar múltiples opciones utilizamos la tecla control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B6F2CD2-430F-7E86-A9E2-5CAAD7172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181" y="2900377"/>
            <a:ext cx="4382655" cy="203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748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86652" y="899421"/>
            <a:ext cx="7781492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Buttons</a:t>
            </a:r>
            <a:endParaRPr lang="es-AR" sz="32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También contamos con botones personalizados utilizando el elemento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button</a:t>
            </a: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Dado que podemos establecer el contenido de este elemento tenemos que utilizar la etiqueta de apertura y cierre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6828DB2-4D1F-1CE3-D491-107787F5F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471" y="3259194"/>
            <a:ext cx="4001058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4111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86652" y="899421"/>
            <a:ext cx="7781492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Buttons</a:t>
            </a:r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 – Continuación 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agregar cualquier contenido, por ejemplo una imagen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EC34EF1-1AFF-0CA2-D994-D2EBFF978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60" y="2452253"/>
            <a:ext cx="7411484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2191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86652" y="899421"/>
            <a:ext cx="778149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Describir elementos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comunicarle al usuario que valor tiene que ingresar en cada campo podemos utilizar el elemento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label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o etiqueta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Estas etiquetas también nos permiten describirle el contenido de los campos a las personas no videntes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Este es un elemento en línea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E692868-2DD9-DD80-B543-D68413898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489" y="3260435"/>
            <a:ext cx="3551021" cy="150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7896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86652" y="899421"/>
            <a:ext cx="7781492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Describir elementos – Continuación 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También se puede utilizar de la siguiente forma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69E5C52-AB3A-CB9F-A920-D2DA32E88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2244" y="2291367"/>
            <a:ext cx="4119511" cy="2554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611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86652" y="899421"/>
            <a:ext cx="7781492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Describir elementos – Continuación 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 etiqueta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label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tiene un atributo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for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que acepta el nombre del id de un input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 el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label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tiene establecido un atributo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for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el usuario puede hacer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click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en el texto del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label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para hacer foco en el input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9151B22-5D2B-6F2C-7592-96119EBCC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3564" y="3049734"/>
            <a:ext cx="5643472" cy="170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1033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86652" y="899421"/>
            <a:ext cx="7781492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Agrupar campos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 el formulario es largo está bueno agrupar los campos por algún criterio, por ejemplo datos del usuario, de su auto,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etc</a:t>
            </a: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agrupar campos utilizamos la etiqueta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fieldset</a:t>
            </a: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BDC9743-F25D-0B41-F3E1-B3770F516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5844" y="2766290"/>
            <a:ext cx="5432312" cy="1993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6392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86652" y="899421"/>
            <a:ext cx="7781492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Agrupar campos – Continuación 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agregar un título a la sección utilizando la etiqueta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legend</a:t>
            </a: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DBE2408-8962-C1F5-DD32-86250F1BB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908" y="2171105"/>
            <a:ext cx="5858664" cy="251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1675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73435" y="682367"/>
            <a:ext cx="819713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Validar campos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 común tener que validar los datos ingresados por el usuario para verificar que tengamos todo lo que necesitamos y en el formato correcto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Validar los formularios en el browser se conoce como validar los datos del lado del cliente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asegurarnos que los datos son correctos y que no nos interceptaron el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request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vamos a validar los datos también del lado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sel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servidor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 bien la doble validación es más trabajo, hace que nuestro código sea más seguro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Por otro lado evita enviar datos al servidor que no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esten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bien y de esta forma ahorrar idas y vueltas entre cliente y servidor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HTML5 incorpora algunas funcionalidades que nos permiten validar nuestros formularios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Generalmente esta tarea se realiza utilizando JavaScript y lo vamos a ver más adelante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Por ahora no podemos customizar o personalizar el mensaje de error que muestran los campos (lo podemos hacer desde JavaScript)</a:t>
            </a:r>
          </a:p>
        </p:txBody>
      </p:sp>
    </p:spTree>
    <p:extLst>
      <p:ext uri="{BB962C8B-B14F-4D97-AF65-F5344CB8AC3E}">
        <p14:creationId xmlns:p14="http://schemas.microsoft.com/office/powerpoint/2010/main" val="488140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73435" y="682367"/>
            <a:ext cx="819713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Validar campos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Campos obligatorios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hacer que un campo sea obligatorio utilizando el atributo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required</a:t>
            </a: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Browserser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más viejos necesitan que se agregue el valor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required</a:t>
            </a: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form no va a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submitear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los datos hasta que no este completo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A1B60F4-ECE7-48D9-2A34-588407D4C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509" y="3310953"/>
            <a:ext cx="5563679" cy="141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0739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73435" y="894803"/>
            <a:ext cx="819713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0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Validar campos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2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2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Campos con el formato correcto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2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Distintos tipos de datos necesitan cumplir con un formato para ser válidos por ejemplo un email, ruta o fecha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validar el formato de un input podemos utilizar el atributo </a:t>
            </a:r>
            <a:r>
              <a:rPr lang="es-AR" sz="12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pattern</a:t>
            </a:r>
            <a:r>
              <a:rPr lang="es-AR" sz="1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y una expresión regular como valor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campo no va a ser válido hasta que cumpla con el formato esperado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Los nuevos campos de HTML5 como date, email y </a:t>
            </a:r>
            <a:r>
              <a:rPr lang="es-AR" sz="12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url</a:t>
            </a:r>
            <a:r>
              <a:rPr lang="es-AR" sz="1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ya vienen con una </a:t>
            </a:r>
            <a:r>
              <a:rPr lang="es-AR" sz="12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espresión</a:t>
            </a:r>
            <a:r>
              <a:rPr lang="es-AR" sz="1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regular </a:t>
            </a:r>
            <a:r>
              <a:rPr lang="es-AR" sz="12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incluída</a:t>
            </a:r>
            <a:endParaRPr lang="es-AR" sz="12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elemento </a:t>
            </a:r>
            <a:r>
              <a:rPr lang="es-AR" sz="12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textarea</a:t>
            </a:r>
            <a:r>
              <a:rPr lang="es-AR" sz="1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no soporta este atributo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saber si podemos utilizar una </a:t>
            </a:r>
            <a:r>
              <a:rPr lang="es-AR" sz="12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feature</a:t>
            </a:r>
            <a:r>
              <a:rPr lang="es-AR" sz="1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nueva y entender que browsers la soportan podemos utilizar </a:t>
            </a:r>
            <a:r>
              <a:rPr lang="es-AR" sz="12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caniuse.com </a:t>
            </a:r>
            <a:r>
              <a:rPr lang="es-AR" sz="1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tanto para </a:t>
            </a:r>
            <a:r>
              <a:rPr lang="es-AR" sz="12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html</a:t>
            </a:r>
            <a:r>
              <a:rPr lang="es-AR" sz="1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s-AR" sz="12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css</a:t>
            </a:r>
            <a:r>
              <a:rPr lang="es-AR" sz="1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s-AR" sz="12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js</a:t>
            </a:r>
            <a:endParaRPr lang="es-AR" sz="12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23F103-F687-1993-1EF8-695AD1F66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517" y="3403250"/>
            <a:ext cx="6862966" cy="132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9383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C3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>
            <a:spLocks noGrp="1"/>
          </p:cNvSpPr>
          <p:nvPr>
            <p:ph type="title" idx="4294967295"/>
          </p:nvPr>
        </p:nvSpPr>
        <p:spPr>
          <a:xfrm>
            <a:off x="798945" y="1771795"/>
            <a:ext cx="4129088" cy="534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4A4A4A"/>
                </a:solidFill>
                <a:latin typeface="Russo One"/>
                <a:ea typeface="Russo One"/>
                <a:cs typeface="Russo One"/>
                <a:sym typeface="Russo One"/>
              </a:rPr>
              <a:t>Veamos un ejemplo de </a:t>
            </a:r>
            <a:endParaRPr sz="4400" dirty="0">
              <a:solidFill>
                <a:srgbClr val="4A4A4A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este tema</a:t>
            </a:r>
            <a:endParaRPr sz="4400" dirty="0">
              <a:solidFill>
                <a:srgbClr val="CD0055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154" name="Google Shape;15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7025" y="691975"/>
            <a:ext cx="4392225" cy="439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607127" y="1355002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60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Atributos de Formulario en HTML</a:t>
            </a:r>
          </a:p>
        </p:txBody>
      </p:sp>
    </p:spTree>
    <p:extLst>
      <p:ext uri="{BB962C8B-B14F-4D97-AF65-F5344CB8AC3E}">
        <p14:creationId xmlns:p14="http://schemas.microsoft.com/office/powerpoint/2010/main" val="26898618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73435" y="571531"/>
            <a:ext cx="819713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Atributos de Formulario en HTML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Los atributos de formulario en HTML se usan para personalizar y configurar el comportamiento y la presentación de los campos de entrada. A continuación, veremos cada uno en detalle: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solidFill>
                  <a:schemeClr val="accent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1. </a:t>
            </a:r>
            <a:r>
              <a:rPr lang="es-AR" sz="1600" b="1" dirty="0" err="1">
                <a:solidFill>
                  <a:schemeClr val="accent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name</a:t>
            </a:r>
            <a:r>
              <a:rPr lang="es-AR" sz="1600" b="1" dirty="0">
                <a:solidFill>
                  <a:schemeClr val="accent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 un atributo obligatorio en la mayoría de los elementos de formulario. 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Sirve para identificar el campo al enviarlo al servidor. 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 clave para procesar los datos del formulario.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Uso típico: Formularios enviados mediante POST o GET.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Cuando se envíe el formulario, el servidor recibirá los datos con el nombre "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username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".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FCBADDF-1E96-E411-9ED7-E07E0C5AD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9883" y="3632343"/>
            <a:ext cx="3664234" cy="60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0945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73435" y="927131"/>
            <a:ext cx="819713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Atributos de Formulario en HTML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accent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2. id: 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Identifica de manera única un campo en el documento. 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 utiliza principalmente para enlazar etiquetas &lt;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label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 con su campo correspondiente o para estilizar el campo mediante CSS.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 diferencia de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name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, el id debe ser único en toda la página.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Aquí, el atributo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for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en la etiqueta &lt;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label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 está vinculado al campo con id="email".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0D7610E-D2A8-3645-3A8B-B6D7FEF26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909" y="3336536"/>
            <a:ext cx="3537142" cy="66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9316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73435" y="839385"/>
            <a:ext cx="819713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Atributos de Formulario en HTML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b="1" dirty="0">
                <a:solidFill>
                  <a:schemeClr val="accent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3. </a:t>
            </a:r>
            <a:r>
              <a:rPr lang="es-AR" sz="2000" b="1" dirty="0" err="1">
                <a:solidFill>
                  <a:schemeClr val="accent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value</a:t>
            </a:r>
            <a:r>
              <a:rPr lang="es-AR" sz="2000" b="1" dirty="0">
                <a:solidFill>
                  <a:schemeClr val="accent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Define el valor inicial del campo de entrada. 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 el usuario no lo modifica, este será el valor enviado al servidor.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Uso típico: </a:t>
            </a: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Prellenar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campos, enviar datos ocultos, o establecer valores predeterminados.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campo estará prellenado con "Argentina" al cargar la página.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B2923A3-B585-8E05-E205-F18C7FD82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400" y="3505188"/>
            <a:ext cx="5836713" cy="63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1915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73435" y="723931"/>
            <a:ext cx="819713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Atributos de Formulario en HTML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b="1" dirty="0">
                <a:solidFill>
                  <a:schemeClr val="accent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4. </a:t>
            </a:r>
            <a:r>
              <a:rPr lang="es-AR" sz="2000" b="1" dirty="0" err="1">
                <a:solidFill>
                  <a:schemeClr val="accent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placeholder</a:t>
            </a:r>
            <a:r>
              <a:rPr lang="es-AR" sz="2000" b="1" dirty="0">
                <a:solidFill>
                  <a:schemeClr val="accent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Muestra un texto guía dentro del campo cuando está vacío. 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Este texto desaparece en cuanto el usuario empieza a escribir.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Uso típico: Ayudar al usuario a entender qué datos debe ingresar.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Aparece un mensaje dentro del campo: "Ingresa tu nombre de usuario".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AA2545F-A8CE-C360-8985-4138EDC02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358" y="3213899"/>
            <a:ext cx="7040424" cy="49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9695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73435" y="723931"/>
            <a:ext cx="819713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Atributos de Formulario en HTML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b="1" dirty="0">
                <a:solidFill>
                  <a:schemeClr val="accent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5. min: 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Establece el valor mínimo permitido para campos numéricos, de fecha o rango.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Uso típico: Validar números o fechas.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Solo aceptará valores iguales o mayores a 18.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6CFDA19-6104-61E7-96DA-6897C251C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444" y="3176254"/>
            <a:ext cx="4925112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6544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73435" y="723931"/>
            <a:ext cx="819713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Atributos de Formulario en HTML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b="1" dirty="0">
                <a:solidFill>
                  <a:schemeClr val="accent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6. </a:t>
            </a:r>
            <a:r>
              <a:rPr lang="es-AR" sz="2000" b="1" dirty="0" err="1">
                <a:solidFill>
                  <a:schemeClr val="accent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max</a:t>
            </a:r>
            <a:r>
              <a:rPr lang="es-AR" sz="2000" b="1" dirty="0">
                <a:solidFill>
                  <a:schemeClr val="accent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Establece el valor máximo permitido para campos numéricos, de fecha o rango.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Uso típico: Validar que los valores ingresados no excedan un límite.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Solo aceptará valores iguales o menores a 99.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7EE8F50-C48D-351B-85F4-3694F4AB9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9992" y="3101783"/>
            <a:ext cx="4991797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917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10380" y="661718"/>
            <a:ext cx="81971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Sigamos viendo mas sobre formularios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los siguientes Links, encontraras mas información sobre los formularios: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26FF09C-C1A5-9010-25FA-81D6F401B1C7}"/>
              </a:ext>
            </a:extLst>
          </p:cNvPr>
          <p:cNvSpPr/>
          <p:nvPr/>
        </p:nvSpPr>
        <p:spPr>
          <a:xfrm>
            <a:off x="900544" y="1877462"/>
            <a:ext cx="7135091" cy="6788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100" b="1" i="0" dirty="0">
                <a:solidFill>
                  <a:srgbClr val="FFFFFF"/>
                </a:solidFill>
                <a:effectLst/>
                <a:latin typeface="Inter"/>
              </a:rPr>
              <a:t>Mi primer formulario HTML: </a:t>
            </a:r>
            <a:r>
              <a:rPr lang="es-AR" sz="1100" b="1" i="0" dirty="0">
                <a:solidFill>
                  <a:srgbClr val="FFFFFF"/>
                </a:solidFill>
                <a:effectLst/>
                <a:latin typeface="Inter"/>
                <a:hlinkClick r:id="rId3"/>
              </a:rPr>
              <a:t>https://developer.mozilla.org/es/docs/Learn_web_development/Extensions/Forms/Your_first_form</a:t>
            </a:r>
            <a:endParaRPr lang="es-AR" sz="1100" b="1" i="0" dirty="0">
              <a:solidFill>
                <a:srgbClr val="FFFFFF"/>
              </a:solidFill>
              <a:effectLst/>
              <a:latin typeface="Inter"/>
            </a:endParaRPr>
          </a:p>
          <a:p>
            <a:pPr algn="ctr"/>
            <a:endParaRPr lang="es-AR" sz="1100" b="1" i="0" dirty="0">
              <a:solidFill>
                <a:srgbClr val="FFFFFF"/>
              </a:solidFill>
              <a:effectLst/>
              <a:latin typeface="Inter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CF79E76-59A5-BAAE-C35E-265299BCAE7E}"/>
              </a:ext>
            </a:extLst>
          </p:cNvPr>
          <p:cNvSpPr/>
          <p:nvPr/>
        </p:nvSpPr>
        <p:spPr>
          <a:xfrm>
            <a:off x="900544" y="2671791"/>
            <a:ext cx="7135091" cy="6788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i="0" dirty="0">
                <a:solidFill>
                  <a:srgbClr val="FFFFFF"/>
                </a:solidFill>
                <a:effectLst/>
                <a:latin typeface="Inter"/>
              </a:rPr>
              <a:t>Cómo estructurar un formulario HTML</a:t>
            </a:r>
          </a:p>
          <a:p>
            <a:pPr algn="ctr"/>
            <a:r>
              <a:rPr lang="es-AR" sz="1100" b="1" i="0" dirty="0">
                <a:solidFill>
                  <a:srgbClr val="FFFFFF"/>
                </a:solidFill>
                <a:effectLst/>
                <a:latin typeface="Inter"/>
                <a:hlinkClick r:id="rId4"/>
              </a:rPr>
              <a:t>https://developer.mozilla.org/es/docs/Learn_web_development/Extensions/Forms/How_to_structure_a_web_form</a:t>
            </a:r>
            <a:r>
              <a:rPr lang="es-AR" sz="1100" b="1" i="0" dirty="0">
                <a:solidFill>
                  <a:srgbClr val="FFFFFF"/>
                </a:solidFill>
                <a:effectLst/>
                <a:latin typeface="Inter"/>
              </a:rPr>
              <a:t> 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D3AF263-D951-9C1C-F819-ACF1B282B829}"/>
              </a:ext>
            </a:extLst>
          </p:cNvPr>
          <p:cNvSpPr/>
          <p:nvPr/>
        </p:nvSpPr>
        <p:spPr>
          <a:xfrm>
            <a:off x="900544" y="3466120"/>
            <a:ext cx="7135091" cy="6788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i="0" dirty="0">
                <a:solidFill>
                  <a:srgbClr val="FFFFFF"/>
                </a:solidFill>
                <a:effectLst/>
                <a:latin typeface="Inter"/>
              </a:rPr>
              <a:t>Controles de formulario originales</a:t>
            </a:r>
          </a:p>
          <a:p>
            <a:pPr algn="ctr"/>
            <a:r>
              <a:rPr lang="es-AR" sz="1100" b="1" i="0" dirty="0">
                <a:solidFill>
                  <a:srgbClr val="FFFFFF"/>
                </a:solidFill>
                <a:effectLst/>
                <a:latin typeface="Inter"/>
                <a:hlinkClick r:id="rId5"/>
              </a:rPr>
              <a:t>https://developer.mozilla.org/es/docs/Learn_web_development/Extensions/Forms/Basic_native_form_controls</a:t>
            </a:r>
            <a:r>
              <a:rPr lang="es-AR" sz="1100" b="1" i="0" dirty="0">
                <a:solidFill>
                  <a:srgbClr val="FFFFFF"/>
                </a:solidFill>
                <a:effectLst/>
                <a:latin typeface="Inter"/>
              </a:rPr>
              <a:t> 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8EAA075-23D1-CF90-04BC-1475CEA31DAD}"/>
              </a:ext>
            </a:extLst>
          </p:cNvPr>
          <p:cNvSpPr/>
          <p:nvPr/>
        </p:nvSpPr>
        <p:spPr>
          <a:xfrm>
            <a:off x="900543" y="4223502"/>
            <a:ext cx="7135091" cy="6788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i="0" dirty="0">
                <a:solidFill>
                  <a:srgbClr val="FFFFFF"/>
                </a:solidFill>
                <a:effectLst/>
                <a:latin typeface="Inter"/>
              </a:rPr>
              <a:t>Estilizando formularios HTML</a:t>
            </a:r>
          </a:p>
          <a:p>
            <a:pPr algn="ctr"/>
            <a:r>
              <a:rPr lang="es-AR" sz="1100" b="1" i="0" dirty="0">
                <a:solidFill>
                  <a:srgbClr val="FFFFFF"/>
                </a:solidFill>
                <a:effectLst/>
                <a:latin typeface="Inter"/>
                <a:hlinkClick r:id="rId6"/>
              </a:rPr>
              <a:t>https://developer.mozilla.org/es/docs/Learn_web_development/Extensions/Forms/Styling_web_forms</a:t>
            </a:r>
            <a:r>
              <a:rPr lang="es-AR" sz="1100" b="1" i="0" dirty="0">
                <a:solidFill>
                  <a:srgbClr val="FFFFFF"/>
                </a:solidFill>
                <a:effectLst/>
                <a:latin typeface="Inter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12609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28853" y="984991"/>
            <a:ext cx="819713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Mas contenido sobre formularios </a:t>
            </a:r>
          </a:p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(en Ingles)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AR" sz="2400" b="0" i="0" dirty="0">
                <a:solidFill>
                  <a:srgbClr val="1C1E21"/>
                </a:solidFill>
                <a:effectLst/>
                <a:latin typeface="system-ui"/>
                <a:hlinkClick r:id="rId3"/>
              </a:rPr>
              <a:t>HTML </a:t>
            </a:r>
            <a:r>
              <a:rPr lang="es-AR" sz="2400" b="0" i="0" dirty="0" err="1">
                <a:solidFill>
                  <a:srgbClr val="1C1E21"/>
                </a:solidFill>
                <a:effectLst/>
                <a:latin typeface="system-ui"/>
                <a:hlinkClick r:id="rId3"/>
              </a:rPr>
              <a:t>Forms</a:t>
            </a:r>
            <a:endParaRPr lang="es-AR" sz="2400" b="0" i="0" dirty="0">
              <a:solidFill>
                <a:srgbClr val="1C1E21"/>
              </a:solidFill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AR" sz="2400" b="0" i="0" dirty="0">
                <a:solidFill>
                  <a:srgbClr val="1C1E21"/>
                </a:solidFill>
                <a:effectLst/>
                <a:latin typeface="system-ui"/>
                <a:hlinkClick r:id="rId4"/>
              </a:rPr>
              <a:t>HTML </a:t>
            </a:r>
            <a:r>
              <a:rPr lang="es-AR" sz="2400" b="0" i="0" dirty="0" err="1">
                <a:solidFill>
                  <a:srgbClr val="1C1E21"/>
                </a:solidFill>
                <a:effectLst/>
                <a:latin typeface="system-ui"/>
                <a:hlinkClick r:id="rId4"/>
              </a:rPr>
              <a:t>Forms</a:t>
            </a:r>
            <a:r>
              <a:rPr lang="es-AR" sz="2400" b="0" i="0" dirty="0">
                <a:solidFill>
                  <a:srgbClr val="1C1E21"/>
                </a:solidFill>
                <a:effectLst/>
                <a:latin typeface="system-ui"/>
                <a:hlinkClick r:id="rId4"/>
              </a:rPr>
              <a:t> - Guide</a:t>
            </a:r>
            <a:endParaRPr lang="es-AR" sz="2400" b="0" i="0" dirty="0">
              <a:solidFill>
                <a:srgbClr val="1C1E21"/>
              </a:solidFill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AR" sz="2400" b="0" i="0" dirty="0">
                <a:solidFill>
                  <a:srgbClr val="1C1E21"/>
                </a:solidFill>
                <a:effectLst/>
                <a:latin typeface="system-ui"/>
                <a:hlinkClick r:id="rId5"/>
              </a:rPr>
              <a:t>Controles de HTML5 - MDN</a:t>
            </a:r>
            <a:endParaRPr lang="es-AR" sz="2400" b="0" i="0" dirty="0">
              <a:solidFill>
                <a:srgbClr val="1C1E21"/>
              </a:solidFill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AR" sz="2400" b="0" i="0" dirty="0">
                <a:solidFill>
                  <a:srgbClr val="1C1E21"/>
                </a:solidFill>
                <a:effectLst/>
                <a:latin typeface="system-ui"/>
                <a:hlinkClick r:id="rId6"/>
              </a:rPr>
              <a:t>Otros elementos de control de formularios - MDN</a:t>
            </a:r>
            <a:endParaRPr lang="es-AR" sz="2400" b="0" i="0" dirty="0">
              <a:solidFill>
                <a:srgbClr val="1C1E21"/>
              </a:solidFill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AR" sz="2400" b="0" i="0" dirty="0">
                <a:solidFill>
                  <a:srgbClr val="1C1E21"/>
                </a:solidFill>
                <a:effectLst/>
                <a:latin typeface="system-ui"/>
                <a:hlinkClick r:id="rId7"/>
              </a:rPr>
              <a:t>Referencia de formularios</a:t>
            </a:r>
            <a:endParaRPr lang="es-AR" sz="2400" b="0" i="0" dirty="0">
              <a:solidFill>
                <a:srgbClr val="1C1E21"/>
              </a:solidFill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AR" sz="2400" b="0" i="0" dirty="0">
                <a:solidFill>
                  <a:srgbClr val="1C1E21"/>
                </a:solidFill>
                <a:effectLst/>
                <a:latin typeface="system-ui"/>
                <a:hlinkClick r:id="rId8"/>
              </a:rPr>
              <a:t>Cómo estilar formularios</a:t>
            </a:r>
            <a:endParaRPr lang="es-AR" sz="2400" b="0" i="0" dirty="0">
              <a:solidFill>
                <a:srgbClr val="1C1E21"/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21178033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3969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>
            <a:spLocks noGrp="1"/>
          </p:cNvSpPr>
          <p:nvPr>
            <p:ph type="title" idx="4294967295"/>
          </p:nvPr>
        </p:nvSpPr>
        <p:spPr>
          <a:xfrm>
            <a:off x="701964" y="1198995"/>
            <a:ext cx="4135438" cy="28876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EAC3FF"/>
                </a:solidFill>
                <a:latin typeface="Russo One"/>
                <a:ea typeface="Russo One"/>
                <a:cs typeface="Russo One"/>
                <a:sym typeface="Russo One"/>
              </a:rPr>
              <a:t>Ahora es momento </a:t>
            </a:r>
            <a:endParaRPr sz="4400" dirty="0">
              <a:solidFill>
                <a:srgbClr val="EAC3FF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EAC3FF"/>
                </a:solidFill>
                <a:latin typeface="Russo One"/>
                <a:ea typeface="Russo One"/>
                <a:cs typeface="Russo One"/>
                <a:sym typeface="Russo One"/>
              </a:rPr>
              <a:t>de aplicar </a:t>
            </a:r>
            <a:r>
              <a:rPr lang="es" sz="4400" dirty="0">
                <a:solidFill>
                  <a:srgbClr val="F0F000"/>
                </a:solidFill>
                <a:latin typeface="Russo One"/>
                <a:ea typeface="Russo One"/>
                <a:cs typeface="Russo One"/>
                <a:sym typeface="Russo One"/>
              </a:rPr>
              <a:t>lo aprendido en clase</a:t>
            </a:r>
            <a:endParaRPr sz="4400" dirty="0">
              <a:solidFill>
                <a:srgbClr val="F0F000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160" name="Google Shape;16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9375" y="951150"/>
            <a:ext cx="4078050" cy="407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28853" y="984991"/>
            <a:ext cx="819713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4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Ejercitación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  <a:hlinkClick r:id="rId3"/>
              </a:rPr>
              <a:t>https://github.com/Ada-IT/ejercicios-frontend/blob/master/modulo-2/ejercicios/21-formularios.md</a:t>
            </a:r>
            <a:r>
              <a:rPr lang="es-AR" sz="2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393607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D0055"/>
      </a:dk1>
      <a:lt1>
        <a:srgbClr val="FFFFFF"/>
      </a:lt1>
      <a:dk2>
        <a:srgbClr val="000000"/>
      </a:dk2>
      <a:lt2>
        <a:srgbClr val="F0F000"/>
      </a:lt2>
      <a:accent1>
        <a:srgbClr val="FF9936"/>
      </a:accent1>
      <a:accent2>
        <a:srgbClr val="E98FB5"/>
      </a:accent2>
      <a:accent3>
        <a:srgbClr val="F2D6E1"/>
      </a:accent3>
      <a:accent4>
        <a:srgbClr val="FFAB40"/>
      </a:accent4>
      <a:accent5>
        <a:srgbClr val="9E0046"/>
      </a:accent5>
      <a:accent6>
        <a:srgbClr val="455A6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2162</TotalTime>
  <Words>2819</Words>
  <Application>Microsoft Office PowerPoint</Application>
  <PresentationFormat>Presentación en pantalla (16:9)</PresentationFormat>
  <Paragraphs>370</Paragraphs>
  <Slides>49</Slides>
  <Notes>49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5" baseType="lpstr">
      <vt:lpstr>Inter</vt:lpstr>
      <vt:lpstr>Russo One</vt:lpstr>
      <vt:lpstr>Lato</vt:lpstr>
      <vt:lpstr>Arial</vt:lpstr>
      <vt:lpstr>system-ui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Veamos un ejemplo de  este tema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Ahora es momento  de aplicar lo aprendido en clase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Franco Ojeda</cp:lastModifiedBy>
  <cp:revision>15</cp:revision>
  <dcterms:modified xsi:type="dcterms:W3CDTF">2025-01-02T20:23:05Z</dcterms:modified>
</cp:coreProperties>
</file>