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embeddedFontLst>
    <p:embeddedFont>
      <p:font typeface="Lato"/>
      <p:regular r:id="rId42"/>
      <p:bold r:id="rId43"/>
      <p:italic r:id="rId44"/>
      <p:boldItalic r:id="rId45"/>
    </p:embeddedFont>
    <p:embeddedFont>
      <p:font typeface="Russo One"/>
      <p:regular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7" roundtripDataSignature="AMtx7mhclG+GzjqK5zm5jsJC3v7gI97S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Lato-regular.fntdata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font" Target="fonts/Lato-italic.fntdata"/><Relationship Id="rId21" Type="http://schemas.openxmlformats.org/officeDocument/2006/relationships/slide" Target="slides/slide16.xml"/><Relationship Id="rId43" Type="http://schemas.openxmlformats.org/officeDocument/2006/relationships/font" Target="fonts/Lato-bold.fntdata"/><Relationship Id="rId24" Type="http://schemas.openxmlformats.org/officeDocument/2006/relationships/slide" Target="slides/slide19.xml"/><Relationship Id="rId46" Type="http://schemas.openxmlformats.org/officeDocument/2006/relationships/font" Target="fonts/RussoOne-regular.fntdata"/><Relationship Id="rId23" Type="http://schemas.openxmlformats.org/officeDocument/2006/relationships/slide" Target="slides/slide18.xml"/><Relationship Id="rId45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customschemas.google.com/relationships/presentationmetadata" Target="meta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52751e4b7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352751e4b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52751e4b7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52751e4b7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grpSp>
        <p:nvGrpSpPr>
          <p:cNvPr id="11" name="Google Shape;11;p36"/>
          <p:cNvGrpSpPr/>
          <p:nvPr/>
        </p:nvGrpSpPr>
        <p:grpSpPr>
          <a:xfrm>
            <a:off x="-9875" y="-4950"/>
            <a:ext cx="9153900" cy="770700"/>
            <a:chOff x="-9875" y="-4950"/>
            <a:chExt cx="9153900" cy="770700"/>
          </a:xfrm>
        </p:grpSpPr>
        <p:sp>
          <p:nvSpPr>
            <p:cNvPr id="12" name="Google Shape;12;p36"/>
            <p:cNvSpPr/>
            <p:nvPr/>
          </p:nvSpPr>
          <p:spPr>
            <a:xfrm>
              <a:off x="-9875" y="-4950"/>
              <a:ext cx="9153900" cy="770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" name="Google Shape;13;p3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712025" y="109800"/>
              <a:ext cx="1048575" cy="54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3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3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4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4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4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4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Relationship Id="rId4" Type="http://schemas.openxmlformats.org/officeDocument/2006/relationships/image" Target="../media/image2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2.png"/><Relationship Id="rId4" Type="http://schemas.openxmlformats.org/officeDocument/2006/relationships/image" Target="../media/image36.png"/><Relationship Id="rId5" Type="http://schemas.openxmlformats.org/officeDocument/2006/relationships/image" Target="../media/image3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github.com/Ada-IT/ejercicios-frontend/blob/master/modulo-1/ejercicios/08-html-semantico.md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52751e4b77_0_0"/>
          <p:cNvSpPr txBox="1"/>
          <p:nvPr/>
        </p:nvSpPr>
        <p:spPr>
          <a:xfrm>
            <a:off x="2159550" y="496150"/>
            <a:ext cx="4824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44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Bienvenidas!!</a:t>
            </a:r>
            <a:endParaRPr/>
          </a:p>
        </p:txBody>
      </p:sp>
      <p:pic>
        <p:nvPicPr>
          <p:cNvPr id="54" name="Google Shape;54;g352751e4b77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9950" y="1621000"/>
            <a:ext cx="5285275" cy="325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52751e4b77_0_6"/>
          <p:cNvSpPr txBox="1"/>
          <p:nvPr/>
        </p:nvSpPr>
        <p:spPr>
          <a:xfrm>
            <a:off x="1747350" y="486100"/>
            <a:ext cx="5649300" cy="14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1" lang="es-AR" sz="44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A jugar!!</a:t>
            </a:r>
            <a:endParaRPr b="1" sz="4400">
              <a:solidFill>
                <a:schemeClr val="dk1"/>
              </a:solidFill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1" lang="es-AR" sz="44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7292 5847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0" name="Google Shape;60;g352751e4b77_0_6"/>
          <p:cNvSpPr txBox="1"/>
          <p:nvPr/>
        </p:nvSpPr>
        <p:spPr>
          <a:xfrm>
            <a:off x="2606175" y="294055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https://www.menti.com/alv1f6evkk6g</a:t>
            </a:r>
            <a:endParaRPr/>
          </a:p>
        </p:txBody>
      </p:sp>
      <p:pic>
        <p:nvPicPr>
          <p:cNvPr id="61" name="Google Shape;61;g352751e4b77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4100" y="2070400"/>
            <a:ext cx="2967500" cy="27017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"/>
          <p:cNvSpPr txBox="1"/>
          <p:nvPr>
            <p:ph idx="4294967295" type="body"/>
          </p:nvPr>
        </p:nvSpPr>
        <p:spPr>
          <a:xfrm>
            <a:off x="484909" y="1320657"/>
            <a:ext cx="4759325" cy="22621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AR" sz="4400">
                <a:solidFill>
                  <a:srgbClr val="CD0055"/>
                </a:solidFill>
                <a:latin typeface="Russo One"/>
                <a:ea typeface="Russo One"/>
                <a:cs typeface="Russo One"/>
                <a:sym typeface="Russo One"/>
              </a:rPr>
              <a:t>Clase </a:t>
            </a:r>
            <a:r>
              <a:rPr b="1" lang="es-AR" sz="4400">
                <a:solidFill>
                  <a:srgbClr val="CD0055"/>
                </a:solidFill>
                <a:latin typeface="Russo One"/>
                <a:ea typeface="Russo One"/>
                <a:cs typeface="Russo One"/>
                <a:sym typeface="Russo One"/>
              </a:rPr>
              <a:t>2</a:t>
            </a:r>
            <a:endParaRPr/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AR" sz="4400">
                <a:solidFill>
                  <a:srgbClr val="CD0055"/>
                </a:solidFill>
                <a:latin typeface="Russo One"/>
                <a:ea typeface="Russo One"/>
                <a:cs typeface="Russo One"/>
                <a:sym typeface="Russo One"/>
              </a:rPr>
              <a:t>HTML Medio</a:t>
            </a:r>
            <a:endParaRPr b="1" sz="4400">
              <a:solidFill>
                <a:srgbClr val="CD0055"/>
              </a:solidFill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4000"/>
          </a:p>
        </p:txBody>
      </p:sp>
      <p:pic>
        <p:nvPicPr>
          <p:cNvPr id="67" name="Google Shape;6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4234" y="1215032"/>
            <a:ext cx="3424075" cy="3403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2"/>
          <p:cNvSpPr txBox="1"/>
          <p:nvPr/>
        </p:nvSpPr>
        <p:spPr>
          <a:xfrm>
            <a:off x="1519382" y="1793153"/>
            <a:ext cx="6105236" cy="155719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s-AR" sz="36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Etiquetas básicas: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s-AR" sz="36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(h1-h6 / p / div/ span / br / hr / Strong / )</a:t>
            </a:r>
            <a:endParaRPr b="0" i="0" sz="3600" u="none" cap="none" strike="noStrike">
              <a:solidFill>
                <a:schemeClr val="dk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 txBox="1"/>
          <p:nvPr/>
        </p:nvSpPr>
        <p:spPr>
          <a:xfrm>
            <a:off x="434397" y="762588"/>
            <a:ext cx="8275206" cy="2339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4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Títulos H1/H6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BE3969"/>
              </a:solidFill>
              <a:highlight>
                <a:srgbClr val="FFFFFF"/>
              </a:highlight>
              <a:latin typeface="Russo One"/>
              <a:ea typeface="Russo One"/>
              <a:cs typeface="Russo One"/>
              <a:sym typeface="Russo One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En HTML tenemos </a:t>
            </a:r>
            <a:r>
              <a:rPr b="0" i="0" lang="es-AR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6 niveles de etiquetas para los títulos </a:t>
            </a: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de nuestro documento o secciones.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Los títulos utilizan la etiqueta h y el número de tipo de título.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El browser por defecto muestra la diferencia entre los títulos utilizando una tipografía más grande para el H1 y la más pequeña para el H6.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Más adelante nosotros vamos a definir como se ven los títulos de nuestro documento.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Conceptualmente debemos utilizar los títulos en orden respetando su gerarquía. (primero el h1, después el 2, etc)</a:t>
            </a:r>
            <a:endParaRPr/>
          </a:p>
        </p:txBody>
      </p:sp>
      <p:pic>
        <p:nvPicPr>
          <p:cNvPr id="79" name="Google Shape;7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2037" y="3276460"/>
            <a:ext cx="4503711" cy="17072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"/>
          <p:cNvSpPr txBox="1"/>
          <p:nvPr/>
        </p:nvSpPr>
        <p:spPr>
          <a:xfrm>
            <a:off x="434397" y="762588"/>
            <a:ext cx="8275206" cy="2462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32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Etiqueta párrafo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BE3969"/>
              </a:solidFill>
              <a:highlight>
                <a:srgbClr val="FFFFFF"/>
              </a:highlight>
              <a:latin typeface="Russo One"/>
              <a:ea typeface="Russo One"/>
              <a:cs typeface="Russo One"/>
              <a:sym typeface="Russo One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Por medio de la etiqueta p creamos un párrafo.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Establecemos el contenido entre la etiqueta de apertura y cierre.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El párrafo es un elemento en bloque y es por esto que el browser por defecto nos va a mostrar un párrafo por línea.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El browser sólo renderiza un espacio en blanco e ignora el resto.</a:t>
            </a:r>
            <a:endParaRPr/>
          </a:p>
        </p:txBody>
      </p:sp>
      <p:pic>
        <p:nvPicPr>
          <p:cNvPr id="85" name="Google Shape;8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763" y="3552246"/>
            <a:ext cx="7726218" cy="105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"/>
          <p:cNvSpPr txBox="1"/>
          <p:nvPr/>
        </p:nvSpPr>
        <p:spPr>
          <a:xfrm>
            <a:off x="402069" y="743966"/>
            <a:ext cx="8275206" cy="21082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32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Contenedores genéricos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BE3969"/>
              </a:solidFill>
              <a:highlight>
                <a:srgbClr val="FFFFFF"/>
              </a:highlight>
              <a:latin typeface="Russo One"/>
              <a:ea typeface="Russo One"/>
              <a:cs typeface="Russo One"/>
              <a:sym typeface="Russo One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i="0" lang="es-AR" sz="1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Div</a:t>
            </a:r>
            <a:endParaRPr b="1" i="0" sz="18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286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Existe un contenedor genérico llamado div que nos permite agrupar contenido y separarlo en secciones.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El div es un elemento bloque por defecto.</a:t>
            </a:r>
            <a:endParaRPr/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8582" y="3345399"/>
            <a:ext cx="6365482" cy="1546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 txBox="1"/>
          <p:nvPr/>
        </p:nvSpPr>
        <p:spPr>
          <a:xfrm>
            <a:off x="434397" y="554770"/>
            <a:ext cx="8275206" cy="2877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8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Contenedores genéricos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BE3969"/>
              </a:solidFill>
              <a:highlight>
                <a:srgbClr val="FFFFFF"/>
              </a:highlight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600" u="none" cap="none" strike="noStrike">
                <a:solidFill>
                  <a:schemeClr val="dk2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2. </a:t>
            </a:r>
            <a:r>
              <a:rPr b="1" i="0" lang="es-AR" sz="16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Span</a:t>
            </a:r>
            <a:endParaRPr b="1" i="0" sz="16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Existe un contenedor genérico llamado span que nos permite agrupar contenido.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El span es un elemento en linea (inline) por defecto y esto significa que se va a ver un elemento junto al otro sin ocupar todo el lugar disponible.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Por default normalmente el browser no aplica ningún estilo especial a este tipo de elementos pero nos va a permitir hacerlo desde css.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Podemos utilizar estos contenedores genéricos inline como parte de un elemento en bloque (como puede ser un div o párrafo).</a:t>
            </a:r>
            <a:endParaRPr/>
          </a:p>
        </p:txBody>
      </p:sp>
      <p:pic>
        <p:nvPicPr>
          <p:cNvPr id="97" name="Google Shape;9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127" y="3684855"/>
            <a:ext cx="8312728" cy="10259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"/>
          <p:cNvSpPr txBox="1"/>
          <p:nvPr/>
        </p:nvSpPr>
        <p:spPr>
          <a:xfrm>
            <a:off x="434397" y="554770"/>
            <a:ext cx="48858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8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Comentarios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En los lenguajes de programación existe siempre alguna forma de comentar nuestro código ya sea porque no queremos que se ejecute o por la necesidad de dejar documentada alguna funcionalidad.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Podemos utilizar comentarios de una o muchas líneas (</a:t>
            </a:r>
            <a:r>
              <a:rPr lang="es-AR" sz="160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multilínea</a:t>
            </a:r>
            <a:r>
              <a:rPr b="0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).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El browser no renderiza los comentarios en la vista de nuestro documento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Cualquiera puede ver nuestros comentarios en el código fuente de nuestro documento.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HTML utiliza la siguiente sintáxis para los comentarios</a:t>
            </a:r>
            <a:endParaRPr/>
          </a:p>
        </p:txBody>
      </p:sp>
      <p:pic>
        <p:nvPicPr>
          <p:cNvPr id="103" name="Google Shape;10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43418" y="2193636"/>
            <a:ext cx="3238156" cy="1491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"/>
          <p:cNvSpPr txBox="1"/>
          <p:nvPr/>
        </p:nvSpPr>
        <p:spPr>
          <a:xfrm>
            <a:off x="452870" y="748734"/>
            <a:ext cx="7772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32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Salto de línea (br)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Utilizando</a:t>
            </a:r>
            <a:r>
              <a:rPr lang="es-AR" sz="180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esta </a:t>
            </a: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etiqueta br forzamos un salto de línea</a:t>
            </a:r>
            <a:endParaRPr/>
          </a:p>
        </p:txBody>
      </p:sp>
      <p:pic>
        <p:nvPicPr>
          <p:cNvPr id="109" name="Google Shape;10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6337" y="2454987"/>
            <a:ext cx="6811326" cy="2210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"/>
          <p:cNvSpPr txBox="1"/>
          <p:nvPr/>
        </p:nvSpPr>
        <p:spPr>
          <a:xfrm>
            <a:off x="480578" y="730261"/>
            <a:ext cx="7772112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32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Línea divisora (hr)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Por medio de la etiqueta hr dibujamos una línea divisora</a:t>
            </a:r>
            <a:endParaRPr/>
          </a:p>
        </p:txBody>
      </p:sp>
      <p:pic>
        <p:nvPicPr>
          <p:cNvPr id="115" name="Google Shape;11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9964" y="2654425"/>
            <a:ext cx="6911545" cy="1717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"/>
          <p:cNvSpPr txBox="1"/>
          <p:nvPr/>
        </p:nvSpPr>
        <p:spPr>
          <a:xfrm>
            <a:off x="429779" y="753352"/>
            <a:ext cx="7772112" cy="2523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32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Formato de texto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Existen algunas etiquetas de HTML que nos permiten describir como es el texto del documento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Podemos utilizar la etiqueta strong para resaltar un texto.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Queda a criterio del browser como mostrar el contenido de esta etiqueta. En general lo hace con formato de negrita.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Para efectos visuales vamos a utilizar CSS.</a:t>
            </a:r>
            <a:endParaRPr/>
          </a:p>
        </p:txBody>
      </p:sp>
      <p:pic>
        <p:nvPicPr>
          <p:cNvPr id="121" name="Google Shape;12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746" y="3907668"/>
            <a:ext cx="6965920" cy="607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1"/>
          <p:cNvSpPr txBox="1"/>
          <p:nvPr/>
        </p:nvSpPr>
        <p:spPr>
          <a:xfrm>
            <a:off x="1519382" y="1793153"/>
            <a:ext cx="6105236" cy="155719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s-AR" sz="36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Etiquetas básicas: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s-AR" sz="36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( Listas: ul / ol / li )</a:t>
            </a:r>
            <a:endParaRPr b="0" i="0" sz="3600" u="none" cap="none" strike="noStrike">
              <a:solidFill>
                <a:schemeClr val="dk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2"/>
          <p:cNvSpPr txBox="1"/>
          <p:nvPr/>
        </p:nvSpPr>
        <p:spPr>
          <a:xfrm>
            <a:off x="429779" y="462407"/>
            <a:ext cx="7772112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40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Listas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Existen muchos casos en los que podemos utilizar listas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En HTML hay 4 tipos de listas: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s-AR" sz="2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Desordenadas: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s-AR" sz="2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Ordenadas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s-AR" sz="2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Definición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s-AR" sz="2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Anidadas</a:t>
            </a:r>
            <a:endParaRPr/>
          </a:p>
          <a:p>
            <a:pPr indent="-1333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Veamos cada una en profundidad!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3"/>
          <p:cNvSpPr txBox="1"/>
          <p:nvPr/>
        </p:nvSpPr>
        <p:spPr>
          <a:xfrm>
            <a:off x="429779" y="753352"/>
            <a:ext cx="5001203" cy="3847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32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1. Lista desordenada (ul)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Las listas desordenadas tienen como detalle un bullet</a:t>
            </a:r>
            <a:endParaRPr b="0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Dado que son desordenadas no importa el orden de sus elementos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 utiliza la etiqueta ul para establecer que es una lista del tipo desordenada o Unordered List.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Este tipo de listas tienen elementos li del tipo elemento de lista o list item</a:t>
            </a:r>
            <a:endParaRPr b="0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8" name="Google Shape;138;p13"/>
          <p:cNvPicPr preferRelativeResize="0"/>
          <p:nvPr/>
        </p:nvPicPr>
        <p:blipFill rotWithShape="1">
          <a:blip r:embed="rId3">
            <a:alphaModFix/>
          </a:blip>
          <a:srcRect b="0" l="0" r="38583" t="0"/>
          <a:stretch/>
        </p:blipFill>
        <p:spPr>
          <a:xfrm>
            <a:off x="5962952" y="1825177"/>
            <a:ext cx="2474467" cy="1850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"/>
          <p:cNvSpPr txBox="1"/>
          <p:nvPr/>
        </p:nvSpPr>
        <p:spPr>
          <a:xfrm>
            <a:off x="429779" y="753352"/>
            <a:ext cx="4714876" cy="363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32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2. Lista ordenada (ol)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Las listas ordenadas tienen como detalle números ordenados (1, 2, 3, etc)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Dado que son ordenadas importa el orden de sus elementos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 utiliza la etiqueta ol para establecer que es una lista del tipo ordenada o Ordered List.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Al igual que la lista desordenada, esta lista tiene elementos li del tipo elemento de lista o list item</a:t>
            </a:r>
            <a:endParaRPr b="0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4" name="Google Shape;14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5606" y="1803844"/>
            <a:ext cx="2343477" cy="19052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"/>
          <p:cNvSpPr txBox="1"/>
          <p:nvPr/>
        </p:nvSpPr>
        <p:spPr>
          <a:xfrm>
            <a:off x="429779" y="753352"/>
            <a:ext cx="4714800" cy="30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32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3. Lista de definición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Este tipo de lista se utiliza para mostrar un término y definiciones (glosario)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Definimos este tipo de lista con la etiqueta dl de lista de definición o Definition List</a:t>
            </a:r>
            <a:endParaRPr b="0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Utilizamos la etiqueta dt para establecer el término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Por medio de la etiqueta dd establecemos </a:t>
            </a:r>
            <a:r>
              <a:rPr lang="es-AR" sz="180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cuál</a:t>
            </a: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es la definición del término anterior</a:t>
            </a:r>
            <a:endParaRPr/>
          </a:p>
        </p:txBody>
      </p:sp>
      <p:pic>
        <p:nvPicPr>
          <p:cNvPr id="150" name="Google Shape;15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23128" y="1976583"/>
            <a:ext cx="3091093" cy="1731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 txBox="1"/>
          <p:nvPr/>
        </p:nvSpPr>
        <p:spPr>
          <a:xfrm>
            <a:off x="429779" y="1108491"/>
            <a:ext cx="4890366" cy="3293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40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4. Listas anidadas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s-AR" sz="2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Las listas se pueden anidar metiendo como contenido de un elemento de lista una nueva lista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s-AR" sz="2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Puede ser cualquier tipo de lista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s-AR" sz="2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 pueden utilizar para crear distintos tipos de menu</a:t>
            </a:r>
            <a:endParaRPr b="0" i="0" sz="24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6" name="Google Shape;15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5375" y="1010327"/>
            <a:ext cx="2838846" cy="33913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1519382" y="1991735"/>
            <a:ext cx="6105236" cy="155719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s-AR" sz="36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Etiquetas básicas: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s-AR" sz="36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( Hipervínculos )</a:t>
            </a:r>
            <a:endParaRPr b="0" i="0" sz="3600" u="none" cap="none" strike="noStrike">
              <a:solidFill>
                <a:schemeClr val="dk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 txBox="1"/>
          <p:nvPr/>
        </p:nvSpPr>
        <p:spPr>
          <a:xfrm>
            <a:off x="429779" y="572782"/>
            <a:ext cx="8293966" cy="2800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32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Hipervínculos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Podemos vincular documentos utilizando hipervínculos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La etiqueta a establece un nuevo vínculo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Por medio del atributo href podemos vincular documentos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El atributo href acepta una dirección absoluta, relativa o un email como valor y define de que tipo de hipervínculo es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Entre la etiqueta de apertura y cierre ponemos el contenido del link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Como contenido podemos poner una imágen y así generar otro efecto visual</a:t>
            </a:r>
            <a:endParaRPr/>
          </a:p>
        </p:txBody>
      </p:sp>
      <p:pic>
        <p:nvPicPr>
          <p:cNvPr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8996" y="3809235"/>
            <a:ext cx="4706007" cy="619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/>
          <p:nvPr/>
        </p:nvSpPr>
        <p:spPr>
          <a:xfrm>
            <a:off x="425017" y="808310"/>
            <a:ext cx="8293966" cy="2492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44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Link externo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s-AR" sz="2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Utilizando una ruta externa como atributo href podemos relacionar nuestro documento con un sitio exterior.</a:t>
            </a:r>
            <a:endParaRPr/>
          </a:p>
        </p:txBody>
      </p:sp>
      <p:pic>
        <p:nvPicPr>
          <p:cNvPr id="174" name="Google Shape;17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9063" y="3789480"/>
            <a:ext cx="6261928" cy="781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/>
          <p:nvPr/>
        </p:nvSpPr>
        <p:spPr>
          <a:xfrm>
            <a:off x="425017" y="808310"/>
            <a:ext cx="8293966" cy="27392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36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Links con rutas absolutas y relativas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Para definir el atributo href podemos utilizar una ruta absoluta o relativa.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Ruta absoluta se llama cuando utilizamos la ruta completa al documento. Puede ser local o de un sitio externo.</a:t>
            </a:r>
            <a:endParaRPr/>
          </a:p>
        </p:txBody>
      </p:sp>
      <p:pic>
        <p:nvPicPr>
          <p:cNvPr id="180" name="Google Shape;18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0973" y="3744994"/>
            <a:ext cx="7163800" cy="89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/>
          <p:nvPr/>
        </p:nvSpPr>
        <p:spPr>
          <a:xfrm>
            <a:off x="425017" y="808310"/>
            <a:ext cx="8293966" cy="27392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32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Links con rutas absolutas y relativas (Continuación)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Podemos relacionar los documentos utilizando una ruta relativa.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Este tipo de rutas está definida por la relación que tienen los documentos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Podemos utlizar el concepto que utilizamos desde la consola para entrar y salir de una carpeta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Para acceder a la raíz del sitio podemos utilizar /</a:t>
            </a:r>
            <a:endParaRPr/>
          </a:p>
        </p:txBody>
      </p:sp>
      <p:pic>
        <p:nvPicPr>
          <p:cNvPr id="186" name="Google Shape;18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0948" y="3925663"/>
            <a:ext cx="4522103" cy="819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 txBox="1"/>
          <p:nvPr/>
        </p:nvSpPr>
        <p:spPr>
          <a:xfrm>
            <a:off x="425017" y="808310"/>
            <a:ext cx="8293966" cy="1908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32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Links con rutas absolutas y relativas (Continuación)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Si tenemos 2 archivos que están al mismo nivel podemos utilizar el nombre de los mismos como vínculo.</a:t>
            </a:r>
            <a:endParaRPr/>
          </a:p>
        </p:txBody>
      </p:sp>
      <p:pic>
        <p:nvPicPr>
          <p:cNvPr id="192" name="Google Shape;19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6557" y="3361459"/>
            <a:ext cx="2495459" cy="1076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53886" y="2964312"/>
            <a:ext cx="4305901" cy="18195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 txBox="1"/>
          <p:nvPr/>
        </p:nvSpPr>
        <p:spPr>
          <a:xfrm>
            <a:off x="425017" y="808310"/>
            <a:ext cx="8294100" cy="24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8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Links con rutas absolutas y relativas (Continuación)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Podemos relacionar un archivo que </a:t>
            </a:r>
            <a:r>
              <a:rPr lang="es-AR" sz="160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está</a:t>
            </a:r>
            <a:r>
              <a:rPr b="0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dentro de una carpeta utilizando el nombre de la carpeta/nombre del archivo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También podemos establecer relación desde el archivo que </a:t>
            </a:r>
            <a:r>
              <a:rPr lang="es-AR" sz="160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está</a:t>
            </a:r>
            <a:r>
              <a:rPr b="0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dentro de la carpeta con uno que </a:t>
            </a:r>
            <a:r>
              <a:rPr lang="es-AR" sz="160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está</a:t>
            </a:r>
            <a:r>
              <a:rPr b="0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afuera utilizando ../ tantas veces como niveles de profundidad que tenga que salir</a:t>
            </a:r>
            <a:endParaRPr/>
          </a:p>
        </p:txBody>
      </p:sp>
      <p:pic>
        <p:nvPicPr>
          <p:cNvPr id="199" name="Google Shape;19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8280" y="3505201"/>
            <a:ext cx="2421650" cy="1181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1927" y="3419211"/>
            <a:ext cx="3620871" cy="13536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4"/>
          <p:cNvSpPr txBox="1"/>
          <p:nvPr/>
        </p:nvSpPr>
        <p:spPr>
          <a:xfrm>
            <a:off x="425017" y="808310"/>
            <a:ext cx="8293966" cy="2492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36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Atributo target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Por medio del atributo target que tienen los hipervinculos y el valor _blank podemos establecer que queremos que ese documento se abra en una ventana nueva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Los browsers actuales pueden abrir este documento en un tab nuevo si el browser lo soporta.</a:t>
            </a:r>
            <a:endParaRPr/>
          </a:p>
        </p:txBody>
      </p:sp>
      <p:pic>
        <p:nvPicPr>
          <p:cNvPr id="206" name="Google Shape;20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498" y="3715712"/>
            <a:ext cx="8135485" cy="6954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5"/>
          <p:cNvSpPr txBox="1"/>
          <p:nvPr/>
        </p:nvSpPr>
        <p:spPr>
          <a:xfrm>
            <a:off x="425017" y="808310"/>
            <a:ext cx="8293966" cy="2492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36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Link de mail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En el atributo href podemos establecer un tipo de valor especial mailto para decirle al browser que queremos abrir algún programa de envío de mail que tenga instalado el usuario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Utilizamos el valor mailto:dirección@gmail.com para establecer cual es el mail que queremos utilizar</a:t>
            </a:r>
            <a:endParaRPr/>
          </a:p>
        </p:txBody>
      </p:sp>
      <p:pic>
        <p:nvPicPr>
          <p:cNvPr id="212" name="Google Shape;21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0331" y="3674439"/>
            <a:ext cx="6866331" cy="8098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 txBox="1"/>
          <p:nvPr/>
        </p:nvSpPr>
        <p:spPr>
          <a:xfrm>
            <a:off x="425016" y="808310"/>
            <a:ext cx="8164801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4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Punto de anclaje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Utilizando el concepto de punto de anclaje podemos navegar a una sección del documento utilizando un link.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Al utilizar un punto de anclaje el browser se sitúa en la posición donde encuentre dicho punto.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Para esto utilizamos un elemento hipervínculo a con el atributo name que queremos utilizar como anclaje.</a:t>
            </a:r>
            <a:endParaRPr/>
          </a:p>
        </p:txBody>
      </p:sp>
      <p:pic>
        <p:nvPicPr>
          <p:cNvPr id="218" name="Google Shape;21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5855" y="2683026"/>
            <a:ext cx="5555914" cy="20747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7"/>
          <p:cNvSpPr txBox="1"/>
          <p:nvPr/>
        </p:nvSpPr>
        <p:spPr>
          <a:xfrm>
            <a:off x="1519382" y="1991735"/>
            <a:ext cx="6105236" cy="155719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s-AR" sz="36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Etiquetas básicas: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s-AR" sz="36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( Imagenes - img )</a:t>
            </a:r>
            <a:endParaRPr b="0" i="0" sz="3600" u="none" cap="none" strike="noStrike">
              <a:solidFill>
                <a:schemeClr val="dk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"/>
          <p:cNvSpPr txBox="1"/>
          <p:nvPr/>
        </p:nvSpPr>
        <p:spPr>
          <a:xfrm>
            <a:off x="425016" y="808310"/>
            <a:ext cx="8164801" cy="3293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8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Imágenes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s-AR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En HTML podemos utilizar la etiqueta img como contenedor de una imagen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s-AR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Dado que no tiene contenido es un tipo de etiqueta que tiene apertura y cierre en una sola etiqueta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s-AR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Para establecer el contenido del contenedor utilizamos el atributo src que significa source o fuente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s-AR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Esta etiqueta es un elemento en linea es decir que podemos poner uno al lado del otro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s-AR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Por defecto el contenedor va a tomar el tamaño original de la imagen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s-AR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Al trabajar en web siempre tratamos de optimizar las imagenes para que pesen lo menos posible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s-AR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Encontramos diferentes tipos de imagenes: jpg, png y gif entre otras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s-AR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Optimización de la imagen - Developers Google</a:t>
            </a:r>
            <a:endParaRPr/>
          </a:p>
        </p:txBody>
      </p:sp>
      <p:pic>
        <p:nvPicPr>
          <p:cNvPr id="230" name="Google Shape;23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65113" y="4285199"/>
            <a:ext cx="3419952" cy="600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9"/>
          <p:cNvSpPr txBox="1"/>
          <p:nvPr/>
        </p:nvSpPr>
        <p:spPr>
          <a:xfrm>
            <a:off x="425016" y="808310"/>
            <a:ext cx="8164801" cy="39857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8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Imágenes (continuación)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s-AR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En el atributo src acepta tanto rutas absolutas como relativas</a:t>
            </a:r>
            <a:endParaRPr/>
          </a:p>
          <a:p>
            <a:pPr indent="-19050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19050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19050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19050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19050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19050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19050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19050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s-AR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Utilizando los atributos height para la altura y width para el ancho podemos establecer el tamaño que queremos que tenga el contenedor.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s-AR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Si no utilizamos bien las proporciones podemos hacer que la imagen se vea mal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s-AR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Podemos establecer un número como valor de estos atributos y la unidad de medida es en pixel</a:t>
            </a:r>
            <a:endParaRPr/>
          </a:p>
        </p:txBody>
      </p:sp>
      <p:pic>
        <p:nvPicPr>
          <p:cNvPr id="236" name="Google Shape;23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5744" y="1886455"/>
            <a:ext cx="5555673" cy="1549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0"/>
          <p:cNvSpPr txBox="1"/>
          <p:nvPr/>
        </p:nvSpPr>
        <p:spPr>
          <a:xfrm>
            <a:off x="425016" y="808310"/>
            <a:ext cx="8164801" cy="34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4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Imágenes (continuación)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1968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1968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El atributo alt nos permite establecer un texto que describa la imagen.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Este atributo lo utilizan los lectores de pantalla o es el mensaje que vemos cuando no se puede cargar la imagen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 una buena práctica describir nuestras imagenes con este atributo</a:t>
            </a:r>
            <a:endParaRPr/>
          </a:p>
          <a:p>
            <a:pPr indent="-1968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1968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1968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1968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También existe un atributo llamado title que nos permite agregar más información sobre la imagen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Algunos browsers muestran un cartelito o tooltip al pasar el mouse sobre la imagen</a:t>
            </a:r>
            <a:endParaRPr/>
          </a:p>
        </p:txBody>
      </p:sp>
      <p:pic>
        <p:nvPicPr>
          <p:cNvPr id="242" name="Google Shape;24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8135" y="1420767"/>
            <a:ext cx="4347729" cy="474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62728" y="3161288"/>
            <a:ext cx="5507331" cy="489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15127" y="4462407"/>
            <a:ext cx="5288183" cy="455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1"/>
          <p:cNvSpPr txBox="1"/>
          <p:nvPr/>
        </p:nvSpPr>
        <p:spPr>
          <a:xfrm>
            <a:off x="425016" y="808310"/>
            <a:ext cx="8164801" cy="24006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4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Foto con detalle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Muchas veces necesitamos mostrar una imagen con un detalle, para esto HTML5 incorpora los elementos figure y figcaption</a:t>
            </a:r>
            <a:endParaRPr b="0" i="0" sz="14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Como contenido de figure podemos poner una imagen o más imagenes</a:t>
            </a:r>
            <a:endParaRPr b="0" i="0" sz="14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Utilizamos figcaption para establecer el detalle de la/s imagen/es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Con varios de estos elementos podemos crear una especie de galería de imagenes</a:t>
            </a:r>
            <a:endParaRPr b="0" i="0" sz="14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Los browsers más viejos no saben renderizar estos elementos y simplemente muestran el contenido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Para saber el nivel de soporte de HTML5 de nuestro browser podemos utilizar el siguiente sitio</a:t>
            </a:r>
            <a:endParaRPr/>
          </a:p>
        </p:txBody>
      </p:sp>
      <p:pic>
        <p:nvPicPr>
          <p:cNvPr id="250" name="Google Shape;25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8654" y="3398397"/>
            <a:ext cx="6171787" cy="15112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C3F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2"/>
          <p:cNvSpPr txBox="1"/>
          <p:nvPr>
            <p:ph idx="4294967295" type="title"/>
          </p:nvPr>
        </p:nvSpPr>
        <p:spPr>
          <a:xfrm>
            <a:off x="798945" y="1771795"/>
            <a:ext cx="4129088" cy="5349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AR" sz="4400">
                <a:solidFill>
                  <a:srgbClr val="4A4A4A"/>
                </a:solidFill>
                <a:latin typeface="Russo One"/>
                <a:ea typeface="Russo One"/>
                <a:cs typeface="Russo One"/>
                <a:sym typeface="Russo One"/>
              </a:rPr>
              <a:t>Veamos un ejemplo de </a:t>
            </a:r>
            <a:endParaRPr sz="4400">
              <a:solidFill>
                <a:srgbClr val="4A4A4A"/>
              </a:solidFill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AR" sz="4400">
                <a:solidFill>
                  <a:srgbClr val="CD0055"/>
                </a:solidFill>
                <a:latin typeface="Russo One"/>
                <a:ea typeface="Russo One"/>
                <a:cs typeface="Russo One"/>
                <a:sym typeface="Russo One"/>
              </a:rPr>
              <a:t>este tema</a:t>
            </a:r>
            <a:endParaRPr sz="4400">
              <a:solidFill>
                <a:srgbClr val="CD0055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pic>
        <p:nvPicPr>
          <p:cNvPr id="256" name="Google Shape;25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7025" y="691975"/>
            <a:ext cx="4392225" cy="439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3969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3"/>
          <p:cNvSpPr txBox="1"/>
          <p:nvPr>
            <p:ph idx="4294967295" type="title"/>
          </p:nvPr>
        </p:nvSpPr>
        <p:spPr>
          <a:xfrm>
            <a:off x="701964" y="1198995"/>
            <a:ext cx="4135438" cy="28876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AR" sz="4400">
                <a:solidFill>
                  <a:srgbClr val="EAC3FF"/>
                </a:solidFill>
                <a:latin typeface="Russo One"/>
                <a:ea typeface="Russo One"/>
                <a:cs typeface="Russo One"/>
                <a:sym typeface="Russo One"/>
              </a:rPr>
              <a:t>Ahora es momento </a:t>
            </a:r>
            <a:endParaRPr sz="4400">
              <a:solidFill>
                <a:srgbClr val="EAC3FF"/>
              </a:solidFill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AR" sz="4400">
                <a:solidFill>
                  <a:srgbClr val="EAC3FF"/>
                </a:solidFill>
                <a:latin typeface="Russo One"/>
                <a:ea typeface="Russo One"/>
                <a:cs typeface="Russo One"/>
                <a:sym typeface="Russo One"/>
              </a:rPr>
              <a:t>de aplicar </a:t>
            </a:r>
            <a:r>
              <a:rPr lang="es-AR" sz="4400">
                <a:solidFill>
                  <a:srgbClr val="F0F000"/>
                </a:solidFill>
                <a:latin typeface="Russo One"/>
                <a:ea typeface="Russo One"/>
                <a:cs typeface="Russo One"/>
                <a:sym typeface="Russo One"/>
              </a:rPr>
              <a:t>lo aprendido en clase</a:t>
            </a:r>
            <a:endParaRPr sz="4400">
              <a:solidFill>
                <a:srgbClr val="F0F000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pic>
        <p:nvPicPr>
          <p:cNvPr id="262" name="Google Shape;26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9375" y="951150"/>
            <a:ext cx="4078050" cy="407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4"/>
          <p:cNvSpPr txBox="1"/>
          <p:nvPr/>
        </p:nvSpPr>
        <p:spPr>
          <a:xfrm>
            <a:off x="390379" y="1215169"/>
            <a:ext cx="8490384" cy="2800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48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Ejercitación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1" i="0" lang="es-AR" sz="3200" u="sng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https://github.com/Ada-IT/ejercicios-frontend/blob/master/modulo-1/ejercicios/08-html-semantico.md</a:t>
            </a:r>
            <a:r>
              <a:rPr b="1" i="0" lang="es-AR" sz="3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endParaRPr b="0" i="0" sz="32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CD0055"/>
      </a:dk1>
      <a:lt1>
        <a:srgbClr val="FFFFFF"/>
      </a:lt1>
      <a:dk2>
        <a:srgbClr val="000000"/>
      </a:dk2>
      <a:lt2>
        <a:srgbClr val="F0F000"/>
      </a:lt2>
      <a:accent1>
        <a:srgbClr val="FF9936"/>
      </a:accent1>
      <a:accent2>
        <a:srgbClr val="E98FB5"/>
      </a:accent2>
      <a:accent3>
        <a:srgbClr val="F2D6E1"/>
      </a:accent3>
      <a:accent4>
        <a:srgbClr val="FFAB40"/>
      </a:accent4>
      <a:accent5>
        <a:srgbClr val="9E0046"/>
      </a:accent5>
      <a:accent6>
        <a:srgbClr val="455A64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