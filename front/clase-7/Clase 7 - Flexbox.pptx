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45"/>
  </p:notesMasterIdLst>
  <p:sldIdLst>
    <p:sldId id="262" r:id="rId2"/>
    <p:sldId id="287" r:id="rId3"/>
    <p:sldId id="316" r:id="rId4"/>
    <p:sldId id="317" r:id="rId5"/>
    <p:sldId id="319" r:id="rId6"/>
    <p:sldId id="318" r:id="rId7"/>
    <p:sldId id="320" r:id="rId8"/>
    <p:sldId id="321" r:id="rId9"/>
    <p:sldId id="322" r:id="rId10"/>
    <p:sldId id="323" r:id="rId11"/>
    <p:sldId id="324" r:id="rId12"/>
    <p:sldId id="325" r:id="rId13"/>
    <p:sldId id="326" r:id="rId14"/>
    <p:sldId id="327" r:id="rId15"/>
    <p:sldId id="328" r:id="rId16"/>
    <p:sldId id="329" r:id="rId17"/>
    <p:sldId id="330" r:id="rId18"/>
    <p:sldId id="331" r:id="rId19"/>
    <p:sldId id="332" r:id="rId20"/>
    <p:sldId id="333" r:id="rId21"/>
    <p:sldId id="334" r:id="rId22"/>
    <p:sldId id="335" r:id="rId23"/>
    <p:sldId id="336" r:id="rId24"/>
    <p:sldId id="337" r:id="rId25"/>
    <p:sldId id="338" r:id="rId26"/>
    <p:sldId id="339" r:id="rId27"/>
    <p:sldId id="340" r:id="rId28"/>
    <p:sldId id="341" r:id="rId29"/>
    <p:sldId id="342" r:id="rId30"/>
    <p:sldId id="343" r:id="rId31"/>
    <p:sldId id="267" r:id="rId32"/>
    <p:sldId id="288" r:id="rId33"/>
    <p:sldId id="344" r:id="rId34"/>
    <p:sldId id="345" r:id="rId35"/>
    <p:sldId id="346" r:id="rId36"/>
    <p:sldId id="347" r:id="rId37"/>
    <p:sldId id="348" r:id="rId38"/>
    <p:sldId id="349" r:id="rId39"/>
    <p:sldId id="350" r:id="rId40"/>
    <p:sldId id="351" r:id="rId41"/>
    <p:sldId id="352" r:id="rId42"/>
    <p:sldId id="268" r:id="rId43"/>
    <p:sldId id="397" r:id="rId44"/>
  </p:sldIdLst>
  <p:sldSz cx="9144000" cy="5143500" type="screen16x9"/>
  <p:notesSz cx="6858000" cy="9144000"/>
  <p:embeddedFontLst>
    <p:embeddedFont>
      <p:font typeface="Lato" panose="020F0502020204030203" pitchFamily="34" charset="0"/>
      <p:regular r:id="rId46"/>
      <p:bold r:id="rId47"/>
      <p:italic r:id="rId48"/>
      <p:boldItalic r:id="rId49"/>
    </p:embeddedFont>
    <p:embeddedFont>
      <p:font typeface="Montserrat" panose="00000500000000000000" pitchFamily="2" charset="0"/>
      <p:regular r:id="rId50"/>
      <p:bold r:id="rId51"/>
      <p:italic r:id="rId52"/>
      <p:boldItalic r:id="rId53"/>
    </p:embeddedFont>
    <p:embeddedFont>
      <p:font typeface="Russo One" panose="020B0604020202020204" charset="0"/>
      <p:regular r:id="rId5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ernardita Bauque" initials="" lastIdx="4" clrIdx="0"/>
  <p:cmAuthor id="1" name="catalina llarin" initials="" lastIdx="3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718CB89-29BF-476F-BAC4-F03CFA606FF7}">
  <a:tblStyle styleId="{B718CB89-29BF-476F-BAC4-F03CFA606FF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ED083AE6-46FA-4A59-8FB0-9F97EB10719F}" styleName="Estilo claro 3 - Acento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9C7853C-536D-4A76-A0AE-DD22124D55A5}" styleName="Estilo temático 1 - Énfasis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D7AC3CCA-C797-4891-BE02-D94E43425B78}" styleName="Estilo me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35758FB7-9AC5-4552-8A53-C91805E547FA}" styleName="Estilo temático 1 - Énfasis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300" y="8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2.fntdata"/><Relationship Id="rId50" Type="http://schemas.openxmlformats.org/officeDocument/2006/relationships/font" Target="fonts/font5.fntdata"/><Relationship Id="rId55" Type="http://schemas.openxmlformats.org/officeDocument/2006/relationships/commentAuthors" Target="comment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3" Type="http://schemas.openxmlformats.org/officeDocument/2006/relationships/font" Target="fonts/font8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3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font" Target="fonts/font6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1.fntdata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4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d6070746ec_0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d6070746ec_0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517175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80308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69133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457178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354213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022150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859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350466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055690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52168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728797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730346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03819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357113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104960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513176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5908874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2978814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0904594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0713002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01194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5797503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2219528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4590599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384530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263024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8293637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341935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457812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d6070746ec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2d6070746ec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5458704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5401495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7922842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43190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686020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2381241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4351303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7086343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9631782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6915995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d6070746ec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d6070746ec_0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166830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grpSp>
        <p:nvGrpSpPr>
          <p:cNvPr id="50" name="Google Shape;50;p12"/>
          <p:cNvGrpSpPr/>
          <p:nvPr/>
        </p:nvGrpSpPr>
        <p:grpSpPr>
          <a:xfrm>
            <a:off x="-9875" y="-4950"/>
            <a:ext cx="9153900" cy="770700"/>
            <a:chOff x="-9875" y="-4950"/>
            <a:chExt cx="9153900" cy="770700"/>
          </a:xfrm>
        </p:grpSpPr>
        <p:sp>
          <p:nvSpPr>
            <p:cNvPr id="51" name="Google Shape;51;p12"/>
            <p:cNvSpPr/>
            <p:nvPr/>
          </p:nvSpPr>
          <p:spPr>
            <a:xfrm>
              <a:off x="-9875" y="-4950"/>
              <a:ext cx="9153900" cy="770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52" name="Google Shape;52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712025" y="109800"/>
              <a:ext cx="1048575" cy="541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4" Type="http://schemas.openxmlformats.org/officeDocument/2006/relationships/hyperlink" Target="https://codepen.io/adaitw/pen/YzKNNgy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hyperlink" Target="https://codepen.io/adaitw/pen/GRKmEoP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pen.io/adaitw/pen/ZEzKyoy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pen.io/adaitw/pen/zYOwzVa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pen.io/adaitw/pen/KKPmvzX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pen.io/adaitw/pen/RwbVLYM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Relationship Id="rId4" Type="http://schemas.openxmlformats.org/officeDocument/2006/relationships/hyperlink" Target="https://codepen.io/adaitw/pen/mdbmqbG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0.xml"/><Relationship Id="rId4" Type="http://schemas.openxmlformats.org/officeDocument/2006/relationships/hyperlink" Target="https://codepen.io/adaitw/pen/WNejXKw" TargetMode="Externa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ada7matm.github.io/pages/flexbox.html" TargetMode="Externa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pen.io/enxaneta/full/adLPwv/" TargetMode="Externa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0.xml"/><Relationship Id="rId4" Type="http://schemas.openxmlformats.org/officeDocument/2006/relationships/hyperlink" Target="https://flexbox.help/" TargetMode="Externa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flexboxfroggy.com/#es" TargetMode="Externa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0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0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0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0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0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0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0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da-IT/ejercicios-frontend/blob/master/modulo-1/ejercicios/07-flexbox.md" TargetMode="External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"/>
          <p:cNvSpPr txBox="1">
            <a:spLocks noGrp="1"/>
          </p:cNvSpPr>
          <p:nvPr>
            <p:ph type="body" idx="4294967295"/>
          </p:nvPr>
        </p:nvSpPr>
        <p:spPr>
          <a:xfrm>
            <a:off x="484909" y="1320657"/>
            <a:ext cx="4759325" cy="22621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dirty="0" err="1">
                <a:solidFill>
                  <a:srgbClr val="CD0055"/>
                </a:solidFill>
                <a:latin typeface="Russo One"/>
                <a:ea typeface="Russo One"/>
                <a:cs typeface="Russo One"/>
                <a:sym typeface="Russo One"/>
              </a:rPr>
              <a:t>Clase</a:t>
            </a:r>
            <a:r>
              <a:rPr lang="en-US" sz="4400" b="1" dirty="0">
                <a:solidFill>
                  <a:srgbClr val="CD0055"/>
                </a:solidFill>
                <a:latin typeface="Russo One"/>
                <a:ea typeface="Russo One"/>
                <a:cs typeface="Russo One"/>
                <a:sym typeface="Russo One"/>
              </a:rPr>
              <a:t> 7: </a:t>
            </a: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4400" b="1" dirty="0" err="1">
                <a:solidFill>
                  <a:srgbClr val="CD0055"/>
                </a:solidFill>
                <a:latin typeface="Russo One"/>
                <a:ea typeface="Russo One"/>
                <a:cs typeface="Russo One"/>
                <a:sym typeface="Russo One"/>
              </a:rPr>
              <a:t>Flexbox</a:t>
            </a:r>
            <a:endParaRPr sz="4000" dirty="0"/>
          </a:p>
        </p:txBody>
      </p:sp>
      <p:pic>
        <p:nvPicPr>
          <p:cNvPr id="114" name="Google Shape;11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4234" y="1215032"/>
            <a:ext cx="3424075" cy="34039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437777EF-90F3-E966-8050-96D4E3F5B6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1" name="Google Shape;71;p15"/>
          <p:cNvSpPr txBox="1">
            <a:spLocks/>
          </p:cNvSpPr>
          <p:nvPr/>
        </p:nvSpPr>
        <p:spPr>
          <a:xfrm>
            <a:off x="1750290" y="1963376"/>
            <a:ext cx="6105236" cy="1216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s-AR" sz="6000" dirty="0" err="1">
                <a:solidFill>
                  <a:schemeClr val="tx1"/>
                </a:solidFill>
                <a:latin typeface="Russo One"/>
                <a:ea typeface="Russo One"/>
                <a:cs typeface="Russo One"/>
                <a:sym typeface="Russo One"/>
              </a:rPr>
              <a:t>Flexbox</a:t>
            </a:r>
            <a:endParaRPr lang="es-AR" sz="6000" dirty="0">
              <a:solidFill>
                <a:schemeClr val="tx1"/>
              </a:solidFill>
              <a:latin typeface="Russo One"/>
              <a:ea typeface="Russo One"/>
              <a:cs typeface="Russo One"/>
              <a:sym typeface="Russo One"/>
            </a:endParaRPr>
          </a:p>
        </p:txBody>
      </p:sp>
    </p:spTree>
    <p:extLst>
      <p:ext uri="{BB962C8B-B14F-4D97-AF65-F5344CB8AC3E}">
        <p14:creationId xmlns:p14="http://schemas.microsoft.com/office/powerpoint/2010/main" val="20697786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434396" y="688695"/>
            <a:ext cx="858491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6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Flexbox</a:t>
            </a:r>
            <a:endParaRPr lang="es-AR" sz="3600" dirty="0">
              <a:solidFill>
                <a:srgbClr val="BE3969"/>
              </a:solidFill>
              <a:highlight>
                <a:srgbClr val="FFFFFF"/>
              </a:highlight>
              <a:latin typeface="Russo One"/>
              <a:ea typeface="Lato"/>
              <a:cs typeface="Lato"/>
              <a:sym typeface="Russo One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20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El módulo </a:t>
            </a:r>
            <a:r>
              <a:rPr lang="es-AR" sz="20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flexbox</a:t>
            </a: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de CSS es una nueva forma de organizar, distribuir y alinear el </a:t>
            </a:r>
            <a:r>
              <a:rPr lang="es-AR" sz="20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layout</a:t>
            </a: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de elementos </a:t>
            </a:r>
            <a:r>
              <a:rPr lang="es-AR" sz="20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css</a:t>
            </a: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, permitiéndoles incluso ocupar espacio de contenedores con tamaño desconocido o variable (de ahí lo "flexible").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20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La idea básica de </a:t>
            </a:r>
            <a:r>
              <a:rPr lang="es-AR" sz="20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flexbox</a:t>
            </a: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es darle al contenedor la capacidad de distribuir su espacio sobrante entre cada uno de los </a:t>
            </a:r>
            <a:r>
              <a:rPr lang="es-AR" sz="20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items</a:t>
            </a: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que contiene, permitiéndoles crecer o achicarse según corresponda el caso.</a:t>
            </a:r>
          </a:p>
        </p:txBody>
      </p:sp>
    </p:spTree>
    <p:extLst>
      <p:ext uri="{BB962C8B-B14F-4D97-AF65-F5344CB8AC3E}">
        <p14:creationId xmlns:p14="http://schemas.microsoft.com/office/powerpoint/2010/main" val="29346767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434396" y="688695"/>
            <a:ext cx="8584913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6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Flexbox</a:t>
            </a:r>
            <a:endParaRPr lang="es-AR" sz="3600" dirty="0">
              <a:solidFill>
                <a:srgbClr val="BE3969"/>
              </a:solidFill>
              <a:highlight>
                <a:srgbClr val="FFFFFF"/>
              </a:highlight>
              <a:latin typeface="Russo One"/>
              <a:ea typeface="Lato"/>
              <a:cs typeface="Lato"/>
              <a:sym typeface="Russo One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20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2000" b="1" dirty="0" err="1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display</a:t>
            </a:r>
            <a:r>
              <a:rPr lang="es-AR" sz="20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: </a:t>
            </a:r>
            <a:r>
              <a:rPr lang="es-AR" sz="2000" b="1" dirty="0" err="1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flex</a:t>
            </a:r>
            <a:endParaRPr lang="es-AR" sz="20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20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Es la propiedad que le vamos a agregar al contenedor para volverlo un contenedor flexible.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07AAEE7-1C3E-E6B5-3756-CFB3C149F4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3236" y="3084717"/>
            <a:ext cx="3137510" cy="1468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8129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434396" y="688695"/>
            <a:ext cx="8584913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8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Flexbox</a:t>
            </a:r>
            <a:endParaRPr lang="es-AR" sz="2800" dirty="0">
              <a:solidFill>
                <a:srgbClr val="BE3969"/>
              </a:solidFill>
              <a:highlight>
                <a:srgbClr val="FFFFFF"/>
              </a:highlight>
              <a:latin typeface="Russo One"/>
              <a:ea typeface="Lato"/>
              <a:cs typeface="Lato"/>
              <a:sym typeface="Russo One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6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1600" b="1" dirty="0" err="1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flex-direction</a:t>
            </a:r>
            <a:endParaRPr lang="es-AR" sz="16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6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Establece la dirección principal en la que se van a colocar los elementos dentro del contenedor.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16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1600" b="1" dirty="0">
                <a:solidFill>
                  <a:schemeClr val="accent6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1. </a:t>
            </a:r>
            <a:r>
              <a:rPr lang="es-AR" sz="1600" b="1" dirty="0" err="1">
                <a:solidFill>
                  <a:schemeClr val="accent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row</a:t>
            </a:r>
            <a:endParaRPr lang="es-AR" sz="1600" b="1" dirty="0">
              <a:solidFill>
                <a:schemeClr val="accent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Posiciona los elementos a lo largo del eje X, en fila, horizontalmente: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D93EDBD-F735-7934-97F6-3BCE09639E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0194" y="3475565"/>
            <a:ext cx="3200847" cy="1390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7471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434396" y="688695"/>
            <a:ext cx="8584913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40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Flexbox</a:t>
            </a:r>
            <a:endParaRPr lang="es-AR" sz="4000" dirty="0">
              <a:solidFill>
                <a:srgbClr val="BE3969"/>
              </a:solidFill>
              <a:highlight>
                <a:srgbClr val="FFFFFF"/>
              </a:highlight>
              <a:latin typeface="Russo One"/>
              <a:ea typeface="Lato"/>
              <a:cs typeface="Lato"/>
              <a:sym typeface="Russo One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24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24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2. </a:t>
            </a:r>
            <a:r>
              <a:rPr lang="es-AR" sz="2400" b="1" dirty="0" err="1">
                <a:solidFill>
                  <a:schemeClr val="accent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row</a:t>
            </a:r>
            <a:r>
              <a:rPr lang="es-AR" sz="2400" b="1" dirty="0">
                <a:solidFill>
                  <a:schemeClr val="accent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-reverse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2400" b="1" dirty="0">
              <a:solidFill>
                <a:schemeClr val="accent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24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Posiciona todos los elementos a lo largo del eje X, pero de atrás hacia adelante.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4F21F78-65D9-5F8F-4FED-E5AF01B17E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0586" y="3400037"/>
            <a:ext cx="4172532" cy="1409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7099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434396" y="688695"/>
            <a:ext cx="8584913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40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Flexbox</a:t>
            </a:r>
            <a:endParaRPr lang="es-AR" sz="4000" dirty="0">
              <a:solidFill>
                <a:srgbClr val="BE3969"/>
              </a:solidFill>
              <a:highlight>
                <a:srgbClr val="FFFFFF"/>
              </a:highlight>
              <a:latin typeface="Russo One"/>
              <a:ea typeface="Lato"/>
              <a:cs typeface="Lato"/>
              <a:sym typeface="Russo One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24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24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3. </a:t>
            </a:r>
            <a:r>
              <a:rPr lang="es-AR" sz="2400" b="1" dirty="0" err="1">
                <a:solidFill>
                  <a:schemeClr val="accent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Column</a:t>
            </a:r>
            <a:endParaRPr lang="es-AR" sz="2400" b="1" dirty="0">
              <a:solidFill>
                <a:schemeClr val="accent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2400" b="1" dirty="0">
              <a:solidFill>
                <a:schemeClr val="accent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24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Posiciona todos los elementos a lo largo del eje Y, verticalmente, en columna.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B994F25-506C-A108-70E6-D929721395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3981" y="3427746"/>
            <a:ext cx="3705742" cy="1409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7595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434396" y="688695"/>
            <a:ext cx="8584913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40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Flexbox</a:t>
            </a:r>
            <a:endParaRPr lang="es-AR" sz="4000" dirty="0">
              <a:solidFill>
                <a:srgbClr val="BE3969"/>
              </a:solidFill>
              <a:highlight>
                <a:srgbClr val="FFFFFF"/>
              </a:highlight>
              <a:latin typeface="Russo One"/>
              <a:ea typeface="Lato"/>
              <a:cs typeface="Lato"/>
              <a:sym typeface="Russo One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24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24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4. </a:t>
            </a:r>
            <a:r>
              <a:rPr lang="es-AR" sz="2400" b="1" dirty="0" err="1">
                <a:solidFill>
                  <a:schemeClr val="accent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column</a:t>
            </a:r>
            <a:r>
              <a:rPr lang="es-AR" sz="2400" b="1" dirty="0">
                <a:solidFill>
                  <a:schemeClr val="accent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-reverse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2400" b="1" dirty="0">
              <a:solidFill>
                <a:schemeClr val="accent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24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Posiciona todos los elementos a lo largo del eje Y, pero de atrás hacia adelante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7053517-4342-BC65-C8E0-4CE4B00CE3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927" y="3389850"/>
            <a:ext cx="4591691" cy="1428949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FE53F9BE-CF8E-FD0E-C9F4-B37D7CC3FCA2}"/>
              </a:ext>
            </a:extLst>
          </p:cNvPr>
          <p:cNvSpPr/>
          <p:nvPr/>
        </p:nvSpPr>
        <p:spPr>
          <a:xfrm>
            <a:off x="5681582" y="3531669"/>
            <a:ext cx="2715491" cy="114530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0" i="0">
                <a:effectLst/>
                <a:latin typeface="system-ui"/>
                <a:hlinkClick r:id="rId4"/>
              </a:rPr>
              <a:t>Ejercicio 1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6995035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434396" y="688695"/>
            <a:ext cx="4996585" cy="372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6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order</a:t>
            </a:r>
            <a:endParaRPr lang="es-AR" sz="3600" dirty="0">
              <a:solidFill>
                <a:srgbClr val="BE3969"/>
              </a:solidFill>
              <a:highlight>
                <a:srgbClr val="FFFFFF"/>
              </a:highlight>
              <a:latin typeface="Russo One"/>
              <a:ea typeface="Lato"/>
              <a:cs typeface="Lato"/>
              <a:sym typeface="Russo One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2000" b="1" dirty="0">
              <a:solidFill>
                <a:schemeClr val="accent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Es una propiedad que se le da a los elementos dentro de un contenedor flexible para cambiar el orden en que se ubican.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20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Se indica simplemente con un número.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Por defecto todos tienen orden 0.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Si dos elementos tienen el mismo orden, se distribuyen según ubicación en el </a:t>
            </a:r>
            <a:r>
              <a:rPr lang="es-AR" sz="20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css</a:t>
            </a: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F6ABE0C-47A8-83D2-C138-C68529D7D8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932" y="1038945"/>
            <a:ext cx="1943371" cy="2095792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8069F974-7610-7416-A985-0E600B0FF9AF}"/>
              </a:ext>
            </a:extLst>
          </p:cNvPr>
          <p:cNvSpPr/>
          <p:nvPr/>
        </p:nvSpPr>
        <p:spPr>
          <a:xfrm>
            <a:off x="5806273" y="3531900"/>
            <a:ext cx="2715491" cy="114530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>
                <a:effectLst/>
                <a:hlinkClick r:id="rId4"/>
              </a:rPr>
              <a:t>Ejercicio 2</a:t>
            </a:r>
            <a:endParaRPr lang="es-AR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832659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397450" y="896514"/>
            <a:ext cx="5181313" cy="372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6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flex</a:t>
            </a:r>
            <a:r>
              <a:rPr lang="es-AR" sz="36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-basis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2000" b="1" dirty="0">
              <a:solidFill>
                <a:schemeClr val="accent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Especifica el tamaño inicial del </a:t>
            </a:r>
            <a:r>
              <a:rPr lang="es-AR" sz="20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item</a:t>
            </a: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, antes de que el espacio restante sea distribuido.</a:t>
            </a: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20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Cuando se omite se pone en 0.</a:t>
            </a: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20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Si se utiliza la palabra auto, tomará como referencia el contenido del elemento, ya sea el alto o el ancho, dependiendo de la orientación del contenedor.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069F974-7610-7416-A985-0E600B0FF9AF}"/>
              </a:ext>
            </a:extLst>
          </p:cNvPr>
          <p:cNvSpPr/>
          <p:nvPr/>
        </p:nvSpPr>
        <p:spPr>
          <a:xfrm>
            <a:off x="5911271" y="3568846"/>
            <a:ext cx="2715491" cy="114530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0" i="0" dirty="0">
                <a:effectLst/>
                <a:latin typeface="system-ui"/>
                <a:hlinkClick r:id="rId3"/>
              </a:rPr>
              <a:t>Ejercicio 3</a:t>
            </a:r>
            <a:endParaRPr lang="es-AR" dirty="0">
              <a:effectLst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75C7750-FBE4-AA85-9504-51E59384F5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4331" y="1052074"/>
            <a:ext cx="3029373" cy="2143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9820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360296" y="540914"/>
            <a:ext cx="5181313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6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flex-grow</a:t>
            </a:r>
            <a:endParaRPr lang="es-AR" sz="3600" dirty="0">
              <a:solidFill>
                <a:srgbClr val="BE3969"/>
              </a:solidFill>
              <a:highlight>
                <a:srgbClr val="FFFFFF"/>
              </a:highlight>
              <a:latin typeface="Russo One"/>
              <a:ea typeface="Lato"/>
              <a:cs typeface="Lato"/>
              <a:sym typeface="Russo One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2000" b="1" dirty="0">
              <a:solidFill>
                <a:schemeClr val="accent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Indica cuánto más espacio a tomar del espacio libre restante va a ocupar un elemento con respecto a otro.</a:t>
            </a: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20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Por defecto es 0, es decir, no va a tomar ningún espacio libre.</a:t>
            </a: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20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Si todos los elementos tienen un valor de 1, el espacio a ocupar se distribuye equitativamente entre ellos. Si uno tiene valor de 2, tomará el doble de éstos.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069F974-7610-7416-A985-0E600B0FF9AF}"/>
              </a:ext>
            </a:extLst>
          </p:cNvPr>
          <p:cNvSpPr/>
          <p:nvPr/>
        </p:nvSpPr>
        <p:spPr>
          <a:xfrm>
            <a:off x="5911271" y="3568846"/>
            <a:ext cx="2715491" cy="114530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0" i="0" dirty="0">
                <a:effectLst/>
                <a:latin typeface="system-ui"/>
                <a:hlinkClick r:id="rId3"/>
              </a:rPr>
              <a:t>Ejercicio 4</a:t>
            </a:r>
            <a:endParaRPr lang="es-AR" dirty="0">
              <a:effectLst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EC216F2-839D-6352-7931-8549E99775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0593" y="1089310"/>
            <a:ext cx="2476846" cy="2124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1527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360296" y="540914"/>
            <a:ext cx="5181313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6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flex-shrink</a:t>
            </a:r>
            <a:endParaRPr lang="es-AR" sz="3600" dirty="0">
              <a:solidFill>
                <a:srgbClr val="BE3969"/>
              </a:solidFill>
              <a:highlight>
                <a:srgbClr val="FFFFFF"/>
              </a:highlight>
              <a:latin typeface="Russo One"/>
              <a:ea typeface="Lato"/>
              <a:cs typeface="Lato"/>
              <a:sym typeface="Russo One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2000" b="1" dirty="0">
              <a:solidFill>
                <a:schemeClr val="accent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Indica </a:t>
            </a:r>
            <a:r>
              <a:rPr lang="es-AR" sz="20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hastá</a:t>
            </a: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cuánto puede reducirse un elemento con respecto a otros.</a:t>
            </a: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20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Por defecto su valor es 1.</a:t>
            </a: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20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Si todos los elementos tienen un valor de 1, a medida que el contenedor se achica, se reducirán equitativamente.</a:t>
            </a: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20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Si uno de los elementos tiene un valor de 2, éste se reducirá la mitad de éstos.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069F974-7610-7416-A985-0E600B0FF9AF}"/>
              </a:ext>
            </a:extLst>
          </p:cNvPr>
          <p:cNvSpPr/>
          <p:nvPr/>
        </p:nvSpPr>
        <p:spPr>
          <a:xfrm>
            <a:off x="5911271" y="3568846"/>
            <a:ext cx="2715491" cy="114530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0" i="0" dirty="0">
                <a:effectLst/>
                <a:latin typeface="system-ui"/>
                <a:hlinkClick r:id="rId3"/>
              </a:rPr>
              <a:t>Ejercicio 5</a:t>
            </a:r>
            <a:endParaRPr lang="es-AR" dirty="0">
              <a:effectLst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D8C480E-2998-E250-4206-5352C1FE24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2461" y="1186888"/>
            <a:ext cx="2753109" cy="2124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9309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360297" y="540914"/>
            <a:ext cx="462734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6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flex-wrap</a:t>
            </a:r>
            <a:endParaRPr lang="es-AR" sz="3600" dirty="0">
              <a:solidFill>
                <a:srgbClr val="BE3969"/>
              </a:solidFill>
              <a:highlight>
                <a:srgbClr val="FFFFFF"/>
              </a:highlight>
              <a:latin typeface="Russo One"/>
              <a:ea typeface="Lato"/>
              <a:cs typeface="Lato"/>
              <a:sym typeface="Russo One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2000" b="1" dirty="0">
              <a:solidFill>
                <a:schemeClr val="accent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Le indica al contenedor si puede distribuir los elementos en más de una línea a medida que se éste se va a </a:t>
            </a:r>
            <a:r>
              <a:rPr lang="es-AR" sz="20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chicando</a:t>
            </a: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.</a:t>
            </a: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20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El valor por defecto es no-</a:t>
            </a:r>
            <a:r>
              <a:rPr lang="es-AR" sz="20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wrap</a:t>
            </a: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069F974-7610-7416-A985-0E600B0FF9AF}"/>
              </a:ext>
            </a:extLst>
          </p:cNvPr>
          <p:cNvSpPr/>
          <p:nvPr/>
        </p:nvSpPr>
        <p:spPr>
          <a:xfrm>
            <a:off x="1191489" y="3583531"/>
            <a:ext cx="2715491" cy="114530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0" i="0" dirty="0">
                <a:effectLst/>
                <a:latin typeface="system-ui"/>
                <a:hlinkClick r:id="rId3"/>
              </a:rPr>
              <a:t>Ejercicio 6</a:t>
            </a:r>
            <a:endParaRPr lang="es-AR" dirty="0">
              <a:effectLst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3A000EC-232D-DE54-7884-E487734DBC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4067" y="1791772"/>
            <a:ext cx="2838846" cy="118126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608703A7-4808-368D-439B-87FE898315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04435" y="3529972"/>
            <a:ext cx="3658111" cy="1152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3697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360296" y="540914"/>
            <a:ext cx="8174103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40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justify</a:t>
            </a:r>
            <a:r>
              <a:rPr lang="es-AR" sz="40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-content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2400" b="1" dirty="0">
              <a:solidFill>
                <a:schemeClr val="accent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24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Le indica al contendor cómo distribuir los elementos cuando hay espacio libre.</a:t>
            </a: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24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24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1. </a:t>
            </a:r>
            <a:r>
              <a:rPr lang="es-AR" sz="2400" b="1" dirty="0" err="1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flex-start</a:t>
            </a:r>
            <a:endParaRPr lang="es-AR" sz="24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24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Posiciona los elementos al comienzo del contenedor (por defecto)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D04DBDE-0ABE-76EA-271D-4B9CAF8303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1875" y="3689699"/>
            <a:ext cx="4077269" cy="1190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6662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397241" y="730063"/>
            <a:ext cx="8174103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40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justify</a:t>
            </a:r>
            <a:r>
              <a:rPr lang="es-AR" sz="40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-content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24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24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2. </a:t>
            </a:r>
            <a:r>
              <a:rPr lang="es-AR" sz="2400" b="1" dirty="0" err="1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flex-end</a:t>
            </a:r>
            <a:endParaRPr lang="es-AR" sz="24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24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24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Posiciona los elementos al final del contenedor.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76851D9-0C7B-734D-B417-ED0C400D4D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2041" y="3200751"/>
            <a:ext cx="4533882" cy="1351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4970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397241" y="730063"/>
            <a:ext cx="8174103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40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justify</a:t>
            </a:r>
            <a:r>
              <a:rPr lang="es-AR" sz="40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-content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24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24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3. </a:t>
            </a:r>
            <a:r>
              <a:rPr lang="es-AR" sz="24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Center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24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24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Posiciona los elementos en el medio del contenedor.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6CCFB01-97D5-CB59-1328-3A0DC38A39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3854" y="3237553"/>
            <a:ext cx="4124437" cy="1306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0633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397241" y="730063"/>
            <a:ext cx="8174103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2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justify</a:t>
            </a:r>
            <a:r>
              <a:rPr lang="es-AR" sz="32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-content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4. </a:t>
            </a:r>
            <a:r>
              <a:rPr lang="es-AR" sz="1800" b="1" dirty="0" err="1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space-around</a:t>
            </a:r>
            <a:endParaRPr lang="es-AR" sz="18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Les da a todos los elementos la misma distancia de separación a ambos lados.</a:t>
            </a: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Los </a:t>
            </a:r>
            <a:r>
              <a:rPr lang="es-AR" sz="18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items</a:t>
            </a: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de los extremos están más cerca del borde que de los </a:t>
            </a:r>
            <a:r>
              <a:rPr lang="es-AR" sz="18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items</a:t>
            </a: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, porque entre el borde y ellos hay una distancia de separación, y entre ellos y los </a:t>
            </a:r>
            <a:r>
              <a:rPr lang="es-AR" sz="18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items</a:t>
            </a: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, una por cada uno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867A4CC-54C4-E8E5-0A95-59ECCBD014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5233" y="3426753"/>
            <a:ext cx="4353533" cy="1171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4805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397241" y="730063"/>
            <a:ext cx="8174103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6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justify</a:t>
            </a:r>
            <a:r>
              <a:rPr lang="es-AR" sz="36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-content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20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5. </a:t>
            </a:r>
            <a:r>
              <a:rPr lang="es-AR" sz="2000" b="1" dirty="0" err="1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space-between</a:t>
            </a:r>
            <a:endParaRPr lang="es-AR" sz="20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20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Posiciona un elemento al principio y otro al final del contenedor, y distribuye los restantes entre estos dos, con espacio equitativo entre ellos.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D7F78E0-B91C-F773-72B5-33DF1A274A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3760" y="3371481"/>
            <a:ext cx="4696480" cy="1162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5971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397241" y="730063"/>
            <a:ext cx="8174103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6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justify</a:t>
            </a:r>
            <a:r>
              <a:rPr lang="es-AR" sz="36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-content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20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6. </a:t>
            </a:r>
            <a:r>
              <a:rPr lang="es-AR" sz="2000" b="1" dirty="0" err="1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space-evenly</a:t>
            </a:r>
            <a:endParaRPr lang="es-AR" sz="20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20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Posiciona los elementos de forma tal que el espacio entre ellos y entre los bordes es el mismo.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0EB08FB-4E48-6417-8F18-CEDBE871B8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276" y="3203593"/>
            <a:ext cx="4477375" cy="1209844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5F31C45A-DD3F-DA25-63AA-39042BFE20BA}"/>
              </a:ext>
            </a:extLst>
          </p:cNvPr>
          <p:cNvSpPr/>
          <p:nvPr/>
        </p:nvSpPr>
        <p:spPr>
          <a:xfrm>
            <a:off x="5758871" y="3203593"/>
            <a:ext cx="2715491" cy="114530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0" i="0" dirty="0">
                <a:effectLst/>
                <a:latin typeface="system-ui"/>
                <a:hlinkClick r:id="rId4"/>
              </a:rPr>
              <a:t>Ejercicio 7</a:t>
            </a:r>
            <a:endParaRPr lang="es-AR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5232894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397241" y="730063"/>
            <a:ext cx="8174103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6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align-items</a:t>
            </a:r>
            <a:endParaRPr lang="es-AR" sz="3600" dirty="0">
              <a:solidFill>
                <a:srgbClr val="BE3969"/>
              </a:solidFill>
              <a:highlight>
                <a:srgbClr val="FFFFFF"/>
              </a:highlight>
              <a:latin typeface="Russo One"/>
              <a:ea typeface="Lato"/>
              <a:cs typeface="Lato"/>
              <a:sym typeface="Russo One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20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457200" lvl="0" indent="-457200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s-AR" sz="20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Flex-</a:t>
            </a:r>
            <a:r>
              <a:rPr lang="es-AR" sz="2000" b="1" dirty="0" err="1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start</a:t>
            </a:r>
            <a:endParaRPr lang="es-AR" sz="20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457200" lvl="0" indent="-457200" rtl="0">
              <a:spcBef>
                <a:spcPts val="0"/>
              </a:spcBef>
              <a:spcAft>
                <a:spcPts val="0"/>
              </a:spcAft>
              <a:buAutoNum type="arabicPeriod"/>
            </a:pPr>
            <a:endParaRPr lang="es-AR" sz="20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Posiciona los elementos al principio de la línea perpendicular al eje del contendor.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D73B8C4-C7A5-F23B-E2B3-A45EB63FE2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1559" y="3397305"/>
            <a:ext cx="3600953" cy="1286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9285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397241" y="730063"/>
            <a:ext cx="8174103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6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align-items</a:t>
            </a:r>
            <a:endParaRPr lang="es-AR" sz="3600" dirty="0">
              <a:solidFill>
                <a:srgbClr val="BE3969"/>
              </a:solidFill>
              <a:highlight>
                <a:srgbClr val="FFFFFF"/>
              </a:highlight>
              <a:latin typeface="Russo One"/>
              <a:ea typeface="Lato"/>
              <a:cs typeface="Lato"/>
              <a:sym typeface="Russo One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20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2. </a:t>
            </a:r>
            <a:r>
              <a:rPr lang="es-AR" sz="2000" b="1" dirty="0" err="1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flex-end</a:t>
            </a:r>
            <a:endParaRPr lang="es-AR" sz="20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20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Posiciona los elementos al final de la línea perpendicular al eje del contenedor.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0001F87-1D4A-6CF1-4A17-3241BB3335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6760" y="3244904"/>
            <a:ext cx="3610479" cy="1286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6084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397241" y="730063"/>
            <a:ext cx="8174103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6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align-items</a:t>
            </a:r>
            <a:endParaRPr lang="es-AR" sz="3600" dirty="0">
              <a:solidFill>
                <a:srgbClr val="BE3969"/>
              </a:solidFill>
              <a:highlight>
                <a:srgbClr val="FFFFFF"/>
              </a:highlight>
              <a:latin typeface="Russo One"/>
              <a:ea typeface="Lato"/>
              <a:cs typeface="Lato"/>
              <a:sym typeface="Russo One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20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3. </a:t>
            </a:r>
            <a:r>
              <a:rPr lang="es-AR" sz="20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Center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20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Posiciona los elementos en el medio de la línea perpendicular al eje del contenedor.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0AA760C-1320-420E-26A5-39759F37F1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2086" y="3245049"/>
            <a:ext cx="3219899" cy="1276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8218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397241" y="730063"/>
            <a:ext cx="8174103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6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align-items</a:t>
            </a:r>
            <a:endParaRPr lang="es-AR" sz="3600" dirty="0">
              <a:solidFill>
                <a:srgbClr val="BE3969"/>
              </a:solidFill>
              <a:highlight>
                <a:srgbClr val="FFFFFF"/>
              </a:highlight>
              <a:latin typeface="Russo One"/>
              <a:ea typeface="Lato"/>
              <a:cs typeface="Lato"/>
              <a:sym typeface="Russo One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20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4. </a:t>
            </a:r>
            <a:r>
              <a:rPr lang="es-AR" sz="2000" b="1" dirty="0" err="1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Stretch</a:t>
            </a:r>
            <a:endParaRPr lang="es-AR" sz="20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20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Posiciona los elementos para que llenen todo el espacio posible a través de la línea perpendicular al eje del contenedor (por defecto)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215FB76-5469-BA29-C3E5-C978F0025F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4418" y="3347664"/>
            <a:ext cx="3315163" cy="1209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175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397241" y="730063"/>
            <a:ext cx="8174103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6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align-items</a:t>
            </a:r>
            <a:endParaRPr lang="es-AR" sz="3600" dirty="0">
              <a:solidFill>
                <a:srgbClr val="BE3969"/>
              </a:solidFill>
              <a:highlight>
                <a:srgbClr val="FFFFFF"/>
              </a:highlight>
              <a:latin typeface="Russo One"/>
              <a:ea typeface="Lato"/>
              <a:cs typeface="Lato"/>
              <a:sym typeface="Russo One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20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5. </a:t>
            </a:r>
            <a:r>
              <a:rPr lang="es-AR" sz="2000" b="1" dirty="0" err="1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Baseline</a:t>
            </a:r>
            <a:endParaRPr lang="es-AR" sz="20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20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Los elementos se distribuyen de forma tal que la base de línea del </a:t>
            </a:r>
            <a:r>
              <a:rPr lang="es-AR" sz="20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contendio</a:t>
            </a: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de ellos queda alineado.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55EA123-B687-1EFC-B902-A3FCCA8A59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155" y="3250538"/>
            <a:ext cx="3505689" cy="1219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9651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397241" y="730063"/>
            <a:ext cx="8174103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6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align</a:t>
            </a:r>
            <a:r>
              <a:rPr lang="es-AR" sz="36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-content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20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Funciona como </a:t>
            </a:r>
            <a:r>
              <a:rPr lang="es-AR" sz="2000" b="1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justify</a:t>
            </a:r>
            <a:r>
              <a:rPr lang="es-AR" sz="2000" b="1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-content</a:t>
            </a: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, pero distribuyendo el espacio que hay a lo largo del eje perpendicular al eje contenedor. Debe usarse en combinación con </a:t>
            </a:r>
            <a:r>
              <a:rPr lang="es-AR" sz="20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flex-wrap</a:t>
            </a: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, ya que no funciona cuando el contenedor tiene una sola línea de elementos.</a:t>
            </a: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20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1. </a:t>
            </a:r>
            <a:r>
              <a:rPr lang="es-AR" sz="2000" b="1" dirty="0" err="1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flex-start</a:t>
            </a:r>
            <a:endParaRPr lang="es-AR" sz="20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6B0C7EC-F56C-A4B6-9BDA-225EF77024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6157" y="3530830"/>
            <a:ext cx="3896269" cy="1162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2001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397241" y="730063"/>
            <a:ext cx="8174103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48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align</a:t>
            </a:r>
            <a:r>
              <a:rPr lang="es-AR" sz="48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-content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32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32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2. </a:t>
            </a:r>
            <a:r>
              <a:rPr lang="es-AR" sz="3200" b="1" dirty="0" err="1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flex-end</a:t>
            </a:r>
            <a:endParaRPr lang="es-AR" sz="32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F0297D0-06FE-F294-D551-8980EA70AD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4510" y="2737641"/>
            <a:ext cx="4900436" cy="1675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1235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397241" y="730063"/>
            <a:ext cx="8174103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48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align</a:t>
            </a:r>
            <a:r>
              <a:rPr lang="es-AR" sz="48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-content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32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32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3. </a:t>
            </a:r>
            <a:r>
              <a:rPr lang="es-AR" sz="32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Center 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10C50D0-C87D-E4A0-FB4F-DE6EFEC3D9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4473" y="2876899"/>
            <a:ext cx="4744121" cy="1651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5667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397241" y="730063"/>
            <a:ext cx="8174103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48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align</a:t>
            </a:r>
            <a:r>
              <a:rPr lang="es-AR" sz="48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-content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32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32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4. </a:t>
            </a:r>
            <a:r>
              <a:rPr lang="es-AR" sz="3200" b="1" dirty="0" err="1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space-around</a:t>
            </a:r>
            <a:endParaRPr lang="es-AR" sz="32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33AC1A4-1CC4-AFD3-1926-650B52E1F3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8836" y="2942278"/>
            <a:ext cx="5739103" cy="1575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8021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397241" y="730063"/>
            <a:ext cx="8174103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48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align</a:t>
            </a:r>
            <a:r>
              <a:rPr lang="es-AR" sz="48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-content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32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32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5. </a:t>
            </a:r>
            <a:r>
              <a:rPr lang="es-AR" sz="3200" b="1" dirty="0" err="1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space-between</a:t>
            </a:r>
            <a:endParaRPr lang="es-AR" sz="32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96BFFC6-BC26-416F-1D0A-4ED9676568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0829" y="2844573"/>
            <a:ext cx="6595285" cy="1815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8631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397241" y="730063"/>
            <a:ext cx="8174103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48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align</a:t>
            </a:r>
            <a:r>
              <a:rPr lang="es-AR" sz="48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-content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32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32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5. </a:t>
            </a:r>
            <a:r>
              <a:rPr lang="es-AR" sz="3200" b="1" dirty="0" err="1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stretch</a:t>
            </a:r>
            <a:endParaRPr lang="es-AR" sz="32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2395FB3-C8A0-B5C2-4AFF-B8FCA790C4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987" y="2985379"/>
            <a:ext cx="4253089" cy="1462348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AC5DA242-6893-0B94-91E1-8E009657A108}"/>
              </a:ext>
            </a:extLst>
          </p:cNvPr>
          <p:cNvSpPr/>
          <p:nvPr/>
        </p:nvSpPr>
        <p:spPr>
          <a:xfrm>
            <a:off x="5712689" y="3143898"/>
            <a:ext cx="2715491" cy="114530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0" i="0" dirty="0">
                <a:effectLst/>
                <a:latin typeface="system-ui"/>
                <a:hlinkClick r:id="rId4"/>
              </a:rPr>
              <a:t>Ejercicio 8</a:t>
            </a:r>
            <a:endParaRPr lang="es-AR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2665229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C3FF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4"/>
          <p:cNvSpPr txBox="1">
            <a:spLocks noGrp="1"/>
          </p:cNvSpPr>
          <p:nvPr>
            <p:ph type="title" idx="4294967295"/>
          </p:nvPr>
        </p:nvSpPr>
        <p:spPr>
          <a:xfrm>
            <a:off x="798945" y="1771795"/>
            <a:ext cx="4129088" cy="534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4400" dirty="0">
                <a:solidFill>
                  <a:srgbClr val="4A4A4A"/>
                </a:solidFill>
                <a:latin typeface="Russo One"/>
                <a:ea typeface="Russo One"/>
                <a:cs typeface="Russo One"/>
                <a:sym typeface="Russo One"/>
              </a:rPr>
              <a:t>Veamos un ejemplo de </a:t>
            </a:r>
            <a:endParaRPr sz="4400" dirty="0">
              <a:solidFill>
                <a:srgbClr val="4A4A4A"/>
              </a:solidFill>
              <a:latin typeface="Russo One"/>
              <a:ea typeface="Russo One"/>
              <a:cs typeface="Russo One"/>
              <a:sym typeface="Russo O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4400" dirty="0">
                <a:solidFill>
                  <a:srgbClr val="CD0055"/>
                </a:solidFill>
                <a:latin typeface="Russo One"/>
                <a:ea typeface="Russo One"/>
                <a:cs typeface="Russo One"/>
                <a:sym typeface="Russo One"/>
              </a:rPr>
              <a:t>este tema</a:t>
            </a:r>
            <a:endParaRPr sz="4400" dirty="0">
              <a:solidFill>
                <a:srgbClr val="CD0055"/>
              </a:solidFill>
              <a:latin typeface="Russo One"/>
              <a:ea typeface="Russo One"/>
              <a:cs typeface="Russo One"/>
              <a:sym typeface="Russo One"/>
            </a:endParaRPr>
          </a:p>
        </p:txBody>
      </p:sp>
      <p:pic>
        <p:nvPicPr>
          <p:cNvPr id="154" name="Google Shape;15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7025" y="691975"/>
            <a:ext cx="4392225" cy="4392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437777EF-90F3-E966-8050-96D4E3F5B6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1" name="Google Shape;71;p15"/>
          <p:cNvSpPr txBox="1">
            <a:spLocks/>
          </p:cNvSpPr>
          <p:nvPr/>
        </p:nvSpPr>
        <p:spPr>
          <a:xfrm>
            <a:off x="1713345" y="1667163"/>
            <a:ext cx="6105236" cy="1216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s-AR" sz="6000" dirty="0">
                <a:solidFill>
                  <a:schemeClr val="tx1"/>
                </a:solidFill>
                <a:latin typeface="Russo One"/>
                <a:ea typeface="Russo One"/>
                <a:cs typeface="Russo One"/>
                <a:sym typeface="Russo One"/>
              </a:rPr>
              <a:t>Teoría </a:t>
            </a:r>
            <a:r>
              <a:rPr lang="es-AR" sz="6000" dirty="0" err="1">
                <a:solidFill>
                  <a:schemeClr val="tx1"/>
                </a:solidFill>
                <a:latin typeface="Russo One"/>
                <a:ea typeface="Russo One"/>
                <a:cs typeface="Russo One"/>
                <a:sym typeface="Russo One"/>
              </a:rPr>
              <a:t>Flexbox</a:t>
            </a:r>
            <a:r>
              <a:rPr lang="es-AR" sz="6000" dirty="0">
                <a:solidFill>
                  <a:schemeClr val="tx1"/>
                </a:solidFill>
                <a:latin typeface="Russo One"/>
                <a:ea typeface="Russo One"/>
                <a:cs typeface="Russo One"/>
                <a:sym typeface="Russo One"/>
              </a:rPr>
              <a:t> con imágenes</a:t>
            </a:r>
          </a:p>
        </p:txBody>
      </p:sp>
    </p:spTree>
    <p:extLst>
      <p:ext uri="{BB962C8B-B14F-4D97-AF65-F5344CB8AC3E}">
        <p14:creationId xmlns:p14="http://schemas.microsoft.com/office/powerpoint/2010/main" val="36090742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401859" y="470983"/>
            <a:ext cx="8174103" cy="3770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400" b="1" i="0" dirty="0" err="1">
                <a:solidFill>
                  <a:srgbClr val="BC3B69"/>
                </a:solidFill>
                <a:effectLst/>
                <a:latin typeface="Montserrat" panose="00000500000000000000" pitchFamily="2" charset="0"/>
              </a:rPr>
              <a:t>Flexbox</a:t>
            </a:r>
            <a:endParaRPr lang="es-AR" sz="2400" b="1" i="0" dirty="0">
              <a:solidFill>
                <a:srgbClr val="BC3B69"/>
              </a:solidFill>
              <a:effectLst/>
              <a:latin typeface="Montserrat" panose="00000500000000000000" pitchFamily="2" charset="0"/>
            </a:endParaRPr>
          </a:p>
          <a:p>
            <a:endParaRPr lang="es-AR" sz="2400" b="1" i="0" dirty="0">
              <a:solidFill>
                <a:srgbClr val="BC3B69"/>
              </a:solidFill>
              <a:effectLst/>
              <a:latin typeface="Montserrat" panose="00000500000000000000" pitchFamily="2" charset="0"/>
            </a:endParaRPr>
          </a:p>
          <a:p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El módulo de </a:t>
            </a:r>
            <a:r>
              <a:rPr lang="es-AR" sz="18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flexbox</a:t>
            </a: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de CSS es una nueva forma de organizar, distribuir y alinear el </a:t>
            </a:r>
            <a:r>
              <a:rPr lang="es-AR" sz="18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layout</a:t>
            </a: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de elementos </a:t>
            </a:r>
            <a:r>
              <a:rPr lang="es-AR" sz="18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html</a:t>
            </a: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, permitiéndoles incluso ocupar espacio de contenedores con tamaño desconocido o variable (de ahí lo "flexible").</a:t>
            </a:r>
          </a:p>
          <a:p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La idea básica de </a:t>
            </a:r>
            <a:r>
              <a:rPr lang="es-AR" sz="18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flexbox</a:t>
            </a: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es darle al contenedor la capacidad de distribuir su espacio sobrante entre cada uno de los </a:t>
            </a:r>
            <a:r>
              <a:rPr lang="es-AR" sz="18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items</a:t>
            </a: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que contiene, permitiéndoles crecer o achicarse según corresponda el caso.</a:t>
            </a:r>
          </a:p>
          <a:p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Veamos la </a:t>
            </a:r>
            <a:r>
              <a:rPr lang="es-AR" sz="1800" dirty="0">
                <a:solidFill>
                  <a:schemeClr val="tx1"/>
                </a:solidFill>
                <a:latin typeface="Russo One"/>
                <a:ea typeface="Russo One"/>
                <a:cs typeface="Russo One"/>
                <a:sym typeface="Russo One"/>
              </a:rPr>
              <a:t>Teoría </a:t>
            </a:r>
            <a:r>
              <a:rPr lang="es-AR" sz="1800" dirty="0" err="1">
                <a:solidFill>
                  <a:schemeClr val="tx1"/>
                </a:solidFill>
                <a:latin typeface="Russo One"/>
                <a:ea typeface="Russo One"/>
                <a:cs typeface="Russo One"/>
                <a:sym typeface="Russo One"/>
              </a:rPr>
              <a:t>Flexbox</a:t>
            </a:r>
            <a:r>
              <a:rPr lang="es-AR" sz="1800" dirty="0">
                <a:solidFill>
                  <a:schemeClr val="tx1"/>
                </a:solidFill>
                <a:latin typeface="Russo One"/>
                <a:ea typeface="Russo One"/>
                <a:cs typeface="Russo One"/>
                <a:sym typeface="Russo One"/>
              </a:rPr>
              <a:t> con imágenes</a:t>
            </a:r>
          </a:p>
          <a:p>
            <a:endParaRPr lang="es-AR" sz="1800" dirty="0">
              <a:solidFill>
                <a:srgbClr val="BE3969"/>
              </a:solidFill>
              <a:highlight>
                <a:srgbClr val="FFFFFF"/>
              </a:highlight>
              <a:latin typeface="Russo One"/>
              <a:ea typeface="Lato"/>
              <a:cs typeface="Lato"/>
              <a:sym typeface="Russo One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1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0315E60-534F-0976-472F-402BD6DAAF6F}"/>
              </a:ext>
            </a:extLst>
          </p:cNvPr>
          <p:cNvSpPr/>
          <p:nvPr/>
        </p:nvSpPr>
        <p:spPr>
          <a:xfrm>
            <a:off x="2027382" y="4020157"/>
            <a:ext cx="5250871" cy="76781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0" i="0" dirty="0">
                <a:effectLst/>
                <a:latin typeface="system-ui"/>
                <a:hlinkClick r:id="rId3"/>
              </a:rPr>
              <a:t>https://ada7matm.github.io/pages/flexbox.html</a:t>
            </a:r>
            <a:r>
              <a:rPr lang="es-AR" b="0" i="0" dirty="0">
                <a:effectLst/>
                <a:latin typeface="system-ui"/>
              </a:rPr>
              <a:t> </a:t>
            </a:r>
            <a:endParaRPr lang="es-AR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49137194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401859" y="470983"/>
            <a:ext cx="8174103" cy="3216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400" b="1" i="0" dirty="0" err="1">
                <a:solidFill>
                  <a:srgbClr val="BC3B69"/>
                </a:solidFill>
                <a:effectLst/>
                <a:latin typeface="Montserrat" panose="00000500000000000000" pitchFamily="2" charset="0"/>
              </a:rPr>
              <a:t>Flexbox</a:t>
            </a:r>
            <a:endParaRPr lang="es-AR" sz="2400" b="1" i="0" dirty="0">
              <a:solidFill>
                <a:srgbClr val="BC3B69"/>
              </a:solidFill>
              <a:effectLst/>
              <a:latin typeface="Montserrat" panose="00000500000000000000" pitchFamily="2" charset="0"/>
            </a:endParaRPr>
          </a:p>
          <a:p>
            <a:endParaRPr lang="es-AR" sz="2400" b="1" i="0" dirty="0">
              <a:solidFill>
                <a:srgbClr val="BC3B69"/>
              </a:solidFill>
              <a:effectLst/>
              <a:latin typeface="Montserrat" panose="00000500000000000000" pitchFamily="2" charset="0"/>
            </a:endParaRPr>
          </a:p>
          <a:p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Visualizador de propiedades:</a:t>
            </a:r>
          </a:p>
          <a:p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Visualizador de propiedades 2: </a:t>
            </a:r>
            <a:endParaRPr lang="es-AR" sz="1800" dirty="0">
              <a:solidFill>
                <a:srgbClr val="BE3969"/>
              </a:solidFill>
              <a:highlight>
                <a:srgbClr val="FFFFFF"/>
              </a:highlight>
              <a:latin typeface="Russo One"/>
              <a:ea typeface="Lato"/>
              <a:cs typeface="Lato"/>
              <a:sym typeface="Russo One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1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0315E60-534F-0976-472F-402BD6DAAF6F}"/>
              </a:ext>
            </a:extLst>
          </p:cNvPr>
          <p:cNvSpPr/>
          <p:nvPr/>
        </p:nvSpPr>
        <p:spPr>
          <a:xfrm>
            <a:off x="1745672" y="1895794"/>
            <a:ext cx="5250871" cy="76781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>
                <a:effectLst/>
                <a:hlinkClick r:id="rId3"/>
              </a:rPr>
              <a:t>https://codepen.io/enxaneta/full/adLPwv/</a:t>
            </a:r>
            <a:r>
              <a:rPr lang="es-AR" dirty="0">
                <a:effectLst/>
              </a:rPr>
              <a:t> 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BFE31A4-A515-3827-B6A4-41A229E331D4}"/>
              </a:ext>
            </a:extLst>
          </p:cNvPr>
          <p:cNvSpPr/>
          <p:nvPr/>
        </p:nvSpPr>
        <p:spPr>
          <a:xfrm>
            <a:off x="1745672" y="3815161"/>
            <a:ext cx="5250871" cy="76781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>
                <a:effectLst/>
                <a:hlinkClick r:id="rId4"/>
              </a:rPr>
              <a:t>https://flexbox.help</a:t>
            </a:r>
            <a:r>
              <a:rPr lang="es-AR" dirty="0">
                <a:effectLst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3351686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494223" y="1376147"/>
            <a:ext cx="3163377" cy="3493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400" b="1" i="0" dirty="0" err="1">
                <a:solidFill>
                  <a:srgbClr val="BC3B69"/>
                </a:solidFill>
                <a:effectLst/>
                <a:latin typeface="Montserrat" panose="00000500000000000000" pitchFamily="2" charset="0"/>
              </a:rPr>
              <a:t>Flexbox</a:t>
            </a:r>
            <a:endParaRPr lang="es-AR" sz="2400" b="1" i="0" dirty="0">
              <a:solidFill>
                <a:srgbClr val="BC3B69"/>
              </a:solidFill>
              <a:effectLst/>
              <a:latin typeface="Montserrat" panose="00000500000000000000" pitchFamily="2" charset="0"/>
            </a:endParaRPr>
          </a:p>
          <a:p>
            <a:endParaRPr lang="es-AR" sz="2400" b="1" i="0" dirty="0">
              <a:solidFill>
                <a:srgbClr val="BC3B69"/>
              </a:solidFill>
              <a:effectLst/>
              <a:latin typeface="Montserrat" panose="00000500000000000000" pitchFamily="2" charset="0"/>
            </a:endParaRPr>
          </a:p>
          <a:p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Ahora vamos a jugar un divertido juego, basado en todo lo visto en esta clase:</a:t>
            </a:r>
          </a:p>
          <a:p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1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0315E60-534F-0976-472F-402BD6DAAF6F}"/>
              </a:ext>
            </a:extLst>
          </p:cNvPr>
          <p:cNvSpPr/>
          <p:nvPr/>
        </p:nvSpPr>
        <p:spPr>
          <a:xfrm>
            <a:off x="803565" y="3264477"/>
            <a:ext cx="2128982" cy="76781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>
                <a:effectLst/>
                <a:hlinkClick r:id="rId3"/>
              </a:rPr>
              <a:t>https://flexboxfroggy.com/#es</a:t>
            </a:r>
            <a:r>
              <a:rPr lang="es-AR" dirty="0">
                <a:effectLst/>
              </a:rPr>
              <a:t> 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6A462C2-CC83-24C6-F800-EA514530BE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5236" y="1473200"/>
            <a:ext cx="5250902" cy="2603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37832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437777EF-90F3-E966-8050-96D4E3F5B6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1" name="Google Shape;71;p15"/>
          <p:cNvSpPr txBox="1">
            <a:spLocks/>
          </p:cNvSpPr>
          <p:nvPr/>
        </p:nvSpPr>
        <p:spPr>
          <a:xfrm>
            <a:off x="1713345" y="1667163"/>
            <a:ext cx="6105236" cy="1216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s-AR" sz="6000" dirty="0">
                <a:solidFill>
                  <a:schemeClr val="tx1"/>
                </a:solidFill>
                <a:latin typeface="Russo One"/>
                <a:ea typeface="Russo One"/>
                <a:cs typeface="Russo One"/>
                <a:sym typeface="Russo One"/>
              </a:rPr>
              <a:t>El formato SVG</a:t>
            </a:r>
          </a:p>
        </p:txBody>
      </p:sp>
    </p:spTree>
    <p:extLst>
      <p:ext uri="{BB962C8B-B14F-4D97-AF65-F5344CB8AC3E}">
        <p14:creationId xmlns:p14="http://schemas.microsoft.com/office/powerpoint/2010/main" val="81570204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429568" y="937419"/>
            <a:ext cx="8174103" cy="387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200" b="1" i="0" dirty="0">
                <a:solidFill>
                  <a:srgbClr val="BC3B69"/>
                </a:solidFill>
                <a:effectLst/>
                <a:latin typeface="Montserrat" panose="00000500000000000000" pitchFamily="2" charset="0"/>
              </a:rPr>
              <a:t>¿Qué es SVG?</a:t>
            </a:r>
          </a:p>
          <a:p>
            <a:endParaRPr lang="es-AR" sz="3200" b="1" i="0" dirty="0">
              <a:solidFill>
                <a:srgbClr val="BC3B69"/>
              </a:solidFill>
              <a:effectLst/>
              <a:latin typeface="Montserrat" panose="00000500000000000000" pitchFamily="2" charset="0"/>
            </a:endParaRPr>
          </a:p>
          <a:p>
            <a:r>
              <a:rPr lang="es-AR" sz="24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SVG (</a:t>
            </a:r>
            <a:r>
              <a:rPr lang="es-AR" sz="24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Scalable</a:t>
            </a:r>
            <a:r>
              <a:rPr lang="es-AR" sz="24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Vector </a:t>
            </a:r>
            <a:r>
              <a:rPr lang="es-AR" sz="24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Graphics</a:t>
            </a:r>
            <a:r>
              <a:rPr lang="es-AR" sz="24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) es un formato de gráficos vectoriales basado en XML, diseñado para crear imágenes bidimensionales. </a:t>
            </a:r>
          </a:p>
          <a:p>
            <a:r>
              <a:rPr lang="es-AR" sz="24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A diferencia de los formatos de imagen rasterizada como PNG o JPG, los gráficos SVG son independientes de la resolución, lo que significa que no pierden calidad al redimensionarse.</a:t>
            </a:r>
            <a:endParaRPr lang="es-AR" sz="2400" dirty="0">
              <a:solidFill>
                <a:srgbClr val="BE3969"/>
              </a:solidFill>
              <a:highlight>
                <a:srgbClr val="FFFFFF"/>
              </a:highlight>
              <a:latin typeface="Russo One"/>
              <a:ea typeface="Lato"/>
              <a:cs typeface="Lato"/>
              <a:sym typeface="Russo One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410693888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484948" y="720364"/>
            <a:ext cx="8174103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400" b="1" i="0" dirty="0">
                <a:solidFill>
                  <a:srgbClr val="BC3B69"/>
                </a:solidFill>
                <a:effectLst/>
                <a:latin typeface="Montserrat" panose="00000500000000000000" pitchFamily="2" charset="0"/>
              </a:rPr>
              <a:t>Elementos básicos de SVG</a:t>
            </a:r>
          </a:p>
          <a:p>
            <a:endParaRPr lang="es-AR" sz="2400" b="1" i="0" dirty="0">
              <a:solidFill>
                <a:srgbClr val="BC3B69"/>
              </a:solidFill>
              <a:effectLst/>
              <a:latin typeface="Montserrat" panose="00000500000000000000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&lt;</a:t>
            </a:r>
            <a:r>
              <a:rPr lang="es-AR" sz="1800" dirty="0" err="1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svg</a:t>
            </a: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&gt;: Contenedor principal para gráficos SVG.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r>
              <a:rPr lang="es-AR" sz="1800" b="1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Formas básicas: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&lt;</a:t>
            </a:r>
            <a:r>
              <a:rPr lang="es-AR" sz="1800" dirty="0" err="1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rect</a:t>
            </a:r>
            <a:r>
              <a:rPr lang="es-AR" sz="1800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&gt;</a:t>
            </a: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: Rectángulo.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&lt;</a:t>
            </a:r>
            <a:r>
              <a:rPr lang="es-AR" sz="1800" dirty="0" err="1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circle</a:t>
            </a:r>
            <a:r>
              <a:rPr lang="es-AR" sz="1800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&gt;</a:t>
            </a: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: Círculo.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&lt;</a:t>
            </a:r>
            <a:r>
              <a:rPr lang="es-AR" sz="1800" dirty="0" err="1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ellipse</a:t>
            </a: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&gt;: Elipse.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&lt;line</a:t>
            </a: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&gt;: Línea.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&lt;</a:t>
            </a:r>
            <a:r>
              <a:rPr lang="es-AR" sz="1800" dirty="0" err="1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polygon</a:t>
            </a: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&gt;: Polígono.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&lt;path</a:t>
            </a: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&gt;: Ruta personalizada.</a:t>
            </a:r>
          </a:p>
          <a:p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r>
              <a:rPr lang="es-AR" sz="1800" b="1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Estilos: </a:t>
            </a: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Puedes usar atributos como </a:t>
            </a:r>
            <a:r>
              <a:rPr lang="es-AR" sz="18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fill</a:t>
            </a: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s-AR" sz="18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stroke</a:t>
            </a: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, y </a:t>
            </a:r>
            <a:r>
              <a:rPr lang="es-AR" sz="18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stroke-width</a:t>
            </a: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para dar estilo a las formas.</a:t>
            </a:r>
            <a:endParaRPr lang="es-AR" sz="11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92822931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484948" y="720364"/>
            <a:ext cx="8174103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400" b="1" i="0" dirty="0">
                <a:solidFill>
                  <a:srgbClr val="BC3B69"/>
                </a:solidFill>
                <a:effectLst/>
                <a:latin typeface="Montserrat" panose="00000500000000000000" pitchFamily="2" charset="0"/>
              </a:rPr>
              <a:t>Elementos básicos de SVG</a:t>
            </a:r>
          </a:p>
          <a:p>
            <a:endParaRPr lang="es-AR" sz="2400" b="1" i="0" dirty="0">
              <a:solidFill>
                <a:srgbClr val="BC3B69"/>
              </a:solidFill>
              <a:effectLst/>
              <a:latin typeface="Montserrat" panose="00000500000000000000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Ejemplo: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AR" sz="1800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r>
              <a:rPr lang="es-AR" sz="1800" b="1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Usos comunes de SVG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Logotipos y gráficos vectoriales simples.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Animaciones para la web.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Iconos interactivos.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Diagramas y gráficos personalizados.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3BA688F-009E-88BA-CE71-EE5B61002E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526" y="1922697"/>
            <a:ext cx="7024255" cy="1196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07076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484948" y="720364"/>
            <a:ext cx="8174103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800" b="1" i="0" dirty="0">
                <a:solidFill>
                  <a:srgbClr val="BC3B69"/>
                </a:solidFill>
                <a:effectLst/>
                <a:latin typeface="Montserrat" panose="00000500000000000000" pitchFamily="2" charset="0"/>
              </a:rPr>
              <a:t>Iconos con SVG y con librerías</a:t>
            </a:r>
          </a:p>
          <a:p>
            <a:endParaRPr lang="es-AR" sz="2800" b="1" dirty="0">
              <a:solidFill>
                <a:srgbClr val="BC3B69"/>
              </a:solidFill>
              <a:highlight>
                <a:srgbClr val="FFFFFF"/>
              </a:highlight>
              <a:latin typeface="Montserrat" panose="00000500000000000000" pitchFamily="2" charset="0"/>
              <a:ea typeface="Lato"/>
            </a:endParaRPr>
          </a:p>
          <a:p>
            <a:r>
              <a:rPr lang="es-AR" sz="20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Iconos con SVG</a:t>
            </a:r>
          </a:p>
          <a:p>
            <a:endParaRPr lang="es-AR" sz="20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Utilizar SVG para iconos tiene varias ventajas: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AR" sz="20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342900" indent="-342900">
              <a:buFont typeface="+mj-lt"/>
              <a:buAutoNum type="arabicPeriod"/>
            </a:pPr>
            <a:r>
              <a:rPr lang="es-AR" sz="2000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Personalización</a:t>
            </a: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: Puedes modificar directamente el color, tamaño, y otros atributos.</a:t>
            </a:r>
          </a:p>
          <a:p>
            <a:pPr marL="342900" indent="-342900">
              <a:buFont typeface="+mj-lt"/>
              <a:buAutoNum type="arabicPeriod"/>
            </a:pPr>
            <a:r>
              <a:rPr lang="es-AR" sz="2000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Interactividad</a:t>
            </a: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: Los iconos pueden reaccionar a eventos del usuario, como clics o movimientos del mouse.</a:t>
            </a:r>
          </a:p>
          <a:p>
            <a:pPr marL="342900" indent="-342900">
              <a:buFont typeface="+mj-lt"/>
              <a:buAutoNum type="arabicPeriod"/>
            </a:pPr>
            <a:r>
              <a:rPr lang="es-AR" sz="2000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Ligereza</a:t>
            </a: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: SVG es ideal para iconos porque ocupa menos espacio que otros formatos.</a:t>
            </a:r>
          </a:p>
        </p:txBody>
      </p:sp>
    </p:spTree>
    <p:extLst>
      <p:ext uri="{BB962C8B-B14F-4D97-AF65-F5344CB8AC3E}">
        <p14:creationId xmlns:p14="http://schemas.microsoft.com/office/powerpoint/2010/main" val="134390884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1620879" y="880620"/>
            <a:ext cx="63259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800" b="1" i="0" dirty="0">
                <a:solidFill>
                  <a:srgbClr val="BC3B69"/>
                </a:solidFill>
                <a:effectLst/>
                <a:latin typeface="Montserrat" panose="00000500000000000000" pitchFamily="2" charset="0"/>
              </a:rPr>
              <a:t>Comparación: SVG vs Librerías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7F8FE75D-853C-4E79-ED84-9A6FFB1E4B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5139687"/>
              </p:ext>
            </p:extLst>
          </p:nvPr>
        </p:nvGraphicFramePr>
        <p:xfrm>
          <a:off x="311150" y="1778635"/>
          <a:ext cx="8521701" cy="216408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2840567">
                  <a:extLst>
                    <a:ext uri="{9D8B030D-6E8A-4147-A177-3AD203B41FA5}">
                      <a16:colId xmlns:a16="http://schemas.microsoft.com/office/drawing/2014/main" val="800319075"/>
                    </a:ext>
                  </a:extLst>
                </a:gridCol>
                <a:gridCol w="2840567">
                  <a:extLst>
                    <a:ext uri="{9D8B030D-6E8A-4147-A177-3AD203B41FA5}">
                      <a16:colId xmlns:a16="http://schemas.microsoft.com/office/drawing/2014/main" val="3321039299"/>
                    </a:ext>
                  </a:extLst>
                </a:gridCol>
                <a:gridCol w="2840567">
                  <a:extLst>
                    <a:ext uri="{9D8B030D-6E8A-4147-A177-3AD203B41FA5}">
                      <a16:colId xmlns:a16="http://schemas.microsoft.com/office/drawing/2014/main" val="1973701464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s-AR" sz="1400" b="1" dirty="0"/>
                        <a:t>Aspecto</a:t>
                      </a:r>
                      <a:endParaRPr lang="es-A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AR" sz="1400" b="1"/>
                        <a:t>SVG manual</a:t>
                      </a:r>
                      <a:endParaRPr lang="es-AR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AR" sz="1400" b="1"/>
                        <a:t>Librerías</a:t>
                      </a:r>
                      <a:endParaRPr lang="es-AR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403072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lang="es-AR" sz="1400" b="1" dirty="0"/>
                        <a:t>Flexibilidad</a:t>
                      </a:r>
                      <a:endParaRPr lang="es-A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AR" sz="1400"/>
                        <a:t>Muy alta, puedes personalizar todo.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AR" sz="1400"/>
                        <a:t>Limitada a los estilos y opciones que ofrece.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5096538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lang="es-AR" sz="1400" b="1" dirty="0"/>
                        <a:t>Facilidad de uso</a:t>
                      </a:r>
                      <a:endParaRPr lang="es-A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AR" sz="1400"/>
                        <a:t>Requiere conocimiento de SVG.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AR" sz="1400"/>
                        <a:t>Muy fácil, basta con incluir la librería.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822926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lang="es-AR" sz="1400" b="1"/>
                        <a:t>Tamaño</a:t>
                      </a:r>
                      <a:endParaRPr lang="es-AR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AR" sz="1400"/>
                        <a:t>Ligero.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AR" sz="1400"/>
                        <a:t>Puede aumentar el peso del proyecto.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476404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s-AR" sz="1400" b="1"/>
                        <a:t>Compatibilidad</a:t>
                      </a:r>
                      <a:endParaRPr lang="es-AR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AR" sz="1400"/>
                        <a:t>Alta en navegadores modernos.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AR" sz="1400" dirty="0"/>
                        <a:t>Depende de la librería.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58119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032039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E3969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5"/>
          <p:cNvSpPr txBox="1">
            <a:spLocks noGrp="1"/>
          </p:cNvSpPr>
          <p:nvPr>
            <p:ph type="title" idx="4294967295"/>
          </p:nvPr>
        </p:nvSpPr>
        <p:spPr>
          <a:xfrm>
            <a:off x="701964" y="1198995"/>
            <a:ext cx="4135438" cy="28876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4400" dirty="0">
                <a:solidFill>
                  <a:srgbClr val="EAC3FF"/>
                </a:solidFill>
                <a:latin typeface="Russo One"/>
                <a:ea typeface="Russo One"/>
                <a:cs typeface="Russo One"/>
                <a:sym typeface="Russo One"/>
              </a:rPr>
              <a:t>Ahora es momento </a:t>
            </a:r>
            <a:endParaRPr sz="4400" dirty="0">
              <a:solidFill>
                <a:srgbClr val="EAC3FF"/>
              </a:solidFill>
              <a:latin typeface="Russo One"/>
              <a:ea typeface="Russo One"/>
              <a:cs typeface="Russo One"/>
              <a:sym typeface="Russo O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4400" dirty="0">
                <a:solidFill>
                  <a:srgbClr val="EAC3FF"/>
                </a:solidFill>
                <a:latin typeface="Russo One"/>
                <a:ea typeface="Russo One"/>
                <a:cs typeface="Russo One"/>
                <a:sym typeface="Russo One"/>
              </a:rPr>
              <a:t>de aplicar </a:t>
            </a:r>
            <a:r>
              <a:rPr lang="es" sz="4400" dirty="0">
                <a:solidFill>
                  <a:srgbClr val="F0F000"/>
                </a:solidFill>
                <a:latin typeface="Russo One"/>
                <a:ea typeface="Russo One"/>
                <a:cs typeface="Russo One"/>
                <a:sym typeface="Russo One"/>
              </a:rPr>
              <a:t>lo aprendido en clase</a:t>
            </a:r>
            <a:endParaRPr sz="4400" dirty="0">
              <a:solidFill>
                <a:srgbClr val="F0F000"/>
              </a:solidFill>
              <a:latin typeface="Russo One"/>
              <a:ea typeface="Russo One"/>
              <a:cs typeface="Russo One"/>
              <a:sym typeface="Russo One"/>
            </a:endParaRPr>
          </a:p>
        </p:txBody>
      </p:sp>
      <p:pic>
        <p:nvPicPr>
          <p:cNvPr id="160" name="Google Shape;16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9375" y="951150"/>
            <a:ext cx="4078050" cy="407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528853" y="984991"/>
            <a:ext cx="8197130" cy="3662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40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Ejercitación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24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457200" lvl="0" indent="-4572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24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  <a:hlinkClick r:id="rId3"/>
              </a:rPr>
              <a:t>https://github.com/Ada-IT/ejercicios-frontend/blob/master/modulo-1/ejercicios/07-flexbox.md</a:t>
            </a:r>
            <a:r>
              <a:rPr lang="es-AR" sz="24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</a:t>
            </a:r>
          </a:p>
          <a:p>
            <a:pPr marL="457200" lvl="0" indent="-4572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24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457200" lvl="0" indent="-4572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24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  <a:hlinkClick r:id="rId3"/>
              </a:rPr>
              <a:t>https://github.com/Ada-IT/ejercicios-frontend/blob/master/modulo-1/ejercicios/07-flexbox.md</a:t>
            </a:r>
            <a:r>
              <a:rPr lang="es-AR" sz="24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63936071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CD0055"/>
      </a:dk1>
      <a:lt1>
        <a:srgbClr val="FFFFFF"/>
      </a:lt1>
      <a:dk2>
        <a:srgbClr val="000000"/>
      </a:dk2>
      <a:lt2>
        <a:srgbClr val="F0F000"/>
      </a:lt2>
      <a:accent1>
        <a:srgbClr val="FF9936"/>
      </a:accent1>
      <a:accent2>
        <a:srgbClr val="E98FB5"/>
      </a:accent2>
      <a:accent3>
        <a:srgbClr val="F2D6E1"/>
      </a:accent3>
      <a:accent4>
        <a:srgbClr val="FFAB40"/>
      </a:accent4>
      <a:accent5>
        <a:srgbClr val="9E0046"/>
      </a:accent5>
      <a:accent6>
        <a:srgbClr val="455A64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2057</TotalTime>
  <Words>1311</Words>
  <Application>Microsoft Office PowerPoint</Application>
  <PresentationFormat>Presentación en pantalla (16:9)</PresentationFormat>
  <Paragraphs>251</Paragraphs>
  <Slides>43</Slides>
  <Notes>43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43</vt:i4>
      </vt:variant>
    </vt:vector>
  </HeadingPairs>
  <TitlesOfParts>
    <vt:vector size="49" baseType="lpstr">
      <vt:lpstr>Lato</vt:lpstr>
      <vt:lpstr>system-ui</vt:lpstr>
      <vt:lpstr>Russo One</vt:lpstr>
      <vt:lpstr>Montserrat</vt:lpstr>
      <vt:lpstr>Arial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Veamos un ejemplo de  este tema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Ahora es momento  de aplicar lo aprendido en clase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Franco Ojeda</cp:lastModifiedBy>
  <cp:revision>11</cp:revision>
  <dcterms:modified xsi:type="dcterms:W3CDTF">2025-01-02T20:25:12Z</dcterms:modified>
</cp:coreProperties>
</file>