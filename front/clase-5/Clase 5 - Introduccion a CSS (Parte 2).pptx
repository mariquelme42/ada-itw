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49"/>
  </p:notesMasterIdLst>
  <p:sldIdLst>
    <p:sldId id="262" r:id="rId2"/>
    <p:sldId id="287" r:id="rId3"/>
    <p:sldId id="316" r:id="rId4"/>
    <p:sldId id="317" r:id="rId5"/>
    <p:sldId id="318" r:id="rId6"/>
    <p:sldId id="319" r:id="rId7"/>
    <p:sldId id="320" r:id="rId8"/>
    <p:sldId id="321" r:id="rId9"/>
    <p:sldId id="322" r:id="rId10"/>
    <p:sldId id="323" r:id="rId11"/>
    <p:sldId id="324" r:id="rId12"/>
    <p:sldId id="325" r:id="rId13"/>
    <p:sldId id="326" r:id="rId14"/>
    <p:sldId id="327" r:id="rId15"/>
    <p:sldId id="328" r:id="rId16"/>
    <p:sldId id="329" r:id="rId17"/>
    <p:sldId id="330" r:id="rId18"/>
    <p:sldId id="331" r:id="rId19"/>
    <p:sldId id="332" r:id="rId20"/>
    <p:sldId id="333" r:id="rId21"/>
    <p:sldId id="288" r:id="rId22"/>
    <p:sldId id="308" r:id="rId23"/>
    <p:sldId id="309" r:id="rId24"/>
    <p:sldId id="310" r:id="rId25"/>
    <p:sldId id="311" r:id="rId26"/>
    <p:sldId id="312" r:id="rId27"/>
    <p:sldId id="313" r:id="rId28"/>
    <p:sldId id="314" r:id="rId29"/>
    <p:sldId id="315" r:id="rId30"/>
    <p:sldId id="334" r:id="rId31"/>
    <p:sldId id="335" r:id="rId32"/>
    <p:sldId id="336" r:id="rId33"/>
    <p:sldId id="289" r:id="rId34"/>
    <p:sldId id="337" r:id="rId35"/>
    <p:sldId id="338" r:id="rId36"/>
    <p:sldId id="339" r:id="rId37"/>
    <p:sldId id="340" r:id="rId38"/>
    <p:sldId id="341" r:id="rId39"/>
    <p:sldId id="342" r:id="rId40"/>
    <p:sldId id="343" r:id="rId41"/>
    <p:sldId id="344" r:id="rId42"/>
    <p:sldId id="345" r:id="rId43"/>
    <p:sldId id="346" r:id="rId44"/>
    <p:sldId id="347" r:id="rId45"/>
    <p:sldId id="267" r:id="rId46"/>
    <p:sldId id="268" r:id="rId47"/>
    <p:sldId id="397" r:id="rId48"/>
  </p:sldIdLst>
  <p:sldSz cx="9144000" cy="5143500" type="screen16x9"/>
  <p:notesSz cx="6858000" cy="9144000"/>
  <p:embeddedFontLst>
    <p:embeddedFont>
      <p:font typeface="Lato" panose="020F0502020204030203" pitchFamily="34" charset="0"/>
      <p:regular r:id="rId50"/>
      <p:bold r:id="rId51"/>
      <p:italic r:id="rId52"/>
      <p:boldItalic r:id="rId53"/>
    </p:embeddedFont>
    <p:embeddedFont>
      <p:font typeface="Russo One" panose="020B0604020202020204" charset="0"/>
      <p:regular r:id="rId54"/>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Bernardita Bauque" initials="" lastIdx="4" clrIdx="0"/>
  <p:cmAuthor id="1" name="catalina llarin" initials="" lastIdx="3" clrIdx="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B718CB89-29BF-476F-BAC4-F03CFA606FF7}">
  <a:tblStyle styleId="{B718CB89-29BF-476F-BAC4-F03CFA606FF7}"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ED083AE6-46FA-4A59-8FB0-9F97EB10719F}" styleName="Estilo claro 3 - Acento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69C7853C-536D-4A76-A0AE-DD22124D55A5}" styleName="Estilo temático 1 - Énfasis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D7AC3CCA-C797-4891-BE02-D94E43425B78}" styleName="Estilo medio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38" d="100"/>
          <a:sy n="138" d="100"/>
        </p:scale>
        <p:origin x="300" y="88"/>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font" Target="fonts/font1.fntdata"/><Relationship Id="rId55" Type="http://schemas.openxmlformats.org/officeDocument/2006/relationships/commentAuthors" Target="commentAuthor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font" Target="fonts/font4.fntdata"/><Relationship Id="rId58" Type="http://schemas.openxmlformats.org/officeDocument/2006/relationships/theme" Target="theme/theme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font" Target="fonts/font2.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font" Target="fonts/font5.fnt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notesMaster" Target="notesMasters/notesMaster1.xml"/><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font" Target="fonts/font3.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
        <p:cNvGrpSpPr/>
        <p:nvPr/>
      </p:nvGrpSpPr>
      <p:grpSpPr>
        <a:xfrm>
          <a:off x="0" y="0"/>
          <a:ext cx="0" cy="0"/>
          <a:chOff x="0" y="0"/>
          <a:chExt cx="0" cy="0"/>
        </a:xfrm>
      </p:grpSpPr>
      <p:sp>
        <p:nvSpPr>
          <p:cNvPr id="110" name="Google Shape;110;g2d6070746ec_0_1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1" name="Google Shape;111;g2d6070746ec_0_1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
        <p:cNvGrpSpPr/>
        <p:nvPr/>
      </p:nvGrpSpPr>
      <p:grpSpPr>
        <a:xfrm>
          <a:off x="0" y="0"/>
          <a:ext cx="0" cy="0"/>
          <a:chOff x="0" y="0"/>
          <a:chExt cx="0" cy="0"/>
        </a:xfrm>
      </p:grpSpPr>
      <p:sp>
        <p:nvSpPr>
          <p:cNvPr id="68" name="Google Shape;68;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9" name="Google Shape;69;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5171753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2d6070746ec_0_1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2d6070746ec_0_1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803088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2d6070746ec_0_1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2d6070746ec_0_1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7192615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2d6070746ec_0_1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2d6070746ec_0_1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1862380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2d6070746ec_0_1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2d6070746ec_0_1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8852366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2d6070746ec_0_1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2d6070746ec_0_1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8753622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2d6070746ec_0_1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2d6070746ec_0_1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86340993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2d6070746ec_0_1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2d6070746ec_0_1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56687960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2d6070746ec_0_1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2d6070746ec_0_1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24906490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2d6070746ec_0_1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2d6070746ec_0_1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74658481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2d6070746ec_0_1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2d6070746ec_0_1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66392754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2d6070746ec_0_1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2d6070746ec_0_1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70915309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2d6070746ec_0_1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2d6070746ec_0_1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216364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2d6070746ec_0_1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2d6070746ec_0_1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2921115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2d6070746ec_0_1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2d6070746ec_0_1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533126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2d6070746ec_0_1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2d6070746ec_0_1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066732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2d6070746ec_0_1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2d6070746ec_0_1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8559205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2d6070746ec_0_1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2d6070746ec_0_1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544887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2d6070746ec_0_1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2d6070746ec_0_1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3029355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
        <p:cNvGrpSpPr/>
        <p:nvPr/>
      </p:nvGrpSpPr>
      <p:grpSpPr>
        <a:xfrm>
          <a:off x="0" y="0"/>
          <a:ext cx="0" cy="0"/>
          <a:chOff x="0" y="0"/>
          <a:chExt cx="0" cy="0"/>
        </a:xfrm>
      </p:grpSpPr>
      <p:sp>
        <p:nvSpPr>
          <p:cNvPr id="68" name="Google Shape;68;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9" name="Google Shape;69;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5458704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2d6070746ec_0_1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2d6070746ec_0_1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51543313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2d6070746ec_0_1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2d6070746ec_0_1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09092097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2d6070746ec_0_1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2d6070746ec_0_1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7945263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2d6070746ec_0_1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2d6070746ec_0_1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59355586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2d6070746ec_0_1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2d6070746ec_0_1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4034827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2d6070746ec_0_1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2d6070746ec_0_1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68102088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2d6070746ec_0_1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2d6070746ec_0_1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72838561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2d6070746ec_0_1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2d6070746ec_0_1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60538564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2d6070746ec_0_1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2d6070746ec_0_1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38240079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2d6070746ec_0_1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2d6070746ec_0_1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4808024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2d6070746ec_0_1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2d6070746ec_0_1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0558565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
        <p:cNvGrpSpPr/>
        <p:nvPr/>
      </p:nvGrpSpPr>
      <p:grpSpPr>
        <a:xfrm>
          <a:off x="0" y="0"/>
          <a:ext cx="0" cy="0"/>
          <a:chOff x="0" y="0"/>
          <a:chExt cx="0" cy="0"/>
        </a:xfrm>
      </p:grpSpPr>
      <p:sp>
        <p:nvSpPr>
          <p:cNvPr id="68" name="Google Shape;68;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9" name="Google Shape;69;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0460932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2d6070746ec_0_1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2d6070746ec_0_1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7491715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2d6070746ec_0_1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2d6070746ec_0_1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78102661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2d6070746ec_0_1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2d6070746ec_0_1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0336311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2d6070746ec_0_1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2d6070746ec_0_1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3348961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2d6070746ec_0_1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2d6070746ec_0_1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24329477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2d6070746ec_0_1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2d6070746ec_0_1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8066701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2d6070746ec_0_1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2d6070746ec_0_1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869635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2d6070746ec_0_1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2d6070746ec_0_1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38719081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2d6070746ec_0_1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2d6070746ec_0_1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8733489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2d6070746ec_0_1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2d6070746ec_0_1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30848793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2d6070746ec_0_1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2d6070746ec_0_1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10315102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2d6070746ec_0_8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 name="Google Shape;151;g2d6070746ec_0_8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
        <p:cNvGrpSpPr/>
        <p:nvPr/>
      </p:nvGrpSpPr>
      <p:grpSpPr>
        <a:xfrm>
          <a:off x="0" y="0"/>
          <a:ext cx="0" cy="0"/>
          <a:chOff x="0" y="0"/>
          <a:chExt cx="0" cy="0"/>
        </a:xfrm>
      </p:grpSpPr>
      <p:sp>
        <p:nvSpPr>
          <p:cNvPr id="156" name="Google Shape;156;g2d6070746ec_0_10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7" name="Google Shape;157;g2d6070746ec_0_10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2d6070746ec_0_1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2d6070746ec_0_1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11668308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
              <a:t>‹Nº›</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
              <a:t>‹Nº›</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
              <a:t>‹Nº›</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
              <a:t>‹Nº›</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
              <a:t>‹Nº›</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
              <a:t>‹Nº›</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
              <a:t>‹Nº›</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
              <a:t>‹Nº›</a:t>
            </a:fld>
            <a:endParaRPr/>
          </a:p>
        </p:txBody>
      </p:sp>
      <p:grpSp>
        <p:nvGrpSpPr>
          <p:cNvPr id="50" name="Google Shape;50;p12"/>
          <p:cNvGrpSpPr/>
          <p:nvPr/>
        </p:nvGrpSpPr>
        <p:grpSpPr>
          <a:xfrm>
            <a:off x="-9875" y="-4950"/>
            <a:ext cx="9153900" cy="770700"/>
            <a:chOff x="-9875" y="-4950"/>
            <a:chExt cx="9153900" cy="770700"/>
          </a:xfrm>
        </p:grpSpPr>
        <p:sp>
          <p:nvSpPr>
            <p:cNvPr id="51" name="Google Shape;51;p12"/>
            <p:cNvSpPr/>
            <p:nvPr/>
          </p:nvSpPr>
          <p:spPr>
            <a:xfrm>
              <a:off x="-9875" y="-4950"/>
              <a:ext cx="9153900" cy="7707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52" name="Google Shape;52;p12"/>
            <p:cNvPicPr preferRelativeResize="0"/>
            <p:nvPr/>
          </p:nvPicPr>
          <p:blipFill>
            <a:blip r:embed="rId2">
              <a:alphaModFix/>
            </a:blip>
            <a:stretch>
              <a:fillRect/>
            </a:stretch>
          </p:blipFill>
          <p:spPr>
            <a:xfrm>
              <a:off x="7712025" y="109800"/>
              <a:ext cx="1048575" cy="541200"/>
            </a:xfrm>
            <a:prstGeom prst="rect">
              <a:avLst/>
            </a:prstGeom>
            <a:solidFill>
              <a:schemeClr val="lt1"/>
            </a:solidFill>
            <a:ln>
              <a:noFill/>
            </a:ln>
          </p:spPr>
        </p:pic>
      </p:gr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s"/>
              <a:t>‹Nº›</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0.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3" Type="http://schemas.openxmlformats.org/officeDocument/2006/relationships/hyperlink" Target="https://developers.google.com/fonts/docs/getting_started" TargetMode="External"/><Relationship Id="rId2" Type="http://schemas.openxmlformats.org/officeDocument/2006/relationships/notesSlide" Target="../notesSlides/notesSlide3.xml"/><Relationship Id="rId1" Type="http://schemas.openxmlformats.org/officeDocument/2006/relationships/slideLayout" Target="../slideLayouts/slideLayout10.xml"/><Relationship Id="rId4" Type="http://schemas.openxmlformats.org/officeDocument/2006/relationships/hyperlink" Target="https://developer.mozilla.org/es/docs/Web/CSS/font-family"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0.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0.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0.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3" Type="http://schemas.openxmlformats.org/officeDocument/2006/relationships/hyperlink" Target="https://alistapart.com/article/howtosizetextincss" TargetMode="External"/><Relationship Id="rId2" Type="http://schemas.openxmlformats.org/officeDocument/2006/relationships/notesSlide" Target="../notesSlides/notesSlide8.xml"/><Relationship Id="rId1" Type="http://schemas.openxmlformats.org/officeDocument/2006/relationships/slideLayout" Target="../slideLayouts/slideLayout10.xml"/><Relationship Id="rId5" Type="http://schemas.openxmlformats.org/officeDocument/2006/relationships/image" Target="../media/image5.png"/><Relationship Id="rId4" Type="http://schemas.openxmlformats.org/officeDocument/2006/relationships/hyperlink" Target="https://alistapart.com/topic/typography-web-fonts" TargetMode="External"/></Relationships>
</file>

<file path=ppt/slides/_rels/slide9.xml.rels><?xml version="1.0" encoding="UTF-8" standalone="yes"?>
<Relationships xmlns="http://schemas.openxmlformats.org/package/2006/relationships"><Relationship Id="rId3" Type="http://schemas.openxmlformats.org/officeDocument/2006/relationships/hyperlink" Target="https://developer.mozilla.org/es/docs/Web/CSS/font-weight" TargetMode="External"/><Relationship Id="rId2" Type="http://schemas.openxmlformats.org/officeDocument/2006/relationships/notesSlide" Target="../notesSlides/notesSlide9.xml"/><Relationship Id="rId1" Type="http://schemas.openxmlformats.org/officeDocument/2006/relationships/slideLayout" Target="../slideLayouts/slideLayout10.xml"/><Relationship Id="rId5" Type="http://schemas.openxmlformats.org/officeDocument/2006/relationships/image" Target="../media/image7.png"/><Relationship Id="rId4" Type="http://schemas.openxmlformats.org/officeDocument/2006/relationships/image" Target="../media/image6.png"/></Relationships>
</file>

<file path=ppt/slides/_rels/slide10.xml.rels><?xml version="1.0" encoding="UTF-8" standalone="yes"?>
<Relationships xmlns="http://schemas.openxmlformats.org/package/2006/relationships"><Relationship Id="rId3" Type="http://schemas.openxmlformats.org/officeDocument/2006/relationships/hyperlink" Target="https://developer.mozilla.org/es/docs/Web/CSS/font-style" TargetMode="External"/><Relationship Id="rId2" Type="http://schemas.openxmlformats.org/officeDocument/2006/relationships/notesSlide" Target="../notesSlides/notesSlide10.xml"/><Relationship Id="rId1" Type="http://schemas.openxmlformats.org/officeDocument/2006/relationships/slideLayout" Target="../slideLayouts/slideLayout10.xml"/><Relationship Id="rId5" Type="http://schemas.openxmlformats.org/officeDocument/2006/relationships/image" Target="../media/image7.png"/><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3" Type="http://schemas.openxmlformats.org/officeDocument/2006/relationships/hyperlink" Target="https://developer.mozilla.org/es/docs/Web/CSS/text-transform" TargetMode="External"/><Relationship Id="rId2" Type="http://schemas.openxmlformats.org/officeDocument/2006/relationships/notesSlide" Target="../notesSlides/notesSlide11.xml"/><Relationship Id="rId1" Type="http://schemas.openxmlformats.org/officeDocument/2006/relationships/slideLayout" Target="../slideLayouts/slideLayout10.xml"/><Relationship Id="rId5" Type="http://schemas.openxmlformats.org/officeDocument/2006/relationships/image" Target="../media/image9.png"/><Relationship Id="rId4" Type="http://schemas.openxmlformats.org/officeDocument/2006/relationships/image" Target="../media/image8.png"/></Relationships>
</file>

<file path=ppt/slides/_rels/slide12.xml.rels><?xml version="1.0" encoding="UTF-8" standalone="yes"?>
<Relationships xmlns="http://schemas.openxmlformats.org/package/2006/relationships"><Relationship Id="rId3" Type="http://schemas.openxmlformats.org/officeDocument/2006/relationships/hyperlink" Target="https://developer.mozilla.org/en-US/docs/Web/CSS/text-align" TargetMode="External"/><Relationship Id="rId2" Type="http://schemas.openxmlformats.org/officeDocument/2006/relationships/notesSlide" Target="../notesSlides/notesSlide12.xml"/><Relationship Id="rId1" Type="http://schemas.openxmlformats.org/officeDocument/2006/relationships/slideLayout" Target="../slideLayouts/slideLayout10.xml"/></Relationships>
</file>

<file path=ppt/slides/_rels/slide13.xml.rels><?xml version="1.0" encoding="UTF-8" standalone="yes"?>
<Relationships xmlns="http://schemas.openxmlformats.org/package/2006/relationships"><Relationship Id="rId3" Type="http://schemas.openxmlformats.org/officeDocument/2006/relationships/hyperlink" Target="https://developer.mozilla.org/en-US/docs/Web/CSS/text-decoration" TargetMode="External"/><Relationship Id="rId2" Type="http://schemas.openxmlformats.org/officeDocument/2006/relationships/notesSlide" Target="../notesSlides/notesSlide13.xml"/><Relationship Id="rId1" Type="http://schemas.openxmlformats.org/officeDocument/2006/relationships/slideLayout" Target="../slideLayouts/slideLayout10.xml"/></Relationships>
</file>

<file path=ppt/slides/_rels/slide14.xml.rels><?xml version="1.0" encoding="UTF-8" standalone="yes"?>
<Relationships xmlns="http://schemas.openxmlformats.org/package/2006/relationships"><Relationship Id="rId3" Type="http://schemas.openxmlformats.org/officeDocument/2006/relationships/hyperlink" Target="http://caniuse.com/#search=text-decoration-color" TargetMode="External"/><Relationship Id="rId2" Type="http://schemas.openxmlformats.org/officeDocument/2006/relationships/notesSlide" Target="../notesSlides/notesSlide14.xml"/><Relationship Id="rId1" Type="http://schemas.openxmlformats.org/officeDocument/2006/relationships/slideLayout" Target="../slideLayouts/slideLayout10.xml"/><Relationship Id="rId5" Type="http://schemas.openxmlformats.org/officeDocument/2006/relationships/image" Target="../media/image11.png"/><Relationship Id="rId4" Type="http://schemas.openxmlformats.org/officeDocument/2006/relationships/image" Target="../media/image10.png"/></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5.xml"/><Relationship Id="rId1" Type="http://schemas.openxmlformats.org/officeDocument/2006/relationships/slideLayout" Target="../slideLayouts/slideLayout10.xml"/></Relationships>
</file>

<file path=ppt/slides/_rels/slide16.xml.rels><?xml version="1.0" encoding="UTF-8" standalone="yes"?>
<Relationships xmlns="http://schemas.openxmlformats.org/package/2006/relationships"><Relationship Id="rId3" Type="http://schemas.openxmlformats.org/officeDocument/2006/relationships/hyperlink" Target="https://developer.mozilla.org/es/docs/Web/CSS/text-shadow" TargetMode="External"/><Relationship Id="rId2" Type="http://schemas.openxmlformats.org/officeDocument/2006/relationships/notesSlide" Target="../notesSlides/notesSlide16.xml"/><Relationship Id="rId1" Type="http://schemas.openxmlformats.org/officeDocument/2006/relationships/slideLayout" Target="../slideLayouts/slideLayout10.xml"/><Relationship Id="rId6" Type="http://schemas.openxmlformats.org/officeDocument/2006/relationships/hyperlink" Target="http://www.cssportal.com/css3-text-shadow-generator" TargetMode="External"/><Relationship Id="rId5" Type="http://schemas.openxmlformats.org/officeDocument/2006/relationships/image" Target="../media/image13.png"/><Relationship Id="rId4" Type="http://schemas.openxmlformats.org/officeDocument/2006/relationships/hyperlink" Target="http://caniuse.com/#search=text-shadow" TargetMode="External"/></Relationships>
</file>

<file path=ppt/slides/_rels/slide17.xml.rels><?xml version="1.0" encoding="UTF-8" standalone="yes"?>
<Relationships xmlns="http://schemas.openxmlformats.org/package/2006/relationships"><Relationship Id="rId3" Type="http://schemas.openxmlformats.org/officeDocument/2006/relationships/hyperlink" Target="https://developer.mozilla.org/en-US/docs/Web/CSS/letter-spacing" TargetMode="External"/><Relationship Id="rId2" Type="http://schemas.openxmlformats.org/officeDocument/2006/relationships/notesSlide" Target="../notesSlides/notesSlide17.xml"/><Relationship Id="rId1" Type="http://schemas.openxmlformats.org/officeDocument/2006/relationships/slideLayout" Target="../slideLayouts/slideLayout10.xml"/><Relationship Id="rId5" Type="http://schemas.openxmlformats.org/officeDocument/2006/relationships/image" Target="../media/image14.png"/><Relationship Id="rId4" Type="http://schemas.openxmlformats.org/officeDocument/2006/relationships/hyperlink" Target="https://developer.mozilla.org/en-US/docs/Web/CSS/word-spacing" TargetMode="External"/></Relationships>
</file>

<file path=ppt/slides/_rels/slide18.xml.rels><?xml version="1.0" encoding="UTF-8" standalone="yes"?>
<Relationships xmlns="http://schemas.openxmlformats.org/package/2006/relationships"><Relationship Id="rId3" Type="http://schemas.openxmlformats.org/officeDocument/2006/relationships/hyperlink" Target="https://developer.mozilla.org/es/docs/Web/CSS/line-height" TargetMode="External"/><Relationship Id="rId2" Type="http://schemas.openxmlformats.org/officeDocument/2006/relationships/notesSlide" Target="../notesSlides/notesSlide18.xml"/><Relationship Id="rId1" Type="http://schemas.openxmlformats.org/officeDocument/2006/relationships/slideLayout" Target="../slideLayouts/slideLayout10.xml"/><Relationship Id="rId4" Type="http://schemas.openxmlformats.org/officeDocument/2006/relationships/image" Target="../media/image15.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0.xml"/></Relationships>
</file>

<file path=ppt/slides/_rels/slide20.xml.rels><?xml version="1.0" encoding="UTF-8" standalone="yes"?>
<Relationships xmlns="http://schemas.openxmlformats.org/package/2006/relationships"><Relationship Id="rId3" Type="http://schemas.openxmlformats.org/officeDocument/2006/relationships/hyperlink" Target="https://css-tricks.com/what-is-vertical-align" TargetMode="External"/><Relationship Id="rId2" Type="http://schemas.openxmlformats.org/officeDocument/2006/relationships/notesSlide" Target="../notesSlides/notesSlide20.xml"/><Relationship Id="rId1" Type="http://schemas.openxmlformats.org/officeDocument/2006/relationships/slideLayout" Target="../slideLayouts/slideLayout10.xml"/><Relationship Id="rId4" Type="http://schemas.openxmlformats.org/officeDocument/2006/relationships/image" Target="../media/image16.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10.xml"/></Relationships>
</file>

<file path=ppt/slides/_rels/slide2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2.xml"/><Relationship Id="rId1" Type="http://schemas.openxmlformats.org/officeDocument/2006/relationships/slideLayout" Target="../slideLayouts/slideLayout10.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0.xml"/></Relationships>
</file>

<file path=ppt/slides/_rels/slide2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4.xml"/><Relationship Id="rId1" Type="http://schemas.openxmlformats.org/officeDocument/2006/relationships/slideLayout" Target="../slideLayouts/slideLayout10.xml"/></Relationships>
</file>

<file path=ppt/slides/_rels/slide2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5.xml"/><Relationship Id="rId1" Type="http://schemas.openxmlformats.org/officeDocument/2006/relationships/slideLayout" Target="../slideLayouts/slideLayout10.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0.xml"/></Relationships>
</file>

<file path=ppt/slides/_rels/slide2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7.xml"/><Relationship Id="rId1" Type="http://schemas.openxmlformats.org/officeDocument/2006/relationships/slideLayout" Target="../slideLayouts/slideLayout10.xml"/></Relationships>
</file>

<file path=ppt/slides/_rels/slide2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8.xml"/><Relationship Id="rId1" Type="http://schemas.openxmlformats.org/officeDocument/2006/relationships/slideLayout" Target="../slideLayouts/slideLayout10.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0.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0.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0.xml"/></Relationships>
</file>

<file path=ppt/slides/_rels/slide32.xml.rels><?xml version="1.0" encoding="UTF-8" standalone="yes"?>
<Relationships xmlns="http://schemas.openxmlformats.org/package/2006/relationships"><Relationship Id="rId3" Type="http://schemas.openxmlformats.org/officeDocument/2006/relationships/hyperlink" Target="https://developer.mozilla.org/es/docs/Learn_web_development/Core/Styling_basics/Handling_conflicts" TargetMode="External"/><Relationship Id="rId2" Type="http://schemas.openxmlformats.org/officeDocument/2006/relationships/notesSlide" Target="../notesSlides/notesSlide32.xml"/><Relationship Id="rId1" Type="http://schemas.openxmlformats.org/officeDocument/2006/relationships/slideLayout" Target="../slideLayouts/slideLayout10.xm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10.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0.xml"/></Relationships>
</file>

<file path=ppt/slides/_rels/slide3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5.xml"/><Relationship Id="rId1" Type="http://schemas.openxmlformats.org/officeDocument/2006/relationships/slideLayout" Target="../slideLayouts/slideLayout10.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0.xml"/></Relationships>
</file>

<file path=ppt/slides/_rels/slide3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7.xml"/><Relationship Id="rId1" Type="http://schemas.openxmlformats.org/officeDocument/2006/relationships/slideLayout" Target="../slideLayouts/slideLayout10.xml"/></Relationships>
</file>

<file path=ppt/slides/_rels/slide3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8.xml"/><Relationship Id="rId1" Type="http://schemas.openxmlformats.org/officeDocument/2006/relationships/slideLayout" Target="../slideLayouts/slideLayout10.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0.xml"/></Relationships>
</file>

<file path=ppt/slides/_rels/slide4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40.xml"/><Relationship Id="rId1" Type="http://schemas.openxmlformats.org/officeDocument/2006/relationships/slideLayout" Target="../slideLayouts/slideLayout10.xml"/><Relationship Id="rId5" Type="http://schemas.openxmlformats.org/officeDocument/2006/relationships/image" Target="../media/image26.png"/><Relationship Id="rId4" Type="http://schemas.openxmlformats.org/officeDocument/2006/relationships/image" Target="../media/image25.png"/></Relationships>
</file>

<file path=ppt/slides/_rels/slide4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41.xml"/><Relationship Id="rId1" Type="http://schemas.openxmlformats.org/officeDocument/2006/relationships/slideLayout" Target="../slideLayouts/slideLayout10.xml"/><Relationship Id="rId4" Type="http://schemas.openxmlformats.org/officeDocument/2006/relationships/image" Target="../media/image28.png"/></Relationships>
</file>

<file path=ppt/slides/_rels/slide4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42.xml"/><Relationship Id="rId1" Type="http://schemas.openxmlformats.org/officeDocument/2006/relationships/slideLayout" Target="../slideLayouts/slideLayout10.xml"/><Relationship Id="rId4" Type="http://schemas.openxmlformats.org/officeDocument/2006/relationships/image" Target="../media/image30.png"/></Relationships>
</file>

<file path=ppt/slides/_rels/slide43.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43.xml"/><Relationship Id="rId1" Type="http://schemas.openxmlformats.org/officeDocument/2006/relationships/slideLayout" Target="../slideLayouts/slideLayout10.xml"/></Relationships>
</file>

<file path=ppt/slides/_rels/slide44.xml.rels><?xml version="1.0" encoding="UTF-8" standalone="yes"?>
<Relationships xmlns="http://schemas.openxmlformats.org/package/2006/relationships"><Relationship Id="rId8" Type="http://schemas.openxmlformats.org/officeDocument/2006/relationships/hyperlink" Target="https://developer.mozilla.org/es/docs/conflicting/Learn_web_development/Core/Styling_basics/Basic_selectors#selectores_de_clase" TargetMode="External"/><Relationship Id="rId13" Type="http://schemas.openxmlformats.org/officeDocument/2006/relationships/hyperlink" Target="https://developer.mozilla.org/es/docs/Web/CSS/Pseudo-classes" TargetMode="External"/><Relationship Id="rId18" Type="http://schemas.openxmlformats.org/officeDocument/2006/relationships/hyperlink" Target="https://developer.mozilla.org/es/docs/Learn_web_development/Core/Styling_basics/Combinators#selector_de_descendientes" TargetMode="External"/><Relationship Id="rId3" Type="http://schemas.openxmlformats.org/officeDocument/2006/relationships/hyperlink" Target="https://developer.mozilla.org/es/docs/Web/CSS/Type_selectors" TargetMode="External"/><Relationship Id="rId21" Type="http://schemas.openxmlformats.org/officeDocument/2006/relationships/hyperlink" Target="https://developer.mozilla.org/es/docs/Web/CSS/Next-sibling_combinator" TargetMode="External"/><Relationship Id="rId7" Type="http://schemas.openxmlformats.org/officeDocument/2006/relationships/hyperlink" Target="https://developer.mozilla.org/es/docs/Web/CSS/Class_selectors" TargetMode="External"/><Relationship Id="rId12" Type="http://schemas.openxmlformats.org/officeDocument/2006/relationships/hyperlink" Target="https://developer.mozilla.org/es/docs/Learn_web_development/Core/Styling_basics/Attribute_selectors" TargetMode="External"/><Relationship Id="rId17" Type="http://schemas.openxmlformats.org/officeDocument/2006/relationships/hyperlink" Target="https://developer.mozilla.org/es/docs/Web/CSS/Descendant_combinator" TargetMode="External"/><Relationship Id="rId2" Type="http://schemas.openxmlformats.org/officeDocument/2006/relationships/notesSlide" Target="../notesSlides/notesSlide44.xml"/><Relationship Id="rId16" Type="http://schemas.openxmlformats.org/officeDocument/2006/relationships/hyperlink" Target="https://developer.mozilla.org/es/docs/Learn_web_development/Core/Styling_basics/Pseudo_classes_and_elements#%C2%BFQu%C3%A9_es_un_pseudoelemento" TargetMode="External"/><Relationship Id="rId20" Type="http://schemas.openxmlformats.org/officeDocument/2006/relationships/hyperlink" Target="https://developer.mozilla.org/es/docs/Learn_web_development/Core/Styling_basics/Combinators#Selector_de_combinaci%C3%B3n_de_elementos_hijo" TargetMode="External"/><Relationship Id="rId1" Type="http://schemas.openxmlformats.org/officeDocument/2006/relationships/slideLayout" Target="../slideLayouts/slideLayout10.xml"/><Relationship Id="rId6" Type="http://schemas.openxmlformats.org/officeDocument/2006/relationships/hyperlink" Target="https://developer.mozilla.org/es/docs/conflicting/Learn_web_development/Core/Styling_basics/Basic_selectors#el_selector_universal" TargetMode="External"/><Relationship Id="rId11" Type="http://schemas.openxmlformats.org/officeDocument/2006/relationships/hyperlink" Target="https://developer.mozilla.org/es/docs/Web/CSS/Attribute_selectors" TargetMode="External"/><Relationship Id="rId24" Type="http://schemas.openxmlformats.org/officeDocument/2006/relationships/hyperlink" Target="https://developer.mozilla.org/es/docs/Learn_web_development/Core/Styling_basics/Combinators#hermanos_generales" TargetMode="External"/><Relationship Id="rId5" Type="http://schemas.openxmlformats.org/officeDocument/2006/relationships/hyperlink" Target="https://developer.mozilla.org/es/docs/Web/CSS/Universal_selectors" TargetMode="External"/><Relationship Id="rId15" Type="http://schemas.openxmlformats.org/officeDocument/2006/relationships/hyperlink" Target="https://developer.mozilla.org/es/docs/Web/CSS/Pseudo-elements" TargetMode="External"/><Relationship Id="rId23" Type="http://schemas.openxmlformats.org/officeDocument/2006/relationships/hyperlink" Target="https://developer.mozilla.org/es/docs/Web/CSS/Subsequent-sibling_combinator" TargetMode="External"/><Relationship Id="rId10" Type="http://schemas.openxmlformats.org/officeDocument/2006/relationships/hyperlink" Target="https://developer.mozilla.org/es/docs/conflicting/Learn_web_development/Core/Styling_basics/Basic_selectors#selectores_de_id" TargetMode="External"/><Relationship Id="rId19" Type="http://schemas.openxmlformats.org/officeDocument/2006/relationships/hyperlink" Target="https://developer.mozilla.org/es/docs/Web/CSS/Child_combinator" TargetMode="External"/><Relationship Id="rId4" Type="http://schemas.openxmlformats.org/officeDocument/2006/relationships/hyperlink" Target="https://developer.mozilla.org/es/docs/conflicting/Learn_web_development/Core/Styling_basics/Basic_selectors#tipos_de_selectores" TargetMode="External"/><Relationship Id="rId9" Type="http://schemas.openxmlformats.org/officeDocument/2006/relationships/hyperlink" Target="https://developer.mozilla.org/es/docs/Web/CSS/ID_selectors" TargetMode="External"/><Relationship Id="rId14" Type="http://schemas.openxmlformats.org/officeDocument/2006/relationships/hyperlink" Target="https://developer.mozilla.org/es/docs/Learn_web_development/Core/Styling_basics/Pseudo_classes_and_elements#%C2%BFQu%C3%A9_es_una_pseudoclase" TargetMode="External"/><Relationship Id="rId22" Type="http://schemas.openxmlformats.org/officeDocument/2006/relationships/hyperlink" Target="https://developer.mozilla.org/es/docs/Learn_web_development/Core/Styling_basics/Combinators#hermanos_adyacentes" TargetMode="External"/></Relationships>
</file>

<file path=ppt/slides/_rels/slide4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45.xml"/><Relationship Id="rId1" Type="http://schemas.openxmlformats.org/officeDocument/2006/relationships/slideLayout" Target="../slideLayouts/slideLayout10.xml"/></Relationships>
</file>

<file path=ppt/slides/_rels/slide4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46.xml"/><Relationship Id="rId1" Type="http://schemas.openxmlformats.org/officeDocument/2006/relationships/slideLayout" Target="../slideLayouts/slideLayout10.xml"/></Relationships>
</file>

<file path=ppt/slides/_rels/slide47.xml.rels><?xml version="1.0" encoding="UTF-8" standalone="yes"?>
<Relationships xmlns="http://schemas.openxmlformats.org/package/2006/relationships"><Relationship Id="rId3" Type="http://schemas.openxmlformats.org/officeDocument/2006/relationships/hyperlink" Target="https://github.com/Ada-IT/ejercicios-frontend/blob/master/modulo-1/ejercicios/05-introduccion-a-css.md" TargetMode="External"/><Relationship Id="rId2" Type="http://schemas.openxmlformats.org/officeDocument/2006/relationships/notesSlide" Target="../notesSlides/notesSlide47.xml"/><Relationship Id="rId1" Type="http://schemas.openxmlformats.org/officeDocument/2006/relationships/slideLayout" Target="../slideLayouts/slideLayout10.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12"/>
        <p:cNvGrpSpPr/>
        <p:nvPr/>
      </p:nvGrpSpPr>
      <p:grpSpPr>
        <a:xfrm>
          <a:off x="0" y="0"/>
          <a:ext cx="0" cy="0"/>
          <a:chOff x="0" y="0"/>
          <a:chExt cx="0" cy="0"/>
        </a:xfrm>
      </p:grpSpPr>
      <p:sp>
        <p:nvSpPr>
          <p:cNvPr id="113" name="Google Shape;113;p19"/>
          <p:cNvSpPr txBox="1">
            <a:spLocks noGrp="1"/>
          </p:cNvSpPr>
          <p:nvPr>
            <p:ph type="body" idx="4294967295"/>
          </p:nvPr>
        </p:nvSpPr>
        <p:spPr>
          <a:xfrm>
            <a:off x="484909" y="1320657"/>
            <a:ext cx="4759325" cy="2262187"/>
          </a:xfrm>
          <a:prstGeom prst="rect">
            <a:avLst/>
          </a:prstGeom>
        </p:spPr>
        <p:txBody>
          <a:bodyPr spcFirstLastPara="1" wrap="square" lIns="91425" tIns="91425" rIns="91425" bIns="91425" anchor="t" anchorCtr="0">
            <a:noAutofit/>
          </a:bodyPr>
          <a:lstStyle/>
          <a:p>
            <a:pPr marL="0" lvl="0" indent="0" algn="l" rtl="0">
              <a:lnSpc>
                <a:spcPct val="120000"/>
              </a:lnSpc>
              <a:spcBef>
                <a:spcPts val="0"/>
              </a:spcBef>
              <a:spcAft>
                <a:spcPts val="0"/>
              </a:spcAft>
              <a:buNone/>
            </a:pPr>
            <a:r>
              <a:rPr lang="en-US" sz="4400" b="1" dirty="0" err="1">
                <a:solidFill>
                  <a:srgbClr val="CD0055"/>
                </a:solidFill>
                <a:latin typeface="Russo One"/>
                <a:ea typeface="Russo One"/>
                <a:cs typeface="Russo One"/>
                <a:sym typeface="Russo One"/>
              </a:rPr>
              <a:t>Clase</a:t>
            </a:r>
            <a:r>
              <a:rPr lang="en-US" sz="4400" b="1" dirty="0">
                <a:solidFill>
                  <a:srgbClr val="CD0055"/>
                </a:solidFill>
                <a:latin typeface="Russo One"/>
                <a:ea typeface="Russo One"/>
                <a:cs typeface="Russo One"/>
                <a:sym typeface="Russo One"/>
              </a:rPr>
              <a:t> 5: </a:t>
            </a:r>
          </a:p>
          <a:p>
            <a:pPr marL="0" lvl="0" indent="0" algn="l" rtl="0">
              <a:lnSpc>
                <a:spcPct val="120000"/>
              </a:lnSpc>
              <a:spcBef>
                <a:spcPts val="0"/>
              </a:spcBef>
              <a:spcAft>
                <a:spcPts val="0"/>
              </a:spcAft>
              <a:buNone/>
            </a:pPr>
            <a:r>
              <a:rPr lang="es-AR" sz="4400" b="1" dirty="0" err="1">
                <a:solidFill>
                  <a:srgbClr val="CD0055"/>
                </a:solidFill>
                <a:latin typeface="Russo One"/>
                <a:ea typeface="Russo One"/>
                <a:cs typeface="Russo One"/>
                <a:sym typeface="Russo One"/>
              </a:rPr>
              <a:t>Introduccion</a:t>
            </a:r>
            <a:r>
              <a:rPr lang="es-AR" sz="4400" b="1" dirty="0">
                <a:solidFill>
                  <a:srgbClr val="CD0055"/>
                </a:solidFill>
                <a:latin typeface="Russo One"/>
                <a:ea typeface="Russo One"/>
                <a:cs typeface="Russo One"/>
                <a:sym typeface="Russo One"/>
              </a:rPr>
              <a:t> a CSS (Parte 2)</a:t>
            </a:r>
            <a:endParaRPr sz="4000" dirty="0"/>
          </a:p>
        </p:txBody>
      </p:sp>
      <p:pic>
        <p:nvPicPr>
          <p:cNvPr id="114" name="Google Shape;114;p19"/>
          <p:cNvPicPr preferRelativeResize="0"/>
          <p:nvPr/>
        </p:nvPicPr>
        <p:blipFill>
          <a:blip r:embed="rId3">
            <a:alphaModFix/>
          </a:blip>
          <a:stretch>
            <a:fillRect/>
          </a:stretch>
        </p:blipFill>
        <p:spPr>
          <a:xfrm>
            <a:off x="5244234" y="1215032"/>
            <a:ext cx="3424075" cy="3403933"/>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0"/>
        <p:cNvGrpSpPr/>
        <p:nvPr/>
      </p:nvGrpSpPr>
      <p:grpSpPr>
        <a:xfrm>
          <a:off x="0" y="0"/>
          <a:ext cx="0" cy="0"/>
          <a:chOff x="0" y="0"/>
          <a:chExt cx="0" cy="0"/>
        </a:xfrm>
      </p:grpSpPr>
      <p:pic>
        <p:nvPicPr>
          <p:cNvPr id="10" name="Imagen 9">
            <a:extLst>
              <a:ext uri="{FF2B5EF4-FFF2-40B4-BE49-F238E27FC236}">
                <a16:creationId xmlns:a16="http://schemas.microsoft.com/office/drawing/2014/main" id="{437777EF-90F3-E966-8050-96D4E3F5B69A}"/>
              </a:ext>
            </a:extLst>
          </p:cNvPr>
          <p:cNvPicPr>
            <a:picLocks noChangeAspect="1"/>
          </p:cNvPicPr>
          <p:nvPr/>
        </p:nvPicPr>
        <p:blipFill>
          <a:blip r:embed="rId3"/>
          <a:stretch>
            <a:fillRect/>
          </a:stretch>
        </p:blipFill>
        <p:spPr>
          <a:xfrm>
            <a:off x="0" y="0"/>
            <a:ext cx="9144000" cy="5143500"/>
          </a:xfrm>
          <a:prstGeom prst="rect">
            <a:avLst/>
          </a:prstGeom>
        </p:spPr>
      </p:pic>
      <p:sp>
        <p:nvSpPr>
          <p:cNvPr id="11" name="Google Shape;71;p15"/>
          <p:cNvSpPr txBox="1">
            <a:spLocks/>
          </p:cNvSpPr>
          <p:nvPr/>
        </p:nvSpPr>
        <p:spPr>
          <a:xfrm>
            <a:off x="1736436" y="1722582"/>
            <a:ext cx="6105236" cy="1216748"/>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pPr algn="ctr"/>
            <a:r>
              <a:rPr lang="es-AR" sz="6000" dirty="0">
                <a:solidFill>
                  <a:schemeClr val="tx1"/>
                </a:solidFill>
                <a:latin typeface="Russo One"/>
                <a:ea typeface="Russo One"/>
                <a:cs typeface="Russo One"/>
                <a:sym typeface="Russo One"/>
              </a:rPr>
              <a:t>Tipografía y Texto</a:t>
            </a:r>
          </a:p>
        </p:txBody>
      </p:sp>
    </p:spTree>
    <p:extLst>
      <p:ext uri="{BB962C8B-B14F-4D97-AF65-F5344CB8AC3E}">
        <p14:creationId xmlns:p14="http://schemas.microsoft.com/office/powerpoint/2010/main" val="20697786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4" name="CuadroTexto 3">
            <a:extLst>
              <a:ext uri="{FF2B5EF4-FFF2-40B4-BE49-F238E27FC236}">
                <a16:creationId xmlns:a16="http://schemas.microsoft.com/office/drawing/2014/main" id="{B9B8C329-BED5-C09C-F09B-E2F2A7739CCE}"/>
              </a:ext>
            </a:extLst>
          </p:cNvPr>
          <p:cNvSpPr txBox="1"/>
          <p:nvPr/>
        </p:nvSpPr>
        <p:spPr>
          <a:xfrm>
            <a:off x="434396" y="688695"/>
            <a:ext cx="8584913" cy="4224233"/>
          </a:xfrm>
          <a:prstGeom prst="rect">
            <a:avLst/>
          </a:prstGeom>
          <a:noFill/>
        </p:spPr>
        <p:txBody>
          <a:bodyPr wrap="square">
            <a:spAutoFit/>
          </a:bodyPr>
          <a:lstStyle/>
          <a:p>
            <a:r>
              <a:rPr lang="es-AR" sz="2800" dirty="0">
                <a:solidFill>
                  <a:srgbClr val="BE3969"/>
                </a:solidFill>
                <a:highlight>
                  <a:srgbClr val="FFFFFF"/>
                </a:highlight>
                <a:latin typeface="Russo One"/>
                <a:ea typeface="Lato"/>
                <a:cs typeface="Lato"/>
                <a:sym typeface="Russo One"/>
              </a:rPr>
              <a:t>Tipografías</a:t>
            </a:r>
          </a:p>
          <a:p>
            <a:endParaRPr lang="es-AR" sz="1050" dirty="0">
              <a:solidFill>
                <a:srgbClr val="BE3969"/>
              </a:solidFill>
              <a:highlight>
                <a:srgbClr val="FFFFFF"/>
              </a:highlight>
              <a:latin typeface="Russo One"/>
              <a:ea typeface="Lato"/>
              <a:cs typeface="Lato"/>
              <a:sym typeface="Russo One"/>
            </a:endParaRPr>
          </a:p>
          <a:p>
            <a:endParaRPr lang="es-AR" sz="600" dirty="0">
              <a:solidFill>
                <a:srgbClr val="BE3969"/>
              </a:solidFill>
              <a:highlight>
                <a:srgbClr val="FFFFFF"/>
              </a:highlight>
              <a:latin typeface="Russo One"/>
              <a:ea typeface="Lato"/>
              <a:cs typeface="Lato"/>
              <a:sym typeface="Russo One"/>
            </a:endParaRPr>
          </a:p>
          <a:p>
            <a:pPr lvl="0" rtl="0">
              <a:spcBef>
                <a:spcPts val="0"/>
              </a:spcBef>
              <a:spcAft>
                <a:spcPts val="0"/>
              </a:spcAft>
            </a:pPr>
            <a:r>
              <a:rPr lang="es-AR" sz="1600" b="1" dirty="0">
                <a:solidFill>
                  <a:schemeClr val="tx1"/>
                </a:solidFill>
                <a:highlight>
                  <a:srgbClr val="FFFFFF"/>
                </a:highlight>
                <a:latin typeface="Lato"/>
                <a:ea typeface="Lato"/>
                <a:cs typeface="Lato"/>
                <a:sym typeface="Lato"/>
              </a:rPr>
              <a:t>Familias</a:t>
            </a:r>
          </a:p>
          <a:p>
            <a:pPr lvl="0" rtl="0">
              <a:spcBef>
                <a:spcPts val="0"/>
              </a:spcBef>
              <a:spcAft>
                <a:spcPts val="0"/>
              </a:spcAft>
            </a:pPr>
            <a:endParaRPr lang="es-AR" sz="1600" b="1" dirty="0">
              <a:solidFill>
                <a:schemeClr val="tx1"/>
              </a:solidFill>
              <a:highlight>
                <a:srgbClr val="FFFFFF"/>
              </a:highlight>
              <a:latin typeface="Lato"/>
              <a:ea typeface="Lato"/>
              <a:cs typeface="Lato"/>
              <a:sym typeface="Lato"/>
            </a:endParaRPr>
          </a:p>
          <a:p>
            <a:pPr marL="285750" lvl="0" indent="-285750" rtl="0">
              <a:spcBef>
                <a:spcPts val="0"/>
              </a:spcBef>
              <a:spcAft>
                <a:spcPts val="0"/>
              </a:spcAft>
              <a:buFont typeface="Arial" panose="020B0604020202020204" pitchFamily="34" charset="0"/>
              <a:buChar char="•"/>
            </a:pPr>
            <a:r>
              <a:rPr lang="es-AR" sz="1600" dirty="0">
                <a:solidFill>
                  <a:srgbClr val="4A4A4A"/>
                </a:solidFill>
                <a:highlight>
                  <a:srgbClr val="FFFFFF"/>
                </a:highlight>
                <a:latin typeface="Lato"/>
                <a:ea typeface="Lato"/>
                <a:cs typeface="Lato"/>
                <a:sym typeface="Lato"/>
              </a:rPr>
              <a:t>Por medio de la propiedad </a:t>
            </a:r>
            <a:r>
              <a:rPr lang="es-AR" sz="1600" dirty="0" err="1">
                <a:solidFill>
                  <a:srgbClr val="4A4A4A"/>
                </a:solidFill>
                <a:highlight>
                  <a:srgbClr val="FFFFFF"/>
                </a:highlight>
                <a:latin typeface="Lato"/>
                <a:ea typeface="Lato"/>
                <a:cs typeface="Lato"/>
                <a:sym typeface="Lato"/>
              </a:rPr>
              <a:t>font-family</a:t>
            </a:r>
            <a:r>
              <a:rPr lang="es-AR" sz="1600" dirty="0">
                <a:solidFill>
                  <a:srgbClr val="4A4A4A"/>
                </a:solidFill>
                <a:highlight>
                  <a:srgbClr val="FFFFFF"/>
                </a:highlight>
                <a:latin typeface="Lato"/>
                <a:ea typeface="Lato"/>
                <a:cs typeface="Lato"/>
                <a:sym typeface="Lato"/>
              </a:rPr>
              <a:t> se puede establecer una lista de familias tipográficas</a:t>
            </a:r>
          </a:p>
          <a:p>
            <a:pPr marL="285750" lvl="0" indent="-285750" rtl="0">
              <a:spcBef>
                <a:spcPts val="0"/>
              </a:spcBef>
              <a:spcAft>
                <a:spcPts val="0"/>
              </a:spcAft>
              <a:buFont typeface="Arial" panose="020B0604020202020204" pitchFamily="34" charset="0"/>
              <a:buChar char="•"/>
            </a:pPr>
            <a:r>
              <a:rPr lang="es-AR" sz="1600" dirty="0">
                <a:solidFill>
                  <a:srgbClr val="4A4A4A"/>
                </a:solidFill>
                <a:highlight>
                  <a:srgbClr val="FFFFFF"/>
                </a:highlight>
                <a:latin typeface="Lato"/>
                <a:ea typeface="Lato"/>
                <a:cs typeface="Lato"/>
                <a:sym typeface="Lato"/>
              </a:rPr>
              <a:t>Dado que todas las máquinas pueden no tener todas las tipografías instaladas podemos seleccionar más de una</a:t>
            </a:r>
          </a:p>
          <a:p>
            <a:pPr marL="285750" lvl="0" indent="-285750" rtl="0">
              <a:spcBef>
                <a:spcPts val="0"/>
              </a:spcBef>
              <a:spcAft>
                <a:spcPts val="0"/>
              </a:spcAft>
              <a:buFont typeface="Arial" panose="020B0604020202020204" pitchFamily="34" charset="0"/>
              <a:buChar char="•"/>
            </a:pPr>
            <a:r>
              <a:rPr lang="es-AR" sz="1600" dirty="0">
                <a:solidFill>
                  <a:srgbClr val="4A4A4A"/>
                </a:solidFill>
                <a:highlight>
                  <a:srgbClr val="FFFFFF"/>
                </a:highlight>
                <a:latin typeface="Lato"/>
                <a:ea typeface="Lato"/>
                <a:cs typeface="Lato"/>
                <a:sym typeface="Lato"/>
              </a:rPr>
              <a:t>Las tipografías las separamos con comas. Ejemplo: Arial, </a:t>
            </a:r>
            <a:r>
              <a:rPr lang="es-AR" sz="1600" dirty="0" err="1">
                <a:solidFill>
                  <a:srgbClr val="4A4A4A"/>
                </a:solidFill>
                <a:highlight>
                  <a:srgbClr val="FFFFFF"/>
                </a:highlight>
                <a:latin typeface="Lato"/>
                <a:ea typeface="Lato"/>
                <a:cs typeface="Lato"/>
                <a:sym typeface="Lato"/>
              </a:rPr>
              <a:t>serif</a:t>
            </a:r>
            <a:endParaRPr lang="es-AR" sz="1600" dirty="0">
              <a:solidFill>
                <a:srgbClr val="4A4A4A"/>
              </a:solidFill>
              <a:highlight>
                <a:srgbClr val="FFFFFF"/>
              </a:highlight>
              <a:latin typeface="Lato"/>
              <a:ea typeface="Lato"/>
              <a:cs typeface="Lato"/>
              <a:sym typeface="Lato"/>
            </a:endParaRPr>
          </a:p>
          <a:p>
            <a:pPr marL="285750" lvl="0" indent="-285750" rtl="0">
              <a:spcBef>
                <a:spcPts val="0"/>
              </a:spcBef>
              <a:spcAft>
                <a:spcPts val="0"/>
              </a:spcAft>
              <a:buFont typeface="Arial" panose="020B0604020202020204" pitchFamily="34" charset="0"/>
              <a:buChar char="•"/>
            </a:pPr>
            <a:r>
              <a:rPr lang="es-AR" sz="1600" dirty="0">
                <a:solidFill>
                  <a:srgbClr val="4A4A4A"/>
                </a:solidFill>
                <a:highlight>
                  <a:srgbClr val="FFFFFF"/>
                </a:highlight>
                <a:latin typeface="Lato"/>
                <a:ea typeface="Lato"/>
                <a:cs typeface="Lato"/>
                <a:sym typeface="Lato"/>
              </a:rPr>
              <a:t>El browser va a elegir cada tipografía de izquierda a derecha hasta encontrar una que tenga</a:t>
            </a:r>
          </a:p>
          <a:p>
            <a:pPr marL="285750" lvl="0" indent="-285750" rtl="0">
              <a:spcBef>
                <a:spcPts val="0"/>
              </a:spcBef>
              <a:spcAft>
                <a:spcPts val="0"/>
              </a:spcAft>
              <a:buFont typeface="Arial" panose="020B0604020202020204" pitchFamily="34" charset="0"/>
              <a:buChar char="•"/>
            </a:pPr>
            <a:r>
              <a:rPr lang="es-AR" sz="1600" dirty="0">
                <a:solidFill>
                  <a:srgbClr val="4A4A4A"/>
                </a:solidFill>
                <a:highlight>
                  <a:srgbClr val="FFFFFF"/>
                </a:highlight>
                <a:latin typeface="Lato"/>
                <a:ea typeface="Lato"/>
                <a:cs typeface="Lato"/>
                <a:sym typeface="Lato"/>
              </a:rPr>
              <a:t>Los nombres de las tipografías se escriben con comillas dobles en caso de que el nombre contenga espacios, ejemplo: "Times New </a:t>
            </a:r>
            <a:r>
              <a:rPr lang="es-AR" sz="1600" dirty="0" err="1">
                <a:solidFill>
                  <a:srgbClr val="4A4A4A"/>
                </a:solidFill>
                <a:highlight>
                  <a:srgbClr val="FFFFFF"/>
                </a:highlight>
                <a:latin typeface="Lato"/>
                <a:ea typeface="Lato"/>
                <a:cs typeface="Lato"/>
                <a:sym typeface="Lato"/>
              </a:rPr>
              <a:t>Roman</a:t>
            </a:r>
            <a:r>
              <a:rPr lang="es-AR" sz="1600" dirty="0">
                <a:solidFill>
                  <a:srgbClr val="4A4A4A"/>
                </a:solidFill>
                <a:highlight>
                  <a:srgbClr val="FFFFFF"/>
                </a:highlight>
                <a:latin typeface="Lato"/>
                <a:ea typeface="Lato"/>
                <a:cs typeface="Lato"/>
                <a:sym typeface="Lato"/>
              </a:rPr>
              <a:t>", Georgia, </a:t>
            </a:r>
            <a:r>
              <a:rPr lang="es-AR" sz="1600" dirty="0" err="1">
                <a:solidFill>
                  <a:srgbClr val="4A4A4A"/>
                </a:solidFill>
                <a:highlight>
                  <a:srgbClr val="FFFFFF"/>
                </a:highlight>
                <a:latin typeface="Lato"/>
                <a:ea typeface="Lato"/>
                <a:cs typeface="Lato"/>
                <a:sym typeface="Lato"/>
              </a:rPr>
              <a:t>serif</a:t>
            </a:r>
            <a:endParaRPr lang="es-AR" sz="1600" dirty="0">
              <a:solidFill>
                <a:srgbClr val="4A4A4A"/>
              </a:solidFill>
              <a:highlight>
                <a:srgbClr val="FFFFFF"/>
              </a:highlight>
              <a:latin typeface="Lato"/>
              <a:ea typeface="Lato"/>
              <a:cs typeface="Lato"/>
              <a:sym typeface="Lato"/>
            </a:endParaRPr>
          </a:p>
          <a:p>
            <a:pPr marL="285750" lvl="0" indent="-285750" rtl="0">
              <a:spcBef>
                <a:spcPts val="0"/>
              </a:spcBef>
              <a:spcAft>
                <a:spcPts val="0"/>
              </a:spcAft>
              <a:buFont typeface="Arial" panose="020B0604020202020204" pitchFamily="34" charset="0"/>
              <a:buChar char="•"/>
            </a:pPr>
            <a:r>
              <a:rPr lang="es-AR" sz="1600" dirty="0">
                <a:solidFill>
                  <a:srgbClr val="4A4A4A"/>
                </a:solidFill>
                <a:highlight>
                  <a:srgbClr val="FFFFFF"/>
                </a:highlight>
                <a:latin typeface="Lato"/>
                <a:ea typeface="Lato"/>
                <a:cs typeface="Lato"/>
                <a:sym typeface="Lato"/>
              </a:rPr>
              <a:t>Se recomienda poner una tipografía por default (</a:t>
            </a:r>
            <a:r>
              <a:rPr lang="es-AR" sz="1600" dirty="0" err="1">
                <a:solidFill>
                  <a:srgbClr val="4A4A4A"/>
                </a:solidFill>
                <a:highlight>
                  <a:srgbClr val="FFFFFF"/>
                </a:highlight>
                <a:latin typeface="Lato"/>
                <a:ea typeface="Lato"/>
                <a:cs typeface="Lato"/>
                <a:sym typeface="Lato"/>
              </a:rPr>
              <a:t>serif</a:t>
            </a:r>
            <a:r>
              <a:rPr lang="es-AR" sz="1600" dirty="0">
                <a:solidFill>
                  <a:srgbClr val="4A4A4A"/>
                </a:solidFill>
                <a:highlight>
                  <a:srgbClr val="FFFFFF"/>
                </a:highlight>
                <a:latin typeface="Lato"/>
                <a:ea typeface="Lato"/>
                <a:cs typeface="Lato"/>
                <a:sym typeface="Lato"/>
              </a:rPr>
              <a:t>, </a:t>
            </a:r>
            <a:r>
              <a:rPr lang="es-AR" sz="1600" dirty="0" err="1">
                <a:solidFill>
                  <a:srgbClr val="4A4A4A"/>
                </a:solidFill>
                <a:highlight>
                  <a:srgbClr val="FFFFFF"/>
                </a:highlight>
                <a:latin typeface="Lato"/>
                <a:ea typeface="Lato"/>
                <a:cs typeface="Lato"/>
                <a:sym typeface="Lato"/>
              </a:rPr>
              <a:t>sans-serif</a:t>
            </a:r>
            <a:r>
              <a:rPr lang="es-AR" sz="1600" dirty="0">
                <a:solidFill>
                  <a:srgbClr val="4A4A4A"/>
                </a:solidFill>
                <a:highlight>
                  <a:srgbClr val="FFFFFF"/>
                </a:highlight>
                <a:latin typeface="Lato"/>
                <a:ea typeface="Lato"/>
                <a:cs typeface="Lato"/>
                <a:sym typeface="Lato"/>
              </a:rPr>
              <a:t>, </a:t>
            </a:r>
            <a:r>
              <a:rPr lang="es-AR" sz="1600" dirty="0" err="1">
                <a:solidFill>
                  <a:srgbClr val="4A4A4A"/>
                </a:solidFill>
                <a:highlight>
                  <a:srgbClr val="FFFFFF"/>
                </a:highlight>
                <a:latin typeface="Lato"/>
                <a:ea typeface="Lato"/>
                <a:cs typeface="Lato"/>
                <a:sym typeface="Lato"/>
              </a:rPr>
              <a:t>monospace</a:t>
            </a:r>
            <a:r>
              <a:rPr lang="es-AR" sz="1600" dirty="0">
                <a:solidFill>
                  <a:srgbClr val="4A4A4A"/>
                </a:solidFill>
                <a:highlight>
                  <a:srgbClr val="FFFFFF"/>
                </a:highlight>
                <a:latin typeface="Lato"/>
                <a:ea typeface="Lato"/>
                <a:cs typeface="Lato"/>
                <a:sym typeface="Lato"/>
              </a:rPr>
              <a:t>, cursive o </a:t>
            </a:r>
            <a:r>
              <a:rPr lang="es-AR" sz="1600" dirty="0" err="1">
                <a:solidFill>
                  <a:srgbClr val="4A4A4A"/>
                </a:solidFill>
                <a:highlight>
                  <a:srgbClr val="FFFFFF"/>
                </a:highlight>
                <a:latin typeface="Lato"/>
                <a:ea typeface="Lato"/>
                <a:cs typeface="Lato"/>
                <a:sym typeface="Lato"/>
              </a:rPr>
              <a:t>fantasy</a:t>
            </a:r>
            <a:r>
              <a:rPr lang="es-AR" sz="1600" dirty="0">
                <a:solidFill>
                  <a:srgbClr val="4A4A4A"/>
                </a:solidFill>
                <a:highlight>
                  <a:srgbClr val="FFFFFF"/>
                </a:highlight>
                <a:latin typeface="Lato"/>
                <a:ea typeface="Lato"/>
                <a:cs typeface="Lato"/>
                <a:sym typeface="Lato"/>
              </a:rPr>
              <a:t>) para lograr al menos el estilo deseado</a:t>
            </a:r>
          </a:p>
          <a:p>
            <a:pPr marL="285750" lvl="0" indent="-285750" rtl="0">
              <a:spcBef>
                <a:spcPts val="0"/>
              </a:spcBef>
              <a:spcAft>
                <a:spcPts val="0"/>
              </a:spcAft>
              <a:buFont typeface="Arial" panose="020B0604020202020204" pitchFamily="34" charset="0"/>
              <a:buChar char="•"/>
            </a:pPr>
            <a:r>
              <a:rPr lang="es-AR" sz="1600" dirty="0">
                <a:solidFill>
                  <a:srgbClr val="4A4A4A"/>
                </a:solidFill>
                <a:highlight>
                  <a:srgbClr val="FFFFFF"/>
                </a:highlight>
                <a:latin typeface="Lato"/>
                <a:ea typeface="Lato"/>
                <a:cs typeface="Lato"/>
                <a:sym typeface="Lato"/>
              </a:rPr>
              <a:t>También se pueden utilizar web </a:t>
            </a:r>
            <a:r>
              <a:rPr lang="es-AR" sz="1600" dirty="0" err="1">
                <a:solidFill>
                  <a:srgbClr val="4A4A4A"/>
                </a:solidFill>
                <a:highlight>
                  <a:srgbClr val="FFFFFF"/>
                </a:highlight>
                <a:latin typeface="Lato"/>
                <a:ea typeface="Lato"/>
                <a:cs typeface="Lato"/>
                <a:sym typeface="Lato"/>
              </a:rPr>
              <a:t>fonts</a:t>
            </a:r>
            <a:r>
              <a:rPr lang="es-AR" sz="1600" dirty="0">
                <a:solidFill>
                  <a:srgbClr val="4A4A4A"/>
                </a:solidFill>
                <a:highlight>
                  <a:srgbClr val="FFFFFF"/>
                </a:highlight>
                <a:latin typeface="Lato"/>
                <a:ea typeface="Lato"/>
                <a:cs typeface="Lato"/>
                <a:sym typeface="Lato"/>
              </a:rPr>
              <a:t> como pueden ser las de </a:t>
            </a:r>
            <a:r>
              <a:rPr lang="es-AR" sz="1600" b="0" i="0" dirty="0">
                <a:effectLst/>
                <a:latin typeface="system-ui"/>
                <a:hlinkClick r:id="rId3"/>
              </a:rPr>
              <a:t>Google</a:t>
            </a:r>
            <a:endParaRPr lang="es-AR" sz="1600" b="0" i="0" dirty="0">
              <a:effectLst/>
              <a:latin typeface="system-ui"/>
            </a:endParaRPr>
          </a:p>
          <a:p>
            <a:pPr marL="285750" lvl="0" indent="-285750" rtl="0">
              <a:spcBef>
                <a:spcPts val="0"/>
              </a:spcBef>
              <a:spcAft>
                <a:spcPts val="0"/>
              </a:spcAft>
              <a:buFont typeface="Arial" panose="020B0604020202020204" pitchFamily="34" charset="0"/>
              <a:buChar char="•"/>
            </a:pPr>
            <a:r>
              <a:rPr lang="es-AR" sz="1600" dirty="0">
                <a:solidFill>
                  <a:srgbClr val="4A4A4A"/>
                </a:solidFill>
                <a:highlight>
                  <a:srgbClr val="FFFFFF"/>
                </a:highlight>
                <a:latin typeface="Lato"/>
                <a:ea typeface="Lato"/>
                <a:cs typeface="Lato"/>
                <a:sym typeface="Lato"/>
              </a:rPr>
              <a:t>Para saber más sobre la propiedad </a:t>
            </a:r>
            <a:r>
              <a:rPr lang="es-AR" sz="1600" dirty="0" err="1">
                <a:solidFill>
                  <a:srgbClr val="4A4A4A"/>
                </a:solidFill>
                <a:highlight>
                  <a:srgbClr val="FFFFFF"/>
                </a:highlight>
                <a:latin typeface="Lato"/>
                <a:ea typeface="Lato"/>
                <a:cs typeface="Lato"/>
                <a:sym typeface="Lato"/>
              </a:rPr>
              <a:t>font-family</a:t>
            </a:r>
            <a:r>
              <a:rPr lang="es-AR" sz="1600" dirty="0">
                <a:solidFill>
                  <a:srgbClr val="4A4A4A"/>
                </a:solidFill>
                <a:highlight>
                  <a:srgbClr val="FFFFFF"/>
                </a:highlight>
                <a:latin typeface="Lato"/>
                <a:ea typeface="Lato"/>
                <a:cs typeface="Lato"/>
                <a:sym typeface="Lato"/>
              </a:rPr>
              <a:t> pueden ver el </a:t>
            </a:r>
            <a:r>
              <a:rPr lang="es-AR" sz="1600" b="0" i="0" dirty="0">
                <a:effectLst/>
                <a:latin typeface="system-ui"/>
                <a:hlinkClick r:id="rId4"/>
              </a:rPr>
              <a:t>MDN</a:t>
            </a:r>
            <a:endParaRPr lang="es-AR" sz="1600" dirty="0">
              <a:solidFill>
                <a:srgbClr val="4A4A4A"/>
              </a:solidFill>
              <a:highlight>
                <a:srgbClr val="FFFFFF"/>
              </a:highlight>
              <a:latin typeface="Lato"/>
              <a:ea typeface="Lato"/>
              <a:cs typeface="Lato"/>
              <a:sym typeface="Lato"/>
            </a:endParaRPr>
          </a:p>
        </p:txBody>
      </p:sp>
    </p:spTree>
    <p:extLst>
      <p:ext uri="{BB962C8B-B14F-4D97-AF65-F5344CB8AC3E}">
        <p14:creationId xmlns:p14="http://schemas.microsoft.com/office/powerpoint/2010/main" val="29346767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4" name="CuadroTexto 3">
            <a:extLst>
              <a:ext uri="{FF2B5EF4-FFF2-40B4-BE49-F238E27FC236}">
                <a16:creationId xmlns:a16="http://schemas.microsoft.com/office/drawing/2014/main" id="{B9B8C329-BED5-C09C-F09B-E2F2A7739CCE}"/>
              </a:ext>
            </a:extLst>
          </p:cNvPr>
          <p:cNvSpPr txBox="1"/>
          <p:nvPr/>
        </p:nvSpPr>
        <p:spPr>
          <a:xfrm>
            <a:off x="434396" y="688695"/>
            <a:ext cx="8584913" cy="4224233"/>
          </a:xfrm>
          <a:prstGeom prst="rect">
            <a:avLst/>
          </a:prstGeom>
          <a:noFill/>
        </p:spPr>
        <p:txBody>
          <a:bodyPr wrap="square">
            <a:spAutoFit/>
          </a:bodyPr>
          <a:lstStyle/>
          <a:p>
            <a:r>
              <a:rPr lang="es-AR" sz="2800" dirty="0">
                <a:solidFill>
                  <a:srgbClr val="BE3969"/>
                </a:solidFill>
                <a:highlight>
                  <a:srgbClr val="FFFFFF"/>
                </a:highlight>
                <a:latin typeface="Russo One"/>
                <a:ea typeface="Lato"/>
                <a:cs typeface="Lato"/>
                <a:sym typeface="Russo One"/>
              </a:rPr>
              <a:t>Tipografías</a:t>
            </a:r>
          </a:p>
          <a:p>
            <a:endParaRPr lang="es-AR" sz="1050" dirty="0">
              <a:solidFill>
                <a:srgbClr val="BE3969"/>
              </a:solidFill>
              <a:highlight>
                <a:srgbClr val="FFFFFF"/>
              </a:highlight>
              <a:latin typeface="Russo One"/>
              <a:ea typeface="Lato"/>
              <a:cs typeface="Lato"/>
              <a:sym typeface="Russo One"/>
            </a:endParaRPr>
          </a:p>
          <a:p>
            <a:endParaRPr lang="es-AR" sz="600" dirty="0">
              <a:solidFill>
                <a:srgbClr val="BE3969"/>
              </a:solidFill>
              <a:highlight>
                <a:srgbClr val="FFFFFF"/>
              </a:highlight>
              <a:latin typeface="Russo One"/>
              <a:ea typeface="Lato"/>
              <a:cs typeface="Lato"/>
              <a:sym typeface="Russo One"/>
            </a:endParaRPr>
          </a:p>
          <a:p>
            <a:pPr lvl="0" rtl="0">
              <a:spcBef>
                <a:spcPts val="0"/>
              </a:spcBef>
              <a:spcAft>
                <a:spcPts val="0"/>
              </a:spcAft>
            </a:pPr>
            <a:r>
              <a:rPr lang="es-AR" sz="1600" b="1" dirty="0">
                <a:solidFill>
                  <a:schemeClr val="tx1"/>
                </a:solidFill>
                <a:highlight>
                  <a:srgbClr val="FFFFFF"/>
                </a:highlight>
                <a:latin typeface="Lato"/>
                <a:ea typeface="Lato"/>
                <a:cs typeface="Lato"/>
                <a:sym typeface="Lato"/>
              </a:rPr>
              <a:t>Familias</a:t>
            </a:r>
          </a:p>
          <a:p>
            <a:pPr lvl="0" rtl="0">
              <a:spcBef>
                <a:spcPts val="0"/>
              </a:spcBef>
              <a:spcAft>
                <a:spcPts val="0"/>
              </a:spcAft>
            </a:pPr>
            <a:endParaRPr lang="es-AR" sz="1600" b="1" dirty="0">
              <a:solidFill>
                <a:schemeClr val="tx1"/>
              </a:solidFill>
              <a:highlight>
                <a:srgbClr val="FFFFFF"/>
              </a:highlight>
              <a:latin typeface="Lato"/>
              <a:ea typeface="Lato"/>
              <a:cs typeface="Lato"/>
              <a:sym typeface="Lato"/>
            </a:endParaRPr>
          </a:p>
          <a:p>
            <a:pPr lvl="0" rtl="0">
              <a:spcBef>
                <a:spcPts val="0"/>
              </a:spcBef>
              <a:spcAft>
                <a:spcPts val="0"/>
              </a:spcAft>
            </a:pPr>
            <a:endParaRPr lang="es-AR" sz="1600" b="1" dirty="0">
              <a:solidFill>
                <a:schemeClr val="tx1"/>
              </a:solidFill>
              <a:highlight>
                <a:srgbClr val="FFFFFF"/>
              </a:highlight>
              <a:latin typeface="Lato"/>
              <a:ea typeface="Lato"/>
              <a:cs typeface="Lato"/>
              <a:sym typeface="Lato"/>
            </a:endParaRPr>
          </a:p>
          <a:p>
            <a:pPr lvl="0" rtl="0">
              <a:spcBef>
                <a:spcPts val="0"/>
              </a:spcBef>
              <a:spcAft>
                <a:spcPts val="0"/>
              </a:spcAft>
            </a:pPr>
            <a:endParaRPr lang="es-AR" sz="1600" b="1" dirty="0">
              <a:solidFill>
                <a:schemeClr val="tx1"/>
              </a:solidFill>
              <a:highlight>
                <a:srgbClr val="FFFFFF"/>
              </a:highlight>
              <a:latin typeface="Lato"/>
              <a:ea typeface="Lato"/>
              <a:cs typeface="Lato"/>
              <a:sym typeface="Lato"/>
            </a:endParaRPr>
          </a:p>
          <a:p>
            <a:pPr lvl="0" rtl="0">
              <a:spcBef>
                <a:spcPts val="0"/>
              </a:spcBef>
              <a:spcAft>
                <a:spcPts val="0"/>
              </a:spcAft>
            </a:pPr>
            <a:endParaRPr lang="es-AR" sz="1600" b="1" dirty="0">
              <a:solidFill>
                <a:schemeClr val="tx1"/>
              </a:solidFill>
              <a:highlight>
                <a:srgbClr val="FFFFFF"/>
              </a:highlight>
              <a:latin typeface="Lato"/>
              <a:ea typeface="Lato"/>
              <a:cs typeface="Lato"/>
              <a:sym typeface="Lato"/>
            </a:endParaRPr>
          </a:p>
          <a:p>
            <a:pPr lvl="0" rtl="0">
              <a:spcBef>
                <a:spcPts val="0"/>
              </a:spcBef>
              <a:spcAft>
                <a:spcPts val="0"/>
              </a:spcAft>
            </a:pPr>
            <a:endParaRPr lang="es-AR" sz="1600" b="1" dirty="0">
              <a:solidFill>
                <a:schemeClr val="tx1"/>
              </a:solidFill>
              <a:highlight>
                <a:srgbClr val="FFFFFF"/>
              </a:highlight>
              <a:latin typeface="Lato"/>
              <a:ea typeface="Lato"/>
              <a:cs typeface="Lato"/>
              <a:sym typeface="Lato"/>
            </a:endParaRPr>
          </a:p>
          <a:p>
            <a:pPr lvl="0" rtl="0">
              <a:spcBef>
                <a:spcPts val="0"/>
              </a:spcBef>
              <a:spcAft>
                <a:spcPts val="0"/>
              </a:spcAft>
            </a:pPr>
            <a:endParaRPr lang="es-AR" sz="1600" b="1" dirty="0">
              <a:solidFill>
                <a:schemeClr val="tx1"/>
              </a:solidFill>
              <a:highlight>
                <a:srgbClr val="FFFFFF"/>
              </a:highlight>
              <a:latin typeface="Lato"/>
              <a:ea typeface="Lato"/>
              <a:cs typeface="Lato"/>
              <a:sym typeface="Lato"/>
            </a:endParaRPr>
          </a:p>
          <a:p>
            <a:pPr lvl="0" rtl="0">
              <a:spcBef>
                <a:spcPts val="0"/>
              </a:spcBef>
              <a:spcAft>
                <a:spcPts val="0"/>
              </a:spcAft>
            </a:pPr>
            <a:endParaRPr lang="es-AR" sz="1600" b="1" dirty="0">
              <a:solidFill>
                <a:schemeClr val="tx1"/>
              </a:solidFill>
              <a:highlight>
                <a:srgbClr val="FFFFFF"/>
              </a:highlight>
              <a:latin typeface="Lato"/>
              <a:ea typeface="Lato"/>
              <a:cs typeface="Lato"/>
              <a:sym typeface="Lato"/>
            </a:endParaRPr>
          </a:p>
          <a:p>
            <a:pPr lvl="0" rtl="0">
              <a:spcBef>
                <a:spcPts val="0"/>
              </a:spcBef>
              <a:spcAft>
                <a:spcPts val="0"/>
              </a:spcAft>
            </a:pPr>
            <a:endParaRPr lang="es-AR" sz="1600" b="1" dirty="0">
              <a:solidFill>
                <a:schemeClr val="tx1"/>
              </a:solidFill>
              <a:highlight>
                <a:srgbClr val="FFFFFF"/>
              </a:highlight>
              <a:latin typeface="Lato"/>
              <a:ea typeface="Lato"/>
              <a:cs typeface="Lato"/>
              <a:sym typeface="Lato"/>
            </a:endParaRPr>
          </a:p>
          <a:p>
            <a:pPr lvl="0" rtl="0">
              <a:spcBef>
                <a:spcPts val="0"/>
              </a:spcBef>
              <a:spcAft>
                <a:spcPts val="0"/>
              </a:spcAft>
            </a:pPr>
            <a:endParaRPr lang="es-AR" sz="1600" b="1" dirty="0">
              <a:solidFill>
                <a:schemeClr val="tx1"/>
              </a:solidFill>
              <a:highlight>
                <a:srgbClr val="FFFFFF"/>
              </a:highlight>
              <a:latin typeface="Lato"/>
              <a:ea typeface="Lato"/>
              <a:cs typeface="Lato"/>
              <a:sym typeface="Lato"/>
            </a:endParaRPr>
          </a:p>
          <a:p>
            <a:pPr lvl="0" rtl="0">
              <a:spcBef>
                <a:spcPts val="0"/>
              </a:spcBef>
              <a:spcAft>
                <a:spcPts val="0"/>
              </a:spcAft>
            </a:pPr>
            <a:endParaRPr lang="es-AR" sz="1600" b="1" dirty="0">
              <a:solidFill>
                <a:schemeClr val="tx1"/>
              </a:solidFill>
              <a:highlight>
                <a:srgbClr val="FFFFFF"/>
              </a:highlight>
              <a:latin typeface="Lato"/>
              <a:ea typeface="Lato"/>
              <a:cs typeface="Lato"/>
              <a:sym typeface="Lato"/>
            </a:endParaRPr>
          </a:p>
          <a:p>
            <a:pPr lvl="0" rtl="0">
              <a:spcBef>
                <a:spcPts val="0"/>
              </a:spcBef>
              <a:spcAft>
                <a:spcPts val="0"/>
              </a:spcAft>
            </a:pPr>
            <a:r>
              <a:rPr lang="es-AR" sz="1600" dirty="0">
                <a:solidFill>
                  <a:srgbClr val="4A4A4A"/>
                </a:solidFill>
                <a:highlight>
                  <a:srgbClr val="FFFFFF"/>
                </a:highlight>
                <a:latin typeface="Lato"/>
                <a:ea typeface="Lato"/>
                <a:cs typeface="Lato"/>
                <a:sym typeface="Lato"/>
              </a:rPr>
              <a:t>En este ejemplo definimos:</a:t>
            </a:r>
          </a:p>
          <a:p>
            <a:pPr marL="285750" lvl="0" indent="-285750" rtl="0">
              <a:spcBef>
                <a:spcPts val="0"/>
              </a:spcBef>
              <a:spcAft>
                <a:spcPts val="0"/>
              </a:spcAft>
              <a:buFont typeface="Arial" panose="020B0604020202020204" pitchFamily="34" charset="0"/>
              <a:buChar char="•"/>
            </a:pPr>
            <a:r>
              <a:rPr lang="es-AR" sz="1600" dirty="0">
                <a:solidFill>
                  <a:srgbClr val="4A4A4A"/>
                </a:solidFill>
                <a:highlight>
                  <a:srgbClr val="FFFFFF"/>
                </a:highlight>
                <a:latin typeface="Lato"/>
                <a:ea typeface="Lato"/>
                <a:cs typeface="Lato"/>
                <a:sym typeface="Lato"/>
              </a:rPr>
              <a:t>El texto del documento tiene que ser negro y con tipografía Arial o </a:t>
            </a:r>
            <a:r>
              <a:rPr lang="es-AR" sz="1600" dirty="0" err="1">
                <a:solidFill>
                  <a:srgbClr val="4A4A4A"/>
                </a:solidFill>
                <a:highlight>
                  <a:srgbClr val="FFFFFF"/>
                </a:highlight>
                <a:latin typeface="Lato"/>
                <a:ea typeface="Lato"/>
                <a:cs typeface="Lato"/>
                <a:sym typeface="Lato"/>
              </a:rPr>
              <a:t>sans-serif</a:t>
            </a:r>
            <a:endParaRPr lang="es-AR" sz="1600" dirty="0">
              <a:solidFill>
                <a:srgbClr val="4A4A4A"/>
              </a:solidFill>
              <a:highlight>
                <a:srgbClr val="FFFFFF"/>
              </a:highlight>
              <a:latin typeface="Lato"/>
              <a:ea typeface="Lato"/>
              <a:cs typeface="Lato"/>
              <a:sym typeface="Lato"/>
            </a:endParaRPr>
          </a:p>
          <a:p>
            <a:pPr marL="285750" lvl="0" indent="-285750" rtl="0">
              <a:spcBef>
                <a:spcPts val="0"/>
              </a:spcBef>
              <a:spcAft>
                <a:spcPts val="0"/>
              </a:spcAft>
              <a:buFont typeface="Arial" panose="020B0604020202020204" pitchFamily="34" charset="0"/>
              <a:buChar char="•"/>
            </a:pPr>
            <a:r>
              <a:rPr lang="es-AR" sz="1600" dirty="0">
                <a:solidFill>
                  <a:srgbClr val="4A4A4A"/>
                </a:solidFill>
                <a:highlight>
                  <a:srgbClr val="FFFFFF"/>
                </a:highlight>
                <a:latin typeface="Lato"/>
                <a:ea typeface="Lato"/>
                <a:cs typeface="Lato"/>
                <a:sym typeface="Lato"/>
              </a:rPr>
              <a:t>Los títulos h1 son grises y con tipografía Times New </a:t>
            </a:r>
            <a:r>
              <a:rPr lang="es-AR" sz="1600" dirty="0" err="1">
                <a:solidFill>
                  <a:srgbClr val="4A4A4A"/>
                </a:solidFill>
                <a:highlight>
                  <a:srgbClr val="FFFFFF"/>
                </a:highlight>
                <a:latin typeface="Lato"/>
                <a:ea typeface="Lato"/>
                <a:cs typeface="Lato"/>
                <a:sym typeface="Lato"/>
              </a:rPr>
              <a:t>Roman</a:t>
            </a:r>
            <a:r>
              <a:rPr lang="es-AR" sz="1600" dirty="0">
                <a:solidFill>
                  <a:srgbClr val="4A4A4A"/>
                </a:solidFill>
                <a:highlight>
                  <a:srgbClr val="FFFFFF"/>
                </a:highlight>
                <a:latin typeface="Lato"/>
                <a:ea typeface="Lato"/>
                <a:cs typeface="Lato"/>
                <a:sym typeface="Lato"/>
              </a:rPr>
              <a:t> o </a:t>
            </a:r>
            <a:r>
              <a:rPr lang="es-AR" sz="1600" dirty="0" err="1">
                <a:solidFill>
                  <a:srgbClr val="4A4A4A"/>
                </a:solidFill>
                <a:highlight>
                  <a:srgbClr val="FFFFFF"/>
                </a:highlight>
                <a:latin typeface="Lato"/>
                <a:ea typeface="Lato"/>
                <a:cs typeface="Lato"/>
                <a:sym typeface="Lato"/>
              </a:rPr>
              <a:t>serif</a:t>
            </a:r>
            <a:endParaRPr lang="es-AR" sz="1600" dirty="0">
              <a:solidFill>
                <a:srgbClr val="4A4A4A"/>
              </a:solidFill>
              <a:highlight>
                <a:srgbClr val="FFFFFF"/>
              </a:highlight>
              <a:latin typeface="Lato"/>
              <a:ea typeface="Lato"/>
              <a:cs typeface="Lato"/>
              <a:sym typeface="Lato"/>
            </a:endParaRPr>
          </a:p>
        </p:txBody>
      </p:sp>
      <p:pic>
        <p:nvPicPr>
          <p:cNvPr id="3" name="Imagen 2">
            <a:extLst>
              <a:ext uri="{FF2B5EF4-FFF2-40B4-BE49-F238E27FC236}">
                <a16:creationId xmlns:a16="http://schemas.microsoft.com/office/drawing/2014/main" id="{79170388-75D0-AC6F-D984-BBAC602612DB}"/>
              </a:ext>
            </a:extLst>
          </p:cNvPr>
          <p:cNvPicPr>
            <a:picLocks noChangeAspect="1"/>
          </p:cNvPicPr>
          <p:nvPr/>
        </p:nvPicPr>
        <p:blipFill>
          <a:blip r:embed="rId3"/>
          <a:stretch>
            <a:fillRect/>
          </a:stretch>
        </p:blipFill>
        <p:spPr>
          <a:xfrm>
            <a:off x="2830945" y="1880442"/>
            <a:ext cx="3127161" cy="1884315"/>
          </a:xfrm>
          <a:prstGeom prst="rect">
            <a:avLst/>
          </a:prstGeom>
        </p:spPr>
      </p:pic>
    </p:spTree>
    <p:extLst>
      <p:ext uri="{BB962C8B-B14F-4D97-AF65-F5344CB8AC3E}">
        <p14:creationId xmlns:p14="http://schemas.microsoft.com/office/powerpoint/2010/main" val="207048403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4" name="CuadroTexto 3">
            <a:extLst>
              <a:ext uri="{FF2B5EF4-FFF2-40B4-BE49-F238E27FC236}">
                <a16:creationId xmlns:a16="http://schemas.microsoft.com/office/drawing/2014/main" id="{B9B8C329-BED5-C09C-F09B-E2F2A7739CCE}"/>
              </a:ext>
            </a:extLst>
          </p:cNvPr>
          <p:cNvSpPr txBox="1"/>
          <p:nvPr/>
        </p:nvSpPr>
        <p:spPr>
          <a:xfrm>
            <a:off x="434397" y="688695"/>
            <a:ext cx="7892186" cy="4031873"/>
          </a:xfrm>
          <a:prstGeom prst="rect">
            <a:avLst/>
          </a:prstGeom>
          <a:noFill/>
        </p:spPr>
        <p:txBody>
          <a:bodyPr wrap="square">
            <a:spAutoFit/>
          </a:bodyPr>
          <a:lstStyle/>
          <a:p>
            <a:r>
              <a:rPr lang="es-AR" sz="3600" dirty="0">
                <a:solidFill>
                  <a:srgbClr val="BE3969"/>
                </a:solidFill>
                <a:highlight>
                  <a:srgbClr val="FFFFFF"/>
                </a:highlight>
                <a:latin typeface="Russo One"/>
                <a:ea typeface="Lato"/>
                <a:cs typeface="Lato"/>
                <a:sym typeface="Russo One"/>
              </a:rPr>
              <a:t>Tamaño</a:t>
            </a:r>
            <a:endParaRPr lang="es-AR" sz="2000" b="1" dirty="0">
              <a:solidFill>
                <a:schemeClr val="tx1"/>
              </a:solidFill>
              <a:highlight>
                <a:srgbClr val="FFFFFF"/>
              </a:highlight>
              <a:latin typeface="Lato"/>
              <a:ea typeface="Lato"/>
              <a:cs typeface="Lato"/>
              <a:sym typeface="Lato"/>
            </a:endParaRPr>
          </a:p>
          <a:p>
            <a:pPr lvl="0" rtl="0">
              <a:spcBef>
                <a:spcPts val="0"/>
              </a:spcBef>
              <a:spcAft>
                <a:spcPts val="0"/>
              </a:spcAft>
            </a:pPr>
            <a:endParaRPr lang="es-AR" sz="2000" b="1" dirty="0">
              <a:solidFill>
                <a:schemeClr val="tx1"/>
              </a:solidFill>
              <a:highlight>
                <a:srgbClr val="FFFFFF"/>
              </a:highlight>
              <a:latin typeface="Lato"/>
              <a:ea typeface="Lato"/>
              <a:cs typeface="Lato"/>
              <a:sym typeface="Lato"/>
            </a:endParaRPr>
          </a:p>
          <a:p>
            <a:pPr marL="285750" lvl="0" indent="-285750" rtl="0">
              <a:spcBef>
                <a:spcPts val="0"/>
              </a:spcBef>
              <a:spcAft>
                <a:spcPts val="0"/>
              </a:spcAft>
              <a:buFont typeface="Arial" panose="020B0604020202020204" pitchFamily="34" charset="0"/>
              <a:buChar char="•"/>
            </a:pPr>
            <a:r>
              <a:rPr lang="es-AR" sz="2000" dirty="0">
                <a:solidFill>
                  <a:srgbClr val="4A4A4A"/>
                </a:solidFill>
                <a:highlight>
                  <a:srgbClr val="FFFFFF"/>
                </a:highlight>
                <a:latin typeface="Lato"/>
                <a:ea typeface="Lato"/>
                <a:cs typeface="Lato"/>
                <a:sym typeface="Lato"/>
              </a:rPr>
              <a:t>Por medio de la propiedad </a:t>
            </a:r>
            <a:r>
              <a:rPr lang="es-AR" sz="2000" dirty="0" err="1">
                <a:solidFill>
                  <a:srgbClr val="4A4A4A"/>
                </a:solidFill>
                <a:highlight>
                  <a:srgbClr val="FFFFFF"/>
                </a:highlight>
                <a:latin typeface="Lato"/>
                <a:ea typeface="Lato"/>
                <a:cs typeface="Lato"/>
                <a:sym typeface="Lato"/>
              </a:rPr>
              <a:t>font-size</a:t>
            </a:r>
            <a:r>
              <a:rPr lang="es-AR" sz="2000" dirty="0">
                <a:solidFill>
                  <a:srgbClr val="4A4A4A"/>
                </a:solidFill>
                <a:highlight>
                  <a:srgbClr val="FFFFFF"/>
                </a:highlight>
                <a:latin typeface="Lato"/>
                <a:ea typeface="Lato"/>
                <a:cs typeface="Lato"/>
                <a:sym typeface="Lato"/>
              </a:rPr>
              <a:t> podemos establecer el tamaño de la tipografía</a:t>
            </a:r>
          </a:p>
          <a:p>
            <a:pPr lvl="0" rtl="0">
              <a:spcBef>
                <a:spcPts val="0"/>
              </a:spcBef>
              <a:spcAft>
                <a:spcPts val="0"/>
              </a:spcAft>
            </a:pPr>
            <a:endParaRPr lang="es-AR" sz="2000" dirty="0">
              <a:solidFill>
                <a:srgbClr val="4A4A4A"/>
              </a:solidFill>
              <a:highlight>
                <a:srgbClr val="FFFFFF"/>
              </a:highlight>
              <a:latin typeface="Lato"/>
              <a:ea typeface="Lato"/>
              <a:cs typeface="Lato"/>
              <a:sym typeface="Lato"/>
            </a:endParaRPr>
          </a:p>
          <a:p>
            <a:pPr lvl="0" rtl="0">
              <a:spcBef>
                <a:spcPts val="0"/>
              </a:spcBef>
              <a:spcAft>
                <a:spcPts val="0"/>
              </a:spcAft>
            </a:pPr>
            <a:r>
              <a:rPr lang="es-AR" sz="2000" dirty="0">
                <a:solidFill>
                  <a:srgbClr val="4A4A4A"/>
                </a:solidFill>
                <a:highlight>
                  <a:srgbClr val="FFFFFF"/>
                </a:highlight>
                <a:latin typeface="Lato"/>
                <a:ea typeface="Lato"/>
                <a:cs typeface="Lato"/>
                <a:sym typeface="Lato"/>
              </a:rPr>
              <a:t>Acepta como valor:</a:t>
            </a:r>
          </a:p>
          <a:p>
            <a:pPr lvl="0" rtl="0">
              <a:spcBef>
                <a:spcPts val="0"/>
              </a:spcBef>
              <a:spcAft>
                <a:spcPts val="0"/>
              </a:spcAft>
            </a:pPr>
            <a:endParaRPr lang="es-AR" sz="2000" dirty="0">
              <a:solidFill>
                <a:srgbClr val="4A4A4A"/>
              </a:solidFill>
              <a:highlight>
                <a:srgbClr val="FFFFFF"/>
              </a:highlight>
              <a:latin typeface="Lato"/>
              <a:ea typeface="Lato"/>
              <a:cs typeface="Lato"/>
              <a:sym typeface="Lato"/>
            </a:endParaRPr>
          </a:p>
          <a:p>
            <a:pPr lvl="0" rtl="0">
              <a:spcBef>
                <a:spcPts val="0"/>
              </a:spcBef>
              <a:spcAft>
                <a:spcPts val="0"/>
              </a:spcAft>
            </a:pPr>
            <a:r>
              <a:rPr lang="es-AR" sz="2000" dirty="0">
                <a:solidFill>
                  <a:srgbClr val="4A4A4A"/>
                </a:solidFill>
                <a:highlight>
                  <a:srgbClr val="FFFFFF"/>
                </a:highlight>
                <a:latin typeface="Lato"/>
                <a:ea typeface="Lato"/>
                <a:cs typeface="Lato"/>
                <a:sym typeface="Lato"/>
              </a:rPr>
              <a:t>1. </a:t>
            </a:r>
            <a:r>
              <a:rPr lang="es-AR" sz="2000" b="1" dirty="0">
                <a:solidFill>
                  <a:schemeClr val="tx1"/>
                </a:solidFill>
                <a:highlight>
                  <a:srgbClr val="FFFFFF"/>
                </a:highlight>
                <a:latin typeface="Lato"/>
                <a:ea typeface="Lato"/>
                <a:cs typeface="Lato"/>
                <a:sym typeface="Lato"/>
              </a:rPr>
              <a:t>Pixeles</a:t>
            </a:r>
            <a:r>
              <a:rPr lang="es-AR" sz="2000" dirty="0">
                <a:solidFill>
                  <a:srgbClr val="4A4A4A"/>
                </a:solidFill>
                <a:highlight>
                  <a:srgbClr val="FFFFFF"/>
                </a:highlight>
                <a:latin typeface="Lato"/>
                <a:ea typeface="Lato"/>
                <a:cs typeface="Lato"/>
                <a:sym typeface="Lato"/>
              </a:rPr>
              <a:t>: establecemos el número de píxeles y la palabra </a:t>
            </a:r>
            <a:r>
              <a:rPr lang="es-AR" sz="2000" dirty="0" err="1">
                <a:solidFill>
                  <a:srgbClr val="4A4A4A"/>
                </a:solidFill>
                <a:highlight>
                  <a:srgbClr val="FFFFFF"/>
                </a:highlight>
                <a:latin typeface="Lato"/>
                <a:ea typeface="Lato"/>
                <a:cs typeface="Lato"/>
                <a:sym typeface="Lato"/>
              </a:rPr>
              <a:t>px</a:t>
            </a:r>
            <a:endParaRPr lang="es-AR" sz="2000" dirty="0">
              <a:solidFill>
                <a:srgbClr val="4A4A4A"/>
              </a:solidFill>
              <a:highlight>
                <a:srgbClr val="FFFFFF"/>
              </a:highlight>
              <a:latin typeface="Lato"/>
              <a:ea typeface="Lato"/>
              <a:cs typeface="Lato"/>
              <a:sym typeface="Lato"/>
            </a:endParaRPr>
          </a:p>
          <a:p>
            <a:pPr marL="285750" lvl="0" indent="-285750" rtl="0">
              <a:spcBef>
                <a:spcPts val="0"/>
              </a:spcBef>
              <a:spcAft>
                <a:spcPts val="0"/>
              </a:spcAft>
              <a:buFont typeface="Arial" panose="020B0604020202020204" pitchFamily="34" charset="0"/>
              <a:buChar char="•"/>
            </a:pPr>
            <a:r>
              <a:rPr lang="es-AR" sz="2000" dirty="0">
                <a:solidFill>
                  <a:srgbClr val="4A4A4A"/>
                </a:solidFill>
                <a:highlight>
                  <a:srgbClr val="FFFFFF"/>
                </a:highlight>
                <a:latin typeface="Lato"/>
                <a:ea typeface="Lato"/>
                <a:cs typeface="Lato"/>
                <a:sym typeface="Lato"/>
              </a:rPr>
              <a:t>Es un valor fijo</a:t>
            </a:r>
          </a:p>
          <a:p>
            <a:pPr marL="285750" lvl="0" indent="-285750" rtl="0">
              <a:spcBef>
                <a:spcPts val="0"/>
              </a:spcBef>
              <a:spcAft>
                <a:spcPts val="0"/>
              </a:spcAft>
              <a:buFont typeface="Arial" panose="020B0604020202020204" pitchFamily="34" charset="0"/>
              <a:buChar char="•"/>
            </a:pPr>
            <a:r>
              <a:rPr lang="es-AR" sz="2000" dirty="0">
                <a:solidFill>
                  <a:srgbClr val="4A4A4A"/>
                </a:solidFill>
                <a:highlight>
                  <a:srgbClr val="FFFFFF"/>
                </a:highlight>
                <a:latin typeface="Lato"/>
                <a:ea typeface="Lato"/>
                <a:cs typeface="Lato"/>
                <a:sym typeface="Lato"/>
              </a:rPr>
              <a:t>Es ideal para pantallas de computadoras</a:t>
            </a:r>
          </a:p>
          <a:p>
            <a:pPr marL="285750" lvl="0" indent="-285750" rtl="0">
              <a:spcBef>
                <a:spcPts val="0"/>
              </a:spcBef>
              <a:spcAft>
                <a:spcPts val="0"/>
              </a:spcAft>
              <a:buFont typeface="Arial" panose="020B0604020202020204" pitchFamily="34" charset="0"/>
              <a:buChar char="•"/>
            </a:pPr>
            <a:r>
              <a:rPr lang="es-AR" sz="2000" dirty="0">
                <a:solidFill>
                  <a:srgbClr val="4A4A4A"/>
                </a:solidFill>
                <a:highlight>
                  <a:srgbClr val="FFFFFF"/>
                </a:highlight>
                <a:latin typeface="Lato"/>
                <a:ea typeface="Lato"/>
                <a:cs typeface="Lato"/>
                <a:sym typeface="Lato"/>
              </a:rPr>
              <a:t>No escalan bien para dispositivos </a:t>
            </a:r>
            <a:r>
              <a:rPr lang="es-AR" sz="2000" dirty="0" err="1">
                <a:solidFill>
                  <a:srgbClr val="4A4A4A"/>
                </a:solidFill>
                <a:highlight>
                  <a:srgbClr val="FFFFFF"/>
                </a:highlight>
                <a:latin typeface="Lato"/>
                <a:ea typeface="Lato"/>
                <a:cs typeface="Lato"/>
                <a:sym typeface="Lato"/>
              </a:rPr>
              <a:t>mobile</a:t>
            </a:r>
            <a:endParaRPr lang="es-AR" sz="2000" dirty="0">
              <a:solidFill>
                <a:srgbClr val="4A4A4A"/>
              </a:solidFill>
              <a:highlight>
                <a:srgbClr val="FFFFFF"/>
              </a:highlight>
              <a:latin typeface="Lato"/>
              <a:ea typeface="Lato"/>
              <a:cs typeface="Lato"/>
              <a:sym typeface="Lato"/>
            </a:endParaRPr>
          </a:p>
          <a:p>
            <a:pPr marL="285750" lvl="0" indent="-285750" rtl="0">
              <a:spcBef>
                <a:spcPts val="0"/>
              </a:spcBef>
              <a:spcAft>
                <a:spcPts val="0"/>
              </a:spcAft>
              <a:buFont typeface="Arial" panose="020B0604020202020204" pitchFamily="34" charset="0"/>
              <a:buChar char="•"/>
            </a:pPr>
            <a:r>
              <a:rPr lang="es-AR" sz="2000" dirty="0">
                <a:solidFill>
                  <a:srgbClr val="4A4A4A"/>
                </a:solidFill>
                <a:highlight>
                  <a:srgbClr val="FFFFFF"/>
                </a:highlight>
                <a:latin typeface="Lato"/>
                <a:ea typeface="Lato"/>
                <a:cs typeface="Lato"/>
                <a:sym typeface="Lato"/>
              </a:rPr>
              <a:t>No se pueden agrandar en browsers viejos</a:t>
            </a:r>
          </a:p>
        </p:txBody>
      </p:sp>
    </p:spTree>
    <p:extLst>
      <p:ext uri="{BB962C8B-B14F-4D97-AF65-F5344CB8AC3E}">
        <p14:creationId xmlns:p14="http://schemas.microsoft.com/office/powerpoint/2010/main" val="195464823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4" name="CuadroTexto 3">
            <a:extLst>
              <a:ext uri="{FF2B5EF4-FFF2-40B4-BE49-F238E27FC236}">
                <a16:creationId xmlns:a16="http://schemas.microsoft.com/office/drawing/2014/main" id="{B9B8C329-BED5-C09C-F09B-E2F2A7739CCE}"/>
              </a:ext>
            </a:extLst>
          </p:cNvPr>
          <p:cNvSpPr txBox="1"/>
          <p:nvPr/>
        </p:nvSpPr>
        <p:spPr>
          <a:xfrm>
            <a:off x="434397" y="688695"/>
            <a:ext cx="7892186" cy="4216539"/>
          </a:xfrm>
          <a:prstGeom prst="rect">
            <a:avLst/>
          </a:prstGeom>
          <a:noFill/>
        </p:spPr>
        <p:txBody>
          <a:bodyPr wrap="square">
            <a:spAutoFit/>
          </a:bodyPr>
          <a:lstStyle/>
          <a:p>
            <a:r>
              <a:rPr lang="es-AR" sz="4400" dirty="0">
                <a:solidFill>
                  <a:srgbClr val="BE3969"/>
                </a:solidFill>
                <a:highlight>
                  <a:srgbClr val="FFFFFF"/>
                </a:highlight>
                <a:latin typeface="Russo One"/>
                <a:ea typeface="Lato"/>
                <a:cs typeface="Lato"/>
                <a:sym typeface="Russo One"/>
              </a:rPr>
              <a:t>Tamaño – Continuación </a:t>
            </a:r>
            <a:endParaRPr lang="es-AR" sz="2800" b="1" dirty="0">
              <a:solidFill>
                <a:schemeClr val="tx1"/>
              </a:solidFill>
              <a:highlight>
                <a:srgbClr val="FFFFFF"/>
              </a:highlight>
              <a:latin typeface="Lato"/>
              <a:ea typeface="Lato"/>
              <a:cs typeface="Lato"/>
              <a:sym typeface="Lato"/>
            </a:endParaRPr>
          </a:p>
          <a:p>
            <a:pPr lvl="0" rtl="0">
              <a:spcBef>
                <a:spcPts val="0"/>
              </a:spcBef>
              <a:spcAft>
                <a:spcPts val="0"/>
              </a:spcAft>
            </a:pPr>
            <a:endParaRPr lang="es-AR" sz="2800" b="1" dirty="0">
              <a:solidFill>
                <a:schemeClr val="tx1"/>
              </a:solidFill>
              <a:highlight>
                <a:srgbClr val="FFFFFF"/>
              </a:highlight>
              <a:latin typeface="Lato"/>
              <a:ea typeface="Lato"/>
              <a:cs typeface="Lato"/>
              <a:sym typeface="Lato"/>
            </a:endParaRPr>
          </a:p>
          <a:p>
            <a:pPr lvl="0" rtl="0">
              <a:spcBef>
                <a:spcPts val="0"/>
              </a:spcBef>
              <a:spcAft>
                <a:spcPts val="0"/>
              </a:spcAft>
            </a:pPr>
            <a:r>
              <a:rPr lang="es-AR" sz="2800" dirty="0">
                <a:solidFill>
                  <a:srgbClr val="4A4A4A"/>
                </a:solidFill>
                <a:highlight>
                  <a:srgbClr val="FFFFFF"/>
                </a:highlight>
                <a:latin typeface="Lato"/>
                <a:ea typeface="Lato"/>
                <a:cs typeface="Lato"/>
                <a:sym typeface="Lato"/>
              </a:rPr>
              <a:t>2. </a:t>
            </a:r>
            <a:r>
              <a:rPr lang="es-AR" sz="2800" b="1" dirty="0">
                <a:solidFill>
                  <a:schemeClr val="tx1"/>
                </a:solidFill>
                <a:highlight>
                  <a:srgbClr val="FFFFFF"/>
                </a:highlight>
                <a:latin typeface="Lato"/>
                <a:ea typeface="Lato"/>
                <a:cs typeface="Lato"/>
                <a:sym typeface="Lato"/>
              </a:rPr>
              <a:t>Porcentaje</a:t>
            </a:r>
            <a:r>
              <a:rPr lang="es-AR" sz="2800" dirty="0">
                <a:solidFill>
                  <a:srgbClr val="4A4A4A"/>
                </a:solidFill>
                <a:highlight>
                  <a:srgbClr val="FFFFFF"/>
                </a:highlight>
                <a:latin typeface="Lato"/>
                <a:ea typeface="Lato"/>
                <a:cs typeface="Lato"/>
                <a:sym typeface="Lato"/>
              </a:rPr>
              <a:t>: es un % del valor establecido</a:t>
            </a:r>
          </a:p>
          <a:p>
            <a:pPr marL="285750" lvl="0" indent="-285750" rtl="0">
              <a:spcBef>
                <a:spcPts val="0"/>
              </a:spcBef>
              <a:spcAft>
                <a:spcPts val="0"/>
              </a:spcAft>
              <a:buFont typeface="Arial" panose="020B0604020202020204" pitchFamily="34" charset="0"/>
              <a:buChar char="•"/>
            </a:pPr>
            <a:r>
              <a:rPr lang="es-AR" sz="2800" dirty="0">
                <a:solidFill>
                  <a:srgbClr val="4A4A4A"/>
                </a:solidFill>
                <a:highlight>
                  <a:srgbClr val="FFFFFF"/>
                </a:highlight>
                <a:latin typeface="Lato"/>
                <a:ea typeface="Lato"/>
                <a:cs typeface="Lato"/>
                <a:sym typeface="Lato"/>
              </a:rPr>
              <a:t>Es relativo</a:t>
            </a:r>
          </a:p>
          <a:p>
            <a:pPr marL="285750" lvl="0" indent="-285750" rtl="0">
              <a:spcBef>
                <a:spcPts val="0"/>
              </a:spcBef>
              <a:spcAft>
                <a:spcPts val="0"/>
              </a:spcAft>
              <a:buFont typeface="Arial" panose="020B0604020202020204" pitchFamily="34" charset="0"/>
              <a:buChar char="•"/>
            </a:pPr>
            <a:r>
              <a:rPr lang="es-AR" sz="2800" dirty="0">
                <a:solidFill>
                  <a:srgbClr val="4A4A4A"/>
                </a:solidFill>
                <a:highlight>
                  <a:srgbClr val="FFFFFF"/>
                </a:highlight>
                <a:latin typeface="Lato"/>
                <a:ea typeface="Lato"/>
                <a:cs typeface="Lato"/>
                <a:sym typeface="Lato"/>
              </a:rPr>
              <a:t>Escala bien</a:t>
            </a:r>
          </a:p>
          <a:p>
            <a:pPr marL="285750" lvl="0" indent="-285750" rtl="0">
              <a:spcBef>
                <a:spcPts val="0"/>
              </a:spcBef>
              <a:spcAft>
                <a:spcPts val="0"/>
              </a:spcAft>
              <a:buFont typeface="Arial" panose="020B0604020202020204" pitchFamily="34" charset="0"/>
              <a:buChar char="•"/>
            </a:pPr>
            <a:r>
              <a:rPr lang="es-AR" sz="2800" dirty="0">
                <a:solidFill>
                  <a:srgbClr val="4A4A4A"/>
                </a:solidFill>
                <a:highlight>
                  <a:srgbClr val="FFFFFF"/>
                </a:highlight>
                <a:latin typeface="Lato"/>
                <a:ea typeface="Lato"/>
                <a:cs typeface="Lato"/>
                <a:sym typeface="Lato"/>
              </a:rPr>
              <a:t>Es fácil para cambiar la relación de todos los tamaños ya que definimos el valor inicial y después lo cambiamos en un solo lugar (el resto es todo relativo)</a:t>
            </a:r>
          </a:p>
        </p:txBody>
      </p:sp>
    </p:spTree>
    <p:extLst>
      <p:ext uri="{BB962C8B-B14F-4D97-AF65-F5344CB8AC3E}">
        <p14:creationId xmlns:p14="http://schemas.microsoft.com/office/powerpoint/2010/main" val="301735396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4" name="CuadroTexto 3">
            <a:extLst>
              <a:ext uri="{FF2B5EF4-FFF2-40B4-BE49-F238E27FC236}">
                <a16:creationId xmlns:a16="http://schemas.microsoft.com/office/drawing/2014/main" id="{B9B8C329-BED5-C09C-F09B-E2F2A7739CCE}"/>
              </a:ext>
            </a:extLst>
          </p:cNvPr>
          <p:cNvSpPr txBox="1"/>
          <p:nvPr/>
        </p:nvSpPr>
        <p:spPr>
          <a:xfrm>
            <a:off x="434397" y="688695"/>
            <a:ext cx="7892186" cy="4185761"/>
          </a:xfrm>
          <a:prstGeom prst="rect">
            <a:avLst/>
          </a:prstGeom>
          <a:noFill/>
        </p:spPr>
        <p:txBody>
          <a:bodyPr wrap="square">
            <a:spAutoFit/>
          </a:bodyPr>
          <a:lstStyle/>
          <a:p>
            <a:r>
              <a:rPr lang="es-AR" sz="3200" dirty="0">
                <a:solidFill>
                  <a:srgbClr val="BE3969"/>
                </a:solidFill>
                <a:highlight>
                  <a:srgbClr val="FFFFFF"/>
                </a:highlight>
                <a:latin typeface="Russo One"/>
                <a:ea typeface="Lato"/>
                <a:cs typeface="Lato"/>
                <a:sym typeface="Russo One"/>
              </a:rPr>
              <a:t>Tamaño – Continuación </a:t>
            </a:r>
            <a:endParaRPr lang="es-AR" sz="1800" b="1" dirty="0">
              <a:solidFill>
                <a:schemeClr val="tx1"/>
              </a:solidFill>
              <a:highlight>
                <a:srgbClr val="FFFFFF"/>
              </a:highlight>
              <a:latin typeface="Lato"/>
              <a:ea typeface="Lato"/>
              <a:cs typeface="Lato"/>
              <a:sym typeface="Lato"/>
            </a:endParaRPr>
          </a:p>
          <a:p>
            <a:pPr lvl="0" rtl="0">
              <a:spcBef>
                <a:spcPts val="0"/>
              </a:spcBef>
              <a:spcAft>
                <a:spcPts val="0"/>
              </a:spcAft>
            </a:pPr>
            <a:endParaRPr lang="es-AR" sz="1800" b="1" dirty="0">
              <a:solidFill>
                <a:schemeClr val="tx1"/>
              </a:solidFill>
              <a:highlight>
                <a:srgbClr val="FFFFFF"/>
              </a:highlight>
              <a:latin typeface="Lato"/>
              <a:ea typeface="Lato"/>
              <a:cs typeface="Lato"/>
              <a:sym typeface="Lato"/>
            </a:endParaRPr>
          </a:p>
          <a:p>
            <a:pPr lvl="0" rtl="0">
              <a:spcBef>
                <a:spcPts val="0"/>
              </a:spcBef>
              <a:spcAft>
                <a:spcPts val="0"/>
              </a:spcAft>
            </a:pPr>
            <a:r>
              <a:rPr lang="es-AR" sz="1800" dirty="0">
                <a:solidFill>
                  <a:srgbClr val="4A4A4A"/>
                </a:solidFill>
                <a:highlight>
                  <a:srgbClr val="FFFFFF"/>
                </a:highlight>
                <a:latin typeface="Lato"/>
                <a:ea typeface="Lato"/>
                <a:cs typeface="Lato"/>
                <a:sym typeface="Lato"/>
              </a:rPr>
              <a:t>3. </a:t>
            </a:r>
            <a:r>
              <a:rPr lang="es-AR" sz="1800" b="1" dirty="0">
                <a:solidFill>
                  <a:schemeClr val="tx1"/>
                </a:solidFill>
                <a:highlight>
                  <a:srgbClr val="FFFFFF"/>
                </a:highlight>
                <a:latin typeface="Lato"/>
                <a:ea typeface="Lato"/>
                <a:cs typeface="Lato"/>
                <a:sym typeface="Lato"/>
              </a:rPr>
              <a:t>EMS</a:t>
            </a:r>
            <a:r>
              <a:rPr lang="es-AR" sz="1800" dirty="0">
                <a:solidFill>
                  <a:srgbClr val="4A4A4A"/>
                </a:solidFill>
                <a:highlight>
                  <a:srgbClr val="FFFFFF"/>
                </a:highlight>
                <a:latin typeface="Lato"/>
                <a:ea typeface="Lato"/>
                <a:cs typeface="Lato"/>
                <a:sym typeface="Lato"/>
              </a:rPr>
              <a:t>: este valor representa una unidad del tamaño establecido</a:t>
            </a:r>
          </a:p>
          <a:p>
            <a:pPr marL="285750" lvl="0" indent="-285750" rtl="0">
              <a:spcBef>
                <a:spcPts val="0"/>
              </a:spcBef>
              <a:spcAft>
                <a:spcPts val="0"/>
              </a:spcAft>
              <a:buFont typeface="Arial" panose="020B0604020202020204" pitchFamily="34" charset="0"/>
              <a:buChar char="•"/>
            </a:pPr>
            <a:r>
              <a:rPr lang="es-AR" sz="1800" dirty="0">
                <a:solidFill>
                  <a:srgbClr val="4A4A4A"/>
                </a:solidFill>
                <a:highlight>
                  <a:srgbClr val="FFFFFF"/>
                </a:highlight>
                <a:latin typeface="Lato"/>
                <a:ea typeface="Lato"/>
                <a:cs typeface="Lato"/>
                <a:sym typeface="Lato"/>
              </a:rPr>
              <a:t>Si establecemos el tamaño a 10px, 1em representa 10px y 2em 20px</a:t>
            </a:r>
          </a:p>
          <a:p>
            <a:pPr marL="285750" lvl="0" indent="-285750" rtl="0">
              <a:spcBef>
                <a:spcPts val="0"/>
              </a:spcBef>
              <a:spcAft>
                <a:spcPts val="0"/>
              </a:spcAft>
              <a:buFont typeface="Arial" panose="020B0604020202020204" pitchFamily="34" charset="0"/>
              <a:buChar char="•"/>
            </a:pPr>
            <a:r>
              <a:rPr lang="es-AR" sz="1800" dirty="0">
                <a:solidFill>
                  <a:srgbClr val="4A4A4A"/>
                </a:solidFill>
                <a:highlight>
                  <a:srgbClr val="FFFFFF"/>
                </a:highlight>
                <a:latin typeface="Lato"/>
                <a:ea typeface="Lato"/>
                <a:cs typeface="Lato"/>
                <a:sym typeface="Lato"/>
              </a:rPr>
              <a:t>Si no se establece un valor toma el por default del browser (16px en general)</a:t>
            </a:r>
          </a:p>
          <a:p>
            <a:pPr marL="285750" lvl="0" indent="-285750" rtl="0">
              <a:spcBef>
                <a:spcPts val="0"/>
              </a:spcBef>
              <a:spcAft>
                <a:spcPts val="0"/>
              </a:spcAft>
              <a:buFont typeface="Arial" panose="020B0604020202020204" pitchFamily="34" charset="0"/>
              <a:buChar char="•"/>
            </a:pPr>
            <a:r>
              <a:rPr lang="es-AR" sz="1800" dirty="0">
                <a:solidFill>
                  <a:srgbClr val="4A4A4A"/>
                </a:solidFill>
                <a:highlight>
                  <a:srgbClr val="FFFFFF"/>
                </a:highlight>
                <a:latin typeface="Lato"/>
                <a:ea typeface="Lato"/>
                <a:cs typeface="Lato"/>
                <a:sym typeface="Lato"/>
              </a:rPr>
              <a:t>Se dice que toma el ancho y alto de la letra M</a:t>
            </a:r>
          </a:p>
          <a:p>
            <a:pPr marL="285750" lvl="0" indent="-285750" rtl="0">
              <a:spcBef>
                <a:spcPts val="0"/>
              </a:spcBef>
              <a:spcAft>
                <a:spcPts val="0"/>
              </a:spcAft>
              <a:buFont typeface="Arial" panose="020B0604020202020204" pitchFamily="34" charset="0"/>
              <a:buChar char="•"/>
            </a:pPr>
            <a:r>
              <a:rPr lang="es-AR" sz="1800" dirty="0">
                <a:solidFill>
                  <a:srgbClr val="4A4A4A"/>
                </a:solidFill>
                <a:highlight>
                  <a:srgbClr val="FFFFFF"/>
                </a:highlight>
                <a:latin typeface="Lato"/>
                <a:ea typeface="Lato"/>
                <a:cs typeface="Lato"/>
                <a:sym typeface="Lato"/>
              </a:rPr>
              <a:t>Es una unidad relativa al padre</a:t>
            </a:r>
          </a:p>
          <a:p>
            <a:pPr marL="285750" lvl="0" indent="-285750" rtl="0">
              <a:spcBef>
                <a:spcPts val="0"/>
              </a:spcBef>
              <a:spcAft>
                <a:spcPts val="0"/>
              </a:spcAft>
              <a:buFont typeface="Arial" panose="020B0604020202020204" pitchFamily="34" charset="0"/>
              <a:buChar char="•"/>
            </a:pPr>
            <a:r>
              <a:rPr lang="es-AR" sz="1800" dirty="0">
                <a:solidFill>
                  <a:srgbClr val="4A4A4A"/>
                </a:solidFill>
                <a:highlight>
                  <a:srgbClr val="FFFFFF"/>
                </a:highlight>
                <a:latin typeface="Lato"/>
                <a:ea typeface="Lato"/>
                <a:cs typeface="Lato"/>
                <a:sym typeface="Lato"/>
              </a:rPr>
              <a:t>Escala bien para </a:t>
            </a:r>
            <a:r>
              <a:rPr lang="es-AR" sz="1800" dirty="0" err="1">
                <a:solidFill>
                  <a:srgbClr val="4A4A4A"/>
                </a:solidFill>
                <a:highlight>
                  <a:srgbClr val="FFFFFF"/>
                </a:highlight>
                <a:latin typeface="Lato"/>
                <a:ea typeface="Lato"/>
                <a:cs typeface="Lato"/>
                <a:sym typeface="Lato"/>
              </a:rPr>
              <a:t>mobile</a:t>
            </a:r>
            <a:endParaRPr lang="es-AR" sz="1800" dirty="0">
              <a:solidFill>
                <a:srgbClr val="4A4A4A"/>
              </a:solidFill>
              <a:highlight>
                <a:srgbClr val="FFFFFF"/>
              </a:highlight>
              <a:latin typeface="Lato"/>
              <a:ea typeface="Lato"/>
              <a:cs typeface="Lato"/>
              <a:sym typeface="Lato"/>
            </a:endParaRPr>
          </a:p>
          <a:p>
            <a:pPr marL="285750" lvl="0" indent="-285750" rtl="0">
              <a:spcBef>
                <a:spcPts val="0"/>
              </a:spcBef>
              <a:spcAft>
                <a:spcPts val="0"/>
              </a:spcAft>
              <a:buFont typeface="Arial" panose="020B0604020202020204" pitchFamily="34" charset="0"/>
              <a:buChar char="•"/>
            </a:pPr>
            <a:r>
              <a:rPr lang="es-AR" sz="1800" dirty="0">
                <a:solidFill>
                  <a:srgbClr val="4A4A4A"/>
                </a:solidFill>
                <a:highlight>
                  <a:srgbClr val="FFFFFF"/>
                </a:highlight>
                <a:latin typeface="Lato"/>
                <a:ea typeface="Lato"/>
                <a:cs typeface="Lato"/>
                <a:sym typeface="Lato"/>
              </a:rPr>
              <a:t>Funciona en cascada</a:t>
            </a:r>
          </a:p>
          <a:p>
            <a:pPr marL="285750" lvl="0" indent="-285750" rtl="0">
              <a:spcBef>
                <a:spcPts val="0"/>
              </a:spcBef>
              <a:spcAft>
                <a:spcPts val="0"/>
              </a:spcAft>
              <a:buFont typeface="Arial" panose="020B0604020202020204" pitchFamily="34" charset="0"/>
              <a:buChar char="•"/>
            </a:pPr>
            <a:r>
              <a:rPr lang="es-AR" sz="1800" dirty="0">
                <a:solidFill>
                  <a:srgbClr val="4A4A4A"/>
                </a:solidFill>
                <a:highlight>
                  <a:srgbClr val="FFFFFF"/>
                </a:highlight>
                <a:latin typeface="Lato"/>
                <a:ea typeface="Lato"/>
                <a:cs typeface="Lato"/>
                <a:sym typeface="Lato"/>
              </a:rPr>
              <a:t>Un truco es establecer el tamaño del sitio en 62.5% tomando que el browser tiene 16px nos queda una tipografía inicial de 10px</a:t>
            </a:r>
          </a:p>
          <a:p>
            <a:pPr marL="285750" lvl="0" indent="-285750" rtl="0">
              <a:spcBef>
                <a:spcPts val="0"/>
              </a:spcBef>
              <a:spcAft>
                <a:spcPts val="0"/>
              </a:spcAft>
              <a:buFont typeface="Arial" panose="020B0604020202020204" pitchFamily="34" charset="0"/>
              <a:buChar char="•"/>
            </a:pPr>
            <a:r>
              <a:rPr lang="es-AR" sz="1800" dirty="0">
                <a:solidFill>
                  <a:srgbClr val="4A4A4A"/>
                </a:solidFill>
                <a:highlight>
                  <a:srgbClr val="FFFFFF"/>
                </a:highlight>
                <a:latin typeface="Lato"/>
                <a:ea typeface="Lato"/>
                <a:cs typeface="Lato"/>
                <a:sym typeface="Lato"/>
              </a:rPr>
              <a:t>Luego podemos utilizar valores como 1.8em para lograr una tipografía de 18px</a:t>
            </a:r>
          </a:p>
        </p:txBody>
      </p:sp>
    </p:spTree>
    <p:extLst>
      <p:ext uri="{BB962C8B-B14F-4D97-AF65-F5344CB8AC3E}">
        <p14:creationId xmlns:p14="http://schemas.microsoft.com/office/powerpoint/2010/main" val="186369904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4" name="CuadroTexto 3">
            <a:extLst>
              <a:ext uri="{FF2B5EF4-FFF2-40B4-BE49-F238E27FC236}">
                <a16:creationId xmlns:a16="http://schemas.microsoft.com/office/drawing/2014/main" id="{B9B8C329-BED5-C09C-F09B-E2F2A7739CCE}"/>
              </a:ext>
            </a:extLst>
          </p:cNvPr>
          <p:cNvSpPr txBox="1"/>
          <p:nvPr/>
        </p:nvSpPr>
        <p:spPr>
          <a:xfrm>
            <a:off x="434397" y="688695"/>
            <a:ext cx="7892186" cy="2585323"/>
          </a:xfrm>
          <a:prstGeom prst="rect">
            <a:avLst/>
          </a:prstGeom>
          <a:noFill/>
        </p:spPr>
        <p:txBody>
          <a:bodyPr wrap="square">
            <a:spAutoFit/>
          </a:bodyPr>
          <a:lstStyle/>
          <a:p>
            <a:r>
              <a:rPr lang="es-AR" sz="3200" dirty="0">
                <a:solidFill>
                  <a:srgbClr val="BE3969"/>
                </a:solidFill>
                <a:highlight>
                  <a:srgbClr val="FFFFFF"/>
                </a:highlight>
                <a:latin typeface="Russo One"/>
                <a:ea typeface="Lato"/>
                <a:cs typeface="Lato"/>
                <a:sym typeface="Russo One"/>
              </a:rPr>
              <a:t>Tamaño – Continuación </a:t>
            </a:r>
            <a:endParaRPr lang="es-AR" sz="1800" b="1" dirty="0">
              <a:solidFill>
                <a:schemeClr val="tx1"/>
              </a:solidFill>
              <a:highlight>
                <a:srgbClr val="FFFFFF"/>
              </a:highlight>
              <a:latin typeface="Lato"/>
              <a:ea typeface="Lato"/>
              <a:cs typeface="Lato"/>
              <a:sym typeface="Lato"/>
            </a:endParaRPr>
          </a:p>
          <a:p>
            <a:pPr lvl="0" rtl="0">
              <a:spcBef>
                <a:spcPts val="0"/>
              </a:spcBef>
              <a:spcAft>
                <a:spcPts val="0"/>
              </a:spcAft>
            </a:pPr>
            <a:endParaRPr lang="es-AR" sz="1800" b="1" dirty="0">
              <a:solidFill>
                <a:schemeClr val="tx1"/>
              </a:solidFill>
              <a:highlight>
                <a:srgbClr val="FFFFFF"/>
              </a:highlight>
              <a:latin typeface="Lato"/>
              <a:ea typeface="Lato"/>
              <a:cs typeface="Lato"/>
              <a:sym typeface="Lato"/>
            </a:endParaRPr>
          </a:p>
          <a:p>
            <a:pPr lvl="0" rtl="0">
              <a:spcBef>
                <a:spcPts val="0"/>
              </a:spcBef>
              <a:spcAft>
                <a:spcPts val="0"/>
              </a:spcAft>
            </a:pPr>
            <a:r>
              <a:rPr lang="es-AR" sz="1800" dirty="0">
                <a:solidFill>
                  <a:srgbClr val="4A4A4A"/>
                </a:solidFill>
                <a:highlight>
                  <a:srgbClr val="FFFFFF"/>
                </a:highlight>
                <a:latin typeface="Lato"/>
                <a:ea typeface="Lato"/>
                <a:cs typeface="Lato"/>
                <a:sym typeface="Lato"/>
              </a:rPr>
              <a:t>4. </a:t>
            </a:r>
            <a:r>
              <a:rPr lang="es-AR" sz="1800" b="1" dirty="0" err="1">
                <a:solidFill>
                  <a:schemeClr val="tx1"/>
                </a:solidFill>
                <a:highlight>
                  <a:srgbClr val="FFFFFF"/>
                </a:highlight>
                <a:latin typeface="Lato"/>
                <a:ea typeface="Lato"/>
                <a:cs typeface="Lato"/>
                <a:sym typeface="Lato"/>
              </a:rPr>
              <a:t>Points</a:t>
            </a:r>
            <a:r>
              <a:rPr lang="es-AR" sz="1800" dirty="0">
                <a:solidFill>
                  <a:srgbClr val="4A4A4A"/>
                </a:solidFill>
                <a:highlight>
                  <a:srgbClr val="FFFFFF"/>
                </a:highlight>
                <a:latin typeface="Lato"/>
                <a:ea typeface="Lato"/>
                <a:cs typeface="Lato"/>
                <a:sym typeface="Lato"/>
              </a:rPr>
              <a:t>: es una unidad para imprimir</a:t>
            </a:r>
          </a:p>
          <a:p>
            <a:pPr marL="285750" lvl="0" indent="-285750" rtl="0">
              <a:spcBef>
                <a:spcPts val="0"/>
              </a:spcBef>
              <a:spcAft>
                <a:spcPts val="0"/>
              </a:spcAft>
              <a:buFont typeface="Arial" panose="020B0604020202020204" pitchFamily="34" charset="0"/>
              <a:buChar char="•"/>
            </a:pPr>
            <a:r>
              <a:rPr lang="es-AR" sz="1800" dirty="0">
                <a:solidFill>
                  <a:srgbClr val="4A4A4A"/>
                </a:solidFill>
                <a:highlight>
                  <a:srgbClr val="FFFFFF"/>
                </a:highlight>
                <a:latin typeface="Lato"/>
                <a:ea typeface="Lato"/>
                <a:cs typeface="Lato"/>
                <a:sym typeface="Lato"/>
              </a:rPr>
              <a:t>27 puntos representan una pulgada es decir 2,54 cm</a:t>
            </a:r>
          </a:p>
          <a:p>
            <a:pPr marL="285750" lvl="0" indent="-285750" rtl="0">
              <a:spcBef>
                <a:spcPts val="0"/>
              </a:spcBef>
              <a:spcAft>
                <a:spcPts val="0"/>
              </a:spcAft>
              <a:buFont typeface="Arial" panose="020B0604020202020204" pitchFamily="34" charset="0"/>
              <a:buChar char="•"/>
            </a:pPr>
            <a:r>
              <a:rPr lang="es-AR" sz="1800" dirty="0">
                <a:solidFill>
                  <a:srgbClr val="4A4A4A"/>
                </a:solidFill>
                <a:highlight>
                  <a:srgbClr val="FFFFFF"/>
                </a:highlight>
                <a:latin typeface="Lato"/>
                <a:ea typeface="Lato"/>
                <a:cs typeface="Lato"/>
                <a:sym typeface="Lato"/>
              </a:rPr>
              <a:t>Son precisos a la hora de imprimir</a:t>
            </a:r>
          </a:p>
          <a:p>
            <a:pPr marL="285750" lvl="0" indent="-285750" rtl="0">
              <a:spcBef>
                <a:spcPts val="0"/>
              </a:spcBef>
              <a:spcAft>
                <a:spcPts val="0"/>
              </a:spcAft>
              <a:buFont typeface="Arial" panose="020B0604020202020204" pitchFamily="34" charset="0"/>
              <a:buChar char="•"/>
            </a:pPr>
            <a:r>
              <a:rPr lang="es-AR" sz="1800" dirty="0">
                <a:solidFill>
                  <a:srgbClr val="4A4A4A"/>
                </a:solidFill>
                <a:highlight>
                  <a:srgbClr val="FFFFFF"/>
                </a:highlight>
                <a:latin typeface="Lato"/>
                <a:ea typeface="Lato"/>
                <a:cs typeface="Lato"/>
                <a:sym typeface="Lato"/>
              </a:rPr>
              <a:t>Para aprender más sobre el tema podemos seguir leyendo este buen artículo de</a:t>
            </a:r>
            <a:r>
              <a:rPr lang="es-AR" sz="2000" b="0" i="0" dirty="0">
                <a:solidFill>
                  <a:srgbClr val="F5F6F7"/>
                </a:solidFill>
                <a:effectLst/>
                <a:latin typeface="system-ui"/>
              </a:rPr>
              <a:t> </a:t>
            </a:r>
            <a:r>
              <a:rPr lang="es-AR" sz="1800" b="0" i="0" dirty="0">
                <a:effectLst/>
                <a:latin typeface="system-ui"/>
                <a:hlinkClick r:id="rId3"/>
              </a:rPr>
              <a:t>alistapart.com (en inglés y muy buen sitio)</a:t>
            </a:r>
            <a:endParaRPr lang="es-AR" sz="1800" b="0" i="0" dirty="0">
              <a:effectLst/>
              <a:latin typeface="system-ui"/>
            </a:endParaRPr>
          </a:p>
          <a:p>
            <a:pPr marL="285750" lvl="0" indent="-285750" rtl="0">
              <a:spcBef>
                <a:spcPts val="0"/>
              </a:spcBef>
              <a:spcAft>
                <a:spcPts val="0"/>
              </a:spcAft>
              <a:buFont typeface="Arial" panose="020B0604020202020204" pitchFamily="34" charset="0"/>
              <a:buChar char="•"/>
            </a:pPr>
            <a:r>
              <a:rPr lang="es-AR" sz="1800" dirty="0">
                <a:solidFill>
                  <a:srgbClr val="4A4A4A"/>
                </a:solidFill>
                <a:highlight>
                  <a:srgbClr val="FFFFFF"/>
                </a:highlight>
                <a:latin typeface="Lato"/>
                <a:ea typeface="Lato"/>
                <a:cs typeface="Lato"/>
                <a:sym typeface="Lato"/>
              </a:rPr>
              <a:t>Una buena sección para mirar del mismo sitio: </a:t>
            </a:r>
            <a:r>
              <a:rPr lang="es-AR" sz="1800" b="0" i="0" dirty="0" err="1">
                <a:effectLst/>
                <a:latin typeface="system-ui"/>
                <a:hlinkClick r:id="rId4"/>
              </a:rPr>
              <a:t>Typography</a:t>
            </a:r>
            <a:r>
              <a:rPr lang="es-AR" sz="1800" b="0" i="0" dirty="0">
                <a:effectLst/>
                <a:latin typeface="system-ui"/>
                <a:hlinkClick r:id="rId4"/>
              </a:rPr>
              <a:t> Web </a:t>
            </a:r>
            <a:r>
              <a:rPr lang="es-AR" sz="1800" b="0" i="0" dirty="0" err="1">
                <a:effectLst/>
                <a:latin typeface="system-ui"/>
                <a:hlinkClick r:id="rId4"/>
              </a:rPr>
              <a:t>Fonts</a:t>
            </a:r>
            <a:endParaRPr lang="es-AR" sz="1800" dirty="0">
              <a:solidFill>
                <a:srgbClr val="4A4A4A"/>
              </a:solidFill>
              <a:highlight>
                <a:srgbClr val="FFFFFF"/>
              </a:highlight>
              <a:latin typeface="Lato"/>
              <a:ea typeface="Lato"/>
              <a:cs typeface="Lato"/>
              <a:sym typeface="Lato"/>
            </a:endParaRPr>
          </a:p>
        </p:txBody>
      </p:sp>
      <p:pic>
        <p:nvPicPr>
          <p:cNvPr id="3" name="Imagen 2">
            <a:extLst>
              <a:ext uri="{FF2B5EF4-FFF2-40B4-BE49-F238E27FC236}">
                <a16:creationId xmlns:a16="http://schemas.microsoft.com/office/drawing/2014/main" id="{3690F198-6CE1-F337-7F72-DCE88A1CC8C2}"/>
              </a:ext>
            </a:extLst>
          </p:cNvPr>
          <p:cNvPicPr>
            <a:picLocks noChangeAspect="1"/>
          </p:cNvPicPr>
          <p:nvPr/>
        </p:nvPicPr>
        <p:blipFill>
          <a:blip r:embed="rId5"/>
          <a:stretch>
            <a:fillRect/>
          </a:stretch>
        </p:blipFill>
        <p:spPr>
          <a:xfrm>
            <a:off x="3246581" y="3463329"/>
            <a:ext cx="2749377" cy="1392178"/>
          </a:xfrm>
          <a:prstGeom prst="rect">
            <a:avLst/>
          </a:prstGeom>
        </p:spPr>
      </p:pic>
    </p:spTree>
    <p:extLst>
      <p:ext uri="{BB962C8B-B14F-4D97-AF65-F5344CB8AC3E}">
        <p14:creationId xmlns:p14="http://schemas.microsoft.com/office/powerpoint/2010/main" val="362393525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4" name="CuadroTexto 3">
            <a:extLst>
              <a:ext uri="{FF2B5EF4-FFF2-40B4-BE49-F238E27FC236}">
                <a16:creationId xmlns:a16="http://schemas.microsoft.com/office/drawing/2014/main" id="{B9B8C329-BED5-C09C-F09B-E2F2A7739CCE}"/>
              </a:ext>
            </a:extLst>
          </p:cNvPr>
          <p:cNvSpPr txBox="1"/>
          <p:nvPr/>
        </p:nvSpPr>
        <p:spPr>
          <a:xfrm>
            <a:off x="434397" y="688695"/>
            <a:ext cx="7892186" cy="2185214"/>
          </a:xfrm>
          <a:prstGeom prst="rect">
            <a:avLst/>
          </a:prstGeom>
          <a:noFill/>
        </p:spPr>
        <p:txBody>
          <a:bodyPr wrap="square">
            <a:spAutoFit/>
          </a:bodyPr>
          <a:lstStyle/>
          <a:p>
            <a:r>
              <a:rPr lang="es-AR" sz="2400" dirty="0">
                <a:solidFill>
                  <a:srgbClr val="BE3969"/>
                </a:solidFill>
                <a:highlight>
                  <a:srgbClr val="FFFFFF"/>
                </a:highlight>
                <a:latin typeface="Russo One"/>
                <a:ea typeface="Lato"/>
                <a:cs typeface="Lato"/>
                <a:sym typeface="Russo One"/>
              </a:rPr>
              <a:t>Bold</a:t>
            </a:r>
          </a:p>
          <a:p>
            <a:pPr lvl="0" rtl="0">
              <a:spcBef>
                <a:spcPts val="0"/>
              </a:spcBef>
              <a:spcAft>
                <a:spcPts val="0"/>
              </a:spcAft>
            </a:pPr>
            <a:endParaRPr lang="es-AR" b="1" dirty="0">
              <a:solidFill>
                <a:schemeClr val="tx1"/>
              </a:solidFill>
              <a:highlight>
                <a:srgbClr val="FFFFFF"/>
              </a:highlight>
              <a:latin typeface="Lato"/>
              <a:ea typeface="Lato"/>
              <a:cs typeface="Lato"/>
              <a:sym typeface="Lato"/>
            </a:endParaRPr>
          </a:p>
          <a:p>
            <a:pPr marL="285750" lvl="0" indent="-285750" rtl="0">
              <a:spcBef>
                <a:spcPts val="0"/>
              </a:spcBef>
              <a:spcAft>
                <a:spcPts val="0"/>
              </a:spcAft>
              <a:buFont typeface="Arial" panose="020B0604020202020204" pitchFamily="34" charset="0"/>
              <a:buChar char="•"/>
            </a:pPr>
            <a:r>
              <a:rPr lang="es-AR" dirty="0">
                <a:solidFill>
                  <a:srgbClr val="4A4A4A"/>
                </a:solidFill>
                <a:highlight>
                  <a:srgbClr val="FFFFFF"/>
                </a:highlight>
                <a:latin typeface="Lato"/>
                <a:ea typeface="Lato"/>
                <a:cs typeface="Lato"/>
                <a:sym typeface="Lato"/>
              </a:rPr>
              <a:t>Por medio de la propiedad </a:t>
            </a:r>
            <a:r>
              <a:rPr lang="es-AR" dirty="0" err="1">
                <a:solidFill>
                  <a:srgbClr val="4A4A4A"/>
                </a:solidFill>
                <a:highlight>
                  <a:srgbClr val="FFFFFF"/>
                </a:highlight>
                <a:latin typeface="Lato"/>
                <a:ea typeface="Lato"/>
                <a:cs typeface="Lato"/>
                <a:sym typeface="Lato"/>
              </a:rPr>
              <a:t>font-weight</a:t>
            </a:r>
            <a:r>
              <a:rPr lang="es-AR" dirty="0">
                <a:solidFill>
                  <a:srgbClr val="4A4A4A"/>
                </a:solidFill>
                <a:highlight>
                  <a:srgbClr val="FFFFFF"/>
                </a:highlight>
                <a:latin typeface="Lato"/>
                <a:ea typeface="Lato"/>
                <a:cs typeface="Lato"/>
                <a:sym typeface="Lato"/>
              </a:rPr>
              <a:t> podemos establecer si el peso de nuestra tipografía</a:t>
            </a:r>
          </a:p>
          <a:p>
            <a:pPr marL="285750" lvl="0" indent="-285750" rtl="0">
              <a:spcBef>
                <a:spcPts val="0"/>
              </a:spcBef>
              <a:spcAft>
                <a:spcPts val="0"/>
              </a:spcAft>
              <a:buFont typeface="Arial" panose="020B0604020202020204" pitchFamily="34" charset="0"/>
              <a:buChar char="•"/>
            </a:pPr>
            <a:r>
              <a:rPr lang="es-AR" dirty="0">
                <a:solidFill>
                  <a:srgbClr val="4A4A4A"/>
                </a:solidFill>
                <a:highlight>
                  <a:srgbClr val="FFFFFF"/>
                </a:highlight>
                <a:latin typeface="Lato"/>
                <a:ea typeface="Lato"/>
                <a:cs typeface="Lato"/>
                <a:sym typeface="Lato"/>
              </a:rPr>
              <a:t>Podemos establecer si es normal o </a:t>
            </a:r>
            <a:r>
              <a:rPr lang="es-AR" dirty="0" err="1">
                <a:solidFill>
                  <a:srgbClr val="4A4A4A"/>
                </a:solidFill>
                <a:highlight>
                  <a:srgbClr val="FFFFFF"/>
                </a:highlight>
                <a:latin typeface="Lato"/>
                <a:ea typeface="Lato"/>
                <a:cs typeface="Lato"/>
                <a:sym typeface="Lato"/>
              </a:rPr>
              <a:t>bold</a:t>
            </a:r>
            <a:endParaRPr lang="es-AR" dirty="0">
              <a:solidFill>
                <a:srgbClr val="4A4A4A"/>
              </a:solidFill>
              <a:highlight>
                <a:srgbClr val="FFFFFF"/>
              </a:highlight>
              <a:latin typeface="Lato"/>
              <a:ea typeface="Lato"/>
              <a:cs typeface="Lato"/>
              <a:sym typeface="Lato"/>
            </a:endParaRPr>
          </a:p>
          <a:p>
            <a:pPr marL="285750" lvl="0" indent="-285750" rtl="0">
              <a:spcBef>
                <a:spcPts val="0"/>
              </a:spcBef>
              <a:spcAft>
                <a:spcPts val="0"/>
              </a:spcAft>
              <a:buFont typeface="Arial" panose="020B0604020202020204" pitchFamily="34" charset="0"/>
              <a:buChar char="•"/>
            </a:pPr>
            <a:r>
              <a:rPr lang="es-AR" dirty="0">
                <a:solidFill>
                  <a:srgbClr val="4A4A4A"/>
                </a:solidFill>
                <a:highlight>
                  <a:srgbClr val="FFFFFF"/>
                </a:highlight>
                <a:latin typeface="Lato"/>
                <a:ea typeface="Lato"/>
                <a:cs typeface="Lato"/>
                <a:sym typeface="Lato"/>
              </a:rPr>
              <a:t>También acepta valores numéricos entre 100 y 900</a:t>
            </a:r>
          </a:p>
          <a:p>
            <a:pPr marL="285750" lvl="0" indent="-285750" rtl="0">
              <a:spcBef>
                <a:spcPts val="0"/>
              </a:spcBef>
              <a:spcAft>
                <a:spcPts val="0"/>
              </a:spcAft>
              <a:buFont typeface="Arial" panose="020B0604020202020204" pitchFamily="34" charset="0"/>
              <a:buChar char="•"/>
            </a:pPr>
            <a:r>
              <a:rPr lang="es-AR" dirty="0">
                <a:solidFill>
                  <a:srgbClr val="4A4A4A"/>
                </a:solidFill>
                <a:highlight>
                  <a:srgbClr val="FFFFFF"/>
                </a:highlight>
                <a:latin typeface="Lato"/>
                <a:ea typeface="Lato"/>
                <a:cs typeface="Lato"/>
                <a:sym typeface="Lato"/>
              </a:rPr>
              <a:t>Otra opción es utilizar valores relativos al padre por medio de </a:t>
            </a:r>
            <a:r>
              <a:rPr lang="es-AR" dirty="0" err="1">
                <a:solidFill>
                  <a:srgbClr val="4A4A4A"/>
                </a:solidFill>
                <a:highlight>
                  <a:srgbClr val="FFFFFF"/>
                </a:highlight>
                <a:latin typeface="Lato"/>
                <a:ea typeface="Lato"/>
                <a:cs typeface="Lato"/>
                <a:sym typeface="Lato"/>
              </a:rPr>
              <a:t>lighter</a:t>
            </a:r>
            <a:r>
              <a:rPr lang="es-AR" dirty="0">
                <a:solidFill>
                  <a:srgbClr val="4A4A4A"/>
                </a:solidFill>
                <a:highlight>
                  <a:srgbClr val="FFFFFF"/>
                </a:highlight>
                <a:latin typeface="Lato"/>
                <a:ea typeface="Lato"/>
                <a:cs typeface="Lato"/>
                <a:sym typeface="Lato"/>
              </a:rPr>
              <a:t> (más liviano) o </a:t>
            </a:r>
            <a:r>
              <a:rPr lang="es-AR" dirty="0" err="1">
                <a:solidFill>
                  <a:srgbClr val="4A4A4A"/>
                </a:solidFill>
                <a:highlight>
                  <a:srgbClr val="FFFFFF"/>
                </a:highlight>
                <a:latin typeface="Lato"/>
                <a:ea typeface="Lato"/>
                <a:cs typeface="Lato"/>
                <a:sym typeface="Lato"/>
              </a:rPr>
              <a:t>bolder</a:t>
            </a:r>
            <a:r>
              <a:rPr lang="es-AR" dirty="0">
                <a:solidFill>
                  <a:srgbClr val="4A4A4A"/>
                </a:solidFill>
                <a:highlight>
                  <a:srgbClr val="FFFFFF"/>
                </a:highlight>
                <a:latin typeface="Lato"/>
                <a:ea typeface="Lato"/>
                <a:cs typeface="Lato"/>
                <a:sym typeface="Lato"/>
              </a:rPr>
              <a:t> (más pesado)</a:t>
            </a:r>
          </a:p>
          <a:p>
            <a:pPr marL="285750" lvl="0" indent="-285750" rtl="0">
              <a:spcBef>
                <a:spcPts val="0"/>
              </a:spcBef>
              <a:spcAft>
                <a:spcPts val="0"/>
              </a:spcAft>
              <a:buFont typeface="Arial" panose="020B0604020202020204" pitchFamily="34" charset="0"/>
              <a:buChar char="•"/>
            </a:pPr>
            <a:r>
              <a:rPr lang="es-AR" dirty="0">
                <a:solidFill>
                  <a:srgbClr val="4A4A4A"/>
                </a:solidFill>
                <a:highlight>
                  <a:srgbClr val="FFFFFF"/>
                </a:highlight>
                <a:latin typeface="Lato"/>
                <a:ea typeface="Lato"/>
                <a:cs typeface="Lato"/>
                <a:sym typeface="Lato"/>
              </a:rPr>
              <a:t>Estas últimas opciones no son soportadas por todos los browsers</a:t>
            </a:r>
          </a:p>
          <a:p>
            <a:pPr marL="285750" lvl="0" indent="-285750" rtl="0">
              <a:spcBef>
                <a:spcPts val="0"/>
              </a:spcBef>
              <a:spcAft>
                <a:spcPts val="0"/>
              </a:spcAft>
              <a:buFont typeface="Arial" panose="020B0604020202020204" pitchFamily="34" charset="0"/>
              <a:buChar char="•"/>
            </a:pPr>
            <a:r>
              <a:rPr lang="es-AR" dirty="0">
                <a:solidFill>
                  <a:srgbClr val="4A4A4A"/>
                </a:solidFill>
                <a:highlight>
                  <a:srgbClr val="FFFFFF"/>
                </a:highlight>
                <a:latin typeface="Lato"/>
                <a:ea typeface="Lato"/>
                <a:cs typeface="Lato"/>
                <a:sym typeface="Lato"/>
              </a:rPr>
              <a:t>Podemos aprender más sobre esta propiedad en el </a:t>
            </a:r>
            <a:r>
              <a:rPr lang="es-AR" b="0" i="0" dirty="0">
                <a:effectLst/>
                <a:latin typeface="system-ui"/>
                <a:hlinkClick r:id="rId3"/>
              </a:rPr>
              <a:t>sitio de MDN</a:t>
            </a:r>
            <a:endParaRPr lang="es-AR" dirty="0">
              <a:solidFill>
                <a:srgbClr val="4A4A4A"/>
              </a:solidFill>
              <a:highlight>
                <a:srgbClr val="FFFFFF"/>
              </a:highlight>
              <a:latin typeface="Lato"/>
              <a:ea typeface="Lato"/>
              <a:cs typeface="Lato"/>
              <a:sym typeface="Lato"/>
            </a:endParaRPr>
          </a:p>
        </p:txBody>
      </p:sp>
      <p:pic>
        <p:nvPicPr>
          <p:cNvPr id="5" name="Imagen 4">
            <a:extLst>
              <a:ext uri="{FF2B5EF4-FFF2-40B4-BE49-F238E27FC236}">
                <a16:creationId xmlns:a16="http://schemas.microsoft.com/office/drawing/2014/main" id="{C5E76DCA-E281-66CD-B7CE-F14BBD9CFAC5}"/>
              </a:ext>
            </a:extLst>
          </p:cNvPr>
          <p:cNvPicPr>
            <a:picLocks noChangeAspect="1"/>
          </p:cNvPicPr>
          <p:nvPr/>
        </p:nvPicPr>
        <p:blipFill>
          <a:blip r:embed="rId4"/>
          <a:stretch>
            <a:fillRect/>
          </a:stretch>
        </p:blipFill>
        <p:spPr>
          <a:xfrm>
            <a:off x="3116219" y="3036557"/>
            <a:ext cx="2911561" cy="815238"/>
          </a:xfrm>
          <a:prstGeom prst="rect">
            <a:avLst/>
          </a:prstGeom>
        </p:spPr>
      </p:pic>
      <p:pic>
        <p:nvPicPr>
          <p:cNvPr id="7" name="Imagen 6">
            <a:extLst>
              <a:ext uri="{FF2B5EF4-FFF2-40B4-BE49-F238E27FC236}">
                <a16:creationId xmlns:a16="http://schemas.microsoft.com/office/drawing/2014/main" id="{3F7F7E93-5053-8DF6-8D93-B0DF3045503E}"/>
              </a:ext>
            </a:extLst>
          </p:cNvPr>
          <p:cNvPicPr>
            <a:picLocks noChangeAspect="1"/>
          </p:cNvPicPr>
          <p:nvPr/>
        </p:nvPicPr>
        <p:blipFill>
          <a:blip r:embed="rId5"/>
          <a:stretch>
            <a:fillRect/>
          </a:stretch>
        </p:blipFill>
        <p:spPr>
          <a:xfrm>
            <a:off x="2249054" y="4094216"/>
            <a:ext cx="4989967" cy="721178"/>
          </a:xfrm>
          <a:prstGeom prst="rect">
            <a:avLst/>
          </a:prstGeom>
        </p:spPr>
      </p:pic>
    </p:spTree>
    <p:extLst>
      <p:ext uri="{BB962C8B-B14F-4D97-AF65-F5344CB8AC3E}">
        <p14:creationId xmlns:p14="http://schemas.microsoft.com/office/powerpoint/2010/main" val="125551241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4" name="CuadroTexto 3">
            <a:extLst>
              <a:ext uri="{FF2B5EF4-FFF2-40B4-BE49-F238E27FC236}">
                <a16:creationId xmlns:a16="http://schemas.microsoft.com/office/drawing/2014/main" id="{B9B8C329-BED5-C09C-F09B-E2F2A7739CCE}"/>
              </a:ext>
            </a:extLst>
          </p:cNvPr>
          <p:cNvSpPr txBox="1"/>
          <p:nvPr/>
        </p:nvSpPr>
        <p:spPr>
          <a:xfrm>
            <a:off x="434397" y="688695"/>
            <a:ext cx="7892186" cy="2185214"/>
          </a:xfrm>
          <a:prstGeom prst="rect">
            <a:avLst/>
          </a:prstGeom>
          <a:noFill/>
        </p:spPr>
        <p:txBody>
          <a:bodyPr wrap="square">
            <a:spAutoFit/>
          </a:bodyPr>
          <a:lstStyle/>
          <a:p>
            <a:r>
              <a:rPr lang="es-AR" sz="2400" dirty="0">
                <a:solidFill>
                  <a:srgbClr val="BE3969"/>
                </a:solidFill>
                <a:highlight>
                  <a:srgbClr val="FFFFFF"/>
                </a:highlight>
                <a:latin typeface="Russo One"/>
                <a:ea typeface="Lato"/>
                <a:cs typeface="Lato"/>
                <a:sym typeface="Russo One"/>
              </a:rPr>
              <a:t>Itálica</a:t>
            </a:r>
          </a:p>
          <a:p>
            <a:pPr lvl="0" rtl="0">
              <a:spcBef>
                <a:spcPts val="0"/>
              </a:spcBef>
              <a:spcAft>
                <a:spcPts val="0"/>
              </a:spcAft>
            </a:pPr>
            <a:endParaRPr lang="es-AR" b="1" dirty="0">
              <a:solidFill>
                <a:schemeClr val="tx1"/>
              </a:solidFill>
              <a:highlight>
                <a:srgbClr val="FFFFFF"/>
              </a:highlight>
              <a:latin typeface="Lato"/>
              <a:ea typeface="Lato"/>
              <a:cs typeface="Lato"/>
              <a:sym typeface="Lato"/>
            </a:endParaRPr>
          </a:p>
          <a:p>
            <a:pPr marL="285750" lvl="0" indent="-285750" rtl="0">
              <a:spcBef>
                <a:spcPts val="0"/>
              </a:spcBef>
              <a:spcAft>
                <a:spcPts val="0"/>
              </a:spcAft>
              <a:buFont typeface="Arial" panose="020B0604020202020204" pitchFamily="34" charset="0"/>
              <a:buChar char="•"/>
            </a:pPr>
            <a:r>
              <a:rPr lang="es-AR" dirty="0">
                <a:solidFill>
                  <a:srgbClr val="4A4A4A"/>
                </a:solidFill>
                <a:highlight>
                  <a:srgbClr val="FFFFFF"/>
                </a:highlight>
                <a:latin typeface="Lato"/>
                <a:ea typeface="Lato"/>
                <a:cs typeface="Lato"/>
                <a:sym typeface="Lato"/>
              </a:rPr>
              <a:t>Por medio de la propiedad </a:t>
            </a:r>
            <a:r>
              <a:rPr lang="es-AR" dirty="0" err="1">
                <a:solidFill>
                  <a:srgbClr val="4A4A4A"/>
                </a:solidFill>
                <a:highlight>
                  <a:srgbClr val="FFFFFF"/>
                </a:highlight>
                <a:latin typeface="Lato"/>
                <a:ea typeface="Lato"/>
                <a:cs typeface="Lato"/>
                <a:sym typeface="Lato"/>
              </a:rPr>
              <a:t>font-style</a:t>
            </a:r>
            <a:r>
              <a:rPr lang="es-AR" dirty="0">
                <a:solidFill>
                  <a:srgbClr val="4A4A4A"/>
                </a:solidFill>
                <a:highlight>
                  <a:srgbClr val="FFFFFF"/>
                </a:highlight>
                <a:latin typeface="Lato"/>
                <a:ea typeface="Lato"/>
                <a:cs typeface="Lato"/>
                <a:sym typeface="Lato"/>
              </a:rPr>
              <a:t> podemos establecer si queremos que nuestra tipografía sea normal, itálica o oblicua</a:t>
            </a:r>
          </a:p>
          <a:p>
            <a:pPr lvl="0" rtl="0">
              <a:spcBef>
                <a:spcPts val="0"/>
              </a:spcBef>
              <a:spcAft>
                <a:spcPts val="0"/>
              </a:spcAft>
            </a:pPr>
            <a:r>
              <a:rPr lang="es-AR" dirty="0">
                <a:solidFill>
                  <a:srgbClr val="4A4A4A"/>
                </a:solidFill>
                <a:highlight>
                  <a:srgbClr val="FFFFFF"/>
                </a:highlight>
                <a:latin typeface="Lato"/>
                <a:ea typeface="Lato"/>
                <a:cs typeface="Lato"/>
                <a:sym typeface="Lato"/>
              </a:rPr>
              <a:t>Los valores que acepta esta propiedad están en inglés:</a:t>
            </a:r>
          </a:p>
          <a:p>
            <a:pPr marL="285750" lvl="0" indent="-285750" rtl="0">
              <a:spcBef>
                <a:spcPts val="0"/>
              </a:spcBef>
              <a:spcAft>
                <a:spcPts val="0"/>
              </a:spcAft>
              <a:buFont typeface="Arial" panose="020B0604020202020204" pitchFamily="34" charset="0"/>
              <a:buChar char="•"/>
            </a:pPr>
            <a:r>
              <a:rPr lang="es-AR" dirty="0">
                <a:solidFill>
                  <a:srgbClr val="4A4A4A"/>
                </a:solidFill>
                <a:highlight>
                  <a:srgbClr val="FFFFFF"/>
                </a:highlight>
                <a:latin typeface="Lato"/>
                <a:ea typeface="Lato"/>
                <a:cs typeface="Lato"/>
                <a:sym typeface="Lato"/>
              </a:rPr>
              <a:t>normal</a:t>
            </a:r>
          </a:p>
          <a:p>
            <a:pPr marL="285750" lvl="0" indent="-285750" rtl="0">
              <a:spcBef>
                <a:spcPts val="0"/>
              </a:spcBef>
              <a:spcAft>
                <a:spcPts val="0"/>
              </a:spcAft>
              <a:buFont typeface="Arial" panose="020B0604020202020204" pitchFamily="34" charset="0"/>
              <a:buChar char="•"/>
            </a:pPr>
            <a:r>
              <a:rPr lang="es-AR" dirty="0" err="1">
                <a:solidFill>
                  <a:srgbClr val="4A4A4A"/>
                </a:solidFill>
                <a:highlight>
                  <a:srgbClr val="FFFFFF"/>
                </a:highlight>
                <a:latin typeface="Lato"/>
                <a:ea typeface="Lato"/>
                <a:cs typeface="Lato"/>
                <a:sym typeface="Lato"/>
              </a:rPr>
              <a:t>italic</a:t>
            </a:r>
            <a:endParaRPr lang="es-AR" dirty="0">
              <a:solidFill>
                <a:srgbClr val="4A4A4A"/>
              </a:solidFill>
              <a:highlight>
                <a:srgbClr val="FFFFFF"/>
              </a:highlight>
              <a:latin typeface="Lato"/>
              <a:ea typeface="Lato"/>
              <a:cs typeface="Lato"/>
              <a:sym typeface="Lato"/>
            </a:endParaRPr>
          </a:p>
          <a:p>
            <a:pPr marL="285750" lvl="0" indent="-285750" rtl="0">
              <a:spcBef>
                <a:spcPts val="0"/>
              </a:spcBef>
              <a:spcAft>
                <a:spcPts val="0"/>
              </a:spcAft>
              <a:buFont typeface="Arial" panose="020B0604020202020204" pitchFamily="34" charset="0"/>
              <a:buChar char="•"/>
            </a:pPr>
            <a:r>
              <a:rPr lang="es-AR" dirty="0" err="1">
                <a:solidFill>
                  <a:srgbClr val="4A4A4A"/>
                </a:solidFill>
                <a:highlight>
                  <a:srgbClr val="FFFFFF"/>
                </a:highlight>
                <a:latin typeface="Lato"/>
                <a:ea typeface="Lato"/>
                <a:cs typeface="Lato"/>
                <a:sym typeface="Lato"/>
              </a:rPr>
              <a:t>oblique</a:t>
            </a:r>
            <a:endParaRPr lang="es-AR" dirty="0">
              <a:solidFill>
                <a:srgbClr val="4A4A4A"/>
              </a:solidFill>
              <a:highlight>
                <a:srgbClr val="FFFFFF"/>
              </a:highlight>
              <a:latin typeface="Lato"/>
              <a:ea typeface="Lato"/>
              <a:cs typeface="Lato"/>
              <a:sym typeface="Lato"/>
            </a:endParaRPr>
          </a:p>
          <a:p>
            <a:pPr lvl="0" rtl="0">
              <a:spcBef>
                <a:spcPts val="0"/>
              </a:spcBef>
              <a:spcAft>
                <a:spcPts val="0"/>
              </a:spcAft>
            </a:pPr>
            <a:r>
              <a:rPr lang="es-AR" dirty="0">
                <a:solidFill>
                  <a:srgbClr val="4A4A4A"/>
                </a:solidFill>
                <a:highlight>
                  <a:srgbClr val="FFFFFF"/>
                </a:highlight>
                <a:latin typeface="Lato"/>
                <a:ea typeface="Lato"/>
                <a:cs typeface="Lato"/>
                <a:sym typeface="Lato"/>
              </a:rPr>
              <a:t>Podemos aprender más sobre esta propiedad en el </a:t>
            </a:r>
            <a:r>
              <a:rPr lang="es-AR" b="0" i="0" dirty="0">
                <a:effectLst/>
                <a:latin typeface="system-ui"/>
                <a:hlinkClick r:id="rId3"/>
              </a:rPr>
              <a:t>sitio de MDN</a:t>
            </a:r>
            <a:endParaRPr lang="es-AR" dirty="0">
              <a:solidFill>
                <a:srgbClr val="4A4A4A"/>
              </a:solidFill>
              <a:highlight>
                <a:srgbClr val="FFFFFF"/>
              </a:highlight>
              <a:latin typeface="Lato"/>
              <a:ea typeface="Lato"/>
              <a:cs typeface="Lato"/>
              <a:sym typeface="Lato"/>
            </a:endParaRPr>
          </a:p>
        </p:txBody>
      </p:sp>
      <p:pic>
        <p:nvPicPr>
          <p:cNvPr id="5" name="Imagen 4">
            <a:extLst>
              <a:ext uri="{FF2B5EF4-FFF2-40B4-BE49-F238E27FC236}">
                <a16:creationId xmlns:a16="http://schemas.microsoft.com/office/drawing/2014/main" id="{C5E76DCA-E281-66CD-B7CE-F14BBD9CFAC5}"/>
              </a:ext>
            </a:extLst>
          </p:cNvPr>
          <p:cNvPicPr>
            <a:picLocks noChangeAspect="1"/>
          </p:cNvPicPr>
          <p:nvPr/>
        </p:nvPicPr>
        <p:blipFill>
          <a:blip r:embed="rId4"/>
          <a:stretch>
            <a:fillRect/>
          </a:stretch>
        </p:blipFill>
        <p:spPr>
          <a:xfrm>
            <a:off x="3116219" y="3036557"/>
            <a:ext cx="2911561" cy="815238"/>
          </a:xfrm>
          <a:prstGeom prst="rect">
            <a:avLst/>
          </a:prstGeom>
        </p:spPr>
      </p:pic>
      <p:pic>
        <p:nvPicPr>
          <p:cNvPr id="7" name="Imagen 6">
            <a:extLst>
              <a:ext uri="{FF2B5EF4-FFF2-40B4-BE49-F238E27FC236}">
                <a16:creationId xmlns:a16="http://schemas.microsoft.com/office/drawing/2014/main" id="{3F7F7E93-5053-8DF6-8D93-B0DF3045503E}"/>
              </a:ext>
            </a:extLst>
          </p:cNvPr>
          <p:cNvPicPr>
            <a:picLocks noChangeAspect="1"/>
          </p:cNvPicPr>
          <p:nvPr/>
        </p:nvPicPr>
        <p:blipFill>
          <a:blip r:embed="rId5"/>
          <a:stretch>
            <a:fillRect/>
          </a:stretch>
        </p:blipFill>
        <p:spPr>
          <a:xfrm>
            <a:off x="2249054" y="4094216"/>
            <a:ext cx="4989967" cy="721178"/>
          </a:xfrm>
          <a:prstGeom prst="rect">
            <a:avLst/>
          </a:prstGeom>
        </p:spPr>
      </p:pic>
    </p:spTree>
    <p:extLst>
      <p:ext uri="{BB962C8B-B14F-4D97-AF65-F5344CB8AC3E}">
        <p14:creationId xmlns:p14="http://schemas.microsoft.com/office/powerpoint/2010/main" val="428911108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4" name="CuadroTexto 3">
            <a:extLst>
              <a:ext uri="{FF2B5EF4-FFF2-40B4-BE49-F238E27FC236}">
                <a16:creationId xmlns:a16="http://schemas.microsoft.com/office/drawing/2014/main" id="{B9B8C329-BED5-C09C-F09B-E2F2A7739CCE}"/>
              </a:ext>
            </a:extLst>
          </p:cNvPr>
          <p:cNvSpPr txBox="1"/>
          <p:nvPr/>
        </p:nvSpPr>
        <p:spPr>
          <a:xfrm>
            <a:off x="434397" y="688695"/>
            <a:ext cx="7892186" cy="2185214"/>
          </a:xfrm>
          <a:prstGeom prst="rect">
            <a:avLst/>
          </a:prstGeom>
          <a:noFill/>
        </p:spPr>
        <p:txBody>
          <a:bodyPr wrap="square">
            <a:spAutoFit/>
          </a:bodyPr>
          <a:lstStyle/>
          <a:p>
            <a:r>
              <a:rPr lang="es-AR" sz="2400" dirty="0">
                <a:solidFill>
                  <a:srgbClr val="BE3969"/>
                </a:solidFill>
                <a:highlight>
                  <a:srgbClr val="FFFFFF"/>
                </a:highlight>
                <a:latin typeface="Russo One"/>
                <a:ea typeface="Lato"/>
                <a:cs typeface="Lato"/>
                <a:sym typeface="Russo One"/>
              </a:rPr>
              <a:t>Transformación de texto</a:t>
            </a:r>
          </a:p>
          <a:p>
            <a:endParaRPr lang="es-AR" b="1" dirty="0">
              <a:solidFill>
                <a:schemeClr val="tx1"/>
              </a:solidFill>
              <a:highlight>
                <a:srgbClr val="FFFFFF"/>
              </a:highlight>
              <a:latin typeface="Lato"/>
              <a:ea typeface="Lato"/>
              <a:cs typeface="Lato"/>
              <a:sym typeface="Lato"/>
            </a:endParaRPr>
          </a:p>
          <a:p>
            <a:pPr marL="285750" lvl="0" indent="-285750" rtl="0">
              <a:spcBef>
                <a:spcPts val="0"/>
              </a:spcBef>
              <a:spcAft>
                <a:spcPts val="0"/>
              </a:spcAft>
              <a:buFont typeface="Arial" panose="020B0604020202020204" pitchFamily="34" charset="0"/>
              <a:buChar char="•"/>
            </a:pPr>
            <a:r>
              <a:rPr lang="es-AR" dirty="0">
                <a:solidFill>
                  <a:srgbClr val="4A4A4A"/>
                </a:solidFill>
                <a:highlight>
                  <a:srgbClr val="FFFFFF"/>
                </a:highlight>
                <a:latin typeface="Lato"/>
                <a:ea typeface="Lato"/>
                <a:cs typeface="Lato"/>
                <a:sym typeface="Lato"/>
              </a:rPr>
              <a:t>Por medio de la propiedad </a:t>
            </a:r>
            <a:r>
              <a:rPr lang="es-AR" dirty="0" err="1">
                <a:solidFill>
                  <a:srgbClr val="4A4A4A"/>
                </a:solidFill>
                <a:highlight>
                  <a:srgbClr val="FFFFFF"/>
                </a:highlight>
                <a:latin typeface="Lato"/>
                <a:ea typeface="Lato"/>
                <a:cs typeface="Lato"/>
                <a:sym typeface="Lato"/>
              </a:rPr>
              <a:t>text-transform</a:t>
            </a:r>
            <a:r>
              <a:rPr lang="es-AR" dirty="0">
                <a:solidFill>
                  <a:srgbClr val="4A4A4A"/>
                </a:solidFill>
                <a:highlight>
                  <a:srgbClr val="FFFFFF"/>
                </a:highlight>
                <a:latin typeface="Lato"/>
                <a:ea typeface="Lato"/>
                <a:cs typeface="Lato"/>
                <a:sym typeface="Lato"/>
              </a:rPr>
              <a:t> podemos transformar las mayúsculas y </a:t>
            </a:r>
            <a:r>
              <a:rPr lang="es-AR" dirty="0" err="1">
                <a:solidFill>
                  <a:srgbClr val="4A4A4A"/>
                </a:solidFill>
                <a:highlight>
                  <a:srgbClr val="FFFFFF"/>
                </a:highlight>
                <a:latin typeface="Lato"/>
                <a:ea typeface="Lato"/>
                <a:cs typeface="Lato"/>
                <a:sym typeface="Lato"/>
              </a:rPr>
              <a:t>minísculas</a:t>
            </a:r>
            <a:r>
              <a:rPr lang="es-AR" dirty="0">
                <a:solidFill>
                  <a:srgbClr val="4A4A4A"/>
                </a:solidFill>
                <a:highlight>
                  <a:srgbClr val="FFFFFF"/>
                </a:highlight>
                <a:latin typeface="Lato"/>
                <a:ea typeface="Lato"/>
                <a:cs typeface="Lato"/>
                <a:sym typeface="Lato"/>
              </a:rPr>
              <a:t> de nuestros textos</a:t>
            </a:r>
          </a:p>
          <a:p>
            <a:pPr marL="285750" lvl="0" indent="-285750" rtl="0">
              <a:spcBef>
                <a:spcPts val="0"/>
              </a:spcBef>
              <a:spcAft>
                <a:spcPts val="0"/>
              </a:spcAft>
              <a:buFont typeface="Arial" panose="020B0604020202020204" pitchFamily="34" charset="0"/>
              <a:buChar char="•"/>
            </a:pPr>
            <a:r>
              <a:rPr lang="es-AR" dirty="0">
                <a:solidFill>
                  <a:srgbClr val="4A4A4A"/>
                </a:solidFill>
                <a:highlight>
                  <a:srgbClr val="FFFFFF"/>
                </a:highlight>
                <a:latin typeface="Lato"/>
                <a:ea typeface="Lato"/>
                <a:cs typeface="Lato"/>
                <a:sym typeface="Lato"/>
              </a:rPr>
              <a:t>A diferencia de lo que venimos viendo en este caso se utiliza </a:t>
            </a:r>
            <a:r>
              <a:rPr lang="es-AR" dirty="0" err="1">
                <a:solidFill>
                  <a:srgbClr val="4A4A4A"/>
                </a:solidFill>
                <a:highlight>
                  <a:srgbClr val="FFFFFF"/>
                </a:highlight>
                <a:latin typeface="Lato"/>
                <a:ea typeface="Lato"/>
                <a:cs typeface="Lato"/>
                <a:sym typeface="Lato"/>
              </a:rPr>
              <a:t>text</a:t>
            </a:r>
            <a:r>
              <a:rPr lang="es-AR" dirty="0">
                <a:solidFill>
                  <a:srgbClr val="4A4A4A"/>
                </a:solidFill>
                <a:highlight>
                  <a:srgbClr val="FFFFFF"/>
                </a:highlight>
                <a:latin typeface="Lato"/>
                <a:ea typeface="Lato"/>
                <a:cs typeface="Lato"/>
                <a:sym typeface="Lato"/>
              </a:rPr>
              <a:t> en lugar de </a:t>
            </a:r>
            <a:r>
              <a:rPr lang="es-AR" dirty="0" err="1">
                <a:solidFill>
                  <a:srgbClr val="4A4A4A"/>
                </a:solidFill>
                <a:highlight>
                  <a:srgbClr val="FFFFFF"/>
                </a:highlight>
                <a:latin typeface="Lato"/>
                <a:ea typeface="Lato"/>
                <a:cs typeface="Lato"/>
                <a:sym typeface="Lato"/>
              </a:rPr>
              <a:t>font</a:t>
            </a:r>
            <a:r>
              <a:rPr lang="es-AR" dirty="0">
                <a:solidFill>
                  <a:srgbClr val="4A4A4A"/>
                </a:solidFill>
                <a:highlight>
                  <a:srgbClr val="FFFFFF"/>
                </a:highlight>
                <a:latin typeface="Lato"/>
                <a:ea typeface="Lato"/>
                <a:cs typeface="Lato"/>
                <a:sym typeface="Lato"/>
              </a:rPr>
              <a:t> ya que hace referencia al texto y no a la tipografía</a:t>
            </a:r>
          </a:p>
          <a:p>
            <a:pPr marL="285750" lvl="0" indent="-285750" rtl="0">
              <a:spcBef>
                <a:spcPts val="0"/>
              </a:spcBef>
              <a:spcAft>
                <a:spcPts val="0"/>
              </a:spcAft>
              <a:buFont typeface="Arial" panose="020B0604020202020204" pitchFamily="34" charset="0"/>
              <a:buChar char="•"/>
            </a:pPr>
            <a:r>
              <a:rPr lang="es-AR" dirty="0">
                <a:solidFill>
                  <a:srgbClr val="4A4A4A"/>
                </a:solidFill>
                <a:highlight>
                  <a:srgbClr val="FFFFFF"/>
                </a:highlight>
                <a:latin typeface="Lato"/>
                <a:ea typeface="Lato"/>
                <a:cs typeface="Lato"/>
                <a:sym typeface="Lato"/>
              </a:rPr>
              <a:t>Acepta los siguientes valores: </a:t>
            </a:r>
            <a:r>
              <a:rPr lang="es-AR" dirty="0" err="1">
                <a:solidFill>
                  <a:schemeClr val="tx1"/>
                </a:solidFill>
                <a:highlight>
                  <a:srgbClr val="FFFFFF"/>
                </a:highlight>
                <a:latin typeface="Lato"/>
                <a:ea typeface="Lato"/>
                <a:cs typeface="Lato"/>
                <a:sym typeface="Lato"/>
              </a:rPr>
              <a:t>uppercase</a:t>
            </a:r>
            <a:r>
              <a:rPr lang="es-AR" dirty="0">
                <a:solidFill>
                  <a:srgbClr val="4A4A4A"/>
                </a:solidFill>
                <a:highlight>
                  <a:srgbClr val="FFFFFF"/>
                </a:highlight>
                <a:latin typeface="Lato"/>
                <a:ea typeface="Lato"/>
                <a:cs typeface="Lato"/>
                <a:sym typeface="Lato"/>
              </a:rPr>
              <a:t>: pasa todo el texto a mayúscula </a:t>
            </a:r>
            <a:r>
              <a:rPr lang="es-AR" dirty="0" err="1">
                <a:solidFill>
                  <a:schemeClr val="tx1"/>
                </a:solidFill>
                <a:highlight>
                  <a:srgbClr val="FFFFFF"/>
                </a:highlight>
                <a:latin typeface="Lato"/>
                <a:ea typeface="Lato"/>
                <a:cs typeface="Lato"/>
                <a:sym typeface="Lato"/>
              </a:rPr>
              <a:t>lowercase</a:t>
            </a:r>
            <a:r>
              <a:rPr lang="es-AR" dirty="0">
                <a:solidFill>
                  <a:srgbClr val="4A4A4A"/>
                </a:solidFill>
                <a:highlight>
                  <a:srgbClr val="FFFFFF"/>
                </a:highlight>
                <a:latin typeface="Lato"/>
                <a:ea typeface="Lato"/>
                <a:cs typeface="Lato"/>
                <a:sym typeface="Lato"/>
              </a:rPr>
              <a:t>: pasa todo el texto a minúscula </a:t>
            </a:r>
            <a:r>
              <a:rPr lang="es-AR" dirty="0" err="1">
                <a:solidFill>
                  <a:srgbClr val="4A4A4A"/>
                </a:solidFill>
                <a:highlight>
                  <a:srgbClr val="FFFFFF"/>
                </a:highlight>
                <a:latin typeface="Lato"/>
                <a:ea typeface="Lato"/>
                <a:cs typeface="Lato"/>
                <a:sym typeface="Lato"/>
              </a:rPr>
              <a:t>capitalize</a:t>
            </a:r>
            <a:r>
              <a:rPr lang="es-AR" dirty="0">
                <a:solidFill>
                  <a:srgbClr val="4A4A4A"/>
                </a:solidFill>
                <a:highlight>
                  <a:srgbClr val="FFFFFF"/>
                </a:highlight>
                <a:latin typeface="Lato"/>
                <a:ea typeface="Lato"/>
                <a:cs typeface="Lato"/>
                <a:sym typeface="Lato"/>
              </a:rPr>
              <a:t>: convierte la primer letra de cada palabra a mayúscula</a:t>
            </a:r>
          </a:p>
          <a:p>
            <a:pPr marL="285750" lvl="0" indent="-285750" rtl="0">
              <a:spcBef>
                <a:spcPts val="0"/>
              </a:spcBef>
              <a:spcAft>
                <a:spcPts val="0"/>
              </a:spcAft>
              <a:buFont typeface="Arial" panose="020B0604020202020204" pitchFamily="34" charset="0"/>
              <a:buChar char="•"/>
            </a:pPr>
            <a:r>
              <a:rPr lang="es-AR" dirty="0">
                <a:solidFill>
                  <a:srgbClr val="4A4A4A"/>
                </a:solidFill>
                <a:highlight>
                  <a:srgbClr val="FFFFFF"/>
                </a:highlight>
                <a:latin typeface="Lato"/>
                <a:ea typeface="Lato"/>
                <a:cs typeface="Lato"/>
                <a:sym typeface="Lato"/>
              </a:rPr>
              <a:t>Podemos aprender más sobre esta propiedad en el </a:t>
            </a:r>
            <a:r>
              <a:rPr lang="es-AR" b="0" i="0" dirty="0">
                <a:effectLst/>
                <a:latin typeface="system-ui"/>
                <a:hlinkClick r:id="rId3"/>
              </a:rPr>
              <a:t>sitio de MDN</a:t>
            </a:r>
            <a:endParaRPr lang="es-AR" dirty="0">
              <a:solidFill>
                <a:srgbClr val="4A4A4A"/>
              </a:solidFill>
              <a:highlight>
                <a:srgbClr val="FFFFFF"/>
              </a:highlight>
              <a:latin typeface="Lato"/>
              <a:ea typeface="Lato"/>
              <a:cs typeface="Lato"/>
              <a:sym typeface="Lato"/>
            </a:endParaRPr>
          </a:p>
        </p:txBody>
      </p:sp>
      <p:pic>
        <p:nvPicPr>
          <p:cNvPr id="3" name="Imagen 2">
            <a:extLst>
              <a:ext uri="{FF2B5EF4-FFF2-40B4-BE49-F238E27FC236}">
                <a16:creationId xmlns:a16="http://schemas.microsoft.com/office/drawing/2014/main" id="{FF3A648A-59C9-4033-8438-E600E505F26E}"/>
              </a:ext>
            </a:extLst>
          </p:cNvPr>
          <p:cNvPicPr>
            <a:picLocks noChangeAspect="1"/>
          </p:cNvPicPr>
          <p:nvPr/>
        </p:nvPicPr>
        <p:blipFill>
          <a:blip r:embed="rId4"/>
          <a:stretch>
            <a:fillRect/>
          </a:stretch>
        </p:blipFill>
        <p:spPr>
          <a:xfrm>
            <a:off x="3123320" y="3159887"/>
            <a:ext cx="2893744" cy="790335"/>
          </a:xfrm>
          <a:prstGeom prst="rect">
            <a:avLst/>
          </a:prstGeom>
        </p:spPr>
      </p:pic>
      <p:pic>
        <p:nvPicPr>
          <p:cNvPr id="8" name="Imagen 7">
            <a:extLst>
              <a:ext uri="{FF2B5EF4-FFF2-40B4-BE49-F238E27FC236}">
                <a16:creationId xmlns:a16="http://schemas.microsoft.com/office/drawing/2014/main" id="{68868FB8-6CF1-B544-74A7-C98404B39FDB}"/>
              </a:ext>
            </a:extLst>
          </p:cNvPr>
          <p:cNvPicPr>
            <a:picLocks noChangeAspect="1"/>
          </p:cNvPicPr>
          <p:nvPr/>
        </p:nvPicPr>
        <p:blipFill>
          <a:blip r:embed="rId5"/>
          <a:stretch>
            <a:fillRect/>
          </a:stretch>
        </p:blipFill>
        <p:spPr>
          <a:xfrm>
            <a:off x="2958159" y="4163042"/>
            <a:ext cx="3227682" cy="692166"/>
          </a:xfrm>
          <a:prstGeom prst="rect">
            <a:avLst/>
          </a:prstGeom>
        </p:spPr>
      </p:pic>
    </p:spTree>
    <p:extLst>
      <p:ext uri="{BB962C8B-B14F-4D97-AF65-F5344CB8AC3E}">
        <p14:creationId xmlns:p14="http://schemas.microsoft.com/office/powerpoint/2010/main" val="331127639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4" name="CuadroTexto 3">
            <a:extLst>
              <a:ext uri="{FF2B5EF4-FFF2-40B4-BE49-F238E27FC236}">
                <a16:creationId xmlns:a16="http://schemas.microsoft.com/office/drawing/2014/main" id="{B9B8C329-BED5-C09C-F09B-E2F2A7739CCE}"/>
              </a:ext>
            </a:extLst>
          </p:cNvPr>
          <p:cNvSpPr txBox="1"/>
          <p:nvPr/>
        </p:nvSpPr>
        <p:spPr>
          <a:xfrm>
            <a:off x="434397" y="688695"/>
            <a:ext cx="7855239" cy="4154984"/>
          </a:xfrm>
          <a:prstGeom prst="rect">
            <a:avLst/>
          </a:prstGeom>
          <a:noFill/>
        </p:spPr>
        <p:txBody>
          <a:bodyPr wrap="square">
            <a:spAutoFit/>
          </a:bodyPr>
          <a:lstStyle/>
          <a:p>
            <a:r>
              <a:rPr lang="es-AR" sz="3600" dirty="0">
                <a:solidFill>
                  <a:srgbClr val="BE3969"/>
                </a:solidFill>
                <a:highlight>
                  <a:srgbClr val="FFFFFF"/>
                </a:highlight>
                <a:latin typeface="Russo One"/>
                <a:ea typeface="Lato"/>
                <a:cs typeface="Lato"/>
                <a:sym typeface="Russo One"/>
              </a:rPr>
              <a:t>Alineado de textos</a:t>
            </a:r>
          </a:p>
          <a:p>
            <a:endParaRPr lang="es-AR" sz="2000" b="1" dirty="0">
              <a:solidFill>
                <a:schemeClr val="tx1"/>
              </a:solidFill>
              <a:highlight>
                <a:srgbClr val="FFFFFF"/>
              </a:highlight>
              <a:latin typeface="Lato"/>
              <a:ea typeface="Lato"/>
              <a:cs typeface="Lato"/>
              <a:sym typeface="Lato"/>
            </a:endParaRPr>
          </a:p>
          <a:p>
            <a:pPr marL="285750" lvl="0" indent="-285750" rtl="0">
              <a:spcBef>
                <a:spcPts val="0"/>
              </a:spcBef>
              <a:spcAft>
                <a:spcPts val="0"/>
              </a:spcAft>
              <a:buFont typeface="Arial" panose="020B0604020202020204" pitchFamily="34" charset="0"/>
              <a:buChar char="•"/>
            </a:pPr>
            <a:r>
              <a:rPr lang="es-AR" sz="2000" dirty="0">
                <a:solidFill>
                  <a:srgbClr val="4A4A4A"/>
                </a:solidFill>
                <a:highlight>
                  <a:srgbClr val="FFFFFF"/>
                </a:highlight>
                <a:latin typeface="Lato"/>
                <a:ea typeface="Lato"/>
                <a:cs typeface="Lato"/>
                <a:sym typeface="Lato"/>
              </a:rPr>
              <a:t>Por medio de la propiedad </a:t>
            </a:r>
            <a:r>
              <a:rPr lang="es-AR" sz="2000" b="1" dirty="0" err="1">
                <a:solidFill>
                  <a:srgbClr val="4A4A4A"/>
                </a:solidFill>
                <a:highlight>
                  <a:srgbClr val="FFFFFF"/>
                </a:highlight>
                <a:latin typeface="Lato"/>
                <a:ea typeface="Lato"/>
                <a:cs typeface="Lato"/>
                <a:sym typeface="Lato"/>
              </a:rPr>
              <a:t>text-align</a:t>
            </a:r>
            <a:r>
              <a:rPr lang="es-AR" sz="2000" dirty="0">
                <a:solidFill>
                  <a:srgbClr val="4A4A4A"/>
                </a:solidFill>
                <a:highlight>
                  <a:srgbClr val="FFFFFF"/>
                </a:highlight>
                <a:latin typeface="Lato"/>
                <a:ea typeface="Lato"/>
                <a:cs typeface="Lato"/>
                <a:sym typeface="Lato"/>
              </a:rPr>
              <a:t> podemos establecer como queremos alinear los textos de forma horizontal</a:t>
            </a:r>
          </a:p>
          <a:p>
            <a:pPr marL="285750" lvl="0" indent="-285750" rtl="0">
              <a:spcBef>
                <a:spcPts val="0"/>
              </a:spcBef>
              <a:spcAft>
                <a:spcPts val="0"/>
              </a:spcAft>
              <a:buFont typeface="Arial" panose="020B0604020202020204" pitchFamily="34" charset="0"/>
              <a:buChar char="•"/>
            </a:pPr>
            <a:endParaRPr lang="es-AR" sz="2000" dirty="0">
              <a:solidFill>
                <a:srgbClr val="4A4A4A"/>
              </a:solidFill>
              <a:highlight>
                <a:srgbClr val="FFFFFF"/>
              </a:highlight>
              <a:latin typeface="Lato"/>
              <a:ea typeface="Lato"/>
              <a:cs typeface="Lato"/>
              <a:sym typeface="Lato"/>
            </a:endParaRPr>
          </a:p>
          <a:p>
            <a:pPr lvl="0" rtl="0">
              <a:spcBef>
                <a:spcPts val="0"/>
              </a:spcBef>
              <a:spcAft>
                <a:spcPts val="0"/>
              </a:spcAft>
            </a:pPr>
            <a:r>
              <a:rPr lang="es-AR" sz="2000" dirty="0">
                <a:solidFill>
                  <a:srgbClr val="4A4A4A"/>
                </a:solidFill>
                <a:highlight>
                  <a:srgbClr val="FFFFFF"/>
                </a:highlight>
                <a:latin typeface="Lato"/>
                <a:ea typeface="Lato"/>
                <a:cs typeface="Lato"/>
                <a:sym typeface="Lato"/>
              </a:rPr>
              <a:t>Acepta los siguientes valores:</a:t>
            </a:r>
          </a:p>
          <a:p>
            <a:pPr marL="285750" lvl="0" indent="-285750" rtl="0">
              <a:spcBef>
                <a:spcPts val="0"/>
              </a:spcBef>
              <a:spcAft>
                <a:spcPts val="0"/>
              </a:spcAft>
              <a:buFont typeface="Arial" panose="020B0604020202020204" pitchFamily="34" charset="0"/>
              <a:buChar char="•"/>
            </a:pPr>
            <a:r>
              <a:rPr lang="es-AR" sz="2000" dirty="0" err="1">
                <a:solidFill>
                  <a:schemeClr val="tx1"/>
                </a:solidFill>
                <a:highlight>
                  <a:srgbClr val="FFFFFF"/>
                </a:highlight>
                <a:latin typeface="Lato"/>
                <a:ea typeface="Lato"/>
                <a:cs typeface="Lato"/>
                <a:sym typeface="Lato"/>
              </a:rPr>
              <a:t>left</a:t>
            </a:r>
            <a:r>
              <a:rPr lang="es-AR" sz="2000" dirty="0">
                <a:solidFill>
                  <a:srgbClr val="4A4A4A"/>
                </a:solidFill>
                <a:highlight>
                  <a:srgbClr val="FFFFFF"/>
                </a:highlight>
                <a:latin typeface="Lato"/>
                <a:ea typeface="Lato"/>
                <a:cs typeface="Lato"/>
                <a:sym typeface="Lato"/>
              </a:rPr>
              <a:t>: alinea todo a la izquierda</a:t>
            </a:r>
          </a:p>
          <a:p>
            <a:pPr marL="285750" lvl="0" indent="-285750" rtl="0">
              <a:spcBef>
                <a:spcPts val="0"/>
              </a:spcBef>
              <a:spcAft>
                <a:spcPts val="0"/>
              </a:spcAft>
              <a:buFont typeface="Arial" panose="020B0604020202020204" pitchFamily="34" charset="0"/>
              <a:buChar char="•"/>
            </a:pPr>
            <a:r>
              <a:rPr lang="es-AR" sz="2000" dirty="0" err="1">
                <a:solidFill>
                  <a:schemeClr val="tx1"/>
                </a:solidFill>
                <a:highlight>
                  <a:srgbClr val="FFFFFF"/>
                </a:highlight>
                <a:latin typeface="Lato"/>
                <a:ea typeface="Lato"/>
                <a:cs typeface="Lato"/>
                <a:sym typeface="Lato"/>
              </a:rPr>
              <a:t>right</a:t>
            </a:r>
            <a:r>
              <a:rPr lang="es-AR" sz="2000" dirty="0">
                <a:solidFill>
                  <a:srgbClr val="4A4A4A"/>
                </a:solidFill>
                <a:highlight>
                  <a:srgbClr val="FFFFFF"/>
                </a:highlight>
                <a:latin typeface="Lato"/>
                <a:ea typeface="Lato"/>
                <a:cs typeface="Lato"/>
                <a:sym typeface="Lato"/>
              </a:rPr>
              <a:t>: alinea todo a la derecha</a:t>
            </a:r>
          </a:p>
          <a:p>
            <a:pPr marL="285750" lvl="0" indent="-285750" rtl="0">
              <a:spcBef>
                <a:spcPts val="0"/>
              </a:spcBef>
              <a:spcAft>
                <a:spcPts val="0"/>
              </a:spcAft>
              <a:buFont typeface="Arial" panose="020B0604020202020204" pitchFamily="34" charset="0"/>
              <a:buChar char="•"/>
            </a:pPr>
            <a:r>
              <a:rPr lang="es-AR" sz="2000" dirty="0">
                <a:solidFill>
                  <a:schemeClr val="tx1"/>
                </a:solidFill>
                <a:highlight>
                  <a:srgbClr val="FFFFFF"/>
                </a:highlight>
                <a:latin typeface="Lato"/>
                <a:ea typeface="Lato"/>
                <a:cs typeface="Lato"/>
                <a:sym typeface="Lato"/>
              </a:rPr>
              <a:t>center</a:t>
            </a:r>
            <a:r>
              <a:rPr lang="es-AR" sz="2000" dirty="0">
                <a:solidFill>
                  <a:srgbClr val="4A4A4A"/>
                </a:solidFill>
                <a:highlight>
                  <a:srgbClr val="FFFFFF"/>
                </a:highlight>
                <a:latin typeface="Lato"/>
                <a:ea typeface="Lato"/>
                <a:cs typeface="Lato"/>
                <a:sym typeface="Lato"/>
              </a:rPr>
              <a:t>: alinea todo al centro</a:t>
            </a:r>
          </a:p>
          <a:p>
            <a:pPr marL="285750" lvl="0" indent="-285750" rtl="0">
              <a:spcBef>
                <a:spcPts val="0"/>
              </a:spcBef>
              <a:spcAft>
                <a:spcPts val="0"/>
              </a:spcAft>
              <a:buFont typeface="Arial" panose="020B0604020202020204" pitchFamily="34" charset="0"/>
              <a:buChar char="•"/>
            </a:pPr>
            <a:r>
              <a:rPr lang="es-AR" sz="2000" dirty="0" err="1">
                <a:solidFill>
                  <a:schemeClr val="tx1"/>
                </a:solidFill>
                <a:highlight>
                  <a:srgbClr val="FFFFFF"/>
                </a:highlight>
                <a:latin typeface="Lato"/>
                <a:ea typeface="Lato"/>
                <a:cs typeface="Lato"/>
                <a:sym typeface="Lato"/>
              </a:rPr>
              <a:t>justify</a:t>
            </a:r>
            <a:r>
              <a:rPr lang="es-AR" sz="2000" dirty="0">
                <a:solidFill>
                  <a:srgbClr val="4A4A4A"/>
                </a:solidFill>
                <a:highlight>
                  <a:srgbClr val="FFFFFF"/>
                </a:highlight>
                <a:latin typeface="Lato"/>
                <a:ea typeface="Lato"/>
                <a:cs typeface="Lato"/>
                <a:sym typeface="Lato"/>
              </a:rPr>
              <a:t>: hace que el texto ocupe toda la caja (justificado)</a:t>
            </a:r>
          </a:p>
          <a:p>
            <a:pPr lvl="0" rtl="0">
              <a:spcBef>
                <a:spcPts val="0"/>
              </a:spcBef>
              <a:spcAft>
                <a:spcPts val="0"/>
              </a:spcAft>
            </a:pPr>
            <a:endParaRPr lang="es-AR" sz="2000" dirty="0">
              <a:solidFill>
                <a:srgbClr val="4A4A4A"/>
              </a:solidFill>
              <a:highlight>
                <a:srgbClr val="FFFFFF"/>
              </a:highlight>
              <a:latin typeface="Lato"/>
              <a:ea typeface="Lato"/>
              <a:cs typeface="Lato"/>
              <a:sym typeface="Lato"/>
            </a:endParaRPr>
          </a:p>
          <a:p>
            <a:pPr lvl="0" rtl="0">
              <a:spcBef>
                <a:spcPts val="0"/>
              </a:spcBef>
              <a:spcAft>
                <a:spcPts val="0"/>
              </a:spcAft>
            </a:pPr>
            <a:r>
              <a:rPr lang="es-AR" sz="2000" dirty="0">
                <a:solidFill>
                  <a:srgbClr val="4A4A4A"/>
                </a:solidFill>
                <a:highlight>
                  <a:srgbClr val="FFFFFF"/>
                </a:highlight>
                <a:latin typeface="Lato"/>
                <a:ea typeface="Lato"/>
                <a:cs typeface="Lato"/>
                <a:sym typeface="Lato"/>
              </a:rPr>
              <a:t>Podemos aprender más sobre esta propiedad en el </a:t>
            </a:r>
            <a:r>
              <a:rPr lang="es-AR" sz="2000" b="0" i="0" dirty="0">
                <a:effectLst/>
                <a:latin typeface="system-ui"/>
                <a:hlinkClick r:id="rId3"/>
              </a:rPr>
              <a:t>sitio de MDN</a:t>
            </a:r>
            <a:endParaRPr lang="es-AR" sz="2000" dirty="0">
              <a:solidFill>
                <a:srgbClr val="4A4A4A"/>
              </a:solidFill>
              <a:highlight>
                <a:srgbClr val="FFFFFF"/>
              </a:highlight>
              <a:latin typeface="Lato"/>
              <a:ea typeface="Lato"/>
              <a:cs typeface="Lato"/>
              <a:sym typeface="Lato"/>
            </a:endParaRPr>
          </a:p>
        </p:txBody>
      </p:sp>
    </p:spTree>
    <p:extLst>
      <p:ext uri="{BB962C8B-B14F-4D97-AF65-F5344CB8AC3E}">
        <p14:creationId xmlns:p14="http://schemas.microsoft.com/office/powerpoint/2010/main" val="248150929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4" name="CuadroTexto 3">
            <a:extLst>
              <a:ext uri="{FF2B5EF4-FFF2-40B4-BE49-F238E27FC236}">
                <a16:creationId xmlns:a16="http://schemas.microsoft.com/office/drawing/2014/main" id="{B9B8C329-BED5-C09C-F09B-E2F2A7739CCE}"/>
              </a:ext>
            </a:extLst>
          </p:cNvPr>
          <p:cNvSpPr txBox="1"/>
          <p:nvPr/>
        </p:nvSpPr>
        <p:spPr>
          <a:xfrm>
            <a:off x="434397" y="688695"/>
            <a:ext cx="7855239" cy="4278094"/>
          </a:xfrm>
          <a:prstGeom prst="rect">
            <a:avLst/>
          </a:prstGeom>
          <a:noFill/>
        </p:spPr>
        <p:txBody>
          <a:bodyPr wrap="square">
            <a:spAutoFit/>
          </a:bodyPr>
          <a:lstStyle/>
          <a:p>
            <a:r>
              <a:rPr lang="es-AR" sz="3200" dirty="0">
                <a:solidFill>
                  <a:srgbClr val="BE3969"/>
                </a:solidFill>
                <a:highlight>
                  <a:srgbClr val="FFFFFF"/>
                </a:highlight>
                <a:latin typeface="Russo One"/>
                <a:ea typeface="Lato"/>
                <a:cs typeface="Lato"/>
                <a:sym typeface="Russo One"/>
              </a:rPr>
              <a:t>Decorado</a:t>
            </a:r>
          </a:p>
          <a:p>
            <a:endParaRPr lang="es-AR" sz="1800" b="1" dirty="0">
              <a:solidFill>
                <a:schemeClr val="tx1"/>
              </a:solidFill>
              <a:highlight>
                <a:srgbClr val="FFFFFF"/>
              </a:highlight>
              <a:latin typeface="Lato"/>
              <a:ea typeface="Lato"/>
              <a:cs typeface="Lato"/>
              <a:sym typeface="Lato"/>
            </a:endParaRPr>
          </a:p>
          <a:p>
            <a:pPr lvl="0" rtl="0">
              <a:spcBef>
                <a:spcPts val="0"/>
              </a:spcBef>
              <a:spcAft>
                <a:spcPts val="0"/>
              </a:spcAft>
            </a:pPr>
            <a:r>
              <a:rPr lang="es-AR" sz="1800" dirty="0">
                <a:solidFill>
                  <a:srgbClr val="4A4A4A"/>
                </a:solidFill>
                <a:highlight>
                  <a:srgbClr val="FFFFFF"/>
                </a:highlight>
                <a:latin typeface="Lato"/>
                <a:ea typeface="Lato"/>
                <a:cs typeface="Lato"/>
                <a:sym typeface="Lato"/>
              </a:rPr>
              <a:t>Por medio de la propiedad </a:t>
            </a:r>
            <a:r>
              <a:rPr lang="es-AR" sz="1800" b="1" dirty="0" err="1">
                <a:solidFill>
                  <a:srgbClr val="4A4A4A"/>
                </a:solidFill>
                <a:highlight>
                  <a:srgbClr val="FFFFFF"/>
                </a:highlight>
                <a:latin typeface="Lato"/>
                <a:ea typeface="Lato"/>
                <a:cs typeface="Lato"/>
                <a:sym typeface="Lato"/>
              </a:rPr>
              <a:t>text-decoration</a:t>
            </a:r>
            <a:r>
              <a:rPr lang="es-AR" sz="1800" dirty="0">
                <a:solidFill>
                  <a:srgbClr val="4A4A4A"/>
                </a:solidFill>
                <a:highlight>
                  <a:srgbClr val="FFFFFF"/>
                </a:highlight>
                <a:latin typeface="Lato"/>
                <a:ea typeface="Lato"/>
                <a:cs typeface="Lato"/>
                <a:sym typeface="Lato"/>
              </a:rPr>
              <a:t> establecemos si queremos decorar nuestras tipografía según los valores posibles:</a:t>
            </a:r>
          </a:p>
          <a:p>
            <a:pPr lvl="0" rtl="0">
              <a:spcBef>
                <a:spcPts val="0"/>
              </a:spcBef>
              <a:spcAft>
                <a:spcPts val="0"/>
              </a:spcAft>
            </a:pPr>
            <a:endParaRPr lang="es-AR" sz="1800" dirty="0">
              <a:solidFill>
                <a:srgbClr val="4A4A4A"/>
              </a:solidFill>
              <a:highlight>
                <a:srgbClr val="FFFFFF"/>
              </a:highlight>
              <a:latin typeface="Lato"/>
              <a:ea typeface="Lato"/>
              <a:cs typeface="Lato"/>
              <a:sym typeface="Lato"/>
            </a:endParaRPr>
          </a:p>
          <a:p>
            <a:pPr marL="285750" lvl="0" indent="-285750" rtl="0">
              <a:spcBef>
                <a:spcPts val="0"/>
              </a:spcBef>
              <a:spcAft>
                <a:spcPts val="0"/>
              </a:spcAft>
              <a:buFont typeface="Arial" panose="020B0604020202020204" pitchFamily="34" charset="0"/>
              <a:buChar char="•"/>
            </a:pPr>
            <a:r>
              <a:rPr lang="es-AR" sz="1800" dirty="0" err="1">
                <a:solidFill>
                  <a:schemeClr val="tx1"/>
                </a:solidFill>
                <a:highlight>
                  <a:srgbClr val="FFFFFF"/>
                </a:highlight>
                <a:latin typeface="Lato"/>
                <a:ea typeface="Lato"/>
                <a:cs typeface="Lato"/>
                <a:sym typeface="Lato"/>
              </a:rPr>
              <a:t>none</a:t>
            </a:r>
            <a:r>
              <a:rPr lang="es-AR" sz="1800" dirty="0">
                <a:solidFill>
                  <a:srgbClr val="4A4A4A"/>
                </a:solidFill>
                <a:highlight>
                  <a:srgbClr val="FFFFFF"/>
                </a:highlight>
                <a:latin typeface="Lato"/>
                <a:ea typeface="Lato"/>
                <a:cs typeface="Lato"/>
                <a:sym typeface="Lato"/>
              </a:rPr>
              <a:t>: saca todo tipo de decorado (es útil para hacer que los </a:t>
            </a:r>
            <a:r>
              <a:rPr lang="es-AR" sz="1800" dirty="0" err="1">
                <a:solidFill>
                  <a:srgbClr val="4A4A4A"/>
                </a:solidFill>
                <a:highlight>
                  <a:srgbClr val="FFFFFF"/>
                </a:highlight>
                <a:latin typeface="Lato"/>
                <a:ea typeface="Lato"/>
                <a:cs typeface="Lato"/>
                <a:sym typeface="Lato"/>
              </a:rPr>
              <a:t>hipervinculos</a:t>
            </a:r>
            <a:r>
              <a:rPr lang="es-AR" sz="1800" dirty="0">
                <a:solidFill>
                  <a:srgbClr val="4A4A4A"/>
                </a:solidFill>
                <a:highlight>
                  <a:srgbClr val="FFFFFF"/>
                </a:highlight>
                <a:latin typeface="Lato"/>
                <a:ea typeface="Lato"/>
                <a:cs typeface="Lato"/>
                <a:sym typeface="Lato"/>
              </a:rPr>
              <a:t> no tengan una raya debajo del texto)</a:t>
            </a:r>
          </a:p>
          <a:p>
            <a:pPr marL="285750" lvl="0" indent="-285750" rtl="0">
              <a:spcBef>
                <a:spcPts val="0"/>
              </a:spcBef>
              <a:spcAft>
                <a:spcPts val="0"/>
              </a:spcAft>
              <a:buFont typeface="Arial" panose="020B0604020202020204" pitchFamily="34" charset="0"/>
              <a:buChar char="•"/>
            </a:pPr>
            <a:r>
              <a:rPr lang="es-AR" sz="1800" dirty="0" err="1">
                <a:solidFill>
                  <a:schemeClr val="tx1"/>
                </a:solidFill>
                <a:highlight>
                  <a:srgbClr val="FFFFFF"/>
                </a:highlight>
                <a:latin typeface="Lato"/>
                <a:ea typeface="Lato"/>
                <a:cs typeface="Lato"/>
                <a:sym typeface="Lato"/>
              </a:rPr>
              <a:t>underline</a:t>
            </a:r>
            <a:r>
              <a:rPr lang="es-AR" sz="1800" dirty="0">
                <a:solidFill>
                  <a:srgbClr val="4A4A4A"/>
                </a:solidFill>
                <a:highlight>
                  <a:srgbClr val="FFFFFF"/>
                </a:highlight>
                <a:latin typeface="Lato"/>
                <a:ea typeface="Lato"/>
                <a:cs typeface="Lato"/>
                <a:sym typeface="Lato"/>
              </a:rPr>
              <a:t>: nos muestra el texto subrayado</a:t>
            </a:r>
          </a:p>
          <a:p>
            <a:pPr marL="285750" lvl="0" indent="-285750" rtl="0">
              <a:spcBef>
                <a:spcPts val="0"/>
              </a:spcBef>
              <a:spcAft>
                <a:spcPts val="0"/>
              </a:spcAft>
              <a:buFont typeface="Arial" panose="020B0604020202020204" pitchFamily="34" charset="0"/>
              <a:buChar char="•"/>
            </a:pPr>
            <a:r>
              <a:rPr lang="es-AR" sz="1800" dirty="0" err="1">
                <a:solidFill>
                  <a:schemeClr val="tx1"/>
                </a:solidFill>
                <a:highlight>
                  <a:srgbClr val="FFFFFF"/>
                </a:highlight>
                <a:latin typeface="Lato"/>
                <a:ea typeface="Lato"/>
                <a:cs typeface="Lato"/>
                <a:sym typeface="Lato"/>
              </a:rPr>
              <a:t>overline</a:t>
            </a:r>
            <a:r>
              <a:rPr lang="es-AR" sz="1800" dirty="0">
                <a:solidFill>
                  <a:srgbClr val="4A4A4A"/>
                </a:solidFill>
                <a:highlight>
                  <a:srgbClr val="FFFFFF"/>
                </a:highlight>
                <a:latin typeface="Lato"/>
                <a:ea typeface="Lato"/>
                <a:cs typeface="Lato"/>
                <a:sym typeface="Lato"/>
              </a:rPr>
              <a:t>: agrega una línea sobre el texto</a:t>
            </a:r>
          </a:p>
          <a:p>
            <a:pPr marL="285750" lvl="0" indent="-285750" rtl="0">
              <a:spcBef>
                <a:spcPts val="0"/>
              </a:spcBef>
              <a:spcAft>
                <a:spcPts val="0"/>
              </a:spcAft>
              <a:buFont typeface="Arial" panose="020B0604020202020204" pitchFamily="34" charset="0"/>
              <a:buChar char="•"/>
            </a:pPr>
            <a:r>
              <a:rPr lang="es-AR" sz="1800" dirty="0">
                <a:solidFill>
                  <a:schemeClr val="tx1"/>
                </a:solidFill>
                <a:highlight>
                  <a:srgbClr val="FFFFFF"/>
                </a:highlight>
                <a:latin typeface="Lato"/>
                <a:ea typeface="Lato"/>
                <a:cs typeface="Lato"/>
                <a:sym typeface="Lato"/>
              </a:rPr>
              <a:t>line-</a:t>
            </a:r>
            <a:r>
              <a:rPr lang="es-AR" sz="1800" dirty="0" err="1">
                <a:solidFill>
                  <a:schemeClr val="tx1"/>
                </a:solidFill>
                <a:highlight>
                  <a:srgbClr val="FFFFFF"/>
                </a:highlight>
                <a:latin typeface="Lato"/>
                <a:ea typeface="Lato"/>
                <a:cs typeface="Lato"/>
                <a:sym typeface="Lato"/>
              </a:rPr>
              <a:t>through</a:t>
            </a:r>
            <a:r>
              <a:rPr lang="es-AR" sz="1800" dirty="0">
                <a:solidFill>
                  <a:srgbClr val="4A4A4A"/>
                </a:solidFill>
                <a:highlight>
                  <a:srgbClr val="FFFFFF"/>
                </a:highlight>
                <a:latin typeface="Lato"/>
                <a:ea typeface="Lato"/>
                <a:cs typeface="Lato"/>
                <a:sym typeface="Lato"/>
              </a:rPr>
              <a:t>: el texto aparece tachado con una línea en el medio (es útil a la hora de tachar elementos de una lista)</a:t>
            </a:r>
          </a:p>
          <a:p>
            <a:pPr marL="285750" lvl="0" indent="-285750" rtl="0">
              <a:spcBef>
                <a:spcPts val="0"/>
              </a:spcBef>
              <a:spcAft>
                <a:spcPts val="0"/>
              </a:spcAft>
              <a:buFont typeface="Arial" panose="020B0604020202020204" pitchFamily="34" charset="0"/>
              <a:buChar char="•"/>
            </a:pPr>
            <a:r>
              <a:rPr lang="es-AR" sz="1800" dirty="0" err="1">
                <a:solidFill>
                  <a:schemeClr val="tx1"/>
                </a:solidFill>
                <a:highlight>
                  <a:srgbClr val="FFFFFF"/>
                </a:highlight>
                <a:latin typeface="Lato"/>
                <a:ea typeface="Lato"/>
                <a:cs typeface="Lato"/>
                <a:sym typeface="Lato"/>
              </a:rPr>
              <a:t>blink</a:t>
            </a:r>
            <a:r>
              <a:rPr lang="es-AR" sz="1800" dirty="0">
                <a:solidFill>
                  <a:srgbClr val="4A4A4A"/>
                </a:solidFill>
                <a:highlight>
                  <a:srgbClr val="FFFFFF"/>
                </a:highlight>
                <a:latin typeface="Lato"/>
                <a:ea typeface="Lato"/>
                <a:cs typeface="Lato"/>
                <a:sym typeface="Lato"/>
              </a:rPr>
              <a:t>: Volvemos a los 90's y nuestros textos parpadean</a:t>
            </a:r>
          </a:p>
          <a:p>
            <a:pPr lvl="0" rtl="0">
              <a:spcBef>
                <a:spcPts val="0"/>
              </a:spcBef>
              <a:spcAft>
                <a:spcPts val="0"/>
              </a:spcAft>
            </a:pPr>
            <a:endParaRPr lang="es-AR" sz="1800" dirty="0">
              <a:solidFill>
                <a:srgbClr val="4A4A4A"/>
              </a:solidFill>
              <a:highlight>
                <a:srgbClr val="FFFFFF"/>
              </a:highlight>
              <a:latin typeface="Lato"/>
              <a:ea typeface="Lato"/>
              <a:cs typeface="Lato"/>
              <a:sym typeface="Lato"/>
            </a:endParaRPr>
          </a:p>
          <a:p>
            <a:pPr lvl="0" rtl="0">
              <a:spcBef>
                <a:spcPts val="0"/>
              </a:spcBef>
              <a:spcAft>
                <a:spcPts val="0"/>
              </a:spcAft>
            </a:pPr>
            <a:r>
              <a:rPr lang="es-AR" sz="1800" dirty="0">
                <a:solidFill>
                  <a:srgbClr val="4A4A4A"/>
                </a:solidFill>
                <a:highlight>
                  <a:srgbClr val="FFFFFF"/>
                </a:highlight>
                <a:latin typeface="Lato"/>
                <a:ea typeface="Lato"/>
                <a:cs typeface="Lato"/>
                <a:sym typeface="Lato"/>
              </a:rPr>
              <a:t>Podemos aprender más sobre esta propiedad en el </a:t>
            </a:r>
            <a:r>
              <a:rPr lang="es-AR" sz="1800" b="0" i="0" dirty="0">
                <a:effectLst/>
                <a:latin typeface="system-ui"/>
                <a:hlinkClick r:id="rId3"/>
              </a:rPr>
              <a:t>sitio de MDN</a:t>
            </a:r>
            <a:endParaRPr lang="es-AR" sz="1800" dirty="0">
              <a:solidFill>
                <a:srgbClr val="4A4A4A"/>
              </a:solidFill>
              <a:highlight>
                <a:srgbClr val="FFFFFF"/>
              </a:highlight>
              <a:latin typeface="Lato"/>
              <a:ea typeface="Lato"/>
              <a:cs typeface="Lato"/>
              <a:sym typeface="Lato"/>
            </a:endParaRPr>
          </a:p>
        </p:txBody>
      </p:sp>
    </p:spTree>
    <p:extLst>
      <p:ext uri="{BB962C8B-B14F-4D97-AF65-F5344CB8AC3E}">
        <p14:creationId xmlns:p14="http://schemas.microsoft.com/office/powerpoint/2010/main" val="92021750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4" name="CuadroTexto 3">
            <a:extLst>
              <a:ext uri="{FF2B5EF4-FFF2-40B4-BE49-F238E27FC236}">
                <a16:creationId xmlns:a16="http://schemas.microsoft.com/office/drawing/2014/main" id="{B9B8C329-BED5-C09C-F09B-E2F2A7739CCE}"/>
              </a:ext>
            </a:extLst>
          </p:cNvPr>
          <p:cNvSpPr txBox="1"/>
          <p:nvPr/>
        </p:nvSpPr>
        <p:spPr>
          <a:xfrm>
            <a:off x="434397" y="688695"/>
            <a:ext cx="7855239" cy="3477875"/>
          </a:xfrm>
          <a:prstGeom prst="rect">
            <a:avLst/>
          </a:prstGeom>
          <a:noFill/>
        </p:spPr>
        <p:txBody>
          <a:bodyPr wrap="square">
            <a:spAutoFit/>
          </a:bodyPr>
          <a:lstStyle/>
          <a:p>
            <a:r>
              <a:rPr lang="es-AR" sz="2800" dirty="0">
                <a:solidFill>
                  <a:srgbClr val="BE3969"/>
                </a:solidFill>
                <a:highlight>
                  <a:srgbClr val="FFFFFF"/>
                </a:highlight>
                <a:latin typeface="Russo One"/>
                <a:ea typeface="Lato"/>
                <a:cs typeface="Lato"/>
                <a:sym typeface="Russo One"/>
              </a:rPr>
              <a:t>Decorado - Continuación</a:t>
            </a:r>
          </a:p>
          <a:p>
            <a:endParaRPr lang="es-AR" sz="1600" b="1" dirty="0">
              <a:solidFill>
                <a:schemeClr val="tx1"/>
              </a:solidFill>
              <a:highlight>
                <a:srgbClr val="FFFFFF"/>
              </a:highlight>
              <a:latin typeface="Lato"/>
              <a:ea typeface="Lato"/>
              <a:cs typeface="Lato"/>
              <a:sym typeface="Lato"/>
            </a:endParaRPr>
          </a:p>
          <a:p>
            <a:endParaRPr lang="es-AR" sz="1600" b="1" dirty="0">
              <a:solidFill>
                <a:schemeClr val="tx1"/>
              </a:solidFill>
              <a:highlight>
                <a:srgbClr val="FFFFFF"/>
              </a:highlight>
              <a:latin typeface="Lato"/>
              <a:ea typeface="Lato"/>
              <a:cs typeface="Lato"/>
              <a:sym typeface="Lato"/>
            </a:endParaRPr>
          </a:p>
          <a:p>
            <a:endParaRPr lang="es-AR" sz="1600" b="1" dirty="0">
              <a:solidFill>
                <a:schemeClr val="tx1"/>
              </a:solidFill>
              <a:highlight>
                <a:srgbClr val="FFFFFF"/>
              </a:highlight>
              <a:latin typeface="Lato"/>
              <a:ea typeface="Lato"/>
              <a:cs typeface="Lato"/>
              <a:sym typeface="Lato"/>
            </a:endParaRPr>
          </a:p>
          <a:p>
            <a:endParaRPr lang="es-AR" sz="1600" b="1" dirty="0">
              <a:solidFill>
                <a:schemeClr val="tx1"/>
              </a:solidFill>
              <a:highlight>
                <a:srgbClr val="FFFFFF"/>
              </a:highlight>
              <a:latin typeface="Lato"/>
              <a:ea typeface="Lato"/>
              <a:cs typeface="Lato"/>
              <a:sym typeface="Lato"/>
            </a:endParaRPr>
          </a:p>
          <a:p>
            <a:endParaRPr lang="es-AR" sz="1600" b="1" dirty="0">
              <a:solidFill>
                <a:schemeClr val="tx1"/>
              </a:solidFill>
              <a:highlight>
                <a:srgbClr val="FFFFFF"/>
              </a:highlight>
              <a:latin typeface="Lato"/>
              <a:ea typeface="Lato"/>
              <a:cs typeface="Lato"/>
              <a:sym typeface="Lato"/>
            </a:endParaRPr>
          </a:p>
          <a:p>
            <a:endParaRPr lang="es-AR" sz="1600" b="1" dirty="0">
              <a:solidFill>
                <a:schemeClr val="tx1"/>
              </a:solidFill>
              <a:highlight>
                <a:srgbClr val="FFFFFF"/>
              </a:highlight>
              <a:latin typeface="Lato"/>
              <a:ea typeface="Lato"/>
              <a:cs typeface="Lato"/>
              <a:sym typeface="Lato"/>
            </a:endParaRPr>
          </a:p>
          <a:p>
            <a:pPr lvl="0" rtl="0">
              <a:spcBef>
                <a:spcPts val="0"/>
              </a:spcBef>
              <a:spcAft>
                <a:spcPts val="0"/>
              </a:spcAft>
            </a:pPr>
            <a:r>
              <a:rPr lang="es-AR" sz="1600" dirty="0">
                <a:solidFill>
                  <a:srgbClr val="4A4A4A"/>
                </a:solidFill>
                <a:highlight>
                  <a:srgbClr val="FFFFFF"/>
                </a:highlight>
                <a:latin typeface="Lato"/>
                <a:ea typeface="Lato"/>
                <a:cs typeface="Lato"/>
                <a:sym typeface="Lato"/>
              </a:rPr>
              <a:t>En browsers más nuevo se puede establecer el color y tipo de línea que utilizamos</a:t>
            </a:r>
          </a:p>
          <a:p>
            <a:pPr lvl="0" rtl="0">
              <a:spcBef>
                <a:spcPts val="0"/>
              </a:spcBef>
              <a:spcAft>
                <a:spcPts val="0"/>
              </a:spcAft>
            </a:pPr>
            <a:endParaRPr lang="es-AR" sz="1600" dirty="0">
              <a:solidFill>
                <a:srgbClr val="4A4A4A"/>
              </a:solidFill>
              <a:highlight>
                <a:srgbClr val="FFFFFF"/>
              </a:highlight>
              <a:latin typeface="Lato"/>
              <a:ea typeface="Lato"/>
              <a:cs typeface="Lato"/>
              <a:sym typeface="Lato"/>
            </a:endParaRPr>
          </a:p>
          <a:p>
            <a:pPr lvl="0" rtl="0">
              <a:spcBef>
                <a:spcPts val="0"/>
              </a:spcBef>
              <a:spcAft>
                <a:spcPts val="0"/>
              </a:spcAft>
            </a:pPr>
            <a:r>
              <a:rPr lang="es-AR" sz="1600" dirty="0">
                <a:solidFill>
                  <a:srgbClr val="4A4A4A"/>
                </a:solidFill>
                <a:highlight>
                  <a:srgbClr val="FFFFFF"/>
                </a:highlight>
                <a:latin typeface="Lato"/>
                <a:ea typeface="Lato"/>
                <a:cs typeface="Lato"/>
                <a:sym typeface="Lato"/>
              </a:rPr>
              <a:t>Esta opción todavía </a:t>
            </a:r>
            <a:r>
              <a:rPr lang="es-AR" sz="1600" b="0" i="0" dirty="0">
                <a:effectLst/>
                <a:latin typeface="system-ui"/>
                <a:hlinkClick r:id="rId3"/>
              </a:rPr>
              <a:t>no es soportada por todos los browsers</a:t>
            </a:r>
            <a:endParaRPr lang="es-AR" sz="1600" b="0" i="0" dirty="0">
              <a:effectLst/>
              <a:latin typeface="system-ui"/>
            </a:endParaRPr>
          </a:p>
          <a:p>
            <a:pPr marL="285750" lvl="0" indent="-285750" rtl="0">
              <a:spcBef>
                <a:spcPts val="0"/>
              </a:spcBef>
              <a:spcAft>
                <a:spcPts val="0"/>
              </a:spcAft>
              <a:buFont typeface="Arial" panose="020B0604020202020204" pitchFamily="34" charset="0"/>
              <a:buChar char="•"/>
            </a:pPr>
            <a:r>
              <a:rPr lang="es-AR" sz="1600" dirty="0">
                <a:solidFill>
                  <a:srgbClr val="4A4A4A"/>
                </a:solidFill>
                <a:highlight>
                  <a:srgbClr val="FFFFFF"/>
                </a:highlight>
                <a:latin typeface="Lato"/>
                <a:ea typeface="Lato"/>
                <a:cs typeface="Lato"/>
                <a:sym typeface="Lato"/>
              </a:rPr>
              <a:t>Primer parámetro el tipo de decorado</a:t>
            </a:r>
          </a:p>
          <a:p>
            <a:pPr marL="285750" lvl="0" indent="-285750" rtl="0">
              <a:spcBef>
                <a:spcPts val="0"/>
              </a:spcBef>
              <a:spcAft>
                <a:spcPts val="0"/>
              </a:spcAft>
              <a:buFont typeface="Arial" panose="020B0604020202020204" pitchFamily="34" charset="0"/>
              <a:buChar char="•"/>
            </a:pPr>
            <a:r>
              <a:rPr lang="es-AR" sz="1600" dirty="0">
                <a:solidFill>
                  <a:srgbClr val="4A4A4A"/>
                </a:solidFill>
                <a:highlight>
                  <a:srgbClr val="FFFFFF"/>
                </a:highlight>
                <a:latin typeface="Lato"/>
                <a:ea typeface="Lato"/>
                <a:cs typeface="Lato"/>
                <a:sym typeface="Lato"/>
              </a:rPr>
              <a:t>Segundo parámetro el tipo de línea (más sobre esto cuando vemos bordes)</a:t>
            </a:r>
          </a:p>
          <a:p>
            <a:pPr marL="285750" lvl="0" indent="-285750" rtl="0">
              <a:spcBef>
                <a:spcPts val="0"/>
              </a:spcBef>
              <a:spcAft>
                <a:spcPts val="0"/>
              </a:spcAft>
              <a:buFont typeface="Arial" panose="020B0604020202020204" pitchFamily="34" charset="0"/>
              <a:buChar char="•"/>
            </a:pPr>
            <a:r>
              <a:rPr lang="es-AR" sz="1600" dirty="0">
                <a:solidFill>
                  <a:srgbClr val="4A4A4A"/>
                </a:solidFill>
                <a:highlight>
                  <a:srgbClr val="FFFFFF"/>
                </a:highlight>
                <a:latin typeface="Lato"/>
                <a:ea typeface="Lato"/>
                <a:cs typeface="Lato"/>
                <a:sym typeface="Lato"/>
              </a:rPr>
              <a:t>Finalmente establecemos el color de la línea</a:t>
            </a:r>
          </a:p>
        </p:txBody>
      </p:sp>
      <p:pic>
        <p:nvPicPr>
          <p:cNvPr id="3" name="Imagen 2">
            <a:extLst>
              <a:ext uri="{FF2B5EF4-FFF2-40B4-BE49-F238E27FC236}">
                <a16:creationId xmlns:a16="http://schemas.microsoft.com/office/drawing/2014/main" id="{3FEB9657-B079-902E-62D5-F601BC9423BA}"/>
              </a:ext>
            </a:extLst>
          </p:cNvPr>
          <p:cNvPicPr>
            <a:picLocks noChangeAspect="1"/>
          </p:cNvPicPr>
          <p:nvPr/>
        </p:nvPicPr>
        <p:blipFill>
          <a:blip r:embed="rId4"/>
          <a:srcRect l="2447"/>
          <a:stretch/>
        </p:blipFill>
        <p:spPr>
          <a:xfrm>
            <a:off x="2479963" y="1580362"/>
            <a:ext cx="3933850" cy="768909"/>
          </a:xfrm>
          <a:prstGeom prst="rect">
            <a:avLst/>
          </a:prstGeom>
        </p:spPr>
      </p:pic>
      <p:pic>
        <p:nvPicPr>
          <p:cNvPr id="6" name="Imagen 5">
            <a:extLst>
              <a:ext uri="{FF2B5EF4-FFF2-40B4-BE49-F238E27FC236}">
                <a16:creationId xmlns:a16="http://schemas.microsoft.com/office/drawing/2014/main" id="{3664D913-76CF-D7CF-6D54-E65B085E9FF9}"/>
              </a:ext>
            </a:extLst>
          </p:cNvPr>
          <p:cNvPicPr>
            <a:picLocks noChangeAspect="1"/>
          </p:cNvPicPr>
          <p:nvPr/>
        </p:nvPicPr>
        <p:blipFill>
          <a:blip r:embed="rId5"/>
          <a:stretch>
            <a:fillRect/>
          </a:stretch>
        </p:blipFill>
        <p:spPr>
          <a:xfrm>
            <a:off x="3015672" y="4231300"/>
            <a:ext cx="2960595" cy="717019"/>
          </a:xfrm>
          <a:prstGeom prst="rect">
            <a:avLst/>
          </a:prstGeom>
        </p:spPr>
      </p:pic>
    </p:spTree>
    <p:extLst>
      <p:ext uri="{BB962C8B-B14F-4D97-AF65-F5344CB8AC3E}">
        <p14:creationId xmlns:p14="http://schemas.microsoft.com/office/powerpoint/2010/main" val="345227463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4" name="CuadroTexto 3">
            <a:extLst>
              <a:ext uri="{FF2B5EF4-FFF2-40B4-BE49-F238E27FC236}">
                <a16:creationId xmlns:a16="http://schemas.microsoft.com/office/drawing/2014/main" id="{B9B8C329-BED5-C09C-F09B-E2F2A7739CCE}"/>
              </a:ext>
            </a:extLst>
          </p:cNvPr>
          <p:cNvSpPr txBox="1"/>
          <p:nvPr/>
        </p:nvSpPr>
        <p:spPr>
          <a:xfrm>
            <a:off x="434397" y="688695"/>
            <a:ext cx="7855239" cy="2492990"/>
          </a:xfrm>
          <a:prstGeom prst="rect">
            <a:avLst/>
          </a:prstGeom>
          <a:noFill/>
        </p:spPr>
        <p:txBody>
          <a:bodyPr wrap="square">
            <a:spAutoFit/>
          </a:bodyPr>
          <a:lstStyle/>
          <a:p>
            <a:r>
              <a:rPr lang="es-AR" sz="3600" dirty="0" err="1">
                <a:solidFill>
                  <a:srgbClr val="BE3969"/>
                </a:solidFill>
                <a:highlight>
                  <a:srgbClr val="FFFFFF"/>
                </a:highlight>
                <a:latin typeface="Russo One"/>
                <a:ea typeface="Lato"/>
                <a:cs typeface="Lato"/>
                <a:sym typeface="Russo One"/>
              </a:rPr>
              <a:t>Identación</a:t>
            </a:r>
            <a:endParaRPr lang="es-AR" sz="2000" b="1" dirty="0">
              <a:solidFill>
                <a:schemeClr val="tx1"/>
              </a:solidFill>
              <a:highlight>
                <a:srgbClr val="FFFFFF"/>
              </a:highlight>
              <a:latin typeface="Lato"/>
              <a:ea typeface="Lato"/>
              <a:cs typeface="Lato"/>
              <a:sym typeface="Lato"/>
            </a:endParaRPr>
          </a:p>
          <a:p>
            <a:endParaRPr lang="es-AR" sz="2000" b="1" dirty="0">
              <a:solidFill>
                <a:schemeClr val="tx1"/>
              </a:solidFill>
              <a:highlight>
                <a:srgbClr val="FFFFFF"/>
              </a:highlight>
              <a:latin typeface="Lato"/>
              <a:ea typeface="Lato"/>
              <a:cs typeface="Lato"/>
              <a:sym typeface="Lato"/>
            </a:endParaRPr>
          </a:p>
          <a:p>
            <a:pPr marL="285750" lvl="0" indent="-285750" rtl="0">
              <a:spcBef>
                <a:spcPts val="0"/>
              </a:spcBef>
              <a:spcAft>
                <a:spcPts val="0"/>
              </a:spcAft>
              <a:buFont typeface="Arial" panose="020B0604020202020204" pitchFamily="34" charset="0"/>
              <a:buChar char="•"/>
            </a:pPr>
            <a:r>
              <a:rPr lang="es-AR" sz="2000" dirty="0">
                <a:solidFill>
                  <a:srgbClr val="4A4A4A"/>
                </a:solidFill>
                <a:highlight>
                  <a:srgbClr val="FFFFFF"/>
                </a:highlight>
                <a:latin typeface="Lato"/>
                <a:ea typeface="Lato"/>
                <a:cs typeface="Lato"/>
                <a:sym typeface="Lato"/>
              </a:rPr>
              <a:t>Podemos </a:t>
            </a:r>
            <a:r>
              <a:rPr lang="es-AR" sz="2000" dirty="0" err="1">
                <a:solidFill>
                  <a:srgbClr val="4A4A4A"/>
                </a:solidFill>
                <a:highlight>
                  <a:srgbClr val="FFFFFF"/>
                </a:highlight>
                <a:latin typeface="Lato"/>
                <a:ea typeface="Lato"/>
                <a:cs typeface="Lato"/>
                <a:sym typeface="Lato"/>
              </a:rPr>
              <a:t>identar</a:t>
            </a:r>
            <a:r>
              <a:rPr lang="es-AR" sz="2000" dirty="0">
                <a:solidFill>
                  <a:srgbClr val="4A4A4A"/>
                </a:solidFill>
                <a:highlight>
                  <a:srgbClr val="FFFFFF"/>
                </a:highlight>
                <a:latin typeface="Lato"/>
                <a:ea typeface="Lato"/>
                <a:cs typeface="Lato"/>
                <a:sym typeface="Lato"/>
              </a:rPr>
              <a:t> nuestro texto utilizando la propiedad </a:t>
            </a:r>
            <a:r>
              <a:rPr lang="es-AR" sz="2000" dirty="0" err="1">
                <a:solidFill>
                  <a:srgbClr val="4A4A4A"/>
                </a:solidFill>
                <a:highlight>
                  <a:srgbClr val="FFFFFF"/>
                </a:highlight>
                <a:latin typeface="Lato"/>
                <a:ea typeface="Lato"/>
                <a:cs typeface="Lato"/>
                <a:sym typeface="Lato"/>
              </a:rPr>
              <a:t>text-indent</a:t>
            </a:r>
            <a:endParaRPr lang="es-AR" sz="2000" dirty="0">
              <a:solidFill>
                <a:srgbClr val="4A4A4A"/>
              </a:solidFill>
              <a:highlight>
                <a:srgbClr val="FFFFFF"/>
              </a:highlight>
              <a:latin typeface="Lato"/>
              <a:ea typeface="Lato"/>
              <a:cs typeface="Lato"/>
              <a:sym typeface="Lato"/>
            </a:endParaRPr>
          </a:p>
          <a:p>
            <a:pPr marL="285750" lvl="0" indent="-285750" rtl="0">
              <a:spcBef>
                <a:spcPts val="0"/>
              </a:spcBef>
              <a:spcAft>
                <a:spcPts val="0"/>
              </a:spcAft>
              <a:buFont typeface="Arial" panose="020B0604020202020204" pitchFamily="34" charset="0"/>
              <a:buChar char="•"/>
            </a:pPr>
            <a:r>
              <a:rPr lang="es-AR" sz="2000" dirty="0">
                <a:solidFill>
                  <a:srgbClr val="4A4A4A"/>
                </a:solidFill>
                <a:highlight>
                  <a:srgbClr val="FFFFFF"/>
                </a:highlight>
                <a:latin typeface="Lato"/>
                <a:ea typeface="Lato"/>
                <a:cs typeface="Lato"/>
                <a:sym typeface="Lato"/>
              </a:rPr>
              <a:t>Esta propiedad nos permite establecer un valor que va a funcionar como </a:t>
            </a:r>
            <a:r>
              <a:rPr lang="es-AR" sz="2000" dirty="0" err="1">
                <a:solidFill>
                  <a:srgbClr val="4A4A4A"/>
                </a:solidFill>
                <a:highlight>
                  <a:srgbClr val="FFFFFF"/>
                </a:highlight>
                <a:latin typeface="Lato"/>
                <a:ea typeface="Lato"/>
                <a:cs typeface="Lato"/>
                <a:sym typeface="Lato"/>
              </a:rPr>
              <a:t>márgen</a:t>
            </a:r>
            <a:r>
              <a:rPr lang="es-AR" sz="2000" dirty="0">
                <a:solidFill>
                  <a:srgbClr val="4A4A4A"/>
                </a:solidFill>
                <a:highlight>
                  <a:srgbClr val="FFFFFF"/>
                </a:highlight>
                <a:latin typeface="Lato"/>
                <a:ea typeface="Lato"/>
                <a:cs typeface="Lato"/>
                <a:sym typeface="Lato"/>
              </a:rPr>
              <a:t> izquierdo de la primer palabra de la primer línea.</a:t>
            </a:r>
          </a:p>
          <a:p>
            <a:pPr marL="285750" lvl="0" indent="-285750" rtl="0">
              <a:spcBef>
                <a:spcPts val="0"/>
              </a:spcBef>
              <a:spcAft>
                <a:spcPts val="0"/>
              </a:spcAft>
              <a:buFont typeface="Arial" panose="020B0604020202020204" pitchFamily="34" charset="0"/>
              <a:buChar char="•"/>
            </a:pPr>
            <a:r>
              <a:rPr lang="es-AR" sz="2000" dirty="0">
                <a:solidFill>
                  <a:srgbClr val="4A4A4A"/>
                </a:solidFill>
                <a:highlight>
                  <a:srgbClr val="FFFFFF"/>
                </a:highlight>
                <a:latin typeface="Lato"/>
                <a:ea typeface="Lato"/>
                <a:cs typeface="Lato"/>
                <a:sym typeface="Lato"/>
              </a:rPr>
              <a:t>Acepta valores negativos</a:t>
            </a:r>
          </a:p>
          <a:p>
            <a:pPr marL="285750" lvl="0" indent="-285750" rtl="0">
              <a:spcBef>
                <a:spcPts val="0"/>
              </a:spcBef>
              <a:spcAft>
                <a:spcPts val="0"/>
              </a:spcAft>
              <a:buFont typeface="Arial" panose="020B0604020202020204" pitchFamily="34" charset="0"/>
              <a:buChar char="•"/>
            </a:pPr>
            <a:r>
              <a:rPr lang="es-AR" sz="2000" dirty="0">
                <a:solidFill>
                  <a:srgbClr val="4A4A4A"/>
                </a:solidFill>
                <a:highlight>
                  <a:srgbClr val="FFFFFF"/>
                </a:highlight>
                <a:latin typeface="Lato"/>
                <a:ea typeface="Lato"/>
                <a:cs typeface="Lato"/>
                <a:sym typeface="Lato"/>
              </a:rPr>
              <a:t>Podemos aprender más sobre esta propiedad en el sitio de MDN</a:t>
            </a:r>
          </a:p>
        </p:txBody>
      </p:sp>
      <p:pic>
        <p:nvPicPr>
          <p:cNvPr id="5" name="Imagen 4">
            <a:extLst>
              <a:ext uri="{FF2B5EF4-FFF2-40B4-BE49-F238E27FC236}">
                <a16:creationId xmlns:a16="http://schemas.microsoft.com/office/drawing/2014/main" id="{81E1D78D-E576-E1A4-2202-EB6CFCC5F56F}"/>
              </a:ext>
            </a:extLst>
          </p:cNvPr>
          <p:cNvPicPr>
            <a:picLocks noChangeAspect="1"/>
          </p:cNvPicPr>
          <p:nvPr/>
        </p:nvPicPr>
        <p:blipFill>
          <a:blip r:embed="rId3"/>
          <a:srcRect l="2737"/>
          <a:stretch/>
        </p:blipFill>
        <p:spPr>
          <a:xfrm>
            <a:off x="2301220" y="3685310"/>
            <a:ext cx="4541560" cy="975496"/>
          </a:xfrm>
          <a:prstGeom prst="rect">
            <a:avLst/>
          </a:prstGeom>
        </p:spPr>
      </p:pic>
    </p:spTree>
    <p:extLst>
      <p:ext uri="{BB962C8B-B14F-4D97-AF65-F5344CB8AC3E}">
        <p14:creationId xmlns:p14="http://schemas.microsoft.com/office/powerpoint/2010/main" val="58820359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4" name="CuadroTexto 3">
            <a:extLst>
              <a:ext uri="{FF2B5EF4-FFF2-40B4-BE49-F238E27FC236}">
                <a16:creationId xmlns:a16="http://schemas.microsoft.com/office/drawing/2014/main" id="{B9B8C329-BED5-C09C-F09B-E2F2A7739CCE}"/>
              </a:ext>
            </a:extLst>
          </p:cNvPr>
          <p:cNvSpPr txBox="1"/>
          <p:nvPr/>
        </p:nvSpPr>
        <p:spPr>
          <a:xfrm>
            <a:off x="434397" y="688695"/>
            <a:ext cx="7855239" cy="2831544"/>
          </a:xfrm>
          <a:prstGeom prst="rect">
            <a:avLst/>
          </a:prstGeom>
          <a:noFill/>
        </p:spPr>
        <p:txBody>
          <a:bodyPr wrap="square">
            <a:spAutoFit/>
          </a:bodyPr>
          <a:lstStyle/>
          <a:p>
            <a:r>
              <a:rPr lang="es-AR" sz="2400" dirty="0">
                <a:solidFill>
                  <a:srgbClr val="BE3969"/>
                </a:solidFill>
                <a:highlight>
                  <a:srgbClr val="FFFFFF"/>
                </a:highlight>
                <a:latin typeface="Russo One"/>
                <a:ea typeface="Lato"/>
                <a:cs typeface="Lato"/>
                <a:sym typeface="Russo One"/>
              </a:rPr>
              <a:t>Sombra</a:t>
            </a:r>
            <a:endParaRPr lang="es-AR" b="1" dirty="0">
              <a:solidFill>
                <a:schemeClr val="tx1"/>
              </a:solidFill>
              <a:highlight>
                <a:srgbClr val="FFFFFF"/>
              </a:highlight>
              <a:latin typeface="Lato"/>
              <a:ea typeface="Lato"/>
              <a:cs typeface="Lato"/>
              <a:sym typeface="Lato"/>
            </a:endParaRPr>
          </a:p>
          <a:p>
            <a:endParaRPr lang="es-AR" b="1" dirty="0">
              <a:solidFill>
                <a:schemeClr val="tx1"/>
              </a:solidFill>
              <a:highlight>
                <a:srgbClr val="FFFFFF"/>
              </a:highlight>
              <a:latin typeface="Lato"/>
              <a:ea typeface="Lato"/>
              <a:cs typeface="Lato"/>
              <a:sym typeface="Lato"/>
            </a:endParaRPr>
          </a:p>
          <a:p>
            <a:pPr marL="285750" lvl="0" indent="-285750" rtl="0">
              <a:spcBef>
                <a:spcPts val="0"/>
              </a:spcBef>
              <a:spcAft>
                <a:spcPts val="0"/>
              </a:spcAft>
              <a:buFont typeface="Arial" panose="020B0604020202020204" pitchFamily="34" charset="0"/>
              <a:buChar char="•"/>
            </a:pPr>
            <a:r>
              <a:rPr lang="es-AR" dirty="0">
                <a:solidFill>
                  <a:srgbClr val="4A4A4A"/>
                </a:solidFill>
                <a:highlight>
                  <a:srgbClr val="FFFFFF"/>
                </a:highlight>
                <a:latin typeface="Lato"/>
                <a:ea typeface="Lato"/>
                <a:cs typeface="Lato"/>
                <a:sym typeface="Lato"/>
              </a:rPr>
              <a:t>Para establecer la sombra de nuestro texto utilizamos la propiedad </a:t>
            </a:r>
            <a:r>
              <a:rPr lang="es-AR" dirty="0" err="1">
                <a:solidFill>
                  <a:srgbClr val="4A4A4A"/>
                </a:solidFill>
                <a:highlight>
                  <a:srgbClr val="FFFFFF"/>
                </a:highlight>
                <a:latin typeface="Lato"/>
                <a:ea typeface="Lato"/>
                <a:cs typeface="Lato"/>
                <a:sym typeface="Lato"/>
              </a:rPr>
              <a:t>text-shadow</a:t>
            </a:r>
            <a:endParaRPr lang="es-AR" dirty="0">
              <a:solidFill>
                <a:srgbClr val="4A4A4A"/>
              </a:solidFill>
              <a:highlight>
                <a:srgbClr val="FFFFFF"/>
              </a:highlight>
              <a:latin typeface="Lato"/>
              <a:ea typeface="Lato"/>
              <a:cs typeface="Lato"/>
              <a:sym typeface="Lato"/>
            </a:endParaRPr>
          </a:p>
          <a:p>
            <a:pPr lvl="0" rtl="0">
              <a:spcBef>
                <a:spcPts val="0"/>
              </a:spcBef>
              <a:spcAft>
                <a:spcPts val="0"/>
              </a:spcAft>
            </a:pPr>
            <a:endParaRPr lang="es-AR" dirty="0">
              <a:solidFill>
                <a:srgbClr val="4A4A4A"/>
              </a:solidFill>
              <a:highlight>
                <a:srgbClr val="FFFFFF"/>
              </a:highlight>
              <a:latin typeface="Lato"/>
              <a:ea typeface="Lato"/>
              <a:cs typeface="Lato"/>
              <a:sym typeface="Lato"/>
            </a:endParaRPr>
          </a:p>
          <a:p>
            <a:pPr lvl="0" rtl="0">
              <a:spcBef>
                <a:spcPts val="0"/>
              </a:spcBef>
              <a:spcAft>
                <a:spcPts val="0"/>
              </a:spcAft>
            </a:pPr>
            <a:r>
              <a:rPr lang="es-AR" dirty="0">
                <a:solidFill>
                  <a:srgbClr val="4A4A4A"/>
                </a:solidFill>
                <a:highlight>
                  <a:srgbClr val="FFFFFF"/>
                </a:highlight>
                <a:latin typeface="Lato"/>
                <a:ea typeface="Lato"/>
                <a:cs typeface="Lato"/>
                <a:sym typeface="Lato"/>
              </a:rPr>
              <a:t>Esta propiedad utiliza varios valores:</a:t>
            </a:r>
          </a:p>
          <a:p>
            <a:pPr marL="285750" lvl="0" indent="-285750" rtl="0">
              <a:spcBef>
                <a:spcPts val="0"/>
              </a:spcBef>
              <a:spcAft>
                <a:spcPts val="0"/>
              </a:spcAft>
              <a:buFont typeface="Arial" panose="020B0604020202020204" pitchFamily="34" charset="0"/>
              <a:buChar char="•"/>
            </a:pPr>
            <a:r>
              <a:rPr lang="es-AR" dirty="0">
                <a:solidFill>
                  <a:schemeClr val="tx1"/>
                </a:solidFill>
                <a:highlight>
                  <a:srgbClr val="FFFFFF"/>
                </a:highlight>
                <a:latin typeface="Lato"/>
                <a:ea typeface="Lato"/>
                <a:cs typeface="Lato"/>
                <a:sym typeface="Lato"/>
              </a:rPr>
              <a:t>El primer parámetro </a:t>
            </a:r>
            <a:r>
              <a:rPr lang="es-AR" dirty="0">
                <a:solidFill>
                  <a:srgbClr val="4A4A4A"/>
                </a:solidFill>
                <a:highlight>
                  <a:srgbClr val="FFFFFF"/>
                </a:highlight>
                <a:latin typeface="Lato"/>
                <a:ea typeface="Lato"/>
                <a:cs typeface="Lato"/>
                <a:sym typeface="Lato"/>
              </a:rPr>
              <a:t>maneja el eje x de nuestra sombra, es decir que va de izquierda a derecha</a:t>
            </a:r>
          </a:p>
          <a:p>
            <a:pPr marL="285750" lvl="0" indent="-285750" rtl="0">
              <a:spcBef>
                <a:spcPts val="0"/>
              </a:spcBef>
              <a:spcAft>
                <a:spcPts val="0"/>
              </a:spcAft>
              <a:buFont typeface="Arial" panose="020B0604020202020204" pitchFamily="34" charset="0"/>
              <a:buChar char="•"/>
            </a:pPr>
            <a:r>
              <a:rPr lang="es-AR" dirty="0">
                <a:solidFill>
                  <a:schemeClr val="tx1"/>
                </a:solidFill>
                <a:highlight>
                  <a:srgbClr val="FFFFFF"/>
                </a:highlight>
                <a:latin typeface="Lato"/>
                <a:ea typeface="Lato"/>
                <a:cs typeface="Lato"/>
                <a:sym typeface="Lato"/>
              </a:rPr>
              <a:t>El segundo parámetro </a:t>
            </a:r>
            <a:r>
              <a:rPr lang="es-AR" dirty="0">
                <a:solidFill>
                  <a:srgbClr val="4A4A4A"/>
                </a:solidFill>
                <a:highlight>
                  <a:srgbClr val="FFFFFF"/>
                </a:highlight>
                <a:latin typeface="Lato"/>
                <a:ea typeface="Lato"/>
                <a:cs typeface="Lato"/>
                <a:sym typeface="Lato"/>
              </a:rPr>
              <a:t>maneja el eje, es decir que va de arriba a abajo</a:t>
            </a:r>
          </a:p>
          <a:p>
            <a:pPr marL="285750" lvl="0" indent="-285750" rtl="0">
              <a:spcBef>
                <a:spcPts val="0"/>
              </a:spcBef>
              <a:spcAft>
                <a:spcPts val="0"/>
              </a:spcAft>
              <a:buFont typeface="Arial" panose="020B0604020202020204" pitchFamily="34" charset="0"/>
              <a:buChar char="•"/>
            </a:pPr>
            <a:r>
              <a:rPr lang="es-AR" dirty="0">
                <a:solidFill>
                  <a:schemeClr val="tx1"/>
                </a:solidFill>
                <a:highlight>
                  <a:srgbClr val="FFFFFF"/>
                </a:highlight>
                <a:latin typeface="Lato"/>
                <a:ea typeface="Lato"/>
                <a:cs typeface="Lato"/>
                <a:sym typeface="Lato"/>
              </a:rPr>
              <a:t>El tercer parámetro </a:t>
            </a:r>
            <a:r>
              <a:rPr lang="es-AR" dirty="0">
                <a:solidFill>
                  <a:srgbClr val="4A4A4A"/>
                </a:solidFill>
                <a:highlight>
                  <a:srgbClr val="FFFFFF"/>
                </a:highlight>
                <a:latin typeface="Lato"/>
                <a:ea typeface="Lato"/>
                <a:cs typeface="Lato"/>
                <a:sym typeface="Lato"/>
              </a:rPr>
              <a:t>maneja el </a:t>
            </a:r>
            <a:r>
              <a:rPr lang="es-AR" dirty="0" err="1">
                <a:solidFill>
                  <a:srgbClr val="4A4A4A"/>
                </a:solidFill>
                <a:highlight>
                  <a:srgbClr val="FFFFFF"/>
                </a:highlight>
                <a:latin typeface="Lato"/>
                <a:ea typeface="Lato"/>
                <a:cs typeface="Lato"/>
                <a:sym typeface="Lato"/>
              </a:rPr>
              <a:t>blur</a:t>
            </a:r>
            <a:r>
              <a:rPr lang="es-AR" dirty="0">
                <a:solidFill>
                  <a:srgbClr val="4A4A4A"/>
                </a:solidFill>
                <a:highlight>
                  <a:srgbClr val="FFFFFF"/>
                </a:highlight>
                <a:latin typeface="Lato"/>
                <a:ea typeface="Lato"/>
                <a:cs typeface="Lato"/>
                <a:sym typeface="Lato"/>
              </a:rPr>
              <a:t> (difuminar) de la sombra</a:t>
            </a:r>
          </a:p>
          <a:p>
            <a:pPr marL="285750" lvl="0" indent="-285750" rtl="0">
              <a:spcBef>
                <a:spcPts val="0"/>
              </a:spcBef>
              <a:spcAft>
                <a:spcPts val="0"/>
              </a:spcAft>
              <a:buFont typeface="Arial" panose="020B0604020202020204" pitchFamily="34" charset="0"/>
              <a:buChar char="•"/>
            </a:pPr>
            <a:r>
              <a:rPr lang="es-AR" dirty="0">
                <a:solidFill>
                  <a:schemeClr val="tx1"/>
                </a:solidFill>
                <a:highlight>
                  <a:srgbClr val="FFFFFF"/>
                </a:highlight>
                <a:latin typeface="Lato"/>
                <a:ea typeface="Lato"/>
                <a:cs typeface="Lato"/>
                <a:sym typeface="Lato"/>
              </a:rPr>
              <a:t>El cuarto parámetro </a:t>
            </a:r>
            <a:r>
              <a:rPr lang="es-AR" dirty="0">
                <a:solidFill>
                  <a:srgbClr val="4A4A4A"/>
                </a:solidFill>
                <a:highlight>
                  <a:srgbClr val="FFFFFF"/>
                </a:highlight>
                <a:latin typeface="Lato"/>
                <a:ea typeface="Lato"/>
                <a:cs typeface="Lato"/>
                <a:sym typeface="Lato"/>
              </a:rPr>
              <a:t>es el color de la sombra</a:t>
            </a:r>
          </a:p>
          <a:p>
            <a:pPr lvl="0" rtl="0">
              <a:spcBef>
                <a:spcPts val="0"/>
              </a:spcBef>
              <a:spcAft>
                <a:spcPts val="0"/>
              </a:spcAft>
            </a:pPr>
            <a:endParaRPr lang="es-AR" dirty="0">
              <a:solidFill>
                <a:srgbClr val="4A4A4A"/>
              </a:solidFill>
              <a:highlight>
                <a:srgbClr val="FFFFFF"/>
              </a:highlight>
              <a:latin typeface="Lato"/>
              <a:ea typeface="Lato"/>
              <a:cs typeface="Lato"/>
              <a:sym typeface="Lato"/>
            </a:endParaRPr>
          </a:p>
          <a:p>
            <a:pPr lvl="0" rtl="0">
              <a:spcBef>
                <a:spcPts val="0"/>
              </a:spcBef>
              <a:spcAft>
                <a:spcPts val="0"/>
              </a:spcAft>
            </a:pPr>
            <a:r>
              <a:rPr lang="es-AR" dirty="0">
                <a:solidFill>
                  <a:srgbClr val="4A4A4A"/>
                </a:solidFill>
                <a:highlight>
                  <a:srgbClr val="FFFFFF"/>
                </a:highlight>
                <a:latin typeface="Lato"/>
                <a:ea typeface="Lato"/>
                <a:cs typeface="Lato"/>
                <a:sym typeface="Lato"/>
              </a:rPr>
              <a:t>Podemos aprender más sobre esta propiedad en el </a:t>
            </a:r>
            <a:r>
              <a:rPr lang="es-AR" b="0" i="0" dirty="0">
                <a:effectLst/>
                <a:latin typeface="system-ui"/>
                <a:hlinkClick r:id="rId3"/>
              </a:rPr>
              <a:t>sitio de MDN</a:t>
            </a:r>
            <a:endParaRPr lang="es-AR" b="0" i="0" dirty="0">
              <a:effectLst/>
              <a:latin typeface="system-ui"/>
            </a:endParaRPr>
          </a:p>
          <a:p>
            <a:pPr lvl="0" rtl="0">
              <a:spcBef>
                <a:spcPts val="0"/>
              </a:spcBef>
              <a:spcAft>
                <a:spcPts val="0"/>
              </a:spcAft>
            </a:pPr>
            <a:r>
              <a:rPr lang="es-AR" dirty="0">
                <a:solidFill>
                  <a:srgbClr val="4A4A4A"/>
                </a:solidFill>
                <a:highlight>
                  <a:srgbClr val="FFFFFF"/>
                </a:highlight>
                <a:latin typeface="Lato"/>
                <a:ea typeface="Lato"/>
                <a:cs typeface="Lato"/>
                <a:sym typeface="Lato"/>
              </a:rPr>
              <a:t>Los browsers actuales </a:t>
            </a:r>
            <a:r>
              <a:rPr lang="es-AR" b="0" i="0" dirty="0">
                <a:effectLst/>
                <a:latin typeface="system-ui"/>
                <a:hlinkClick r:id="rId4"/>
              </a:rPr>
              <a:t>soportan bien esta propiedad</a:t>
            </a:r>
            <a:endParaRPr lang="es-AR" dirty="0">
              <a:solidFill>
                <a:srgbClr val="4A4A4A"/>
              </a:solidFill>
              <a:highlight>
                <a:srgbClr val="FFFFFF"/>
              </a:highlight>
              <a:latin typeface="Lato"/>
              <a:ea typeface="Lato"/>
              <a:cs typeface="Lato"/>
              <a:sym typeface="Lato"/>
            </a:endParaRPr>
          </a:p>
        </p:txBody>
      </p:sp>
      <p:pic>
        <p:nvPicPr>
          <p:cNvPr id="3" name="Imagen 2">
            <a:extLst>
              <a:ext uri="{FF2B5EF4-FFF2-40B4-BE49-F238E27FC236}">
                <a16:creationId xmlns:a16="http://schemas.microsoft.com/office/drawing/2014/main" id="{4EEF30FD-86EB-97A6-0959-0B2377237EAC}"/>
              </a:ext>
            </a:extLst>
          </p:cNvPr>
          <p:cNvPicPr>
            <a:picLocks noChangeAspect="1"/>
          </p:cNvPicPr>
          <p:nvPr/>
        </p:nvPicPr>
        <p:blipFill>
          <a:blip r:embed="rId5"/>
          <a:stretch>
            <a:fillRect/>
          </a:stretch>
        </p:blipFill>
        <p:spPr>
          <a:xfrm>
            <a:off x="720437" y="4043884"/>
            <a:ext cx="3675014" cy="466337"/>
          </a:xfrm>
          <a:prstGeom prst="rect">
            <a:avLst/>
          </a:prstGeom>
        </p:spPr>
      </p:pic>
      <p:sp>
        <p:nvSpPr>
          <p:cNvPr id="6" name="Rectángulo 5">
            <a:extLst>
              <a:ext uri="{FF2B5EF4-FFF2-40B4-BE49-F238E27FC236}">
                <a16:creationId xmlns:a16="http://schemas.microsoft.com/office/drawing/2014/main" id="{DF15C2AF-9422-D5D5-1CBD-37CBC2BAF534}"/>
              </a:ext>
            </a:extLst>
          </p:cNvPr>
          <p:cNvSpPr/>
          <p:nvPr/>
        </p:nvSpPr>
        <p:spPr>
          <a:xfrm>
            <a:off x="4958878" y="3838326"/>
            <a:ext cx="3464685" cy="87745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s-AR" b="0" i="0" dirty="0">
                <a:solidFill>
                  <a:srgbClr val="F5F6F7"/>
                </a:solidFill>
                <a:effectLst/>
                <a:latin typeface="system-ui"/>
              </a:rPr>
              <a:t>Para jugar con estas opciones podemos usar el </a:t>
            </a:r>
            <a:r>
              <a:rPr lang="es-AR" b="0" i="0" dirty="0">
                <a:solidFill>
                  <a:srgbClr val="F5F6F7"/>
                </a:solidFill>
                <a:effectLst/>
                <a:latin typeface="system-ui"/>
                <a:hlinkClick r:id="rId6"/>
              </a:rPr>
              <a:t>siguiente sitio</a:t>
            </a:r>
            <a:endParaRPr lang="es-AR" b="0" i="0" dirty="0">
              <a:solidFill>
                <a:srgbClr val="F5F6F7"/>
              </a:solidFill>
              <a:effectLst/>
              <a:latin typeface="system-ui"/>
            </a:endParaRPr>
          </a:p>
        </p:txBody>
      </p:sp>
    </p:spTree>
    <p:extLst>
      <p:ext uri="{BB962C8B-B14F-4D97-AF65-F5344CB8AC3E}">
        <p14:creationId xmlns:p14="http://schemas.microsoft.com/office/powerpoint/2010/main" val="322427710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4" name="CuadroTexto 3">
            <a:extLst>
              <a:ext uri="{FF2B5EF4-FFF2-40B4-BE49-F238E27FC236}">
                <a16:creationId xmlns:a16="http://schemas.microsoft.com/office/drawing/2014/main" id="{B9B8C329-BED5-C09C-F09B-E2F2A7739CCE}"/>
              </a:ext>
            </a:extLst>
          </p:cNvPr>
          <p:cNvSpPr txBox="1"/>
          <p:nvPr/>
        </p:nvSpPr>
        <p:spPr>
          <a:xfrm>
            <a:off x="434398" y="688695"/>
            <a:ext cx="4428548" cy="4185761"/>
          </a:xfrm>
          <a:prstGeom prst="rect">
            <a:avLst/>
          </a:prstGeom>
          <a:noFill/>
        </p:spPr>
        <p:txBody>
          <a:bodyPr wrap="square">
            <a:spAutoFit/>
          </a:bodyPr>
          <a:lstStyle/>
          <a:p>
            <a:r>
              <a:rPr lang="es-AR" sz="3200" dirty="0">
                <a:solidFill>
                  <a:srgbClr val="BE3969"/>
                </a:solidFill>
                <a:highlight>
                  <a:srgbClr val="FFFFFF"/>
                </a:highlight>
                <a:latin typeface="Russo One"/>
                <a:ea typeface="Lato"/>
                <a:cs typeface="Lato"/>
                <a:sym typeface="Russo One"/>
              </a:rPr>
              <a:t>Espaciado o aire</a:t>
            </a:r>
          </a:p>
          <a:p>
            <a:endParaRPr lang="es-AR" sz="1800" b="1" dirty="0">
              <a:solidFill>
                <a:schemeClr val="tx1"/>
              </a:solidFill>
              <a:highlight>
                <a:srgbClr val="FFFFFF"/>
              </a:highlight>
              <a:latin typeface="Lato"/>
              <a:ea typeface="Lato"/>
              <a:cs typeface="Lato"/>
              <a:sym typeface="Lato"/>
            </a:endParaRPr>
          </a:p>
          <a:p>
            <a:pPr marL="285750" lvl="0" indent="-285750" rtl="0">
              <a:spcBef>
                <a:spcPts val="0"/>
              </a:spcBef>
              <a:spcAft>
                <a:spcPts val="0"/>
              </a:spcAft>
              <a:buFont typeface="Arial" panose="020B0604020202020204" pitchFamily="34" charset="0"/>
              <a:buChar char="•"/>
            </a:pPr>
            <a:r>
              <a:rPr lang="es-AR" sz="1800" dirty="0">
                <a:solidFill>
                  <a:srgbClr val="4A4A4A"/>
                </a:solidFill>
                <a:highlight>
                  <a:srgbClr val="FFFFFF"/>
                </a:highlight>
                <a:latin typeface="Lato"/>
                <a:ea typeface="Lato"/>
                <a:cs typeface="Lato"/>
                <a:sym typeface="Lato"/>
              </a:rPr>
              <a:t>Podemos establecer la distancia tanto entre letras como palabras</a:t>
            </a:r>
          </a:p>
          <a:p>
            <a:pPr marL="285750" lvl="0" indent="-285750" rtl="0">
              <a:spcBef>
                <a:spcPts val="0"/>
              </a:spcBef>
              <a:spcAft>
                <a:spcPts val="0"/>
              </a:spcAft>
              <a:buFont typeface="Arial" panose="020B0604020202020204" pitchFamily="34" charset="0"/>
              <a:buChar char="•"/>
            </a:pPr>
            <a:r>
              <a:rPr lang="es-AR" sz="1800" dirty="0">
                <a:solidFill>
                  <a:srgbClr val="4A4A4A"/>
                </a:solidFill>
                <a:highlight>
                  <a:srgbClr val="FFFFFF"/>
                </a:highlight>
                <a:latin typeface="Lato"/>
                <a:ea typeface="Lato"/>
                <a:cs typeface="Lato"/>
                <a:sym typeface="Lato"/>
              </a:rPr>
              <a:t>Para manejar la distancia entre letras utilizamos </a:t>
            </a:r>
            <a:r>
              <a:rPr lang="es-AR" sz="1800" dirty="0" err="1">
                <a:solidFill>
                  <a:srgbClr val="4A4A4A"/>
                </a:solidFill>
                <a:highlight>
                  <a:srgbClr val="FFFFFF"/>
                </a:highlight>
                <a:latin typeface="Lato"/>
                <a:ea typeface="Lato"/>
                <a:cs typeface="Lato"/>
                <a:sym typeface="Lato"/>
              </a:rPr>
              <a:t>letter-spacing</a:t>
            </a:r>
            <a:endParaRPr lang="es-AR" sz="1800" dirty="0">
              <a:solidFill>
                <a:srgbClr val="4A4A4A"/>
              </a:solidFill>
              <a:highlight>
                <a:srgbClr val="FFFFFF"/>
              </a:highlight>
              <a:latin typeface="Lato"/>
              <a:ea typeface="Lato"/>
              <a:cs typeface="Lato"/>
              <a:sym typeface="Lato"/>
            </a:endParaRPr>
          </a:p>
          <a:p>
            <a:pPr marL="285750" lvl="0" indent="-285750" rtl="0">
              <a:spcBef>
                <a:spcPts val="0"/>
              </a:spcBef>
              <a:spcAft>
                <a:spcPts val="0"/>
              </a:spcAft>
              <a:buFont typeface="Arial" panose="020B0604020202020204" pitchFamily="34" charset="0"/>
              <a:buChar char="•"/>
            </a:pPr>
            <a:r>
              <a:rPr lang="es-AR" sz="1800" dirty="0">
                <a:solidFill>
                  <a:srgbClr val="4A4A4A"/>
                </a:solidFill>
                <a:highlight>
                  <a:srgbClr val="FFFFFF"/>
                </a:highlight>
                <a:latin typeface="Lato"/>
                <a:ea typeface="Lato"/>
                <a:cs typeface="Lato"/>
                <a:sym typeface="Lato"/>
              </a:rPr>
              <a:t>Para manejar la distancia entre letras utilizamos </a:t>
            </a:r>
            <a:r>
              <a:rPr lang="es-AR" sz="1800" dirty="0" err="1">
                <a:solidFill>
                  <a:srgbClr val="4A4A4A"/>
                </a:solidFill>
                <a:highlight>
                  <a:srgbClr val="FFFFFF"/>
                </a:highlight>
                <a:latin typeface="Lato"/>
                <a:ea typeface="Lato"/>
                <a:cs typeface="Lato"/>
                <a:sym typeface="Lato"/>
              </a:rPr>
              <a:t>word-spacing</a:t>
            </a:r>
            <a:endParaRPr lang="es-AR" sz="1800" dirty="0">
              <a:solidFill>
                <a:srgbClr val="4A4A4A"/>
              </a:solidFill>
              <a:highlight>
                <a:srgbClr val="FFFFFF"/>
              </a:highlight>
              <a:latin typeface="Lato"/>
              <a:ea typeface="Lato"/>
              <a:cs typeface="Lato"/>
              <a:sym typeface="Lato"/>
            </a:endParaRPr>
          </a:p>
          <a:p>
            <a:pPr lvl="0" rtl="0">
              <a:spcBef>
                <a:spcPts val="0"/>
              </a:spcBef>
              <a:spcAft>
                <a:spcPts val="0"/>
              </a:spcAft>
            </a:pPr>
            <a:endParaRPr lang="es-AR" sz="1800" dirty="0">
              <a:solidFill>
                <a:srgbClr val="4A4A4A"/>
              </a:solidFill>
              <a:highlight>
                <a:srgbClr val="FFFFFF"/>
              </a:highlight>
              <a:latin typeface="Lato"/>
              <a:ea typeface="Lato"/>
              <a:cs typeface="Lato"/>
              <a:sym typeface="Lato"/>
            </a:endParaRPr>
          </a:p>
          <a:p>
            <a:pPr lvl="0" rtl="0">
              <a:spcBef>
                <a:spcPts val="0"/>
              </a:spcBef>
              <a:spcAft>
                <a:spcPts val="0"/>
              </a:spcAft>
            </a:pPr>
            <a:r>
              <a:rPr lang="es-AR" sz="1800" dirty="0">
                <a:solidFill>
                  <a:srgbClr val="4A4A4A"/>
                </a:solidFill>
                <a:highlight>
                  <a:srgbClr val="FFFFFF"/>
                </a:highlight>
                <a:latin typeface="Lato"/>
                <a:ea typeface="Lato"/>
                <a:cs typeface="Lato"/>
                <a:sym typeface="Lato"/>
              </a:rPr>
              <a:t>Podemos aprender más sobre esta propiedad en el sitio de MDN:</a:t>
            </a:r>
          </a:p>
          <a:p>
            <a:pPr algn="l">
              <a:buFont typeface="Arial" panose="020B0604020202020204" pitchFamily="34" charset="0"/>
              <a:buChar char="•"/>
            </a:pPr>
            <a:r>
              <a:rPr lang="es-AR" sz="1800" b="0" i="0" dirty="0">
                <a:solidFill>
                  <a:srgbClr val="F5F6F7"/>
                </a:solidFill>
                <a:effectLst/>
                <a:latin typeface="system-ui"/>
                <a:hlinkClick r:id="rId3"/>
              </a:rPr>
              <a:t> </a:t>
            </a:r>
            <a:r>
              <a:rPr lang="es-AR" sz="1800" b="0" i="0" dirty="0" err="1">
                <a:solidFill>
                  <a:srgbClr val="F5F6F7"/>
                </a:solidFill>
                <a:effectLst/>
                <a:latin typeface="system-ui"/>
                <a:hlinkClick r:id="rId3"/>
              </a:rPr>
              <a:t>letter-spacing</a:t>
            </a:r>
            <a:endParaRPr lang="es-AR" sz="1800" b="0" i="0" dirty="0">
              <a:solidFill>
                <a:srgbClr val="F5F6F7"/>
              </a:solidFill>
              <a:effectLst/>
              <a:latin typeface="system-ui"/>
            </a:endParaRPr>
          </a:p>
          <a:p>
            <a:pPr algn="l">
              <a:buFont typeface="Arial" panose="020B0604020202020204" pitchFamily="34" charset="0"/>
              <a:buChar char="•"/>
            </a:pPr>
            <a:r>
              <a:rPr lang="es-AR" sz="1800" b="0" i="0" dirty="0">
                <a:solidFill>
                  <a:srgbClr val="F5F6F7"/>
                </a:solidFill>
                <a:effectLst/>
                <a:latin typeface="system-ui"/>
                <a:hlinkClick r:id="rId4"/>
              </a:rPr>
              <a:t> </a:t>
            </a:r>
            <a:r>
              <a:rPr lang="es-AR" sz="1800" b="0" i="0" dirty="0" err="1">
                <a:solidFill>
                  <a:srgbClr val="F5F6F7"/>
                </a:solidFill>
                <a:effectLst/>
                <a:latin typeface="system-ui"/>
                <a:hlinkClick r:id="rId4"/>
              </a:rPr>
              <a:t>word-spacing</a:t>
            </a:r>
            <a:endParaRPr lang="es-AR" sz="1800" b="0" i="0" dirty="0">
              <a:solidFill>
                <a:srgbClr val="F5F6F7"/>
              </a:solidFill>
              <a:effectLst/>
              <a:latin typeface="system-ui"/>
            </a:endParaRPr>
          </a:p>
          <a:p>
            <a:pPr marL="285750" lvl="0" indent="-285750" rtl="0">
              <a:spcBef>
                <a:spcPts val="0"/>
              </a:spcBef>
              <a:spcAft>
                <a:spcPts val="0"/>
              </a:spcAft>
              <a:buFont typeface="Arial" panose="020B0604020202020204" pitchFamily="34" charset="0"/>
              <a:buChar char="•"/>
            </a:pPr>
            <a:endParaRPr lang="es-AR" sz="1800" dirty="0">
              <a:solidFill>
                <a:srgbClr val="4A4A4A"/>
              </a:solidFill>
              <a:highlight>
                <a:srgbClr val="FFFFFF"/>
              </a:highlight>
              <a:latin typeface="Lato"/>
              <a:ea typeface="Lato"/>
              <a:cs typeface="Lato"/>
              <a:sym typeface="Lato"/>
            </a:endParaRPr>
          </a:p>
        </p:txBody>
      </p:sp>
      <p:pic>
        <p:nvPicPr>
          <p:cNvPr id="5" name="Imagen 4">
            <a:extLst>
              <a:ext uri="{FF2B5EF4-FFF2-40B4-BE49-F238E27FC236}">
                <a16:creationId xmlns:a16="http://schemas.microsoft.com/office/drawing/2014/main" id="{C9DD9436-CBE4-950D-A2AF-FA3C6BF82C82}"/>
              </a:ext>
            </a:extLst>
          </p:cNvPr>
          <p:cNvPicPr>
            <a:picLocks noChangeAspect="1"/>
          </p:cNvPicPr>
          <p:nvPr/>
        </p:nvPicPr>
        <p:blipFill>
          <a:blip r:embed="rId5"/>
          <a:stretch>
            <a:fillRect/>
          </a:stretch>
        </p:blipFill>
        <p:spPr>
          <a:xfrm>
            <a:off x="5420952" y="1524099"/>
            <a:ext cx="3086531" cy="2514951"/>
          </a:xfrm>
          <a:prstGeom prst="rect">
            <a:avLst/>
          </a:prstGeom>
        </p:spPr>
      </p:pic>
    </p:spTree>
    <p:extLst>
      <p:ext uri="{BB962C8B-B14F-4D97-AF65-F5344CB8AC3E}">
        <p14:creationId xmlns:p14="http://schemas.microsoft.com/office/powerpoint/2010/main" val="49988902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4" name="CuadroTexto 3">
            <a:extLst>
              <a:ext uri="{FF2B5EF4-FFF2-40B4-BE49-F238E27FC236}">
                <a16:creationId xmlns:a16="http://schemas.microsoft.com/office/drawing/2014/main" id="{B9B8C329-BED5-C09C-F09B-E2F2A7739CCE}"/>
              </a:ext>
            </a:extLst>
          </p:cNvPr>
          <p:cNvSpPr txBox="1"/>
          <p:nvPr/>
        </p:nvSpPr>
        <p:spPr>
          <a:xfrm>
            <a:off x="434398" y="688695"/>
            <a:ext cx="4428548" cy="4031873"/>
          </a:xfrm>
          <a:prstGeom prst="rect">
            <a:avLst/>
          </a:prstGeom>
          <a:noFill/>
        </p:spPr>
        <p:txBody>
          <a:bodyPr wrap="square">
            <a:spAutoFit/>
          </a:bodyPr>
          <a:lstStyle/>
          <a:p>
            <a:r>
              <a:rPr lang="es-AR" sz="4000" dirty="0">
                <a:solidFill>
                  <a:srgbClr val="BE3969"/>
                </a:solidFill>
                <a:highlight>
                  <a:srgbClr val="FFFFFF"/>
                </a:highlight>
                <a:latin typeface="Russo One"/>
                <a:ea typeface="Lato"/>
                <a:cs typeface="Lato"/>
                <a:sym typeface="Russo One"/>
              </a:rPr>
              <a:t>Alto de línea</a:t>
            </a:r>
          </a:p>
          <a:p>
            <a:endParaRPr lang="es-AR" sz="2400" b="1" dirty="0">
              <a:solidFill>
                <a:schemeClr val="tx1"/>
              </a:solidFill>
              <a:highlight>
                <a:srgbClr val="FFFFFF"/>
              </a:highlight>
              <a:latin typeface="Lato"/>
              <a:ea typeface="Lato"/>
              <a:cs typeface="Lato"/>
              <a:sym typeface="Lato"/>
            </a:endParaRPr>
          </a:p>
          <a:p>
            <a:pPr marL="285750" lvl="0" indent="-285750" rtl="0">
              <a:spcBef>
                <a:spcPts val="0"/>
              </a:spcBef>
              <a:spcAft>
                <a:spcPts val="0"/>
              </a:spcAft>
              <a:buFont typeface="Arial" panose="020B0604020202020204" pitchFamily="34" charset="0"/>
              <a:buChar char="•"/>
            </a:pPr>
            <a:r>
              <a:rPr lang="es-AR" sz="2400" dirty="0">
                <a:solidFill>
                  <a:srgbClr val="4A4A4A"/>
                </a:solidFill>
                <a:highlight>
                  <a:srgbClr val="FFFFFF"/>
                </a:highlight>
                <a:latin typeface="Lato"/>
                <a:ea typeface="Lato"/>
                <a:cs typeface="Lato"/>
                <a:sym typeface="Lato"/>
              </a:rPr>
              <a:t>Podemos establecer el alto de línea de un texto por medio de la propiedad line-</a:t>
            </a:r>
            <a:r>
              <a:rPr lang="es-AR" sz="2400" dirty="0" err="1">
                <a:solidFill>
                  <a:srgbClr val="4A4A4A"/>
                </a:solidFill>
                <a:highlight>
                  <a:srgbClr val="FFFFFF"/>
                </a:highlight>
                <a:latin typeface="Lato"/>
                <a:ea typeface="Lato"/>
                <a:cs typeface="Lato"/>
                <a:sym typeface="Lato"/>
              </a:rPr>
              <a:t>height</a:t>
            </a:r>
            <a:endParaRPr lang="es-AR" sz="2400" dirty="0">
              <a:solidFill>
                <a:srgbClr val="4A4A4A"/>
              </a:solidFill>
              <a:highlight>
                <a:srgbClr val="FFFFFF"/>
              </a:highlight>
              <a:latin typeface="Lato"/>
              <a:ea typeface="Lato"/>
              <a:cs typeface="Lato"/>
              <a:sym typeface="Lato"/>
            </a:endParaRPr>
          </a:p>
          <a:p>
            <a:pPr marL="285750" lvl="0" indent="-285750" rtl="0">
              <a:spcBef>
                <a:spcPts val="0"/>
              </a:spcBef>
              <a:spcAft>
                <a:spcPts val="0"/>
              </a:spcAft>
              <a:buFont typeface="Arial" panose="020B0604020202020204" pitchFamily="34" charset="0"/>
              <a:buChar char="•"/>
            </a:pPr>
            <a:r>
              <a:rPr lang="es-AR" sz="2400" dirty="0">
                <a:solidFill>
                  <a:srgbClr val="4A4A4A"/>
                </a:solidFill>
                <a:highlight>
                  <a:srgbClr val="FFFFFF"/>
                </a:highlight>
                <a:latin typeface="Lato"/>
                <a:ea typeface="Lato"/>
                <a:cs typeface="Lato"/>
                <a:sym typeface="Lato"/>
              </a:rPr>
              <a:t>Acepta un valor numérico</a:t>
            </a:r>
          </a:p>
          <a:p>
            <a:pPr marL="285750" lvl="0" indent="-285750" rtl="0">
              <a:spcBef>
                <a:spcPts val="0"/>
              </a:spcBef>
              <a:spcAft>
                <a:spcPts val="0"/>
              </a:spcAft>
              <a:buFont typeface="Arial" panose="020B0604020202020204" pitchFamily="34" charset="0"/>
              <a:buChar char="•"/>
            </a:pPr>
            <a:r>
              <a:rPr lang="es-AR" sz="2400" dirty="0">
                <a:solidFill>
                  <a:srgbClr val="4A4A4A"/>
                </a:solidFill>
                <a:highlight>
                  <a:srgbClr val="FFFFFF"/>
                </a:highlight>
                <a:latin typeface="Lato"/>
                <a:ea typeface="Lato"/>
                <a:cs typeface="Lato"/>
                <a:sym typeface="Lato"/>
              </a:rPr>
              <a:t>Podemos aprender más sobre esta propiedad en el </a:t>
            </a:r>
            <a:r>
              <a:rPr lang="es-AR" sz="2400" b="0" i="0" dirty="0">
                <a:effectLst/>
                <a:latin typeface="system-ui"/>
                <a:hlinkClick r:id="rId3"/>
              </a:rPr>
              <a:t>sitio de MDN</a:t>
            </a:r>
            <a:endParaRPr lang="es-AR" sz="2400" dirty="0">
              <a:solidFill>
                <a:srgbClr val="4A4A4A"/>
              </a:solidFill>
              <a:highlight>
                <a:srgbClr val="FFFFFF"/>
              </a:highlight>
              <a:latin typeface="Lato"/>
              <a:ea typeface="Lato"/>
              <a:cs typeface="Lato"/>
              <a:sym typeface="Lato"/>
            </a:endParaRPr>
          </a:p>
        </p:txBody>
      </p:sp>
      <p:pic>
        <p:nvPicPr>
          <p:cNvPr id="3" name="Imagen 2">
            <a:extLst>
              <a:ext uri="{FF2B5EF4-FFF2-40B4-BE49-F238E27FC236}">
                <a16:creationId xmlns:a16="http://schemas.microsoft.com/office/drawing/2014/main" id="{D6B1E9F2-EAB1-AF3A-E990-F6F85DD70F73}"/>
              </a:ext>
            </a:extLst>
          </p:cNvPr>
          <p:cNvPicPr>
            <a:picLocks noChangeAspect="1"/>
          </p:cNvPicPr>
          <p:nvPr/>
        </p:nvPicPr>
        <p:blipFill>
          <a:blip r:embed="rId4"/>
          <a:stretch>
            <a:fillRect/>
          </a:stretch>
        </p:blipFill>
        <p:spPr>
          <a:xfrm>
            <a:off x="5284016" y="1998699"/>
            <a:ext cx="3215226" cy="1742028"/>
          </a:xfrm>
          <a:prstGeom prst="rect">
            <a:avLst/>
          </a:prstGeom>
        </p:spPr>
      </p:pic>
    </p:spTree>
    <p:extLst>
      <p:ext uri="{BB962C8B-B14F-4D97-AF65-F5344CB8AC3E}">
        <p14:creationId xmlns:p14="http://schemas.microsoft.com/office/powerpoint/2010/main" val="142835332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4" name="CuadroTexto 3">
            <a:extLst>
              <a:ext uri="{FF2B5EF4-FFF2-40B4-BE49-F238E27FC236}">
                <a16:creationId xmlns:a16="http://schemas.microsoft.com/office/drawing/2014/main" id="{B9B8C329-BED5-C09C-F09B-E2F2A7739CCE}"/>
              </a:ext>
            </a:extLst>
          </p:cNvPr>
          <p:cNvSpPr txBox="1"/>
          <p:nvPr/>
        </p:nvSpPr>
        <p:spPr>
          <a:xfrm>
            <a:off x="434398" y="688695"/>
            <a:ext cx="8298584" cy="4185761"/>
          </a:xfrm>
          <a:prstGeom prst="rect">
            <a:avLst/>
          </a:prstGeom>
          <a:noFill/>
        </p:spPr>
        <p:txBody>
          <a:bodyPr wrap="square">
            <a:spAutoFit/>
          </a:bodyPr>
          <a:lstStyle/>
          <a:p>
            <a:r>
              <a:rPr lang="es-AR" sz="3200" dirty="0">
                <a:solidFill>
                  <a:srgbClr val="BE3969"/>
                </a:solidFill>
                <a:highlight>
                  <a:srgbClr val="FFFFFF"/>
                </a:highlight>
                <a:latin typeface="Russo One"/>
                <a:ea typeface="Lato"/>
                <a:cs typeface="Lato"/>
                <a:sym typeface="Russo One"/>
              </a:rPr>
              <a:t>Alineado Vertical</a:t>
            </a:r>
          </a:p>
          <a:p>
            <a:endParaRPr lang="es-AR" sz="1800" b="1" dirty="0">
              <a:solidFill>
                <a:schemeClr val="tx1"/>
              </a:solidFill>
              <a:highlight>
                <a:srgbClr val="FFFFFF"/>
              </a:highlight>
              <a:latin typeface="Lato"/>
              <a:ea typeface="Lato"/>
              <a:cs typeface="Lato"/>
              <a:sym typeface="Lato"/>
            </a:endParaRPr>
          </a:p>
          <a:p>
            <a:pPr marL="285750" lvl="0" indent="-285750" rtl="0">
              <a:spcBef>
                <a:spcPts val="0"/>
              </a:spcBef>
              <a:spcAft>
                <a:spcPts val="0"/>
              </a:spcAft>
              <a:buFont typeface="Arial" panose="020B0604020202020204" pitchFamily="34" charset="0"/>
              <a:buChar char="•"/>
            </a:pPr>
            <a:r>
              <a:rPr lang="es-AR" sz="1800" dirty="0">
                <a:solidFill>
                  <a:srgbClr val="4A4A4A"/>
                </a:solidFill>
                <a:highlight>
                  <a:srgbClr val="FFFFFF"/>
                </a:highlight>
                <a:latin typeface="Lato"/>
                <a:ea typeface="Lato"/>
                <a:cs typeface="Lato"/>
                <a:sym typeface="Lato"/>
              </a:rPr>
              <a:t>Podemos alinear los textos de forma vertical utilizando la propiedad </a:t>
            </a:r>
            <a:r>
              <a:rPr lang="es-AR" sz="1800" b="1" dirty="0">
                <a:solidFill>
                  <a:srgbClr val="4A4A4A"/>
                </a:solidFill>
                <a:highlight>
                  <a:srgbClr val="FFFFFF"/>
                </a:highlight>
                <a:latin typeface="Lato"/>
                <a:ea typeface="Lato"/>
                <a:cs typeface="Lato"/>
                <a:sym typeface="Lato"/>
              </a:rPr>
              <a:t>vertical-</a:t>
            </a:r>
            <a:r>
              <a:rPr lang="es-AR" sz="1800" b="1" dirty="0" err="1">
                <a:solidFill>
                  <a:srgbClr val="4A4A4A"/>
                </a:solidFill>
                <a:highlight>
                  <a:srgbClr val="FFFFFF"/>
                </a:highlight>
                <a:latin typeface="Lato"/>
                <a:ea typeface="Lato"/>
                <a:cs typeface="Lato"/>
                <a:sym typeface="Lato"/>
              </a:rPr>
              <a:t>align</a:t>
            </a:r>
            <a:endParaRPr lang="es-AR" sz="1800" b="1" dirty="0">
              <a:solidFill>
                <a:srgbClr val="4A4A4A"/>
              </a:solidFill>
              <a:highlight>
                <a:srgbClr val="FFFFFF"/>
              </a:highlight>
              <a:latin typeface="Lato"/>
              <a:ea typeface="Lato"/>
              <a:cs typeface="Lato"/>
              <a:sym typeface="Lato"/>
            </a:endParaRPr>
          </a:p>
          <a:p>
            <a:pPr lvl="0" rtl="0">
              <a:spcBef>
                <a:spcPts val="0"/>
              </a:spcBef>
              <a:spcAft>
                <a:spcPts val="0"/>
              </a:spcAft>
            </a:pPr>
            <a:endParaRPr lang="es-AR" sz="1800" dirty="0">
              <a:solidFill>
                <a:srgbClr val="4A4A4A"/>
              </a:solidFill>
              <a:highlight>
                <a:srgbClr val="FFFFFF"/>
              </a:highlight>
              <a:latin typeface="Lato"/>
              <a:ea typeface="Lato"/>
              <a:cs typeface="Lato"/>
              <a:sym typeface="Lato"/>
            </a:endParaRPr>
          </a:p>
          <a:p>
            <a:pPr lvl="0" rtl="0">
              <a:spcBef>
                <a:spcPts val="0"/>
              </a:spcBef>
              <a:spcAft>
                <a:spcPts val="0"/>
              </a:spcAft>
            </a:pPr>
            <a:r>
              <a:rPr lang="es-AR" sz="1800" dirty="0">
                <a:solidFill>
                  <a:srgbClr val="4A4A4A"/>
                </a:solidFill>
                <a:highlight>
                  <a:srgbClr val="FFFFFF"/>
                </a:highlight>
                <a:latin typeface="Lato"/>
                <a:ea typeface="Lato"/>
                <a:cs typeface="Lato"/>
                <a:sym typeface="Lato"/>
              </a:rPr>
              <a:t>Acepta los siguientes valores:</a:t>
            </a:r>
          </a:p>
          <a:p>
            <a:pPr marL="285750" lvl="0" indent="-285750" rtl="0">
              <a:spcBef>
                <a:spcPts val="0"/>
              </a:spcBef>
              <a:spcAft>
                <a:spcPts val="0"/>
              </a:spcAft>
              <a:buFont typeface="Arial" panose="020B0604020202020204" pitchFamily="34" charset="0"/>
              <a:buChar char="•"/>
            </a:pPr>
            <a:r>
              <a:rPr lang="es-AR" sz="1800" dirty="0" err="1">
                <a:solidFill>
                  <a:schemeClr val="tx1"/>
                </a:solidFill>
                <a:highlight>
                  <a:srgbClr val="FFFFFF"/>
                </a:highlight>
                <a:latin typeface="Lato"/>
                <a:ea typeface="Lato"/>
                <a:cs typeface="Lato"/>
                <a:sym typeface="Lato"/>
              </a:rPr>
              <a:t>baseline</a:t>
            </a:r>
            <a:endParaRPr lang="es-AR" sz="1800" dirty="0">
              <a:solidFill>
                <a:schemeClr val="tx1"/>
              </a:solidFill>
              <a:highlight>
                <a:srgbClr val="FFFFFF"/>
              </a:highlight>
              <a:latin typeface="Lato"/>
              <a:ea typeface="Lato"/>
              <a:cs typeface="Lato"/>
              <a:sym typeface="Lato"/>
            </a:endParaRPr>
          </a:p>
          <a:p>
            <a:pPr marL="285750" lvl="0" indent="-285750" rtl="0">
              <a:spcBef>
                <a:spcPts val="0"/>
              </a:spcBef>
              <a:spcAft>
                <a:spcPts val="0"/>
              </a:spcAft>
              <a:buFont typeface="Arial" panose="020B0604020202020204" pitchFamily="34" charset="0"/>
              <a:buChar char="•"/>
            </a:pPr>
            <a:r>
              <a:rPr lang="es-AR" sz="1800" dirty="0">
                <a:solidFill>
                  <a:schemeClr val="tx1"/>
                </a:solidFill>
                <a:highlight>
                  <a:srgbClr val="FFFFFF"/>
                </a:highlight>
                <a:latin typeface="Lato"/>
                <a:ea typeface="Lato"/>
                <a:cs typeface="Lato"/>
                <a:sym typeface="Lato"/>
              </a:rPr>
              <a:t>sub</a:t>
            </a:r>
          </a:p>
          <a:p>
            <a:pPr marL="285750" lvl="0" indent="-285750" rtl="0">
              <a:spcBef>
                <a:spcPts val="0"/>
              </a:spcBef>
              <a:spcAft>
                <a:spcPts val="0"/>
              </a:spcAft>
              <a:buFont typeface="Arial" panose="020B0604020202020204" pitchFamily="34" charset="0"/>
              <a:buChar char="•"/>
            </a:pPr>
            <a:r>
              <a:rPr lang="es-AR" sz="1800" dirty="0">
                <a:solidFill>
                  <a:schemeClr val="tx1"/>
                </a:solidFill>
                <a:highlight>
                  <a:srgbClr val="FFFFFF"/>
                </a:highlight>
                <a:latin typeface="Lato"/>
                <a:ea typeface="Lato"/>
                <a:cs typeface="Lato"/>
                <a:sym typeface="Lato"/>
              </a:rPr>
              <a:t>super</a:t>
            </a:r>
          </a:p>
          <a:p>
            <a:pPr marL="285750" lvl="0" indent="-285750" rtl="0">
              <a:spcBef>
                <a:spcPts val="0"/>
              </a:spcBef>
              <a:spcAft>
                <a:spcPts val="0"/>
              </a:spcAft>
              <a:buFont typeface="Arial" panose="020B0604020202020204" pitchFamily="34" charset="0"/>
              <a:buChar char="•"/>
            </a:pPr>
            <a:r>
              <a:rPr lang="es-AR" sz="1800" dirty="0">
                <a:solidFill>
                  <a:schemeClr val="tx1"/>
                </a:solidFill>
                <a:highlight>
                  <a:srgbClr val="FFFFFF"/>
                </a:highlight>
                <a:latin typeface="Lato"/>
                <a:ea typeface="Lato"/>
                <a:cs typeface="Lato"/>
                <a:sym typeface="Lato"/>
              </a:rPr>
              <a:t>top</a:t>
            </a:r>
          </a:p>
          <a:p>
            <a:pPr marL="285750" lvl="0" indent="-285750" rtl="0">
              <a:spcBef>
                <a:spcPts val="0"/>
              </a:spcBef>
              <a:spcAft>
                <a:spcPts val="0"/>
              </a:spcAft>
              <a:buFont typeface="Arial" panose="020B0604020202020204" pitchFamily="34" charset="0"/>
              <a:buChar char="•"/>
            </a:pPr>
            <a:r>
              <a:rPr lang="es-AR" sz="1800" dirty="0" err="1">
                <a:solidFill>
                  <a:schemeClr val="tx1"/>
                </a:solidFill>
                <a:highlight>
                  <a:srgbClr val="FFFFFF"/>
                </a:highlight>
                <a:latin typeface="Lato"/>
                <a:ea typeface="Lato"/>
                <a:cs typeface="Lato"/>
                <a:sym typeface="Lato"/>
              </a:rPr>
              <a:t>text</a:t>
            </a:r>
            <a:r>
              <a:rPr lang="es-AR" sz="1800" dirty="0">
                <a:solidFill>
                  <a:schemeClr val="tx1"/>
                </a:solidFill>
                <a:highlight>
                  <a:srgbClr val="FFFFFF"/>
                </a:highlight>
                <a:latin typeface="Lato"/>
                <a:ea typeface="Lato"/>
                <a:cs typeface="Lato"/>
                <a:sym typeface="Lato"/>
              </a:rPr>
              <a:t>-top</a:t>
            </a:r>
          </a:p>
          <a:p>
            <a:pPr marL="285750" lvl="0" indent="-285750" rtl="0">
              <a:spcBef>
                <a:spcPts val="0"/>
              </a:spcBef>
              <a:spcAft>
                <a:spcPts val="0"/>
              </a:spcAft>
              <a:buFont typeface="Arial" panose="020B0604020202020204" pitchFamily="34" charset="0"/>
              <a:buChar char="•"/>
            </a:pPr>
            <a:r>
              <a:rPr lang="es-AR" sz="1800" dirty="0" err="1">
                <a:solidFill>
                  <a:schemeClr val="tx1"/>
                </a:solidFill>
                <a:highlight>
                  <a:srgbClr val="FFFFFF"/>
                </a:highlight>
                <a:latin typeface="Lato"/>
                <a:ea typeface="Lato"/>
                <a:cs typeface="Lato"/>
                <a:sym typeface="Lato"/>
              </a:rPr>
              <a:t>middle</a:t>
            </a:r>
            <a:endParaRPr lang="es-AR" sz="1800" dirty="0">
              <a:solidFill>
                <a:schemeClr val="tx1"/>
              </a:solidFill>
              <a:highlight>
                <a:srgbClr val="FFFFFF"/>
              </a:highlight>
              <a:latin typeface="Lato"/>
              <a:ea typeface="Lato"/>
              <a:cs typeface="Lato"/>
              <a:sym typeface="Lato"/>
            </a:endParaRPr>
          </a:p>
          <a:p>
            <a:pPr marL="285750" lvl="0" indent="-285750" rtl="0">
              <a:spcBef>
                <a:spcPts val="0"/>
              </a:spcBef>
              <a:spcAft>
                <a:spcPts val="0"/>
              </a:spcAft>
              <a:buFont typeface="Arial" panose="020B0604020202020204" pitchFamily="34" charset="0"/>
              <a:buChar char="•"/>
            </a:pPr>
            <a:r>
              <a:rPr lang="es-AR" sz="1800" dirty="0">
                <a:solidFill>
                  <a:schemeClr val="tx1"/>
                </a:solidFill>
                <a:highlight>
                  <a:srgbClr val="FFFFFF"/>
                </a:highlight>
                <a:latin typeface="Lato"/>
                <a:ea typeface="Lato"/>
                <a:cs typeface="Lato"/>
                <a:sym typeface="Lato"/>
              </a:rPr>
              <a:t>bottom</a:t>
            </a:r>
          </a:p>
          <a:p>
            <a:pPr marL="285750" lvl="0" indent="-285750" rtl="0">
              <a:spcBef>
                <a:spcPts val="0"/>
              </a:spcBef>
              <a:spcAft>
                <a:spcPts val="0"/>
              </a:spcAft>
              <a:buFont typeface="Arial" panose="020B0604020202020204" pitchFamily="34" charset="0"/>
              <a:buChar char="•"/>
            </a:pPr>
            <a:r>
              <a:rPr lang="es-AR" sz="1800" dirty="0" err="1">
                <a:solidFill>
                  <a:schemeClr val="tx1"/>
                </a:solidFill>
                <a:highlight>
                  <a:srgbClr val="FFFFFF"/>
                </a:highlight>
                <a:latin typeface="Lato"/>
                <a:ea typeface="Lato"/>
                <a:cs typeface="Lato"/>
                <a:sym typeface="Lato"/>
              </a:rPr>
              <a:t>text</a:t>
            </a:r>
            <a:r>
              <a:rPr lang="es-AR" sz="1800" dirty="0">
                <a:solidFill>
                  <a:schemeClr val="tx1"/>
                </a:solidFill>
                <a:highlight>
                  <a:srgbClr val="FFFFFF"/>
                </a:highlight>
                <a:latin typeface="Lato"/>
                <a:ea typeface="Lato"/>
                <a:cs typeface="Lato"/>
                <a:sym typeface="Lato"/>
              </a:rPr>
              <a:t>-bottom</a:t>
            </a:r>
          </a:p>
        </p:txBody>
      </p:sp>
    </p:spTree>
    <p:extLst>
      <p:ext uri="{BB962C8B-B14F-4D97-AF65-F5344CB8AC3E}">
        <p14:creationId xmlns:p14="http://schemas.microsoft.com/office/powerpoint/2010/main" val="380127533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4" name="CuadroTexto 3">
            <a:extLst>
              <a:ext uri="{FF2B5EF4-FFF2-40B4-BE49-F238E27FC236}">
                <a16:creationId xmlns:a16="http://schemas.microsoft.com/office/drawing/2014/main" id="{B9B8C329-BED5-C09C-F09B-E2F2A7739CCE}"/>
              </a:ext>
            </a:extLst>
          </p:cNvPr>
          <p:cNvSpPr txBox="1"/>
          <p:nvPr/>
        </p:nvSpPr>
        <p:spPr>
          <a:xfrm>
            <a:off x="434398" y="688695"/>
            <a:ext cx="8298584" cy="3293209"/>
          </a:xfrm>
          <a:prstGeom prst="rect">
            <a:avLst/>
          </a:prstGeom>
          <a:noFill/>
        </p:spPr>
        <p:txBody>
          <a:bodyPr wrap="square">
            <a:spAutoFit/>
          </a:bodyPr>
          <a:lstStyle/>
          <a:p>
            <a:r>
              <a:rPr lang="es-AR" sz="2800" dirty="0">
                <a:solidFill>
                  <a:srgbClr val="BE3969"/>
                </a:solidFill>
                <a:highlight>
                  <a:srgbClr val="FFFFFF"/>
                </a:highlight>
                <a:latin typeface="Russo One"/>
                <a:ea typeface="Lato"/>
                <a:cs typeface="Lato"/>
                <a:sym typeface="Russo One"/>
              </a:rPr>
              <a:t>Alineado Vertical – Continuación </a:t>
            </a:r>
          </a:p>
          <a:p>
            <a:pPr lvl="0" rtl="0">
              <a:spcBef>
                <a:spcPts val="0"/>
              </a:spcBef>
              <a:spcAft>
                <a:spcPts val="0"/>
              </a:spcAft>
            </a:pPr>
            <a:endParaRPr lang="es-AR" sz="1600" dirty="0">
              <a:solidFill>
                <a:schemeClr val="tx1"/>
              </a:solidFill>
              <a:highlight>
                <a:srgbClr val="FFFFFF"/>
              </a:highlight>
              <a:latin typeface="Lato"/>
              <a:ea typeface="Lato"/>
              <a:cs typeface="Lato"/>
              <a:sym typeface="Lato"/>
            </a:endParaRPr>
          </a:p>
          <a:p>
            <a:pPr marL="285750" lvl="0" indent="-285750" rtl="0">
              <a:spcBef>
                <a:spcPts val="0"/>
              </a:spcBef>
              <a:spcAft>
                <a:spcPts val="0"/>
              </a:spcAft>
              <a:buFont typeface="Arial" panose="020B0604020202020204" pitchFamily="34" charset="0"/>
              <a:buChar char="•"/>
            </a:pPr>
            <a:r>
              <a:rPr lang="es-AR" sz="1600" dirty="0">
                <a:solidFill>
                  <a:srgbClr val="4A4A4A"/>
                </a:solidFill>
                <a:highlight>
                  <a:srgbClr val="FFFFFF"/>
                </a:highlight>
                <a:latin typeface="Lato"/>
                <a:ea typeface="Lato"/>
                <a:cs typeface="Lato"/>
                <a:sym typeface="Lato"/>
              </a:rPr>
              <a:t>Algo común es creer que esta propiedad nos permite alinear los textos de forma vertical en los elementos en bloque pero no funciona de esa forma</a:t>
            </a:r>
          </a:p>
          <a:p>
            <a:pPr marL="285750" lvl="0" indent="-285750" rtl="0">
              <a:spcBef>
                <a:spcPts val="0"/>
              </a:spcBef>
              <a:spcAft>
                <a:spcPts val="0"/>
              </a:spcAft>
              <a:buFont typeface="Arial" panose="020B0604020202020204" pitchFamily="34" charset="0"/>
              <a:buChar char="•"/>
            </a:pPr>
            <a:r>
              <a:rPr lang="es-AR" sz="1600" dirty="0">
                <a:solidFill>
                  <a:srgbClr val="4A4A4A"/>
                </a:solidFill>
                <a:highlight>
                  <a:srgbClr val="FFFFFF"/>
                </a:highlight>
                <a:latin typeface="Lato"/>
                <a:ea typeface="Lato"/>
                <a:cs typeface="Lato"/>
                <a:sym typeface="Lato"/>
              </a:rPr>
              <a:t>Esta propiedad nos permite alinear el contenido de los elementos en línea</a:t>
            </a:r>
          </a:p>
          <a:p>
            <a:pPr marL="285750" lvl="0" indent="-285750" rtl="0">
              <a:spcBef>
                <a:spcPts val="0"/>
              </a:spcBef>
              <a:spcAft>
                <a:spcPts val="0"/>
              </a:spcAft>
              <a:buFont typeface="Arial" panose="020B0604020202020204" pitchFamily="34" charset="0"/>
              <a:buChar char="•"/>
            </a:pPr>
            <a:r>
              <a:rPr lang="es-AR" sz="1600" dirty="0">
                <a:solidFill>
                  <a:srgbClr val="4A4A4A"/>
                </a:solidFill>
                <a:highlight>
                  <a:srgbClr val="FFFFFF"/>
                </a:highlight>
                <a:latin typeface="Lato"/>
                <a:ea typeface="Lato"/>
                <a:cs typeface="Lato"/>
                <a:sym typeface="Lato"/>
              </a:rPr>
              <a:t>Cómo sabemos las imágenes son elementos en línea al igual que los </a:t>
            </a:r>
            <a:r>
              <a:rPr lang="es-AR" sz="1600" dirty="0" err="1">
                <a:solidFill>
                  <a:srgbClr val="4A4A4A"/>
                </a:solidFill>
                <a:highlight>
                  <a:srgbClr val="FFFFFF"/>
                </a:highlight>
                <a:latin typeface="Lato"/>
                <a:ea typeface="Lato"/>
                <a:cs typeface="Lato"/>
                <a:sym typeface="Lato"/>
              </a:rPr>
              <a:t>spans</a:t>
            </a:r>
            <a:r>
              <a:rPr lang="es-AR" sz="1600" dirty="0">
                <a:solidFill>
                  <a:srgbClr val="4A4A4A"/>
                </a:solidFill>
                <a:highlight>
                  <a:srgbClr val="FFFFFF"/>
                </a:highlight>
                <a:latin typeface="Lato"/>
                <a:ea typeface="Lato"/>
                <a:cs typeface="Lato"/>
                <a:sym typeface="Lato"/>
              </a:rPr>
              <a:t>, hipervínculos, </a:t>
            </a:r>
            <a:r>
              <a:rPr lang="es-AR" sz="1600" dirty="0" err="1">
                <a:solidFill>
                  <a:srgbClr val="4A4A4A"/>
                </a:solidFill>
                <a:highlight>
                  <a:srgbClr val="FFFFFF"/>
                </a:highlight>
                <a:latin typeface="Lato"/>
                <a:ea typeface="Lato"/>
                <a:cs typeface="Lato"/>
                <a:sym typeface="Lato"/>
              </a:rPr>
              <a:t>etc</a:t>
            </a:r>
            <a:endParaRPr lang="es-AR" sz="1600" dirty="0">
              <a:solidFill>
                <a:srgbClr val="4A4A4A"/>
              </a:solidFill>
              <a:highlight>
                <a:srgbClr val="FFFFFF"/>
              </a:highlight>
              <a:latin typeface="Lato"/>
              <a:ea typeface="Lato"/>
              <a:cs typeface="Lato"/>
              <a:sym typeface="Lato"/>
            </a:endParaRPr>
          </a:p>
          <a:p>
            <a:pPr marL="285750" lvl="0" indent="-285750" rtl="0">
              <a:spcBef>
                <a:spcPts val="0"/>
              </a:spcBef>
              <a:spcAft>
                <a:spcPts val="0"/>
              </a:spcAft>
              <a:buFont typeface="Arial" panose="020B0604020202020204" pitchFamily="34" charset="0"/>
              <a:buChar char="•"/>
            </a:pPr>
            <a:r>
              <a:rPr lang="es-AR" sz="1600" dirty="0">
                <a:solidFill>
                  <a:srgbClr val="4A4A4A"/>
                </a:solidFill>
                <a:highlight>
                  <a:srgbClr val="FFFFFF"/>
                </a:highlight>
                <a:latin typeface="Lato"/>
                <a:ea typeface="Lato"/>
                <a:cs typeface="Lato"/>
                <a:sym typeface="Lato"/>
              </a:rPr>
              <a:t>Si dentro de un párrafo tenemos una </a:t>
            </a:r>
            <a:r>
              <a:rPr lang="es-AR" sz="1600" dirty="0" err="1">
                <a:solidFill>
                  <a:srgbClr val="4A4A4A"/>
                </a:solidFill>
                <a:highlight>
                  <a:srgbClr val="FFFFFF"/>
                </a:highlight>
                <a:latin typeface="Lato"/>
                <a:ea typeface="Lato"/>
                <a:cs typeface="Lato"/>
                <a:sym typeface="Lato"/>
              </a:rPr>
              <a:t>imágen</a:t>
            </a:r>
            <a:r>
              <a:rPr lang="es-AR" sz="1600" dirty="0">
                <a:solidFill>
                  <a:srgbClr val="4A4A4A"/>
                </a:solidFill>
                <a:highlight>
                  <a:srgbClr val="FFFFFF"/>
                </a:highlight>
                <a:latin typeface="Lato"/>
                <a:ea typeface="Lato"/>
                <a:cs typeface="Lato"/>
                <a:sym typeface="Lato"/>
              </a:rPr>
              <a:t>, texto y otros elementos en </a:t>
            </a:r>
            <a:r>
              <a:rPr lang="es-AR" sz="1600" dirty="0" err="1">
                <a:solidFill>
                  <a:srgbClr val="4A4A4A"/>
                </a:solidFill>
                <a:highlight>
                  <a:srgbClr val="FFFFFF"/>
                </a:highlight>
                <a:latin typeface="Lato"/>
                <a:ea typeface="Lato"/>
                <a:cs typeface="Lato"/>
                <a:sym typeface="Lato"/>
              </a:rPr>
              <a:t>linea</a:t>
            </a:r>
            <a:r>
              <a:rPr lang="es-AR" sz="1600" dirty="0">
                <a:solidFill>
                  <a:srgbClr val="4A4A4A"/>
                </a:solidFill>
                <a:highlight>
                  <a:srgbClr val="FFFFFF"/>
                </a:highlight>
                <a:latin typeface="Lato"/>
                <a:ea typeface="Lato"/>
                <a:cs typeface="Lato"/>
                <a:sym typeface="Lato"/>
              </a:rPr>
              <a:t>, podemos establecer como va a ser la relación entre todos estos elementos que son hijos del párrafo</a:t>
            </a:r>
          </a:p>
          <a:p>
            <a:pPr marL="285750" lvl="0" indent="-285750" rtl="0">
              <a:spcBef>
                <a:spcPts val="0"/>
              </a:spcBef>
              <a:spcAft>
                <a:spcPts val="0"/>
              </a:spcAft>
              <a:buFont typeface="Arial" panose="020B0604020202020204" pitchFamily="34" charset="0"/>
              <a:buChar char="•"/>
            </a:pPr>
            <a:r>
              <a:rPr lang="es-AR" sz="1600" dirty="0">
                <a:solidFill>
                  <a:srgbClr val="4A4A4A"/>
                </a:solidFill>
                <a:highlight>
                  <a:srgbClr val="FFFFFF"/>
                </a:highlight>
                <a:latin typeface="Lato"/>
                <a:ea typeface="Lato"/>
                <a:cs typeface="Lato"/>
                <a:sym typeface="Lato"/>
              </a:rPr>
              <a:t>De esta forma podemos hacer que un texto este bien alineado a una foto</a:t>
            </a:r>
          </a:p>
          <a:p>
            <a:pPr marL="285750" lvl="0" indent="-285750" rtl="0">
              <a:spcBef>
                <a:spcPts val="0"/>
              </a:spcBef>
              <a:spcAft>
                <a:spcPts val="0"/>
              </a:spcAft>
              <a:buFont typeface="Arial" panose="020B0604020202020204" pitchFamily="34" charset="0"/>
              <a:buChar char="•"/>
            </a:pPr>
            <a:r>
              <a:rPr lang="es-AR" sz="1600" dirty="0">
                <a:solidFill>
                  <a:srgbClr val="4A4A4A"/>
                </a:solidFill>
                <a:highlight>
                  <a:srgbClr val="FFFFFF"/>
                </a:highlight>
                <a:latin typeface="Lato"/>
                <a:ea typeface="Lato"/>
                <a:cs typeface="Lato"/>
                <a:sym typeface="Lato"/>
              </a:rPr>
              <a:t>Un buen sitio para leer sobre este tema es</a:t>
            </a:r>
            <a:r>
              <a:rPr lang="es-AR" sz="2000" b="0" i="0" dirty="0">
                <a:effectLst/>
                <a:latin typeface="system-ui"/>
                <a:hlinkClick r:id="rId3"/>
              </a:rPr>
              <a:t> </a:t>
            </a:r>
            <a:r>
              <a:rPr lang="es-AR" sz="1800" b="0" i="0" dirty="0" err="1">
                <a:effectLst/>
                <a:latin typeface="system-ui"/>
                <a:hlinkClick r:id="rId3"/>
              </a:rPr>
              <a:t>css</a:t>
            </a:r>
            <a:r>
              <a:rPr lang="es-AR" sz="1800" b="0" i="0" dirty="0">
                <a:effectLst/>
                <a:latin typeface="system-ui"/>
                <a:hlinkClick r:id="rId3"/>
              </a:rPr>
              <a:t> </a:t>
            </a:r>
            <a:r>
              <a:rPr lang="es-AR" sz="1800" b="0" i="0" dirty="0" err="1">
                <a:effectLst/>
                <a:latin typeface="system-ui"/>
                <a:hlinkClick r:id="rId3"/>
              </a:rPr>
              <a:t>tricks</a:t>
            </a:r>
            <a:r>
              <a:rPr lang="es-AR" sz="1800" b="0" i="0" dirty="0">
                <a:effectLst/>
                <a:latin typeface="system-ui"/>
                <a:hlinkClick r:id="rId3"/>
              </a:rPr>
              <a:t> (en inglés)</a:t>
            </a:r>
            <a:endParaRPr lang="es-AR" sz="1600" dirty="0">
              <a:solidFill>
                <a:srgbClr val="4A4A4A"/>
              </a:solidFill>
              <a:highlight>
                <a:srgbClr val="FFFFFF"/>
              </a:highlight>
              <a:latin typeface="Lato"/>
              <a:ea typeface="Lato"/>
              <a:cs typeface="Lato"/>
              <a:sym typeface="Lato"/>
            </a:endParaRPr>
          </a:p>
        </p:txBody>
      </p:sp>
      <p:pic>
        <p:nvPicPr>
          <p:cNvPr id="5" name="Imagen 4">
            <a:extLst>
              <a:ext uri="{FF2B5EF4-FFF2-40B4-BE49-F238E27FC236}">
                <a16:creationId xmlns:a16="http://schemas.microsoft.com/office/drawing/2014/main" id="{11D57104-E30E-19B4-C2BF-79A50A3901F8}"/>
              </a:ext>
            </a:extLst>
          </p:cNvPr>
          <p:cNvPicPr>
            <a:picLocks noChangeAspect="1"/>
          </p:cNvPicPr>
          <p:nvPr/>
        </p:nvPicPr>
        <p:blipFill>
          <a:blip r:embed="rId4"/>
          <a:stretch>
            <a:fillRect/>
          </a:stretch>
        </p:blipFill>
        <p:spPr>
          <a:xfrm>
            <a:off x="2487897" y="4167228"/>
            <a:ext cx="4191585" cy="647790"/>
          </a:xfrm>
          <a:prstGeom prst="rect">
            <a:avLst/>
          </a:prstGeom>
        </p:spPr>
      </p:pic>
    </p:spTree>
    <p:extLst>
      <p:ext uri="{BB962C8B-B14F-4D97-AF65-F5344CB8AC3E}">
        <p14:creationId xmlns:p14="http://schemas.microsoft.com/office/powerpoint/2010/main" val="343889394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70"/>
        <p:cNvGrpSpPr/>
        <p:nvPr/>
      </p:nvGrpSpPr>
      <p:grpSpPr>
        <a:xfrm>
          <a:off x="0" y="0"/>
          <a:ext cx="0" cy="0"/>
          <a:chOff x="0" y="0"/>
          <a:chExt cx="0" cy="0"/>
        </a:xfrm>
      </p:grpSpPr>
      <p:pic>
        <p:nvPicPr>
          <p:cNvPr id="10" name="Imagen 9">
            <a:extLst>
              <a:ext uri="{FF2B5EF4-FFF2-40B4-BE49-F238E27FC236}">
                <a16:creationId xmlns:a16="http://schemas.microsoft.com/office/drawing/2014/main" id="{437777EF-90F3-E966-8050-96D4E3F5B69A}"/>
              </a:ext>
            </a:extLst>
          </p:cNvPr>
          <p:cNvPicPr>
            <a:picLocks noChangeAspect="1"/>
          </p:cNvPicPr>
          <p:nvPr/>
        </p:nvPicPr>
        <p:blipFill>
          <a:blip r:embed="rId3"/>
          <a:stretch>
            <a:fillRect/>
          </a:stretch>
        </p:blipFill>
        <p:spPr>
          <a:xfrm>
            <a:off x="0" y="0"/>
            <a:ext cx="9144000" cy="5143500"/>
          </a:xfrm>
          <a:prstGeom prst="rect">
            <a:avLst/>
          </a:prstGeom>
        </p:spPr>
      </p:pic>
      <p:sp>
        <p:nvSpPr>
          <p:cNvPr id="11" name="Google Shape;71;p15"/>
          <p:cNvSpPr txBox="1">
            <a:spLocks/>
          </p:cNvSpPr>
          <p:nvPr/>
        </p:nvSpPr>
        <p:spPr>
          <a:xfrm>
            <a:off x="1731818" y="1902691"/>
            <a:ext cx="6105236" cy="1216748"/>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pPr algn="ctr"/>
            <a:r>
              <a:rPr lang="es-AR" sz="6000" dirty="0">
                <a:solidFill>
                  <a:schemeClr val="tx1"/>
                </a:solidFill>
                <a:latin typeface="Russo One"/>
                <a:ea typeface="Russo One"/>
                <a:cs typeface="Russo One"/>
                <a:sym typeface="Russo One"/>
              </a:rPr>
              <a:t>Cascada - MDN</a:t>
            </a:r>
          </a:p>
        </p:txBody>
      </p:sp>
    </p:spTree>
    <p:extLst>
      <p:ext uri="{BB962C8B-B14F-4D97-AF65-F5344CB8AC3E}">
        <p14:creationId xmlns:p14="http://schemas.microsoft.com/office/powerpoint/2010/main" val="360907420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4" name="CuadroTexto 3">
            <a:extLst>
              <a:ext uri="{FF2B5EF4-FFF2-40B4-BE49-F238E27FC236}">
                <a16:creationId xmlns:a16="http://schemas.microsoft.com/office/drawing/2014/main" id="{B9B8C329-BED5-C09C-F09B-E2F2A7739CCE}"/>
              </a:ext>
            </a:extLst>
          </p:cNvPr>
          <p:cNvSpPr txBox="1"/>
          <p:nvPr/>
        </p:nvSpPr>
        <p:spPr>
          <a:xfrm>
            <a:off x="434398" y="688695"/>
            <a:ext cx="3287858" cy="4139595"/>
          </a:xfrm>
          <a:prstGeom prst="rect">
            <a:avLst/>
          </a:prstGeom>
          <a:noFill/>
        </p:spPr>
        <p:txBody>
          <a:bodyPr wrap="square">
            <a:spAutoFit/>
          </a:bodyPr>
          <a:lstStyle/>
          <a:p>
            <a:r>
              <a:rPr lang="es-AR" sz="2400" dirty="0">
                <a:solidFill>
                  <a:srgbClr val="BE3969"/>
                </a:solidFill>
                <a:highlight>
                  <a:srgbClr val="FFFFFF"/>
                </a:highlight>
                <a:latin typeface="Russo One"/>
                <a:ea typeface="Lato"/>
                <a:cs typeface="Lato"/>
                <a:sym typeface="Russo One"/>
              </a:rPr>
              <a:t>Cascada</a:t>
            </a:r>
          </a:p>
          <a:p>
            <a:endParaRPr lang="es-AR" sz="1000" dirty="0">
              <a:solidFill>
                <a:srgbClr val="BE3969"/>
              </a:solidFill>
              <a:highlight>
                <a:srgbClr val="FFFFFF"/>
              </a:highlight>
              <a:latin typeface="Russo One"/>
              <a:ea typeface="Lato"/>
              <a:cs typeface="Lato"/>
              <a:sym typeface="Russo One"/>
            </a:endParaRPr>
          </a:p>
          <a:p>
            <a:endParaRPr lang="es-AR" sz="500" dirty="0">
              <a:solidFill>
                <a:srgbClr val="BE3969"/>
              </a:solidFill>
              <a:highlight>
                <a:srgbClr val="FFFFFF"/>
              </a:highlight>
              <a:latin typeface="Russo One"/>
              <a:ea typeface="Lato"/>
              <a:cs typeface="Lato"/>
              <a:sym typeface="Russo One"/>
            </a:endParaRPr>
          </a:p>
          <a:p>
            <a:pPr marL="342900" lvl="0" indent="-342900" rtl="0">
              <a:spcBef>
                <a:spcPts val="0"/>
              </a:spcBef>
              <a:spcAft>
                <a:spcPts val="0"/>
              </a:spcAft>
              <a:buFont typeface="Arial" panose="020B0604020202020204" pitchFamily="34" charset="0"/>
              <a:buChar char="•"/>
            </a:pPr>
            <a:r>
              <a:rPr lang="es-AR" dirty="0">
                <a:solidFill>
                  <a:srgbClr val="4A4A4A"/>
                </a:solidFill>
                <a:highlight>
                  <a:srgbClr val="FFFFFF"/>
                </a:highlight>
                <a:latin typeface="Lato"/>
                <a:ea typeface="Lato"/>
                <a:cs typeface="Lato"/>
                <a:sym typeface="Lato"/>
              </a:rPr>
              <a:t>En un primer nivel de simplicidad, la cascada en las hojas de estilo significa que el orden de las reglas importa en CSS: cuando dos reglas tienen la misma especificidad, se aplica la que aparece en último lugar en el CSS.</a:t>
            </a:r>
          </a:p>
          <a:p>
            <a:pPr marL="342900" lvl="0" indent="-342900" rtl="0">
              <a:spcBef>
                <a:spcPts val="0"/>
              </a:spcBef>
              <a:spcAft>
                <a:spcPts val="0"/>
              </a:spcAft>
              <a:buFont typeface="Arial" panose="020B0604020202020204" pitchFamily="34" charset="0"/>
              <a:buChar char="•"/>
            </a:pPr>
            <a:endParaRPr lang="es-AR" dirty="0">
              <a:solidFill>
                <a:srgbClr val="4A4A4A"/>
              </a:solidFill>
              <a:highlight>
                <a:srgbClr val="FFFFFF"/>
              </a:highlight>
              <a:latin typeface="Lato"/>
              <a:ea typeface="Lato"/>
              <a:cs typeface="Lato"/>
              <a:sym typeface="Lato"/>
            </a:endParaRPr>
          </a:p>
          <a:p>
            <a:pPr marL="342900" lvl="0" indent="-342900" rtl="0">
              <a:spcBef>
                <a:spcPts val="0"/>
              </a:spcBef>
              <a:spcAft>
                <a:spcPts val="0"/>
              </a:spcAft>
              <a:buFont typeface="Arial" panose="020B0604020202020204" pitchFamily="34" charset="0"/>
              <a:buChar char="•"/>
            </a:pPr>
            <a:r>
              <a:rPr lang="es-AR" dirty="0">
                <a:solidFill>
                  <a:srgbClr val="4A4A4A"/>
                </a:solidFill>
                <a:highlight>
                  <a:srgbClr val="FFFFFF"/>
                </a:highlight>
                <a:latin typeface="Lato"/>
                <a:ea typeface="Lato"/>
                <a:cs typeface="Lato"/>
                <a:sym typeface="Lato"/>
              </a:rPr>
              <a:t>En el ejemplo siguiente tenemos dos reglas que pueden aplicarse al h1. El h1 acaba siendo de color azul porque estas normas tienen un selector idéntico y, por lo tanto, tienen la misma especificidad. Por esta razón, se aplica la última que aparece.</a:t>
            </a:r>
          </a:p>
        </p:txBody>
      </p:sp>
      <p:pic>
        <p:nvPicPr>
          <p:cNvPr id="5" name="Imagen 4">
            <a:extLst>
              <a:ext uri="{FF2B5EF4-FFF2-40B4-BE49-F238E27FC236}">
                <a16:creationId xmlns:a16="http://schemas.microsoft.com/office/drawing/2014/main" id="{BA1FE032-62F9-3DAF-F49E-1C4FCF1E3E40}"/>
              </a:ext>
            </a:extLst>
          </p:cNvPr>
          <p:cNvPicPr>
            <a:picLocks noChangeAspect="1"/>
          </p:cNvPicPr>
          <p:nvPr/>
        </p:nvPicPr>
        <p:blipFill>
          <a:blip r:embed="rId3"/>
          <a:stretch>
            <a:fillRect/>
          </a:stretch>
        </p:blipFill>
        <p:spPr>
          <a:xfrm>
            <a:off x="4188689" y="1635381"/>
            <a:ext cx="4636655" cy="2569068"/>
          </a:xfrm>
          <a:prstGeom prst="rect">
            <a:avLst/>
          </a:prstGeom>
        </p:spPr>
      </p:pic>
    </p:spTree>
    <p:extLst>
      <p:ext uri="{BB962C8B-B14F-4D97-AF65-F5344CB8AC3E}">
        <p14:creationId xmlns:p14="http://schemas.microsoft.com/office/powerpoint/2010/main" val="153807600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4" name="CuadroTexto 3">
            <a:extLst>
              <a:ext uri="{FF2B5EF4-FFF2-40B4-BE49-F238E27FC236}">
                <a16:creationId xmlns:a16="http://schemas.microsoft.com/office/drawing/2014/main" id="{B9B8C329-BED5-C09C-F09B-E2F2A7739CCE}"/>
              </a:ext>
            </a:extLst>
          </p:cNvPr>
          <p:cNvSpPr txBox="1"/>
          <p:nvPr/>
        </p:nvSpPr>
        <p:spPr>
          <a:xfrm>
            <a:off x="434397" y="688695"/>
            <a:ext cx="8026111" cy="4185761"/>
          </a:xfrm>
          <a:prstGeom prst="rect">
            <a:avLst/>
          </a:prstGeom>
          <a:noFill/>
        </p:spPr>
        <p:txBody>
          <a:bodyPr wrap="square">
            <a:spAutoFit/>
          </a:bodyPr>
          <a:lstStyle/>
          <a:p>
            <a:r>
              <a:rPr lang="es-AR" sz="3200" dirty="0">
                <a:solidFill>
                  <a:srgbClr val="BE3969"/>
                </a:solidFill>
                <a:highlight>
                  <a:srgbClr val="FFFFFF"/>
                </a:highlight>
                <a:latin typeface="Russo One"/>
                <a:ea typeface="Lato"/>
                <a:cs typeface="Lato"/>
                <a:sym typeface="Russo One"/>
              </a:rPr>
              <a:t>Especificidad</a:t>
            </a:r>
          </a:p>
          <a:p>
            <a:endParaRPr lang="es-AR" sz="1100" dirty="0">
              <a:solidFill>
                <a:srgbClr val="BE3969"/>
              </a:solidFill>
              <a:highlight>
                <a:srgbClr val="FFFFFF"/>
              </a:highlight>
              <a:latin typeface="Russo One"/>
              <a:ea typeface="Lato"/>
              <a:cs typeface="Lato"/>
              <a:sym typeface="Russo One"/>
            </a:endParaRPr>
          </a:p>
          <a:p>
            <a:endParaRPr lang="es-AR" sz="700" dirty="0">
              <a:solidFill>
                <a:srgbClr val="BE3969"/>
              </a:solidFill>
              <a:highlight>
                <a:srgbClr val="FFFFFF"/>
              </a:highlight>
              <a:latin typeface="Russo One"/>
              <a:ea typeface="Lato"/>
              <a:cs typeface="Lato"/>
              <a:sym typeface="Russo One"/>
            </a:endParaRPr>
          </a:p>
          <a:p>
            <a:pPr lvl="0" rtl="0">
              <a:spcBef>
                <a:spcPts val="0"/>
              </a:spcBef>
              <a:spcAft>
                <a:spcPts val="0"/>
              </a:spcAft>
            </a:pPr>
            <a:r>
              <a:rPr lang="es-AR" sz="1800" dirty="0">
                <a:solidFill>
                  <a:srgbClr val="4A4A4A"/>
                </a:solidFill>
                <a:highlight>
                  <a:srgbClr val="FFFFFF"/>
                </a:highlight>
                <a:latin typeface="Lato"/>
                <a:ea typeface="Lato"/>
                <a:cs typeface="Lato"/>
                <a:sym typeface="Lato"/>
              </a:rPr>
              <a:t>La especificidad es el modo que tiene el navegador de decidir qué regla se aplica si diversas reglas tienen selectores diferentes pero podrían aplicarse a un mismo elemento. Básicamente, la especificidad mide cuán específica es la selección de un selector:</a:t>
            </a:r>
          </a:p>
          <a:p>
            <a:pPr marL="342900" lvl="0" indent="-342900" rtl="0">
              <a:spcBef>
                <a:spcPts val="0"/>
              </a:spcBef>
              <a:spcAft>
                <a:spcPts val="0"/>
              </a:spcAft>
              <a:buFont typeface="Arial" panose="020B0604020202020204" pitchFamily="34" charset="0"/>
              <a:buChar char="•"/>
            </a:pPr>
            <a:endParaRPr lang="es-AR" sz="1800" dirty="0">
              <a:solidFill>
                <a:srgbClr val="4A4A4A"/>
              </a:solidFill>
              <a:highlight>
                <a:srgbClr val="FFFFFF"/>
              </a:highlight>
              <a:latin typeface="Lato"/>
              <a:ea typeface="Lato"/>
              <a:cs typeface="Lato"/>
              <a:sym typeface="Lato"/>
            </a:endParaRPr>
          </a:p>
          <a:p>
            <a:pPr marL="342900" lvl="0" indent="-342900" rtl="0">
              <a:spcBef>
                <a:spcPts val="0"/>
              </a:spcBef>
              <a:spcAft>
                <a:spcPts val="0"/>
              </a:spcAft>
              <a:buFont typeface="Arial" panose="020B0604020202020204" pitchFamily="34" charset="0"/>
              <a:buChar char="•"/>
            </a:pPr>
            <a:r>
              <a:rPr lang="es-AR" sz="1800" dirty="0">
                <a:solidFill>
                  <a:srgbClr val="4A4A4A"/>
                </a:solidFill>
                <a:highlight>
                  <a:srgbClr val="FFFFFF"/>
                </a:highlight>
                <a:latin typeface="Lato"/>
                <a:ea typeface="Lato"/>
                <a:cs typeface="Lato"/>
                <a:sym typeface="Lato"/>
              </a:rPr>
              <a:t>Un selector de elemento es menos específico (selecciona todos los elementos de aquel tipo que aparecen en la página) por lo que presenta una puntuación más baja en especificidad.</a:t>
            </a:r>
          </a:p>
          <a:p>
            <a:pPr marL="342900" lvl="0" indent="-342900" rtl="0">
              <a:spcBef>
                <a:spcPts val="0"/>
              </a:spcBef>
              <a:spcAft>
                <a:spcPts val="0"/>
              </a:spcAft>
              <a:buFont typeface="Arial" panose="020B0604020202020204" pitchFamily="34" charset="0"/>
              <a:buChar char="•"/>
            </a:pPr>
            <a:endParaRPr lang="es-AR" sz="1800" dirty="0">
              <a:solidFill>
                <a:srgbClr val="4A4A4A"/>
              </a:solidFill>
              <a:highlight>
                <a:srgbClr val="FFFFFF"/>
              </a:highlight>
              <a:latin typeface="Lato"/>
              <a:ea typeface="Lato"/>
              <a:cs typeface="Lato"/>
              <a:sym typeface="Lato"/>
            </a:endParaRPr>
          </a:p>
          <a:p>
            <a:pPr marL="342900" indent="-342900">
              <a:buFont typeface="Arial" panose="020B0604020202020204" pitchFamily="34" charset="0"/>
              <a:buChar char="•"/>
            </a:pPr>
            <a:r>
              <a:rPr lang="es-AR" sz="1800" dirty="0">
                <a:solidFill>
                  <a:srgbClr val="4A4A4A"/>
                </a:solidFill>
                <a:highlight>
                  <a:srgbClr val="FFFFFF"/>
                </a:highlight>
                <a:latin typeface="Lato"/>
                <a:ea typeface="Lato"/>
                <a:cs typeface="Lato"/>
                <a:sym typeface="Lato"/>
              </a:rPr>
              <a:t>Un selector de clase es más específico (selecciona solo los elementos de una página que tienen un valor de atributo </a:t>
            </a:r>
            <a:r>
              <a:rPr lang="es-AR" sz="1800" dirty="0" err="1">
                <a:solidFill>
                  <a:srgbClr val="4A4A4A"/>
                </a:solidFill>
                <a:highlight>
                  <a:srgbClr val="FFFFFF"/>
                </a:highlight>
                <a:latin typeface="Lato"/>
                <a:ea typeface="Lato"/>
                <a:cs typeface="Lato"/>
                <a:sym typeface="Lato"/>
              </a:rPr>
              <a:t>class</a:t>
            </a:r>
            <a:r>
              <a:rPr lang="es-AR" sz="1800" dirty="0">
                <a:solidFill>
                  <a:srgbClr val="4A4A4A"/>
                </a:solidFill>
                <a:highlight>
                  <a:srgbClr val="FFFFFF"/>
                </a:highlight>
                <a:latin typeface="Lato"/>
                <a:ea typeface="Lato"/>
                <a:cs typeface="Lato"/>
                <a:sym typeface="Lato"/>
              </a:rPr>
              <a:t> dado), y por tanto recibe una puntuación mayor.</a:t>
            </a:r>
          </a:p>
        </p:txBody>
      </p:sp>
    </p:spTree>
    <p:extLst>
      <p:ext uri="{BB962C8B-B14F-4D97-AF65-F5344CB8AC3E}">
        <p14:creationId xmlns:p14="http://schemas.microsoft.com/office/powerpoint/2010/main" val="5628038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4" name="CuadroTexto 3">
            <a:extLst>
              <a:ext uri="{FF2B5EF4-FFF2-40B4-BE49-F238E27FC236}">
                <a16:creationId xmlns:a16="http://schemas.microsoft.com/office/drawing/2014/main" id="{B9B8C329-BED5-C09C-F09B-E2F2A7739CCE}"/>
              </a:ext>
            </a:extLst>
          </p:cNvPr>
          <p:cNvSpPr txBox="1"/>
          <p:nvPr/>
        </p:nvSpPr>
        <p:spPr>
          <a:xfrm>
            <a:off x="434398" y="688695"/>
            <a:ext cx="3994438" cy="3916457"/>
          </a:xfrm>
          <a:prstGeom prst="rect">
            <a:avLst/>
          </a:prstGeom>
          <a:noFill/>
        </p:spPr>
        <p:txBody>
          <a:bodyPr wrap="square">
            <a:spAutoFit/>
          </a:bodyPr>
          <a:lstStyle/>
          <a:p>
            <a:r>
              <a:rPr lang="es-AR" sz="2800" dirty="0">
                <a:solidFill>
                  <a:srgbClr val="BE3969"/>
                </a:solidFill>
                <a:highlight>
                  <a:srgbClr val="FFFFFF"/>
                </a:highlight>
                <a:latin typeface="Russo One"/>
                <a:ea typeface="Lato"/>
                <a:cs typeface="Lato"/>
                <a:sym typeface="Russo One"/>
              </a:rPr>
              <a:t>Especificidad - Continuación</a:t>
            </a:r>
          </a:p>
          <a:p>
            <a:endParaRPr lang="es-AR" sz="1050" dirty="0">
              <a:solidFill>
                <a:srgbClr val="BE3969"/>
              </a:solidFill>
              <a:highlight>
                <a:srgbClr val="FFFFFF"/>
              </a:highlight>
              <a:latin typeface="Russo One"/>
              <a:ea typeface="Lato"/>
              <a:cs typeface="Lato"/>
              <a:sym typeface="Russo One"/>
            </a:endParaRPr>
          </a:p>
          <a:p>
            <a:endParaRPr lang="es-AR" sz="600" dirty="0">
              <a:solidFill>
                <a:srgbClr val="BE3969"/>
              </a:solidFill>
              <a:highlight>
                <a:srgbClr val="FFFFFF"/>
              </a:highlight>
              <a:latin typeface="Russo One"/>
              <a:ea typeface="Lato"/>
              <a:cs typeface="Lato"/>
              <a:sym typeface="Russo One"/>
            </a:endParaRPr>
          </a:p>
          <a:p>
            <a:pPr marL="342900" lvl="0" indent="-342900" rtl="0">
              <a:spcBef>
                <a:spcPts val="0"/>
              </a:spcBef>
              <a:spcAft>
                <a:spcPts val="0"/>
              </a:spcAft>
              <a:buFont typeface="Arial" panose="020B0604020202020204" pitchFamily="34" charset="0"/>
              <a:buChar char="•"/>
            </a:pPr>
            <a:r>
              <a:rPr lang="es-AR" sz="1600" dirty="0">
                <a:solidFill>
                  <a:srgbClr val="4A4A4A"/>
                </a:solidFill>
                <a:highlight>
                  <a:srgbClr val="FFFFFF"/>
                </a:highlight>
                <a:latin typeface="Lato"/>
                <a:ea typeface="Lato"/>
                <a:cs typeface="Lato"/>
                <a:sym typeface="Lato"/>
              </a:rPr>
              <a:t>Veamos un ejemplo. Aquí abajo encontrarás dos reglas que pueden aplicarse al elemento h1. </a:t>
            </a:r>
          </a:p>
          <a:p>
            <a:pPr marL="342900" lvl="0" indent="-342900" rtl="0">
              <a:spcBef>
                <a:spcPts val="0"/>
              </a:spcBef>
              <a:spcAft>
                <a:spcPts val="0"/>
              </a:spcAft>
              <a:buFont typeface="Arial" panose="020B0604020202020204" pitchFamily="34" charset="0"/>
              <a:buChar char="•"/>
            </a:pPr>
            <a:endParaRPr lang="es-AR" sz="1600" dirty="0">
              <a:solidFill>
                <a:srgbClr val="4A4A4A"/>
              </a:solidFill>
              <a:highlight>
                <a:srgbClr val="FFFFFF"/>
              </a:highlight>
              <a:latin typeface="Lato"/>
              <a:ea typeface="Lato"/>
              <a:cs typeface="Lato"/>
              <a:sym typeface="Lato"/>
            </a:endParaRPr>
          </a:p>
          <a:p>
            <a:pPr marL="342900" lvl="0" indent="-342900" rtl="0">
              <a:spcBef>
                <a:spcPts val="0"/>
              </a:spcBef>
              <a:spcAft>
                <a:spcPts val="0"/>
              </a:spcAft>
              <a:buFont typeface="Arial" panose="020B0604020202020204" pitchFamily="34" charset="0"/>
              <a:buChar char="•"/>
            </a:pPr>
            <a:r>
              <a:rPr lang="es-AR" sz="1600" dirty="0">
                <a:solidFill>
                  <a:srgbClr val="4A4A4A"/>
                </a:solidFill>
                <a:highlight>
                  <a:srgbClr val="FFFFFF"/>
                </a:highlight>
                <a:latin typeface="Lato"/>
                <a:ea typeface="Lato"/>
                <a:cs typeface="Lato"/>
                <a:sym typeface="Lato"/>
              </a:rPr>
              <a:t>Este elemento h1 termina siendo de color rojo: el selector de clase confiere a esta regla una mayor especificidad, así que se aplicará a pesar de la regla para el selector de elemento que aparece más abajo en el orden del código.</a:t>
            </a:r>
          </a:p>
        </p:txBody>
      </p:sp>
      <p:pic>
        <p:nvPicPr>
          <p:cNvPr id="3" name="Imagen 2">
            <a:extLst>
              <a:ext uri="{FF2B5EF4-FFF2-40B4-BE49-F238E27FC236}">
                <a16:creationId xmlns:a16="http://schemas.microsoft.com/office/drawing/2014/main" id="{6CE09E76-CE7D-D0E4-B484-FD9A7176E430}"/>
              </a:ext>
            </a:extLst>
          </p:cNvPr>
          <p:cNvPicPr>
            <a:picLocks noChangeAspect="1"/>
          </p:cNvPicPr>
          <p:nvPr/>
        </p:nvPicPr>
        <p:blipFill>
          <a:blip r:embed="rId3"/>
          <a:stretch>
            <a:fillRect/>
          </a:stretch>
        </p:blipFill>
        <p:spPr>
          <a:xfrm>
            <a:off x="4621395" y="1648691"/>
            <a:ext cx="4138327" cy="2852882"/>
          </a:xfrm>
          <a:prstGeom prst="rect">
            <a:avLst/>
          </a:prstGeom>
        </p:spPr>
      </p:pic>
    </p:spTree>
    <p:extLst>
      <p:ext uri="{BB962C8B-B14F-4D97-AF65-F5344CB8AC3E}">
        <p14:creationId xmlns:p14="http://schemas.microsoft.com/office/powerpoint/2010/main" val="25539938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4" name="CuadroTexto 3">
            <a:extLst>
              <a:ext uri="{FF2B5EF4-FFF2-40B4-BE49-F238E27FC236}">
                <a16:creationId xmlns:a16="http://schemas.microsoft.com/office/drawing/2014/main" id="{B9B8C329-BED5-C09C-F09B-E2F2A7739CCE}"/>
              </a:ext>
            </a:extLst>
          </p:cNvPr>
          <p:cNvSpPr txBox="1"/>
          <p:nvPr/>
        </p:nvSpPr>
        <p:spPr>
          <a:xfrm>
            <a:off x="434398" y="688695"/>
            <a:ext cx="4137602" cy="4224233"/>
          </a:xfrm>
          <a:prstGeom prst="rect">
            <a:avLst/>
          </a:prstGeom>
          <a:noFill/>
        </p:spPr>
        <p:txBody>
          <a:bodyPr wrap="square">
            <a:spAutoFit/>
          </a:bodyPr>
          <a:lstStyle/>
          <a:p>
            <a:r>
              <a:rPr lang="es-AR" sz="2800" dirty="0">
                <a:solidFill>
                  <a:srgbClr val="BE3969"/>
                </a:solidFill>
                <a:highlight>
                  <a:srgbClr val="FFFFFF"/>
                </a:highlight>
                <a:latin typeface="Russo One"/>
                <a:ea typeface="Lato"/>
                <a:cs typeface="Lato"/>
                <a:sym typeface="Russo One"/>
              </a:rPr>
              <a:t>Herencia</a:t>
            </a:r>
          </a:p>
          <a:p>
            <a:endParaRPr lang="es-AR" sz="1050" dirty="0">
              <a:solidFill>
                <a:srgbClr val="BE3969"/>
              </a:solidFill>
              <a:highlight>
                <a:srgbClr val="FFFFFF"/>
              </a:highlight>
              <a:latin typeface="Russo One"/>
              <a:ea typeface="Lato"/>
              <a:cs typeface="Lato"/>
              <a:sym typeface="Russo One"/>
            </a:endParaRPr>
          </a:p>
          <a:p>
            <a:endParaRPr lang="es-AR" sz="600" dirty="0">
              <a:solidFill>
                <a:srgbClr val="BE3969"/>
              </a:solidFill>
              <a:highlight>
                <a:srgbClr val="FFFFFF"/>
              </a:highlight>
              <a:latin typeface="Russo One"/>
              <a:ea typeface="Lato"/>
              <a:cs typeface="Lato"/>
              <a:sym typeface="Russo One"/>
            </a:endParaRPr>
          </a:p>
          <a:p>
            <a:pPr marL="342900" lvl="0" indent="-342900" rtl="0">
              <a:spcBef>
                <a:spcPts val="0"/>
              </a:spcBef>
              <a:spcAft>
                <a:spcPts val="0"/>
              </a:spcAft>
              <a:buFont typeface="Arial" panose="020B0604020202020204" pitchFamily="34" charset="0"/>
              <a:buChar char="•"/>
            </a:pPr>
            <a:r>
              <a:rPr lang="es-AR" sz="1600" dirty="0">
                <a:solidFill>
                  <a:srgbClr val="4A4A4A"/>
                </a:solidFill>
                <a:highlight>
                  <a:srgbClr val="FFFFFF"/>
                </a:highlight>
                <a:latin typeface="Lato"/>
                <a:ea typeface="Lato"/>
                <a:cs typeface="Lato"/>
                <a:sym typeface="Lato"/>
              </a:rPr>
              <a:t>La herencia también debe entenderse en este contexto: algunos valores de las propiedades CSS que se han establecido para los elementos padre los heredan los elementos hijo, pero otros no.</a:t>
            </a:r>
          </a:p>
          <a:p>
            <a:pPr marL="342900" lvl="0" indent="-342900" rtl="0">
              <a:spcBef>
                <a:spcPts val="0"/>
              </a:spcBef>
              <a:spcAft>
                <a:spcPts val="0"/>
              </a:spcAft>
              <a:buFont typeface="Arial" panose="020B0604020202020204" pitchFamily="34" charset="0"/>
              <a:buChar char="•"/>
            </a:pPr>
            <a:endParaRPr lang="es-AR" sz="1600" dirty="0">
              <a:solidFill>
                <a:srgbClr val="4A4A4A"/>
              </a:solidFill>
              <a:highlight>
                <a:srgbClr val="FFFFFF"/>
              </a:highlight>
              <a:latin typeface="Lato"/>
              <a:ea typeface="Lato"/>
              <a:cs typeface="Lato"/>
              <a:sym typeface="Lato"/>
            </a:endParaRPr>
          </a:p>
          <a:p>
            <a:pPr marL="342900" lvl="0" indent="-342900" rtl="0">
              <a:spcBef>
                <a:spcPts val="0"/>
              </a:spcBef>
              <a:spcAft>
                <a:spcPts val="0"/>
              </a:spcAft>
              <a:buFont typeface="Arial" panose="020B0604020202020204" pitchFamily="34" charset="0"/>
              <a:buChar char="•"/>
            </a:pPr>
            <a:r>
              <a:rPr lang="es-AR" sz="1600" dirty="0">
                <a:solidFill>
                  <a:srgbClr val="4A4A4A"/>
                </a:solidFill>
                <a:highlight>
                  <a:srgbClr val="FFFFFF"/>
                </a:highlight>
                <a:latin typeface="Lato"/>
                <a:ea typeface="Lato"/>
                <a:cs typeface="Lato"/>
                <a:sym typeface="Lato"/>
              </a:rPr>
              <a:t>Por ejemplo, si para un elemento se establece el color (color) y el tipo de letra (</a:t>
            </a:r>
            <a:r>
              <a:rPr lang="es-AR" sz="1600" dirty="0" err="1">
                <a:solidFill>
                  <a:srgbClr val="4A4A4A"/>
                </a:solidFill>
                <a:highlight>
                  <a:srgbClr val="FFFFFF"/>
                </a:highlight>
                <a:latin typeface="Lato"/>
                <a:ea typeface="Lato"/>
                <a:cs typeface="Lato"/>
                <a:sym typeface="Lato"/>
              </a:rPr>
              <a:t>font-family</a:t>
            </a:r>
            <a:r>
              <a:rPr lang="es-AR" sz="1600" dirty="0">
                <a:solidFill>
                  <a:srgbClr val="4A4A4A"/>
                </a:solidFill>
                <a:highlight>
                  <a:srgbClr val="FFFFFF"/>
                </a:highlight>
                <a:latin typeface="Lato"/>
                <a:ea typeface="Lato"/>
                <a:cs typeface="Lato"/>
                <a:sym typeface="Lato"/>
              </a:rPr>
              <a:t>), cada elemento que se encuentre dentro de él también se mostrará de ese color y con ese tipo de letra, a menos que les se haya aplicado un color y un tipo de letra diferentes directamente.</a:t>
            </a:r>
          </a:p>
        </p:txBody>
      </p:sp>
      <p:pic>
        <p:nvPicPr>
          <p:cNvPr id="7" name="Imagen 6">
            <a:extLst>
              <a:ext uri="{FF2B5EF4-FFF2-40B4-BE49-F238E27FC236}">
                <a16:creationId xmlns:a16="http://schemas.microsoft.com/office/drawing/2014/main" id="{7D395878-424E-AA30-0D1D-18469F6F5412}"/>
              </a:ext>
            </a:extLst>
          </p:cNvPr>
          <p:cNvPicPr>
            <a:picLocks noChangeAspect="1"/>
          </p:cNvPicPr>
          <p:nvPr/>
        </p:nvPicPr>
        <p:blipFill>
          <a:blip r:embed="rId3"/>
          <a:stretch>
            <a:fillRect/>
          </a:stretch>
        </p:blipFill>
        <p:spPr>
          <a:xfrm>
            <a:off x="5122054" y="1523999"/>
            <a:ext cx="3536084" cy="2871355"/>
          </a:xfrm>
          <a:prstGeom prst="rect">
            <a:avLst/>
          </a:prstGeom>
        </p:spPr>
      </p:pic>
    </p:spTree>
    <p:extLst>
      <p:ext uri="{BB962C8B-B14F-4D97-AF65-F5344CB8AC3E}">
        <p14:creationId xmlns:p14="http://schemas.microsoft.com/office/powerpoint/2010/main" val="53134346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4" name="CuadroTexto 3">
            <a:extLst>
              <a:ext uri="{FF2B5EF4-FFF2-40B4-BE49-F238E27FC236}">
                <a16:creationId xmlns:a16="http://schemas.microsoft.com/office/drawing/2014/main" id="{B9B8C329-BED5-C09C-F09B-E2F2A7739CCE}"/>
              </a:ext>
            </a:extLst>
          </p:cNvPr>
          <p:cNvSpPr txBox="1"/>
          <p:nvPr/>
        </p:nvSpPr>
        <p:spPr>
          <a:xfrm>
            <a:off x="434397" y="688695"/>
            <a:ext cx="8035347" cy="3570208"/>
          </a:xfrm>
          <a:prstGeom prst="rect">
            <a:avLst/>
          </a:prstGeom>
          <a:noFill/>
        </p:spPr>
        <p:txBody>
          <a:bodyPr wrap="square">
            <a:spAutoFit/>
          </a:bodyPr>
          <a:lstStyle/>
          <a:p>
            <a:r>
              <a:rPr lang="es-AR" sz="3200" dirty="0">
                <a:solidFill>
                  <a:srgbClr val="BE3969"/>
                </a:solidFill>
                <a:highlight>
                  <a:srgbClr val="FFFFFF"/>
                </a:highlight>
                <a:latin typeface="Russo One"/>
                <a:ea typeface="Lato"/>
                <a:cs typeface="Lato"/>
                <a:sym typeface="Russo One"/>
              </a:rPr>
              <a:t>Comprender cómo trabajan juntos estos conceptos</a:t>
            </a:r>
          </a:p>
          <a:p>
            <a:endParaRPr lang="es-AR" sz="1100" dirty="0">
              <a:solidFill>
                <a:srgbClr val="BE3969"/>
              </a:solidFill>
              <a:highlight>
                <a:srgbClr val="FFFFFF"/>
              </a:highlight>
              <a:latin typeface="Russo One"/>
              <a:ea typeface="Lato"/>
              <a:cs typeface="Lato"/>
              <a:sym typeface="Russo One"/>
            </a:endParaRPr>
          </a:p>
          <a:p>
            <a:endParaRPr lang="es-AR" sz="700" dirty="0">
              <a:solidFill>
                <a:srgbClr val="BE3969"/>
              </a:solidFill>
              <a:highlight>
                <a:srgbClr val="FFFFFF"/>
              </a:highlight>
              <a:latin typeface="Russo One"/>
              <a:ea typeface="Lato"/>
              <a:cs typeface="Lato"/>
              <a:sym typeface="Russo One"/>
            </a:endParaRPr>
          </a:p>
          <a:p>
            <a:pPr marL="342900" lvl="0" indent="-342900" rtl="0">
              <a:spcBef>
                <a:spcPts val="0"/>
              </a:spcBef>
              <a:spcAft>
                <a:spcPts val="0"/>
              </a:spcAft>
              <a:buFont typeface="Arial" panose="020B0604020202020204" pitchFamily="34" charset="0"/>
              <a:buChar char="•"/>
            </a:pPr>
            <a:r>
              <a:rPr lang="es-AR" sz="1800" dirty="0">
                <a:solidFill>
                  <a:srgbClr val="4A4A4A"/>
                </a:solidFill>
                <a:highlight>
                  <a:srgbClr val="FFFFFF"/>
                </a:highlight>
                <a:latin typeface="Lato"/>
                <a:ea typeface="Lato"/>
                <a:cs typeface="Lato"/>
                <a:sym typeface="Lato"/>
              </a:rPr>
              <a:t>Estos tres conceptos controlan qué CSS se aplica a qué elemento. </a:t>
            </a:r>
          </a:p>
          <a:p>
            <a:pPr marL="342900" lvl="0" indent="-342900" rtl="0">
              <a:spcBef>
                <a:spcPts val="0"/>
              </a:spcBef>
              <a:spcAft>
                <a:spcPts val="0"/>
              </a:spcAft>
              <a:buFont typeface="Arial" panose="020B0604020202020204" pitchFamily="34" charset="0"/>
              <a:buChar char="•"/>
            </a:pPr>
            <a:endParaRPr lang="es-AR" sz="1800" dirty="0">
              <a:solidFill>
                <a:srgbClr val="4A4A4A"/>
              </a:solidFill>
              <a:highlight>
                <a:srgbClr val="FFFFFF"/>
              </a:highlight>
              <a:latin typeface="Lato"/>
              <a:ea typeface="Lato"/>
              <a:cs typeface="Lato"/>
              <a:sym typeface="Lato"/>
            </a:endParaRPr>
          </a:p>
          <a:p>
            <a:pPr marL="342900" lvl="0" indent="-342900" rtl="0">
              <a:spcBef>
                <a:spcPts val="0"/>
              </a:spcBef>
              <a:spcAft>
                <a:spcPts val="0"/>
              </a:spcAft>
              <a:buFont typeface="Arial" panose="020B0604020202020204" pitchFamily="34" charset="0"/>
              <a:buChar char="•"/>
            </a:pPr>
            <a:r>
              <a:rPr lang="es-AR" sz="1800" dirty="0">
                <a:solidFill>
                  <a:srgbClr val="4A4A4A"/>
                </a:solidFill>
                <a:highlight>
                  <a:srgbClr val="FFFFFF"/>
                </a:highlight>
                <a:latin typeface="Lato"/>
                <a:ea typeface="Lato"/>
                <a:cs typeface="Lato"/>
                <a:sym typeface="Lato"/>
              </a:rPr>
              <a:t>En las diapositivas siguientes veremos cómo funcionan en conjunto.</a:t>
            </a:r>
          </a:p>
          <a:p>
            <a:pPr marL="342900" lvl="0" indent="-342900" rtl="0">
              <a:spcBef>
                <a:spcPts val="0"/>
              </a:spcBef>
              <a:spcAft>
                <a:spcPts val="0"/>
              </a:spcAft>
              <a:buFont typeface="Arial" panose="020B0604020202020204" pitchFamily="34" charset="0"/>
              <a:buChar char="•"/>
            </a:pPr>
            <a:endParaRPr lang="es-AR" sz="1800" dirty="0">
              <a:solidFill>
                <a:srgbClr val="4A4A4A"/>
              </a:solidFill>
              <a:highlight>
                <a:srgbClr val="FFFFFF"/>
              </a:highlight>
              <a:latin typeface="Lato"/>
              <a:ea typeface="Lato"/>
              <a:cs typeface="Lato"/>
              <a:sym typeface="Lato"/>
            </a:endParaRPr>
          </a:p>
          <a:p>
            <a:pPr marL="342900" lvl="0" indent="-342900" rtl="0">
              <a:spcBef>
                <a:spcPts val="0"/>
              </a:spcBef>
              <a:spcAft>
                <a:spcPts val="0"/>
              </a:spcAft>
              <a:buFont typeface="Arial" panose="020B0604020202020204" pitchFamily="34" charset="0"/>
              <a:buChar char="•"/>
            </a:pPr>
            <a:r>
              <a:rPr lang="es-AR" sz="1800" dirty="0">
                <a:solidFill>
                  <a:srgbClr val="4A4A4A"/>
                </a:solidFill>
                <a:highlight>
                  <a:srgbClr val="FFFFFF"/>
                </a:highlight>
                <a:latin typeface="Lato"/>
                <a:ea typeface="Lato"/>
                <a:cs typeface="Lato"/>
                <a:sym typeface="Lato"/>
              </a:rPr>
              <a:t> A veces puede parecer un poco complicado, pero lo irás recordando a medida que ganes experiencia con el CSS, y siempre puedes consultar los detalles si se te olvidan. </a:t>
            </a:r>
            <a:r>
              <a:rPr lang="es-AR" sz="1800" dirty="0">
                <a:solidFill>
                  <a:schemeClr val="tx1"/>
                </a:solidFill>
                <a:highlight>
                  <a:srgbClr val="FFFFFF"/>
                </a:highlight>
                <a:latin typeface="Lato"/>
                <a:ea typeface="Lato"/>
                <a:cs typeface="Lato"/>
                <a:sym typeface="Lato"/>
              </a:rPr>
              <a:t>¡Incluso los desarrolladores experimentados lo hacen!</a:t>
            </a:r>
          </a:p>
        </p:txBody>
      </p:sp>
    </p:spTree>
    <p:extLst>
      <p:ext uri="{BB962C8B-B14F-4D97-AF65-F5344CB8AC3E}">
        <p14:creationId xmlns:p14="http://schemas.microsoft.com/office/powerpoint/2010/main" val="296091515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4" name="CuadroTexto 3">
            <a:extLst>
              <a:ext uri="{FF2B5EF4-FFF2-40B4-BE49-F238E27FC236}">
                <a16:creationId xmlns:a16="http://schemas.microsoft.com/office/drawing/2014/main" id="{B9B8C329-BED5-C09C-F09B-E2F2A7739CCE}"/>
              </a:ext>
            </a:extLst>
          </p:cNvPr>
          <p:cNvSpPr txBox="1"/>
          <p:nvPr/>
        </p:nvSpPr>
        <p:spPr>
          <a:xfrm>
            <a:off x="434397" y="688695"/>
            <a:ext cx="3791239" cy="4078039"/>
          </a:xfrm>
          <a:prstGeom prst="rect">
            <a:avLst/>
          </a:prstGeom>
          <a:noFill/>
        </p:spPr>
        <p:txBody>
          <a:bodyPr wrap="square">
            <a:spAutoFit/>
          </a:bodyPr>
          <a:lstStyle/>
          <a:p>
            <a:r>
              <a:rPr lang="es-AR" sz="2400" dirty="0">
                <a:solidFill>
                  <a:srgbClr val="BE3969"/>
                </a:solidFill>
                <a:highlight>
                  <a:srgbClr val="FFFFFF"/>
                </a:highlight>
                <a:latin typeface="Russo One"/>
                <a:ea typeface="Lato"/>
                <a:cs typeface="Lato"/>
                <a:sym typeface="Russo One"/>
              </a:rPr>
              <a:t>Comprender la herencia</a:t>
            </a:r>
          </a:p>
          <a:p>
            <a:endParaRPr lang="es-AR" sz="1000" dirty="0">
              <a:solidFill>
                <a:srgbClr val="BE3969"/>
              </a:solidFill>
              <a:highlight>
                <a:srgbClr val="FFFFFF"/>
              </a:highlight>
              <a:latin typeface="Russo One"/>
              <a:ea typeface="Lato"/>
              <a:cs typeface="Lato"/>
              <a:sym typeface="Russo One"/>
            </a:endParaRPr>
          </a:p>
          <a:p>
            <a:endParaRPr lang="es-AR" sz="500" dirty="0">
              <a:solidFill>
                <a:srgbClr val="BE3969"/>
              </a:solidFill>
              <a:highlight>
                <a:srgbClr val="FFFFFF"/>
              </a:highlight>
              <a:latin typeface="Russo One"/>
              <a:ea typeface="Lato"/>
              <a:cs typeface="Lato"/>
              <a:sym typeface="Russo One"/>
            </a:endParaRPr>
          </a:p>
          <a:p>
            <a:pPr marL="342900" lvl="0" indent="-342900" rtl="0">
              <a:spcBef>
                <a:spcPts val="0"/>
              </a:spcBef>
              <a:spcAft>
                <a:spcPts val="0"/>
              </a:spcAft>
              <a:buFont typeface="Arial" panose="020B0604020202020204" pitchFamily="34" charset="0"/>
              <a:buChar char="•"/>
            </a:pPr>
            <a:r>
              <a:rPr lang="es-AR" dirty="0">
                <a:solidFill>
                  <a:srgbClr val="4A4A4A"/>
                </a:solidFill>
                <a:highlight>
                  <a:srgbClr val="FFFFFF"/>
                </a:highlight>
                <a:latin typeface="Lato"/>
                <a:ea typeface="Lato"/>
                <a:cs typeface="Lato"/>
                <a:sym typeface="Lato"/>
              </a:rPr>
              <a:t>En el ejemplo siguiente tenemos un elemento &lt;</a:t>
            </a:r>
            <a:r>
              <a:rPr lang="es-AR" dirty="0" err="1">
                <a:solidFill>
                  <a:srgbClr val="4A4A4A"/>
                </a:solidFill>
                <a:highlight>
                  <a:srgbClr val="FFFFFF"/>
                </a:highlight>
                <a:latin typeface="Lato"/>
                <a:ea typeface="Lato"/>
                <a:cs typeface="Lato"/>
                <a:sym typeface="Lato"/>
              </a:rPr>
              <a:t>ul</a:t>
            </a:r>
            <a:r>
              <a:rPr lang="es-AR" dirty="0">
                <a:solidFill>
                  <a:srgbClr val="4A4A4A"/>
                </a:solidFill>
                <a:highlight>
                  <a:srgbClr val="FFFFFF"/>
                </a:highlight>
                <a:latin typeface="Lato"/>
                <a:ea typeface="Lato"/>
                <a:cs typeface="Lato"/>
                <a:sym typeface="Lato"/>
              </a:rPr>
              <a:t>&gt; con dos niveles de listas no ordenadas anidadas en él. Hemos establecido para el &lt;</a:t>
            </a:r>
            <a:r>
              <a:rPr lang="es-AR" dirty="0" err="1">
                <a:solidFill>
                  <a:srgbClr val="4A4A4A"/>
                </a:solidFill>
                <a:highlight>
                  <a:srgbClr val="FFFFFF"/>
                </a:highlight>
                <a:latin typeface="Lato"/>
                <a:ea typeface="Lato"/>
                <a:cs typeface="Lato"/>
                <a:sym typeface="Lato"/>
              </a:rPr>
              <a:t>ul</a:t>
            </a:r>
            <a:r>
              <a:rPr lang="es-AR" dirty="0">
                <a:solidFill>
                  <a:srgbClr val="4A4A4A"/>
                </a:solidFill>
                <a:highlight>
                  <a:srgbClr val="FFFFFF"/>
                </a:highlight>
                <a:latin typeface="Lato"/>
                <a:ea typeface="Lato"/>
                <a:cs typeface="Lato"/>
                <a:sym typeface="Lato"/>
              </a:rPr>
              <a:t>&gt; exterior un borde, un relleno y un color de fuente.</a:t>
            </a:r>
          </a:p>
          <a:p>
            <a:pPr marL="342900" lvl="0" indent="-342900" rtl="0">
              <a:spcBef>
                <a:spcPts val="0"/>
              </a:spcBef>
              <a:spcAft>
                <a:spcPts val="0"/>
              </a:spcAft>
              <a:buFont typeface="Arial" panose="020B0604020202020204" pitchFamily="34" charset="0"/>
              <a:buChar char="•"/>
            </a:pPr>
            <a:endParaRPr lang="es-AR" dirty="0">
              <a:solidFill>
                <a:srgbClr val="4A4A4A"/>
              </a:solidFill>
              <a:highlight>
                <a:srgbClr val="FFFFFF"/>
              </a:highlight>
              <a:latin typeface="Lato"/>
              <a:ea typeface="Lato"/>
              <a:cs typeface="Lato"/>
              <a:sym typeface="Lato"/>
            </a:endParaRPr>
          </a:p>
          <a:p>
            <a:pPr marL="342900" lvl="0" indent="-342900" rtl="0">
              <a:spcBef>
                <a:spcPts val="0"/>
              </a:spcBef>
              <a:spcAft>
                <a:spcPts val="0"/>
              </a:spcAft>
              <a:buFont typeface="Arial" panose="020B0604020202020204" pitchFamily="34" charset="0"/>
              <a:buChar char="•"/>
            </a:pPr>
            <a:r>
              <a:rPr lang="es-AR" dirty="0">
                <a:solidFill>
                  <a:srgbClr val="4A4A4A"/>
                </a:solidFill>
                <a:highlight>
                  <a:srgbClr val="FFFFFF"/>
                </a:highlight>
                <a:latin typeface="Lato"/>
                <a:ea typeface="Lato"/>
                <a:cs typeface="Lato"/>
                <a:sym typeface="Lato"/>
              </a:rPr>
              <a:t>El color se ha aplicado a los hijos directos y también a los hijos indirectos: los elementos hijo &lt;</a:t>
            </a:r>
            <a:r>
              <a:rPr lang="es-AR" dirty="0" err="1">
                <a:solidFill>
                  <a:srgbClr val="4A4A4A"/>
                </a:solidFill>
                <a:highlight>
                  <a:srgbClr val="FFFFFF"/>
                </a:highlight>
                <a:latin typeface="Lato"/>
                <a:ea typeface="Lato"/>
                <a:cs typeface="Lato"/>
                <a:sym typeface="Lato"/>
              </a:rPr>
              <a:t>li</a:t>
            </a:r>
            <a:r>
              <a:rPr lang="es-AR" dirty="0">
                <a:solidFill>
                  <a:srgbClr val="4A4A4A"/>
                </a:solidFill>
                <a:highlight>
                  <a:srgbClr val="FFFFFF"/>
                </a:highlight>
                <a:latin typeface="Lato"/>
                <a:ea typeface="Lato"/>
                <a:cs typeface="Lato"/>
                <a:sym typeface="Lato"/>
              </a:rPr>
              <a:t>&gt; inmediatos y los que están dentro de la primera lista. A continuación, hemos añadido a la segunda lista anidada una clase especial y le hemos aplicado un color diferente, que los elementos hijo de esta heredarán.</a:t>
            </a:r>
            <a:endParaRPr lang="es-AR" dirty="0">
              <a:solidFill>
                <a:schemeClr val="tx1"/>
              </a:solidFill>
              <a:highlight>
                <a:srgbClr val="FFFFFF"/>
              </a:highlight>
              <a:latin typeface="Lato"/>
              <a:ea typeface="Lato"/>
              <a:cs typeface="Lato"/>
              <a:sym typeface="Lato"/>
            </a:endParaRPr>
          </a:p>
        </p:txBody>
      </p:sp>
      <p:pic>
        <p:nvPicPr>
          <p:cNvPr id="3" name="Imagen 2">
            <a:extLst>
              <a:ext uri="{FF2B5EF4-FFF2-40B4-BE49-F238E27FC236}">
                <a16:creationId xmlns:a16="http://schemas.microsoft.com/office/drawing/2014/main" id="{402E059F-3061-21E1-D47D-FF2E35FD5196}"/>
              </a:ext>
            </a:extLst>
          </p:cNvPr>
          <p:cNvPicPr>
            <a:picLocks noChangeAspect="1"/>
          </p:cNvPicPr>
          <p:nvPr/>
        </p:nvPicPr>
        <p:blipFill>
          <a:blip r:embed="rId3"/>
          <a:stretch>
            <a:fillRect/>
          </a:stretch>
        </p:blipFill>
        <p:spPr>
          <a:xfrm>
            <a:off x="4684534" y="1103745"/>
            <a:ext cx="3950145" cy="3444009"/>
          </a:xfrm>
          <a:prstGeom prst="rect">
            <a:avLst/>
          </a:prstGeom>
        </p:spPr>
      </p:pic>
    </p:spTree>
    <p:extLst>
      <p:ext uri="{BB962C8B-B14F-4D97-AF65-F5344CB8AC3E}">
        <p14:creationId xmlns:p14="http://schemas.microsoft.com/office/powerpoint/2010/main" val="161492260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4" name="CuadroTexto 3">
            <a:extLst>
              <a:ext uri="{FF2B5EF4-FFF2-40B4-BE49-F238E27FC236}">
                <a16:creationId xmlns:a16="http://schemas.microsoft.com/office/drawing/2014/main" id="{B9B8C329-BED5-C09C-F09B-E2F2A7739CCE}"/>
              </a:ext>
            </a:extLst>
          </p:cNvPr>
          <p:cNvSpPr txBox="1"/>
          <p:nvPr/>
        </p:nvSpPr>
        <p:spPr>
          <a:xfrm>
            <a:off x="434397" y="688695"/>
            <a:ext cx="3791239" cy="3801041"/>
          </a:xfrm>
          <a:prstGeom prst="rect">
            <a:avLst/>
          </a:prstGeom>
          <a:noFill/>
        </p:spPr>
        <p:txBody>
          <a:bodyPr wrap="square">
            <a:spAutoFit/>
          </a:bodyPr>
          <a:lstStyle/>
          <a:p>
            <a:r>
              <a:rPr lang="es-AR" sz="2400" dirty="0">
                <a:solidFill>
                  <a:srgbClr val="BE3969"/>
                </a:solidFill>
                <a:highlight>
                  <a:srgbClr val="FFFFFF"/>
                </a:highlight>
                <a:latin typeface="Russo One"/>
                <a:ea typeface="Lato"/>
                <a:cs typeface="Lato"/>
                <a:sym typeface="Russo One"/>
              </a:rPr>
              <a:t>Comprender la herencia – Continuación </a:t>
            </a:r>
          </a:p>
          <a:p>
            <a:endParaRPr lang="es-AR" sz="1000" dirty="0">
              <a:solidFill>
                <a:srgbClr val="BE3969"/>
              </a:solidFill>
              <a:highlight>
                <a:srgbClr val="FFFFFF"/>
              </a:highlight>
              <a:latin typeface="Russo One"/>
              <a:ea typeface="Lato"/>
              <a:cs typeface="Lato"/>
              <a:sym typeface="Russo One"/>
            </a:endParaRPr>
          </a:p>
          <a:p>
            <a:endParaRPr lang="es-AR" sz="500" dirty="0">
              <a:solidFill>
                <a:srgbClr val="BE3969"/>
              </a:solidFill>
              <a:highlight>
                <a:srgbClr val="FFFFFF"/>
              </a:highlight>
              <a:latin typeface="Russo One"/>
              <a:ea typeface="Lato"/>
              <a:cs typeface="Lato"/>
              <a:sym typeface="Russo One"/>
            </a:endParaRPr>
          </a:p>
          <a:p>
            <a:pPr marL="342900" lvl="0" indent="-342900" rtl="0">
              <a:spcBef>
                <a:spcPts val="0"/>
              </a:spcBef>
              <a:spcAft>
                <a:spcPts val="0"/>
              </a:spcAft>
              <a:buFont typeface="Arial" panose="020B0604020202020204" pitchFamily="34" charset="0"/>
              <a:buChar char="•"/>
            </a:pPr>
            <a:r>
              <a:rPr lang="es-AR" dirty="0">
                <a:solidFill>
                  <a:srgbClr val="4A4A4A"/>
                </a:solidFill>
                <a:highlight>
                  <a:srgbClr val="FFFFFF"/>
                </a:highlight>
                <a:latin typeface="Lato"/>
                <a:ea typeface="Lato"/>
                <a:cs typeface="Lato"/>
                <a:sym typeface="Lato"/>
              </a:rPr>
              <a:t>La anchura (como se mencionó anteriormente), los márgenes, el relleno y los bordes no se heredan. Si los elementos hijo de nuestra lista heredaran los bordes, todas las listas y los elementos de lista ganarían un borde cada vez ¡y no es probable que vez quieras un efecto así!</a:t>
            </a:r>
          </a:p>
          <a:p>
            <a:pPr marL="342900" lvl="0" indent="-342900" rtl="0">
              <a:spcBef>
                <a:spcPts val="0"/>
              </a:spcBef>
              <a:spcAft>
                <a:spcPts val="0"/>
              </a:spcAft>
              <a:buFont typeface="Arial" panose="020B0604020202020204" pitchFamily="34" charset="0"/>
              <a:buChar char="•"/>
            </a:pPr>
            <a:endParaRPr lang="es-AR" dirty="0">
              <a:solidFill>
                <a:srgbClr val="4A4A4A"/>
              </a:solidFill>
              <a:highlight>
                <a:srgbClr val="FFFFFF"/>
              </a:highlight>
              <a:latin typeface="Lato"/>
              <a:ea typeface="Lato"/>
              <a:cs typeface="Lato"/>
              <a:sym typeface="Lato"/>
            </a:endParaRPr>
          </a:p>
          <a:p>
            <a:pPr marL="342900" lvl="0" indent="-342900" rtl="0">
              <a:spcBef>
                <a:spcPts val="0"/>
              </a:spcBef>
              <a:spcAft>
                <a:spcPts val="0"/>
              </a:spcAft>
              <a:buFont typeface="Arial" panose="020B0604020202020204" pitchFamily="34" charset="0"/>
              <a:buChar char="•"/>
            </a:pPr>
            <a:r>
              <a:rPr lang="es-AR" dirty="0">
                <a:solidFill>
                  <a:srgbClr val="4A4A4A"/>
                </a:solidFill>
                <a:highlight>
                  <a:srgbClr val="FFFFFF"/>
                </a:highlight>
                <a:latin typeface="Lato"/>
                <a:ea typeface="Lato"/>
                <a:cs typeface="Lato"/>
                <a:sym typeface="Lato"/>
              </a:rPr>
              <a:t>Las propiedades que se heredan por defecto y las que no son cuestión, en gran medida, de sentido común.</a:t>
            </a:r>
            <a:endParaRPr lang="es-AR" dirty="0">
              <a:solidFill>
                <a:schemeClr val="tx1"/>
              </a:solidFill>
              <a:highlight>
                <a:srgbClr val="FFFFFF"/>
              </a:highlight>
              <a:latin typeface="Lato"/>
              <a:ea typeface="Lato"/>
              <a:cs typeface="Lato"/>
              <a:sym typeface="Lato"/>
            </a:endParaRPr>
          </a:p>
        </p:txBody>
      </p:sp>
      <p:pic>
        <p:nvPicPr>
          <p:cNvPr id="3" name="Imagen 2">
            <a:extLst>
              <a:ext uri="{FF2B5EF4-FFF2-40B4-BE49-F238E27FC236}">
                <a16:creationId xmlns:a16="http://schemas.microsoft.com/office/drawing/2014/main" id="{402E059F-3061-21E1-D47D-FF2E35FD5196}"/>
              </a:ext>
            </a:extLst>
          </p:cNvPr>
          <p:cNvPicPr>
            <a:picLocks noChangeAspect="1"/>
          </p:cNvPicPr>
          <p:nvPr/>
        </p:nvPicPr>
        <p:blipFill>
          <a:blip r:embed="rId3"/>
          <a:stretch>
            <a:fillRect/>
          </a:stretch>
        </p:blipFill>
        <p:spPr>
          <a:xfrm>
            <a:off x="4684534" y="1103745"/>
            <a:ext cx="3950145" cy="3444009"/>
          </a:xfrm>
          <a:prstGeom prst="rect">
            <a:avLst/>
          </a:prstGeom>
        </p:spPr>
      </p:pic>
    </p:spTree>
    <p:extLst>
      <p:ext uri="{BB962C8B-B14F-4D97-AF65-F5344CB8AC3E}">
        <p14:creationId xmlns:p14="http://schemas.microsoft.com/office/powerpoint/2010/main" val="134252536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4" name="CuadroTexto 3">
            <a:extLst>
              <a:ext uri="{FF2B5EF4-FFF2-40B4-BE49-F238E27FC236}">
                <a16:creationId xmlns:a16="http://schemas.microsoft.com/office/drawing/2014/main" id="{B9B8C329-BED5-C09C-F09B-E2F2A7739CCE}"/>
              </a:ext>
            </a:extLst>
          </p:cNvPr>
          <p:cNvSpPr txBox="1"/>
          <p:nvPr/>
        </p:nvSpPr>
        <p:spPr>
          <a:xfrm>
            <a:off x="434397" y="688695"/>
            <a:ext cx="8127712" cy="3708708"/>
          </a:xfrm>
          <a:prstGeom prst="rect">
            <a:avLst/>
          </a:prstGeom>
          <a:noFill/>
        </p:spPr>
        <p:txBody>
          <a:bodyPr wrap="square">
            <a:spAutoFit/>
          </a:bodyPr>
          <a:lstStyle/>
          <a:p>
            <a:r>
              <a:rPr lang="es-AR" sz="2400" dirty="0">
                <a:solidFill>
                  <a:srgbClr val="BE3969"/>
                </a:solidFill>
                <a:highlight>
                  <a:srgbClr val="FFFFFF"/>
                </a:highlight>
                <a:latin typeface="Russo One"/>
                <a:ea typeface="Lato"/>
                <a:cs typeface="Lato"/>
                <a:sym typeface="Russo One"/>
              </a:rPr>
              <a:t>Control de la herencia</a:t>
            </a:r>
          </a:p>
          <a:p>
            <a:endParaRPr lang="es-AR" sz="1000" dirty="0">
              <a:solidFill>
                <a:srgbClr val="BE3969"/>
              </a:solidFill>
              <a:highlight>
                <a:srgbClr val="FFFFFF"/>
              </a:highlight>
              <a:latin typeface="Russo One"/>
              <a:ea typeface="Lato"/>
              <a:cs typeface="Lato"/>
              <a:sym typeface="Russo One"/>
            </a:endParaRPr>
          </a:p>
          <a:p>
            <a:endParaRPr lang="es-AR" sz="500" dirty="0">
              <a:solidFill>
                <a:srgbClr val="BE3969"/>
              </a:solidFill>
              <a:highlight>
                <a:srgbClr val="FFFFFF"/>
              </a:highlight>
              <a:latin typeface="Russo One"/>
              <a:ea typeface="Lato"/>
              <a:cs typeface="Lato"/>
              <a:sym typeface="Russo One"/>
            </a:endParaRPr>
          </a:p>
          <a:p>
            <a:pPr lvl="0" rtl="0">
              <a:spcBef>
                <a:spcPts val="0"/>
              </a:spcBef>
              <a:spcAft>
                <a:spcPts val="0"/>
              </a:spcAft>
            </a:pPr>
            <a:r>
              <a:rPr lang="es-AR" dirty="0">
                <a:solidFill>
                  <a:srgbClr val="4A4A4A"/>
                </a:solidFill>
                <a:highlight>
                  <a:srgbClr val="FFFFFF"/>
                </a:highlight>
                <a:latin typeface="Lato"/>
                <a:ea typeface="Lato"/>
                <a:cs typeface="Lato"/>
                <a:sym typeface="Lato"/>
              </a:rPr>
              <a:t>CSS proporciona cuatro valores de propiedad universales especiales para el control de la herencia. Todas las propiedades CSS aceptan estos valores.</a:t>
            </a:r>
          </a:p>
          <a:p>
            <a:pPr marL="342900" lvl="0" indent="-342900" rtl="0">
              <a:spcBef>
                <a:spcPts val="0"/>
              </a:spcBef>
              <a:spcAft>
                <a:spcPts val="0"/>
              </a:spcAft>
              <a:buFont typeface="Arial" panose="020B0604020202020204" pitchFamily="34" charset="0"/>
              <a:buChar char="•"/>
            </a:pPr>
            <a:endParaRPr lang="es-AR" dirty="0">
              <a:solidFill>
                <a:srgbClr val="4A4A4A"/>
              </a:solidFill>
              <a:highlight>
                <a:srgbClr val="FFFFFF"/>
              </a:highlight>
              <a:latin typeface="Lato"/>
              <a:ea typeface="Lato"/>
              <a:cs typeface="Lato"/>
              <a:sym typeface="Lato"/>
            </a:endParaRPr>
          </a:p>
          <a:p>
            <a:pPr marL="342900" lvl="0" indent="-342900" rtl="0">
              <a:spcBef>
                <a:spcPts val="0"/>
              </a:spcBef>
              <a:spcAft>
                <a:spcPts val="0"/>
              </a:spcAft>
              <a:buFont typeface="Arial" panose="020B0604020202020204" pitchFamily="34" charset="0"/>
              <a:buChar char="•"/>
            </a:pPr>
            <a:r>
              <a:rPr lang="es-AR" b="1" dirty="0" err="1">
                <a:solidFill>
                  <a:schemeClr val="tx1"/>
                </a:solidFill>
                <a:highlight>
                  <a:srgbClr val="FFFFFF"/>
                </a:highlight>
                <a:latin typeface="Lato"/>
                <a:ea typeface="Lato"/>
                <a:cs typeface="Lato"/>
                <a:sym typeface="Lato"/>
              </a:rPr>
              <a:t>inherit</a:t>
            </a:r>
            <a:endParaRPr lang="es-AR" b="1" dirty="0">
              <a:solidFill>
                <a:schemeClr val="tx1"/>
              </a:solidFill>
              <a:highlight>
                <a:srgbClr val="FFFFFF"/>
              </a:highlight>
              <a:latin typeface="Lato"/>
              <a:ea typeface="Lato"/>
              <a:cs typeface="Lato"/>
              <a:sym typeface="Lato"/>
            </a:endParaRPr>
          </a:p>
          <a:p>
            <a:pPr lvl="0" rtl="0">
              <a:spcBef>
                <a:spcPts val="0"/>
              </a:spcBef>
              <a:spcAft>
                <a:spcPts val="0"/>
              </a:spcAft>
            </a:pPr>
            <a:r>
              <a:rPr lang="es-AR" dirty="0">
                <a:solidFill>
                  <a:srgbClr val="4A4A4A"/>
                </a:solidFill>
                <a:highlight>
                  <a:srgbClr val="FFFFFF"/>
                </a:highlight>
                <a:latin typeface="Lato"/>
                <a:ea typeface="Lato"/>
                <a:cs typeface="Lato"/>
                <a:sym typeface="Lato"/>
              </a:rPr>
              <a:t>Establece que el valor de la propiedad que se aplica a un elemento determinado sea exactamente igual al del elemento padre. En la práctica, esto "activa la herencia".</a:t>
            </a:r>
          </a:p>
          <a:p>
            <a:pPr marL="342900" lvl="0" indent="-342900" rtl="0">
              <a:spcBef>
                <a:spcPts val="0"/>
              </a:spcBef>
              <a:spcAft>
                <a:spcPts val="0"/>
              </a:spcAft>
              <a:buFont typeface="Arial" panose="020B0604020202020204" pitchFamily="34" charset="0"/>
              <a:buChar char="•"/>
            </a:pPr>
            <a:endParaRPr lang="es-AR" dirty="0">
              <a:solidFill>
                <a:srgbClr val="4A4A4A"/>
              </a:solidFill>
              <a:highlight>
                <a:srgbClr val="FFFFFF"/>
              </a:highlight>
              <a:latin typeface="Lato"/>
              <a:ea typeface="Lato"/>
              <a:cs typeface="Lato"/>
              <a:sym typeface="Lato"/>
            </a:endParaRPr>
          </a:p>
          <a:p>
            <a:pPr marL="342900" lvl="0" indent="-342900" rtl="0">
              <a:spcBef>
                <a:spcPts val="0"/>
              </a:spcBef>
              <a:spcAft>
                <a:spcPts val="0"/>
              </a:spcAft>
              <a:buFont typeface="Arial" panose="020B0604020202020204" pitchFamily="34" charset="0"/>
              <a:buChar char="•"/>
            </a:pPr>
            <a:r>
              <a:rPr lang="es-AR" b="1" dirty="0" err="1">
                <a:solidFill>
                  <a:schemeClr val="tx1"/>
                </a:solidFill>
                <a:highlight>
                  <a:srgbClr val="FFFFFF"/>
                </a:highlight>
                <a:latin typeface="Lato"/>
                <a:ea typeface="Lato"/>
                <a:cs typeface="Lato"/>
                <a:sym typeface="Lato"/>
              </a:rPr>
              <a:t>initial</a:t>
            </a:r>
            <a:endParaRPr lang="es-AR" b="1" dirty="0">
              <a:solidFill>
                <a:schemeClr val="tx1"/>
              </a:solidFill>
              <a:highlight>
                <a:srgbClr val="FFFFFF"/>
              </a:highlight>
              <a:latin typeface="Lato"/>
              <a:ea typeface="Lato"/>
              <a:cs typeface="Lato"/>
              <a:sym typeface="Lato"/>
            </a:endParaRPr>
          </a:p>
          <a:p>
            <a:pPr lvl="0" rtl="0">
              <a:spcBef>
                <a:spcPts val="0"/>
              </a:spcBef>
              <a:spcAft>
                <a:spcPts val="0"/>
              </a:spcAft>
            </a:pPr>
            <a:r>
              <a:rPr lang="es-AR" dirty="0">
                <a:solidFill>
                  <a:srgbClr val="4A4A4A"/>
                </a:solidFill>
                <a:highlight>
                  <a:srgbClr val="FFFFFF"/>
                </a:highlight>
                <a:latin typeface="Lato"/>
                <a:ea typeface="Lato"/>
                <a:cs typeface="Lato"/>
                <a:sym typeface="Lato"/>
              </a:rPr>
              <a:t>Establece que el valor de la propiedad que se aplica a un elemento seleccionado tenga el mismo valor que esté establecido para esa propiedad en la hoja de estilo por defecto del navegador.</a:t>
            </a:r>
          </a:p>
          <a:p>
            <a:pPr marL="342900" lvl="0" indent="-342900" rtl="0">
              <a:spcBef>
                <a:spcPts val="0"/>
              </a:spcBef>
              <a:spcAft>
                <a:spcPts val="0"/>
              </a:spcAft>
              <a:buFont typeface="Arial" panose="020B0604020202020204" pitchFamily="34" charset="0"/>
              <a:buChar char="•"/>
            </a:pPr>
            <a:endParaRPr lang="es-AR" dirty="0">
              <a:solidFill>
                <a:srgbClr val="4A4A4A"/>
              </a:solidFill>
              <a:highlight>
                <a:srgbClr val="FFFFFF"/>
              </a:highlight>
              <a:latin typeface="Lato"/>
              <a:ea typeface="Lato"/>
              <a:cs typeface="Lato"/>
              <a:sym typeface="Lato"/>
            </a:endParaRPr>
          </a:p>
          <a:p>
            <a:pPr marL="342900" lvl="0" indent="-342900" rtl="0">
              <a:spcBef>
                <a:spcPts val="0"/>
              </a:spcBef>
              <a:spcAft>
                <a:spcPts val="0"/>
              </a:spcAft>
              <a:buFont typeface="Arial" panose="020B0604020202020204" pitchFamily="34" charset="0"/>
              <a:buChar char="•"/>
            </a:pPr>
            <a:r>
              <a:rPr lang="es-AR" b="1" dirty="0" err="1">
                <a:solidFill>
                  <a:schemeClr val="tx1"/>
                </a:solidFill>
                <a:highlight>
                  <a:srgbClr val="FFFFFF"/>
                </a:highlight>
                <a:latin typeface="Lato"/>
                <a:ea typeface="Lato"/>
                <a:cs typeface="Lato"/>
                <a:sym typeface="Lato"/>
              </a:rPr>
              <a:t>unset</a:t>
            </a:r>
            <a:endParaRPr lang="es-AR" b="1" dirty="0">
              <a:solidFill>
                <a:schemeClr val="tx1"/>
              </a:solidFill>
              <a:highlight>
                <a:srgbClr val="FFFFFF"/>
              </a:highlight>
              <a:latin typeface="Lato"/>
              <a:ea typeface="Lato"/>
              <a:cs typeface="Lato"/>
              <a:sym typeface="Lato"/>
            </a:endParaRPr>
          </a:p>
          <a:p>
            <a:pPr lvl="0" rtl="0">
              <a:spcBef>
                <a:spcPts val="0"/>
              </a:spcBef>
              <a:spcAft>
                <a:spcPts val="0"/>
              </a:spcAft>
            </a:pPr>
            <a:r>
              <a:rPr lang="es-AR" dirty="0">
                <a:solidFill>
                  <a:srgbClr val="4A4A4A"/>
                </a:solidFill>
                <a:highlight>
                  <a:srgbClr val="FFFFFF"/>
                </a:highlight>
                <a:latin typeface="Lato"/>
                <a:ea typeface="Lato"/>
                <a:cs typeface="Lato"/>
                <a:sym typeface="Lato"/>
              </a:rPr>
              <a:t>Restablece la propiedad a su valor natural, lo que significa que si la propiedad se hereda de forma natural, actúa como </a:t>
            </a:r>
            <a:r>
              <a:rPr lang="es-AR" dirty="0" err="1">
                <a:solidFill>
                  <a:srgbClr val="4A4A4A"/>
                </a:solidFill>
                <a:highlight>
                  <a:srgbClr val="FFFFFF"/>
                </a:highlight>
                <a:latin typeface="Lato"/>
                <a:ea typeface="Lato"/>
                <a:cs typeface="Lato"/>
                <a:sym typeface="Lato"/>
              </a:rPr>
              <a:t>inherit</a:t>
            </a:r>
            <a:r>
              <a:rPr lang="es-AR" dirty="0">
                <a:solidFill>
                  <a:srgbClr val="4A4A4A"/>
                </a:solidFill>
                <a:highlight>
                  <a:srgbClr val="FFFFFF"/>
                </a:highlight>
                <a:latin typeface="Lato"/>
                <a:ea typeface="Lato"/>
                <a:cs typeface="Lato"/>
                <a:sym typeface="Lato"/>
              </a:rPr>
              <a:t>, y en caso contrario como </a:t>
            </a:r>
            <a:r>
              <a:rPr lang="es-AR" dirty="0" err="1">
                <a:solidFill>
                  <a:srgbClr val="4A4A4A"/>
                </a:solidFill>
                <a:highlight>
                  <a:srgbClr val="FFFFFF"/>
                </a:highlight>
                <a:latin typeface="Lato"/>
                <a:ea typeface="Lato"/>
                <a:cs typeface="Lato"/>
                <a:sym typeface="Lato"/>
              </a:rPr>
              <a:t>initial</a:t>
            </a:r>
            <a:r>
              <a:rPr lang="es-AR" dirty="0">
                <a:solidFill>
                  <a:srgbClr val="4A4A4A"/>
                </a:solidFill>
                <a:highlight>
                  <a:srgbClr val="FFFFFF"/>
                </a:highlight>
                <a:latin typeface="Lato"/>
                <a:ea typeface="Lato"/>
                <a:cs typeface="Lato"/>
                <a:sym typeface="Lato"/>
              </a:rPr>
              <a:t>.</a:t>
            </a:r>
            <a:endParaRPr lang="es-AR" dirty="0">
              <a:solidFill>
                <a:schemeClr val="tx1"/>
              </a:solidFill>
              <a:highlight>
                <a:srgbClr val="FFFFFF"/>
              </a:highlight>
              <a:latin typeface="Lato"/>
              <a:ea typeface="Lato"/>
              <a:cs typeface="Lato"/>
              <a:sym typeface="Lato"/>
            </a:endParaRPr>
          </a:p>
        </p:txBody>
      </p:sp>
    </p:spTree>
    <p:extLst>
      <p:ext uri="{BB962C8B-B14F-4D97-AF65-F5344CB8AC3E}">
        <p14:creationId xmlns:p14="http://schemas.microsoft.com/office/powerpoint/2010/main" val="150373953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4" name="CuadroTexto 3">
            <a:extLst>
              <a:ext uri="{FF2B5EF4-FFF2-40B4-BE49-F238E27FC236}">
                <a16:creationId xmlns:a16="http://schemas.microsoft.com/office/drawing/2014/main" id="{B9B8C329-BED5-C09C-F09B-E2F2A7739CCE}"/>
              </a:ext>
            </a:extLst>
          </p:cNvPr>
          <p:cNvSpPr txBox="1"/>
          <p:nvPr/>
        </p:nvSpPr>
        <p:spPr>
          <a:xfrm>
            <a:off x="434397" y="688695"/>
            <a:ext cx="8127712" cy="3924151"/>
          </a:xfrm>
          <a:prstGeom prst="rect">
            <a:avLst/>
          </a:prstGeom>
          <a:noFill/>
        </p:spPr>
        <p:txBody>
          <a:bodyPr wrap="square">
            <a:spAutoFit/>
          </a:bodyPr>
          <a:lstStyle/>
          <a:p>
            <a:r>
              <a:rPr lang="es-AR" sz="2400" dirty="0">
                <a:solidFill>
                  <a:srgbClr val="BE3969"/>
                </a:solidFill>
                <a:highlight>
                  <a:srgbClr val="FFFFFF"/>
                </a:highlight>
                <a:latin typeface="Russo One"/>
                <a:ea typeface="Lato"/>
                <a:cs typeface="Lato"/>
                <a:sym typeface="Russo One"/>
              </a:rPr>
              <a:t>Comprender la cascada</a:t>
            </a:r>
          </a:p>
          <a:p>
            <a:endParaRPr lang="es-AR" sz="1000" dirty="0">
              <a:solidFill>
                <a:srgbClr val="BE3969"/>
              </a:solidFill>
              <a:highlight>
                <a:srgbClr val="FFFFFF"/>
              </a:highlight>
              <a:latin typeface="Russo One"/>
              <a:ea typeface="Lato"/>
              <a:cs typeface="Lato"/>
              <a:sym typeface="Russo One"/>
            </a:endParaRPr>
          </a:p>
          <a:p>
            <a:endParaRPr lang="es-AR" sz="500" dirty="0">
              <a:solidFill>
                <a:srgbClr val="BE3969"/>
              </a:solidFill>
              <a:highlight>
                <a:srgbClr val="FFFFFF"/>
              </a:highlight>
              <a:latin typeface="Russo One"/>
              <a:ea typeface="Lato"/>
              <a:cs typeface="Lato"/>
              <a:sym typeface="Russo One"/>
            </a:endParaRPr>
          </a:p>
          <a:p>
            <a:pPr lvl="0" rtl="0">
              <a:spcBef>
                <a:spcPts val="0"/>
              </a:spcBef>
              <a:spcAft>
                <a:spcPts val="0"/>
              </a:spcAft>
            </a:pPr>
            <a:r>
              <a:rPr lang="es-AR" dirty="0">
                <a:solidFill>
                  <a:srgbClr val="4A4A4A"/>
                </a:solidFill>
                <a:highlight>
                  <a:srgbClr val="FFFFFF"/>
                </a:highlight>
                <a:latin typeface="Lato"/>
                <a:ea typeface="Lato"/>
                <a:cs typeface="Lato"/>
                <a:sym typeface="Lato"/>
              </a:rPr>
              <a:t>Ahora entendemos por qué un párrafo que está anidado en la estructura del HTML es del mismo color que el CSS aplicado al cuerpo (</a:t>
            </a:r>
            <a:r>
              <a:rPr lang="es-AR" dirty="0" err="1">
                <a:solidFill>
                  <a:srgbClr val="4A4A4A"/>
                </a:solidFill>
                <a:highlight>
                  <a:srgbClr val="FFFFFF"/>
                </a:highlight>
                <a:latin typeface="Lato"/>
                <a:ea typeface="Lato"/>
                <a:cs typeface="Lato"/>
                <a:sym typeface="Lato"/>
              </a:rPr>
              <a:t>body</a:t>
            </a:r>
            <a:r>
              <a:rPr lang="es-AR" dirty="0">
                <a:solidFill>
                  <a:srgbClr val="4A4A4A"/>
                </a:solidFill>
                <a:highlight>
                  <a:srgbClr val="FFFFFF"/>
                </a:highlight>
                <a:latin typeface="Lato"/>
                <a:ea typeface="Lato"/>
                <a:cs typeface="Lato"/>
                <a:sym typeface="Lato"/>
              </a:rPr>
              <a:t>) del HTML y, que sabemos cómo cambiar el CSS aplicado a algo en cualquier parte del documento, ya sea mediante la asignación de CSS a un elemento o la creación de una clase. Ahora vamos a echar un vistazo a la forma en que el concepto de cascada define qué reglas CSS se aplican cuando más de un elemento de estilo puede aplicar estilo a un elemento.</a:t>
            </a:r>
          </a:p>
          <a:p>
            <a:pPr lvl="0" rtl="0">
              <a:spcBef>
                <a:spcPts val="0"/>
              </a:spcBef>
              <a:spcAft>
                <a:spcPts val="0"/>
              </a:spcAft>
            </a:pPr>
            <a:endParaRPr lang="es-AR" dirty="0">
              <a:solidFill>
                <a:srgbClr val="4A4A4A"/>
              </a:solidFill>
              <a:highlight>
                <a:srgbClr val="FFFFFF"/>
              </a:highlight>
              <a:latin typeface="Lato"/>
              <a:ea typeface="Lato"/>
              <a:cs typeface="Lato"/>
              <a:sym typeface="Lato"/>
            </a:endParaRPr>
          </a:p>
          <a:p>
            <a:pPr lvl="0" rtl="0">
              <a:spcBef>
                <a:spcPts val="0"/>
              </a:spcBef>
              <a:spcAft>
                <a:spcPts val="0"/>
              </a:spcAft>
            </a:pPr>
            <a:r>
              <a:rPr lang="es-AR" dirty="0">
                <a:solidFill>
                  <a:srgbClr val="4A4A4A"/>
                </a:solidFill>
                <a:highlight>
                  <a:srgbClr val="FFFFFF"/>
                </a:highlight>
                <a:latin typeface="Lato"/>
                <a:ea typeface="Lato"/>
                <a:cs typeface="Lato"/>
                <a:sym typeface="Lato"/>
              </a:rPr>
              <a:t>Hay que considerar tres factores, que se enumeran a continuación en orden de importancia creciente. Los posteriores invalidan los anteriores:</a:t>
            </a:r>
          </a:p>
          <a:p>
            <a:pPr lvl="0" rtl="0">
              <a:spcBef>
                <a:spcPts val="0"/>
              </a:spcBef>
              <a:spcAft>
                <a:spcPts val="0"/>
              </a:spcAft>
            </a:pPr>
            <a:endParaRPr lang="es-AR" dirty="0">
              <a:solidFill>
                <a:srgbClr val="4A4A4A"/>
              </a:solidFill>
              <a:highlight>
                <a:srgbClr val="FFFFFF"/>
              </a:highlight>
              <a:latin typeface="Lato"/>
              <a:ea typeface="Lato"/>
              <a:cs typeface="Lato"/>
              <a:sym typeface="Lato"/>
            </a:endParaRPr>
          </a:p>
          <a:p>
            <a:pPr marL="342900" lvl="0" indent="-342900" rtl="0">
              <a:spcBef>
                <a:spcPts val="0"/>
              </a:spcBef>
              <a:spcAft>
                <a:spcPts val="0"/>
              </a:spcAft>
              <a:buFont typeface="+mj-lt"/>
              <a:buAutoNum type="arabicPeriod"/>
            </a:pPr>
            <a:r>
              <a:rPr lang="es-AR" dirty="0">
                <a:solidFill>
                  <a:srgbClr val="4A4A4A"/>
                </a:solidFill>
                <a:highlight>
                  <a:srgbClr val="FFFFFF"/>
                </a:highlight>
                <a:latin typeface="Lato"/>
                <a:ea typeface="Lato"/>
                <a:cs typeface="Lato"/>
                <a:sym typeface="Lato"/>
              </a:rPr>
              <a:t>Orden en el código</a:t>
            </a:r>
          </a:p>
          <a:p>
            <a:pPr marL="342900" lvl="0" indent="-342900" rtl="0">
              <a:spcBef>
                <a:spcPts val="0"/>
              </a:spcBef>
              <a:spcAft>
                <a:spcPts val="0"/>
              </a:spcAft>
              <a:buFont typeface="+mj-lt"/>
              <a:buAutoNum type="arabicPeriod"/>
            </a:pPr>
            <a:r>
              <a:rPr lang="es-AR" dirty="0">
                <a:solidFill>
                  <a:srgbClr val="4A4A4A"/>
                </a:solidFill>
                <a:highlight>
                  <a:srgbClr val="FFFFFF"/>
                </a:highlight>
                <a:latin typeface="Lato"/>
                <a:ea typeface="Lato"/>
                <a:cs typeface="Lato"/>
                <a:sym typeface="Lato"/>
              </a:rPr>
              <a:t>Especificidad</a:t>
            </a:r>
          </a:p>
          <a:p>
            <a:pPr marL="342900" lvl="0" indent="-342900" rtl="0">
              <a:spcBef>
                <a:spcPts val="0"/>
              </a:spcBef>
              <a:spcAft>
                <a:spcPts val="0"/>
              </a:spcAft>
              <a:buFont typeface="+mj-lt"/>
              <a:buAutoNum type="arabicPeriod"/>
            </a:pPr>
            <a:r>
              <a:rPr lang="es-AR" dirty="0">
                <a:solidFill>
                  <a:srgbClr val="4A4A4A"/>
                </a:solidFill>
                <a:highlight>
                  <a:srgbClr val="FFFFFF"/>
                </a:highlight>
                <a:latin typeface="Lato"/>
                <a:ea typeface="Lato"/>
                <a:cs typeface="Lato"/>
                <a:sym typeface="Lato"/>
              </a:rPr>
              <a:t>Importancia</a:t>
            </a:r>
          </a:p>
          <a:p>
            <a:pPr marL="342900" lvl="0" indent="-342900" rtl="0">
              <a:spcBef>
                <a:spcPts val="0"/>
              </a:spcBef>
              <a:spcAft>
                <a:spcPts val="0"/>
              </a:spcAft>
              <a:buFont typeface="+mj-lt"/>
              <a:buAutoNum type="arabicPeriod"/>
            </a:pPr>
            <a:endParaRPr lang="es-AR" dirty="0">
              <a:solidFill>
                <a:srgbClr val="4A4A4A"/>
              </a:solidFill>
              <a:highlight>
                <a:srgbClr val="FFFFFF"/>
              </a:highlight>
              <a:latin typeface="Lato"/>
              <a:ea typeface="Lato"/>
              <a:cs typeface="Lato"/>
              <a:sym typeface="Lato"/>
            </a:endParaRPr>
          </a:p>
          <a:p>
            <a:pPr lvl="0" rtl="0">
              <a:spcBef>
                <a:spcPts val="0"/>
              </a:spcBef>
              <a:spcAft>
                <a:spcPts val="0"/>
              </a:spcAft>
            </a:pPr>
            <a:r>
              <a:rPr lang="es-AR" dirty="0">
                <a:solidFill>
                  <a:srgbClr val="4A4A4A"/>
                </a:solidFill>
                <a:highlight>
                  <a:srgbClr val="FFFFFF"/>
                </a:highlight>
                <a:latin typeface="Lato"/>
                <a:ea typeface="Lato"/>
                <a:cs typeface="Lato"/>
                <a:sym typeface="Lato"/>
              </a:rPr>
              <a:t>Vamos a explicarlos para ver cómo los navegadores determinan exactamente que CSS deben aplicar.</a:t>
            </a:r>
            <a:endParaRPr lang="es-AR" dirty="0">
              <a:solidFill>
                <a:schemeClr val="tx1"/>
              </a:solidFill>
              <a:highlight>
                <a:srgbClr val="FFFFFF"/>
              </a:highlight>
              <a:latin typeface="Lato"/>
              <a:ea typeface="Lato"/>
              <a:cs typeface="Lato"/>
              <a:sym typeface="Lato"/>
            </a:endParaRPr>
          </a:p>
        </p:txBody>
      </p:sp>
    </p:spTree>
    <p:extLst>
      <p:ext uri="{BB962C8B-B14F-4D97-AF65-F5344CB8AC3E}">
        <p14:creationId xmlns:p14="http://schemas.microsoft.com/office/powerpoint/2010/main" val="50120487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4" name="CuadroTexto 3">
            <a:extLst>
              <a:ext uri="{FF2B5EF4-FFF2-40B4-BE49-F238E27FC236}">
                <a16:creationId xmlns:a16="http://schemas.microsoft.com/office/drawing/2014/main" id="{B9B8C329-BED5-C09C-F09B-E2F2A7739CCE}"/>
              </a:ext>
            </a:extLst>
          </p:cNvPr>
          <p:cNvSpPr txBox="1"/>
          <p:nvPr/>
        </p:nvSpPr>
        <p:spPr>
          <a:xfrm>
            <a:off x="434397" y="688695"/>
            <a:ext cx="8127712" cy="3647152"/>
          </a:xfrm>
          <a:prstGeom prst="rect">
            <a:avLst/>
          </a:prstGeom>
          <a:noFill/>
        </p:spPr>
        <p:txBody>
          <a:bodyPr wrap="square">
            <a:spAutoFit/>
          </a:bodyPr>
          <a:lstStyle/>
          <a:p>
            <a:r>
              <a:rPr lang="es-AR" sz="4000" dirty="0">
                <a:solidFill>
                  <a:srgbClr val="BE3969"/>
                </a:solidFill>
                <a:highlight>
                  <a:srgbClr val="FFFFFF"/>
                </a:highlight>
                <a:latin typeface="Russo One"/>
                <a:ea typeface="Lato"/>
                <a:cs typeface="Lato"/>
                <a:sym typeface="Russo One"/>
              </a:rPr>
              <a:t>Orden en el código</a:t>
            </a:r>
          </a:p>
          <a:p>
            <a:endParaRPr lang="es-AR" dirty="0">
              <a:solidFill>
                <a:srgbClr val="BE3969"/>
              </a:solidFill>
              <a:highlight>
                <a:srgbClr val="FFFFFF"/>
              </a:highlight>
              <a:latin typeface="Russo One"/>
              <a:ea typeface="Lato"/>
              <a:cs typeface="Lato"/>
              <a:sym typeface="Russo One"/>
            </a:endParaRPr>
          </a:p>
          <a:p>
            <a:endParaRPr lang="es-AR" sz="900" dirty="0">
              <a:solidFill>
                <a:srgbClr val="BE3969"/>
              </a:solidFill>
              <a:highlight>
                <a:srgbClr val="FFFFFF"/>
              </a:highlight>
              <a:latin typeface="Russo One"/>
              <a:ea typeface="Lato"/>
              <a:cs typeface="Lato"/>
              <a:sym typeface="Russo One"/>
            </a:endParaRPr>
          </a:p>
          <a:p>
            <a:pPr lvl="0" rtl="0">
              <a:spcBef>
                <a:spcPts val="0"/>
              </a:spcBef>
              <a:spcAft>
                <a:spcPts val="0"/>
              </a:spcAft>
            </a:pPr>
            <a:r>
              <a:rPr lang="es-AR" sz="2400" dirty="0">
                <a:solidFill>
                  <a:srgbClr val="4A4A4A"/>
                </a:solidFill>
                <a:highlight>
                  <a:srgbClr val="FFFFFF"/>
                </a:highlight>
                <a:latin typeface="Lato"/>
                <a:ea typeface="Lato"/>
                <a:cs typeface="Lato"/>
                <a:sym typeface="Lato"/>
              </a:rPr>
              <a:t>Ya hemos visto cómo el orden en el código es importante en el concepto de cascada. Si tienes más de una regla con exactamente el mismo peso, la que ocupa el último lugar en el CSS gana. Puedes entenderlo </a:t>
            </a:r>
            <a:r>
              <a:rPr lang="es-AR" sz="2400" dirty="0">
                <a:solidFill>
                  <a:schemeClr val="tx1"/>
                </a:solidFill>
                <a:highlight>
                  <a:srgbClr val="FFFFFF"/>
                </a:highlight>
                <a:latin typeface="Lato"/>
                <a:ea typeface="Lato"/>
                <a:cs typeface="Lato"/>
                <a:sym typeface="Lato"/>
              </a:rPr>
              <a:t>como que las reglas que están más cerca del elemento considerado </a:t>
            </a:r>
            <a:r>
              <a:rPr lang="es-AR" sz="2400" dirty="0" err="1">
                <a:solidFill>
                  <a:schemeClr val="tx1"/>
                </a:solidFill>
                <a:highlight>
                  <a:srgbClr val="FFFFFF"/>
                </a:highlight>
                <a:latin typeface="Lato"/>
                <a:ea typeface="Lato"/>
                <a:cs typeface="Lato"/>
                <a:sym typeface="Lato"/>
              </a:rPr>
              <a:t>sobreescriben</a:t>
            </a:r>
            <a:r>
              <a:rPr lang="es-AR" sz="2400" dirty="0">
                <a:solidFill>
                  <a:schemeClr val="tx1"/>
                </a:solidFill>
                <a:highlight>
                  <a:srgbClr val="FFFFFF"/>
                </a:highlight>
                <a:latin typeface="Lato"/>
                <a:ea typeface="Lato"/>
                <a:cs typeface="Lato"/>
                <a:sym typeface="Lato"/>
              </a:rPr>
              <a:t> las anteriores hasta que la última gana y da formato al elemento.</a:t>
            </a:r>
          </a:p>
        </p:txBody>
      </p:sp>
    </p:spTree>
    <p:extLst>
      <p:ext uri="{BB962C8B-B14F-4D97-AF65-F5344CB8AC3E}">
        <p14:creationId xmlns:p14="http://schemas.microsoft.com/office/powerpoint/2010/main" val="335847825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4" name="CuadroTexto 3">
            <a:extLst>
              <a:ext uri="{FF2B5EF4-FFF2-40B4-BE49-F238E27FC236}">
                <a16:creationId xmlns:a16="http://schemas.microsoft.com/office/drawing/2014/main" id="{B9B8C329-BED5-C09C-F09B-E2F2A7739CCE}"/>
              </a:ext>
            </a:extLst>
          </p:cNvPr>
          <p:cNvSpPr txBox="1"/>
          <p:nvPr/>
        </p:nvSpPr>
        <p:spPr>
          <a:xfrm>
            <a:off x="434397" y="688695"/>
            <a:ext cx="8127712" cy="2254463"/>
          </a:xfrm>
          <a:prstGeom prst="rect">
            <a:avLst/>
          </a:prstGeom>
          <a:noFill/>
        </p:spPr>
        <p:txBody>
          <a:bodyPr wrap="square">
            <a:spAutoFit/>
          </a:bodyPr>
          <a:lstStyle/>
          <a:p>
            <a:r>
              <a:rPr lang="es-AR" sz="4800" dirty="0">
                <a:solidFill>
                  <a:srgbClr val="BE3969"/>
                </a:solidFill>
                <a:highlight>
                  <a:srgbClr val="FFFFFF"/>
                </a:highlight>
                <a:latin typeface="Russo One"/>
                <a:ea typeface="Lato"/>
                <a:cs typeface="Lato"/>
                <a:sym typeface="Russo One"/>
              </a:rPr>
              <a:t>Cascada - MDN</a:t>
            </a:r>
          </a:p>
          <a:p>
            <a:endParaRPr lang="es-AR" sz="1800" dirty="0">
              <a:solidFill>
                <a:srgbClr val="BE3969"/>
              </a:solidFill>
              <a:highlight>
                <a:srgbClr val="FFFFFF"/>
              </a:highlight>
              <a:latin typeface="Russo One"/>
              <a:ea typeface="Lato"/>
              <a:cs typeface="Lato"/>
              <a:sym typeface="Russo One"/>
            </a:endParaRPr>
          </a:p>
          <a:p>
            <a:endParaRPr lang="es-AR" sz="1050" dirty="0">
              <a:solidFill>
                <a:srgbClr val="BE3969"/>
              </a:solidFill>
              <a:highlight>
                <a:srgbClr val="FFFFFF"/>
              </a:highlight>
              <a:latin typeface="Russo One"/>
              <a:ea typeface="Lato"/>
              <a:cs typeface="Lato"/>
              <a:sym typeface="Russo One"/>
            </a:endParaRPr>
          </a:p>
          <a:p>
            <a:pPr lvl="0" rtl="0">
              <a:spcBef>
                <a:spcPts val="0"/>
              </a:spcBef>
              <a:spcAft>
                <a:spcPts val="0"/>
              </a:spcAft>
            </a:pPr>
            <a:r>
              <a:rPr lang="es-AR" sz="3200" dirty="0">
                <a:solidFill>
                  <a:srgbClr val="4A4A4A"/>
                </a:solidFill>
                <a:highlight>
                  <a:srgbClr val="FFFFFF"/>
                </a:highlight>
                <a:latin typeface="Lato"/>
                <a:ea typeface="Lato"/>
                <a:cs typeface="Lato"/>
                <a:sym typeface="Lato"/>
              </a:rPr>
              <a:t>Para leer mas en profundidad de este tema puedes ingresar en la documentación oficial:</a:t>
            </a:r>
            <a:endParaRPr lang="es-AR" sz="3200" dirty="0">
              <a:solidFill>
                <a:schemeClr val="tx1"/>
              </a:solidFill>
              <a:highlight>
                <a:srgbClr val="FFFFFF"/>
              </a:highlight>
              <a:latin typeface="Lato"/>
              <a:ea typeface="Lato"/>
              <a:cs typeface="Lato"/>
              <a:sym typeface="Lato"/>
            </a:endParaRPr>
          </a:p>
        </p:txBody>
      </p:sp>
      <p:sp>
        <p:nvSpPr>
          <p:cNvPr id="2" name="Rectángulo 1">
            <a:extLst>
              <a:ext uri="{FF2B5EF4-FFF2-40B4-BE49-F238E27FC236}">
                <a16:creationId xmlns:a16="http://schemas.microsoft.com/office/drawing/2014/main" id="{B6FE5A65-B383-0AEA-B5D6-C781E468CE40}"/>
              </a:ext>
            </a:extLst>
          </p:cNvPr>
          <p:cNvSpPr/>
          <p:nvPr/>
        </p:nvSpPr>
        <p:spPr>
          <a:xfrm>
            <a:off x="1690398" y="3452659"/>
            <a:ext cx="5615709" cy="87745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s-AR" b="0" i="0" dirty="0">
                <a:effectLst/>
                <a:latin typeface="system-ui"/>
                <a:hlinkClick r:id="rId3"/>
              </a:rPr>
              <a:t>https://developer.mozilla.org/es/docs/Learn_web_development/Core/Styling_basics/Handling_conflicts</a:t>
            </a:r>
            <a:r>
              <a:rPr lang="es-AR" b="0" i="0" dirty="0">
                <a:effectLst/>
                <a:latin typeface="system-ui"/>
              </a:rPr>
              <a:t> </a:t>
            </a:r>
            <a:endParaRPr lang="es-AR" dirty="0"/>
          </a:p>
        </p:txBody>
      </p:sp>
    </p:spTree>
    <p:extLst>
      <p:ext uri="{BB962C8B-B14F-4D97-AF65-F5344CB8AC3E}">
        <p14:creationId xmlns:p14="http://schemas.microsoft.com/office/powerpoint/2010/main" val="250649883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70"/>
        <p:cNvGrpSpPr/>
        <p:nvPr/>
      </p:nvGrpSpPr>
      <p:grpSpPr>
        <a:xfrm>
          <a:off x="0" y="0"/>
          <a:ext cx="0" cy="0"/>
          <a:chOff x="0" y="0"/>
          <a:chExt cx="0" cy="0"/>
        </a:xfrm>
      </p:grpSpPr>
      <p:pic>
        <p:nvPicPr>
          <p:cNvPr id="10" name="Imagen 9">
            <a:extLst>
              <a:ext uri="{FF2B5EF4-FFF2-40B4-BE49-F238E27FC236}">
                <a16:creationId xmlns:a16="http://schemas.microsoft.com/office/drawing/2014/main" id="{437777EF-90F3-E966-8050-96D4E3F5B69A}"/>
              </a:ext>
            </a:extLst>
          </p:cNvPr>
          <p:cNvPicPr>
            <a:picLocks noChangeAspect="1"/>
          </p:cNvPicPr>
          <p:nvPr/>
        </p:nvPicPr>
        <p:blipFill>
          <a:blip r:embed="rId3"/>
          <a:stretch>
            <a:fillRect/>
          </a:stretch>
        </p:blipFill>
        <p:spPr>
          <a:xfrm>
            <a:off x="0" y="0"/>
            <a:ext cx="9144000" cy="5143500"/>
          </a:xfrm>
          <a:prstGeom prst="rect">
            <a:avLst/>
          </a:prstGeom>
        </p:spPr>
      </p:pic>
      <p:sp>
        <p:nvSpPr>
          <p:cNvPr id="11" name="Google Shape;71;p15"/>
          <p:cNvSpPr txBox="1">
            <a:spLocks/>
          </p:cNvSpPr>
          <p:nvPr/>
        </p:nvSpPr>
        <p:spPr>
          <a:xfrm>
            <a:off x="1731818" y="1902691"/>
            <a:ext cx="6105236" cy="1216748"/>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pPr algn="ctr"/>
            <a:r>
              <a:rPr lang="es-AR" sz="6000" dirty="0">
                <a:solidFill>
                  <a:schemeClr val="tx1"/>
                </a:solidFill>
                <a:latin typeface="Russo One"/>
                <a:ea typeface="Russo One"/>
                <a:cs typeface="Russo One"/>
                <a:sym typeface="Russo One"/>
              </a:rPr>
              <a:t>Selectores - MDN</a:t>
            </a:r>
          </a:p>
        </p:txBody>
      </p:sp>
    </p:spTree>
    <p:extLst>
      <p:ext uri="{BB962C8B-B14F-4D97-AF65-F5344CB8AC3E}">
        <p14:creationId xmlns:p14="http://schemas.microsoft.com/office/powerpoint/2010/main" val="172590685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4" name="CuadroTexto 3">
            <a:extLst>
              <a:ext uri="{FF2B5EF4-FFF2-40B4-BE49-F238E27FC236}">
                <a16:creationId xmlns:a16="http://schemas.microsoft.com/office/drawing/2014/main" id="{B9B8C329-BED5-C09C-F09B-E2F2A7739CCE}"/>
              </a:ext>
            </a:extLst>
          </p:cNvPr>
          <p:cNvSpPr txBox="1"/>
          <p:nvPr/>
        </p:nvSpPr>
        <p:spPr>
          <a:xfrm>
            <a:off x="434397" y="688695"/>
            <a:ext cx="8478694" cy="3801041"/>
          </a:xfrm>
          <a:prstGeom prst="rect">
            <a:avLst/>
          </a:prstGeom>
          <a:noFill/>
        </p:spPr>
        <p:txBody>
          <a:bodyPr wrap="square">
            <a:spAutoFit/>
          </a:bodyPr>
          <a:lstStyle/>
          <a:p>
            <a:r>
              <a:rPr lang="es-AR" sz="4000" dirty="0">
                <a:solidFill>
                  <a:srgbClr val="BE3969"/>
                </a:solidFill>
                <a:highlight>
                  <a:srgbClr val="FFFFFF"/>
                </a:highlight>
                <a:latin typeface="Russo One"/>
                <a:ea typeface="Lato"/>
                <a:cs typeface="Lato"/>
                <a:sym typeface="Russo One"/>
              </a:rPr>
              <a:t>Selectores CSS</a:t>
            </a:r>
            <a:endParaRPr lang="es-AR" dirty="0">
              <a:solidFill>
                <a:srgbClr val="BE3969"/>
              </a:solidFill>
              <a:highlight>
                <a:srgbClr val="FFFFFF"/>
              </a:highlight>
              <a:latin typeface="Russo One"/>
              <a:ea typeface="Lato"/>
              <a:cs typeface="Lato"/>
              <a:sym typeface="Russo One"/>
            </a:endParaRPr>
          </a:p>
          <a:p>
            <a:endParaRPr lang="es-AR" sz="900" dirty="0">
              <a:solidFill>
                <a:srgbClr val="BE3969"/>
              </a:solidFill>
              <a:highlight>
                <a:srgbClr val="FFFFFF"/>
              </a:highlight>
              <a:latin typeface="Russo One"/>
              <a:ea typeface="Lato"/>
              <a:cs typeface="Lato"/>
              <a:sym typeface="Russo One"/>
            </a:endParaRPr>
          </a:p>
          <a:p>
            <a:pPr marL="342900" lvl="0" indent="-342900" rtl="0">
              <a:spcBef>
                <a:spcPts val="0"/>
              </a:spcBef>
              <a:spcAft>
                <a:spcPts val="0"/>
              </a:spcAft>
              <a:buFont typeface="Arial" panose="020B0604020202020204" pitchFamily="34" charset="0"/>
              <a:buChar char="•"/>
            </a:pPr>
            <a:r>
              <a:rPr lang="es-AR" sz="2400" dirty="0">
                <a:solidFill>
                  <a:srgbClr val="4A4A4A"/>
                </a:solidFill>
                <a:highlight>
                  <a:srgbClr val="FFFFFF"/>
                </a:highlight>
                <a:latin typeface="Lato"/>
                <a:ea typeface="Lato"/>
                <a:cs typeface="Lato"/>
                <a:sym typeface="Lato"/>
              </a:rPr>
              <a:t>En CSS los selectores se utilizan para delimitar los elementos HTML de nuestra página web a los que queremos aplicar estilo. </a:t>
            </a:r>
          </a:p>
          <a:p>
            <a:pPr marL="342900" lvl="0" indent="-342900" rtl="0">
              <a:spcBef>
                <a:spcPts val="0"/>
              </a:spcBef>
              <a:spcAft>
                <a:spcPts val="0"/>
              </a:spcAft>
              <a:buFont typeface="Arial" panose="020B0604020202020204" pitchFamily="34" charset="0"/>
              <a:buChar char="•"/>
            </a:pPr>
            <a:r>
              <a:rPr lang="es-AR" sz="2400" dirty="0">
                <a:solidFill>
                  <a:srgbClr val="4A4A4A"/>
                </a:solidFill>
                <a:highlight>
                  <a:srgbClr val="FFFFFF"/>
                </a:highlight>
                <a:latin typeface="Lato"/>
                <a:ea typeface="Lato"/>
                <a:cs typeface="Lato"/>
                <a:sym typeface="Lato"/>
              </a:rPr>
              <a:t>Hay una amplia variedad de selectores CSS, lo que permite una gran precisión a la hora de seleccionar elementos a los que aplicar estilo. </a:t>
            </a:r>
          </a:p>
          <a:p>
            <a:pPr marL="342900" lvl="0" indent="-342900" rtl="0">
              <a:spcBef>
                <a:spcPts val="0"/>
              </a:spcBef>
              <a:spcAft>
                <a:spcPts val="0"/>
              </a:spcAft>
              <a:buFont typeface="Arial" panose="020B0604020202020204" pitchFamily="34" charset="0"/>
              <a:buChar char="•"/>
            </a:pPr>
            <a:r>
              <a:rPr lang="es-AR" sz="2400" dirty="0">
                <a:solidFill>
                  <a:srgbClr val="4A4A4A"/>
                </a:solidFill>
                <a:highlight>
                  <a:srgbClr val="FFFFFF"/>
                </a:highlight>
                <a:latin typeface="Lato"/>
                <a:ea typeface="Lato"/>
                <a:cs typeface="Lato"/>
                <a:sym typeface="Lato"/>
              </a:rPr>
              <a:t>Ahora veremos con detalle todos los tipos y el modo como funcionan.</a:t>
            </a:r>
            <a:endParaRPr lang="es-AR" sz="2400" dirty="0">
              <a:solidFill>
                <a:schemeClr val="tx1"/>
              </a:solidFill>
              <a:highlight>
                <a:srgbClr val="FFFFFF"/>
              </a:highlight>
              <a:latin typeface="Lato"/>
              <a:ea typeface="Lato"/>
              <a:cs typeface="Lato"/>
              <a:sym typeface="Lato"/>
            </a:endParaRPr>
          </a:p>
        </p:txBody>
      </p:sp>
    </p:spTree>
    <p:extLst>
      <p:ext uri="{BB962C8B-B14F-4D97-AF65-F5344CB8AC3E}">
        <p14:creationId xmlns:p14="http://schemas.microsoft.com/office/powerpoint/2010/main" val="155968181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4" name="CuadroTexto 3">
            <a:extLst>
              <a:ext uri="{FF2B5EF4-FFF2-40B4-BE49-F238E27FC236}">
                <a16:creationId xmlns:a16="http://schemas.microsoft.com/office/drawing/2014/main" id="{B9B8C329-BED5-C09C-F09B-E2F2A7739CCE}"/>
              </a:ext>
            </a:extLst>
          </p:cNvPr>
          <p:cNvSpPr txBox="1"/>
          <p:nvPr/>
        </p:nvSpPr>
        <p:spPr>
          <a:xfrm>
            <a:off x="434396" y="688695"/>
            <a:ext cx="5499967" cy="3847207"/>
          </a:xfrm>
          <a:prstGeom prst="rect">
            <a:avLst/>
          </a:prstGeom>
          <a:noFill/>
        </p:spPr>
        <p:txBody>
          <a:bodyPr wrap="square">
            <a:spAutoFit/>
          </a:bodyPr>
          <a:lstStyle/>
          <a:p>
            <a:r>
              <a:rPr lang="es-AR" sz="3600" dirty="0">
                <a:solidFill>
                  <a:srgbClr val="BE3969"/>
                </a:solidFill>
                <a:highlight>
                  <a:srgbClr val="FFFFFF"/>
                </a:highlight>
                <a:latin typeface="Russo One"/>
                <a:ea typeface="Lato"/>
                <a:cs typeface="Lato"/>
                <a:sym typeface="Russo One"/>
              </a:rPr>
              <a:t>¿Qué es un selector?</a:t>
            </a:r>
          </a:p>
          <a:p>
            <a:endParaRPr lang="es-AR" sz="800" dirty="0">
              <a:solidFill>
                <a:srgbClr val="BE3969"/>
              </a:solidFill>
              <a:highlight>
                <a:srgbClr val="FFFFFF"/>
              </a:highlight>
              <a:latin typeface="Russo One"/>
              <a:ea typeface="Lato"/>
              <a:cs typeface="Lato"/>
              <a:sym typeface="Russo One"/>
            </a:endParaRPr>
          </a:p>
          <a:p>
            <a:pPr marL="342900" lvl="0" indent="-342900" rtl="0">
              <a:spcBef>
                <a:spcPts val="0"/>
              </a:spcBef>
              <a:spcAft>
                <a:spcPts val="0"/>
              </a:spcAft>
              <a:buFont typeface="Arial" panose="020B0604020202020204" pitchFamily="34" charset="0"/>
              <a:buChar char="•"/>
            </a:pPr>
            <a:r>
              <a:rPr lang="es-AR" sz="2000" dirty="0">
                <a:solidFill>
                  <a:srgbClr val="4A4A4A"/>
                </a:solidFill>
                <a:highlight>
                  <a:srgbClr val="FFFFFF"/>
                </a:highlight>
                <a:latin typeface="Lato"/>
                <a:ea typeface="Lato"/>
                <a:cs typeface="Lato"/>
                <a:sym typeface="Lato"/>
              </a:rPr>
              <a:t>Un selector CSS es la primera parte de una regla CSS. </a:t>
            </a:r>
          </a:p>
          <a:p>
            <a:pPr marL="342900" lvl="0" indent="-342900" rtl="0">
              <a:spcBef>
                <a:spcPts val="0"/>
              </a:spcBef>
              <a:spcAft>
                <a:spcPts val="0"/>
              </a:spcAft>
              <a:buFont typeface="Arial" panose="020B0604020202020204" pitchFamily="34" charset="0"/>
              <a:buChar char="•"/>
            </a:pPr>
            <a:r>
              <a:rPr lang="es-AR" sz="2000" dirty="0">
                <a:solidFill>
                  <a:srgbClr val="4A4A4A"/>
                </a:solidFill>
                <a:highlight>
                  <a:srgbClr val="FFFFFF"/>
                </a:highlight>
                <a:latin typeface="Lato"/>
                <a:ea typeface="Lato"/>
                <a:cs typeface="Lato"/>
                <a:sym typeface="Lato"/>
              </a:rPr>
              <a:t>Es un patrón de elementos y otros términos que indican al navegador qué elementos HTML se seleccionan para aplicarles una regla que incluye los valores de las propiedades CSS. </a:t>
            </a:r>
          </a:p>
          <a:p>
            <a:pPr marL="342900" lvl="0" indent="-342900" rtl="0">
              <a:spcBef>
                <a:spcPts val="0"/>
              </a:spcBef>
              <a:spcAft>
                <a:spcPts val="0"/>
              </a:spcAft>
              <a:buFont typeface="Arial" panose="020B0604020202020204" pitchFamily="34" charset="0"/>
              <a:buChar char="•"/>
            </a:pPr>
            <a:r>
              <a:rPr lang="es-AR" sz="2000" dirty="0">
                <a:solidFill>
                  <a:srgbClr val="4A4A4A"/>
                </a:solidFill>
                <a:highlight>
                  <a:srgbClr val="FFFFFF"/>
                </a:highlight>
                <a:latin typeface="Lato"/>
                <a:ea typeface="Lato"/>
                <a:cs typeface="Lato"/>
                <a:sym typeface="Lato"/>
              </a:rPr>
              <a:t>El elemento o los elementos seleccionados por el selector se denominan sujeto del selector.</a:t>
            </a:r>
            <a:endParaRPr lang="es-AR" sz="2000" dirty="0">
              <a:solidFill>
                <a:schemeClr val="tx1"/>
              </a:solidFill>
              <a:highlight>
                <a:srgbClr val="FFFFFF"/>
              </a:highlight>
              <a:latin typeface="Lato"/>
              <a:ea typeface="Lato"/>
              <a:cs typeface="Lato"/>
              <a:sym typeface="Lato"/>
            </a:endParaRPr>
          </a:p>
        </p:txBody>
      </p:sp>
      <p:pic>
        <p:nvPicPr>
          <p:cNvPr id="1026" name="Picture 2" descr="Fragmento de código con el elemento h1 resaltado.">
            <a:extLst>
              <a:ext uri="{FF2B5EF4-FFF2-40B4-BE49-F238E27FC236}">
                <a16:creationId xmlns:a16="http://schemas.microsoft.com/office/drawing/2014/main" id="{87990993-13AF-E949-3FD5-8145DDEA24D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30382"/>
          <a:stretch/>
        </p:blipFill>
        <p:spPr bwMode="auto">
          <a:xfrm>
            <a:off x="6211102" y="1962726"/>
            <a:ext cx="2646571" cy="175952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1089291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4" name="CuadroTexto 3">
            <a:extLst>
              <a:ext uri="{FF2B5EF4-FFF2-40B4-BE49-F238E27FC236}">
                <a16:creationId xmlns:a16="http://schemas.microsoft.com/office/drawing/2014/main" id="{B9B8C329-BED5-C09C-F09B-E2F2A7739CCE}"/>
              </a:ext>
            </a:extLst>
          </p:cNvPr>
          <p:cNvSpPr txBox="1"/>
          <p:nvPr/>
        </p:nvSpPr>
        <p:spPr>
          <a:xfrm>
            <a:off x="434397" y="688695"/>
            <a:ext cx="8478694" cy="3801041"/>
          </a:xfrm>
          <a:prstGeom prst="rect">
            <a:avLst/>
          </a:prstGeom>
          <a:noFill/>
        </p:spPr>
        <p:txBody>
          <a:bodyPr wrap="square">
            <a:spAutoFit/>
          </a:bodyPr>
          <a:lstStyle/>
          <a:p>
            <a:r>
              <a:rPr lang="es-AR" sz="4000" dirty="0">
                <a:solidFill>
                  <a:srgbClr val="BE3969"/>
                </a:solidFill>
                <a:highlight>
                  <a:srgbClr val="FFFFFF"/>
                </a:highlight>
                <a:latin typeface="Russo One"/>
                <a:ea typeface="Lato"/>
                <a:cs typeface="Lato"/>
                <a:sym typeface="Russo One"/>
              </a:rPr>
              <a:t>¿Qué es un selector?</a:t>
            </a:r>
          </a:p>
          <a:p>
            <a:endParaRPr lang="es-AR" sz="900" dirty="0">
              <a:solidFill>
                <a:srgbClr val="BE3969"/>
              </a:solidFill>
              <a:highlight>
                <a:srgbClr val="FFFFFF"/>
              </a:highlight>
              <a:latin typeface="Russo One"/>
              <a:ea typeface="Lato"/>
              <a:cs typeface="Lato"/>
              <a:sym typeface="Russo One"/>
            </a:endParaRPr>
          </a:p>
          <a:p>
            <a:pPr marL="342900" lvl="0" indent="-342900" rtl="0">
              <a:spcBef>
                <a:spcPts val="0"/>
              </a:spcBef>
              <a:spcAft>
                <a:spcPts val="0"/>
              </a:spcAft>
              <a:buFont typeface="Arial" panose="020B0604020202020204" pitchFamily="34" charset="0"/>
              <a:buChar char="•"/>
            </a:pPr>
            <a:r>
              <a:rPr lang="es-AR" sz="2400" dirty="0">
                <a:solidFill>
                  <a:srgbClr val="4A4A4A"/>
                </a:solidFill>
                <a:highlight>
                  <a:srgbClr val="FFFFFF"/>
                </a:highlight>
                <a:latin typeface="Lato"/>
                <a:ea typeface="Lato"/>
                <a:cs typeface="Lato"/>
                <a:sym typeface="Lato"/>
              </a:rPr>
              <a:t>En CSS, los selectores se definen en la especificación de selectores de CSS correspondiente; al igual que cualquier otro elemento de CSS, es necesario que los navegadores los admitan para que funcionen. </a:t>
            </a:r>
          </a:p>
          <a:p>
            <a:pPr marL="342900" lvl="0" indent="-342900" rtl="0">
              <a:spcBef>
                <a:spcPts val="0"/>
              </a:spcBef>
              <a:spcAft>
                <a:spcPts val="0"/>
              </a:spcAft>
              <a:buFont typeface="Arial" panose="020B0604020202020204" pitchFamily="34" charset="0"/>
              <a:buChar char="•"/>
            </a:pPr>
            <a:r>
              <a:rPr lang="es-AR" sz="2400" dirty="0">
                <a:solidFill>
                  <a:srgbClr val="4A4A4A"/>
                </a:solidFill>
                <a:highlight>
                  <a:srgbClr val="FFFFFF"/>
                </a:highlight>
                <a:latin typeface="Lato"/>
                <a:ea typeface="Lato"/>
                <a:cs typeface="Lato"/>
                <a:sym typeface="Lato"/>
              </a:rPr>
              <a:t>La mayoría de los selectores que encontrarás se definen en especificación de nivel 3 de selectores, que es una especificación consolidada y, por lo tanto, la mayoría de navegadores admitirán esos selectores.</a:t>
            </a:r>
            <a:endParaRPr lang="es-AR" sz="2400" dirty="0">
              <a:solidFill>
                <a:schemeClr val="tx1"/>
              </a:solidFill>
              <a:highlight>
                <a:srgbClr val="FFFFFF"/>
              </a:highlight>
              <a:latin typeface="Lato"/>
              <a:ea typeface="Lato"/>
              <a:cs typeface="Lato"/>
              <a:sym typeface="Lato"/>
            </a:endParaRPr>
          </a:p>
        </p:txBody>
      </p:sp>
    </p:spTree>
    <p:extLst>
      <p:ext uri="{BB962C8B-B14F-4D97-AF65-F5344CB8AC3E}">
        <p14:creationId xmlns:p14="http://schemas.microsoft.com/office/powerpoint/2010/main" val="104303749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4" name="CuadroTexto 3">
            <a:extLst>
              <a:ext uri="{FF2B5EF4-FFF2-40B4-BE49-F238E27FC236}">
                <a16:creationId xmlns:a16="http://schemas.microsoft.com/office/drawing/2014/main" id="{B9B8C329-BED5-C09C-F09B-E2F2A7739CCE}"/>
              </a:ext>
            </a:extLst>
          </p:cNvPr>
          <p:cNvSpPr txBox="1"/>
          <p:nvPr/>
        </p:nvSpPr>
        <p:spPr>
          <a:xfrm>
            <a:off x="434397" y="688695"/>
            <a:ext cx="5744730" cy="4170372"/>
          </a:xfrm>
          <a:prstGeom prst="rect">
            <a:avLst/>
          </a:prstGeom>
          <a:noFill/>
        </p:spPr>
        <p:txBody>
          <a:bodyPr wrap="square">
            <a:spAutoFit/>
          </a:bodyPr>
          <a:lstStyle/>
          <a:p>
            <a:r>
              <a:rPr lang="es-AR" sz="4000" dirty="0">
                <a:solidFill>
                  <a:srgbClr val="BE3969"/>
                </a:solidFill>
                <a:highlight>
                  <a:srgbClr val="FFFFFF"/>
                </a:highlight>
                <a:latin typeface="Russo One"/>
                <a:ea typeface="Lato"/>
                <a:cs typeface="Lato"/>
                <a:sym typeface="Russo One"/>
              </a:rPr>
              <a:t>Listas de selectores</a:t>
            </a:r>
          </a:p>
          <a:p>
            <a:endParaRPr lang="es-AR" sz="900" dirty="0">
              <a:solidFill>
                <a:srgbClr val="BE3969"/>
              </a:solidFill>
              <a:highlight>
                <a:srgbClr val="FFFFFF"/>
              </a:highlight>
              <a:latin typeface="Russo One"/>
              <a:ea typeface="Lato"/>
              <a:cs typeface="Lato"/>
              <a:sym typeface="Russo One"/>
            </a:endParaRPr>
          </a:p>
          <a:p>
            <a:pPr marL="342900" lvl="0" indent="-342900" rtl="0">
              <a:spcBef>
                <a:spcPts val="0"/>
              </a:spcBef>
              <a:spcAft>
                <a:spcPts val="0"/>
              </a:spcAft>
              <a:buFont typeface="Arial" panose="020B0604020202020204" pitchFamily="34" charset="0"/>
              <a:buChar char="•"/>
            </a:pPr>
            <a:r>
              <a:rPr lang="es-AR" sz="2400" dirty="0">
                <a:solidFill>
                  <a:srgbClr val="4A4A4A"/>
                </a:solidFill>
                <a:highlight>
                  <a:srgbClr val="FFFFFF"/>
                </a:highlight>
                <a:latin typeface="Lato"/>
                <a:ea typeface="Lato"/>
                <a:cs typeface="Lato"/>
                <a:sym typeface="Lato"/>
              </a:rPr>
              <a:t>Si más de un elemento utiliza el mismo CSS, puedes combinar los selectores en una lista de selectores para que la regla se aplique a cada uno de los selectores individuales. </a:t>
            </a:r>
          </a:p>
          <a:p>
            <a:pPr marL="342900" lvl="0" indent="-342900" rtl="0">
              <a:spcBef>
                <a:spcPts val="0"/>
              </a:spcBef>
              <a:spcAft>
                <a:spcPts val="0"/>
              </a:spcAft>
              <a:buFont typeface="Arial" panose="020B0604020202020204" pitchFamily="34" charset="0"/>
              <a:buChar char="•"/>
            </a:pPr>
            <a:r>
              <a:rPr lang="es-AR" sz="2400" dirty="0">
                <a:solidFill>
                  <a:srgbClr val="4A4A4A"/>
                </a:solidFill>
                <a:highlight>
                  <a:srgbClr val="FFFFFF"/>
                </a:highlight>
                <a:latin typeface="Lato"/>
                <a:ea typeface="Lato"/>
                <a:cs typeface="Lato"/>
                <a:sym typeface="Lato"/>
              </a:rPr>
              <a:t>Por ejemplo, si tengo el mismo CSS para un h1 y para una clase .</a:t>
            </a:r>
            <a:r>
              <a:rPr lang="es-AR" sz="2400" dirty="0" err="1">
                <a:solidFill>
                  <a:srgbClr val="4A4A4A"/>
                </a:solidFill>
                <a:highlight>
                  <a:srgbClr val="FFFFFF"/>
                </a:highlight>
                <a:latin typeface="Lato"/>
                <a:ea typeface="Lato"/>
                <a:cs typeface="Lato"/>
                <a:sym typeface="Lato"/>
              </a:rPr>
              <a:t>special</a:t>
            </a:r>
            <a:r>
              <a:rPr lang="es-AR" sz="2400" dirty="0">
                <a:solidFill>
                  <a:srgbClr val="4A4A4A"/>
                </a:solidFill>
                <a:highlight>
                  <a:srgbClr val="FFFFFF"/>
                </a:highlight>
                <a:latin typeface="Lato"/>
                <a:ea typeface="Lato"/>
                <a:cs typeface="Lato"/>
                <a:sym typeface="Lato"/>
              </a:rPr>
              <a:t>, los puedo escribir como dos reglas separadas.</a:t>
            </a:r>
            <a:endParaRPr lang="es-AR" sz="2400" dirty="0">
              <a:solidFill>
                <a:schemeClr val="tx1"/>
              </a:solidFill>
              <a:highlight>
                <a:srgbClr val="FFFFFF"/>
              </a:highlight>
              <a:latin typeface="Lato"/>
              <a:ea typeface="Lato"/>
              <a:cs typeface="Lato"/>
              <a:sym typeface="Lato"/>
            </a:endParaRPr>
          </a:p>
        </p:txBody>
      </p:sp>
      <p:pic>
        <p:nvPicPr>
          <p:cNvPr id="3" name="Imagen 2">
            <a:extLst>
              <a:ext uri="{FF2B5EF4-FFF2-40B4-BE49-F238E27FC236}">
                <a16:creationId xmlns:a16="http://schemas.microsoft.com/office/drawing/2014/main" id="{5094B275-7171-A65B-B731-053C815F9BF5}"/>
              </a:ext>
            </a:extLst>
          </p:cNvPr>
          <p:cNvPicPr>
            <a:picLocks noChangeAspect="1"/>
          </p:cNvPicPr>
          <p:nvPr/>
        </p:nvPicPr>
        <p:blipFill>
          <a:blip r:embed="rId3"/>
          <a:stretch>
            <a:fillRect/>
          </a:stretch>
        </p:blipFill>
        <p:spPr>
          <a:xfrm>
            <a:off x="6580594" y="1699491"/>
            <a:ext cx="2040801" cy="2549016"/>
          </a:xfrm>
          <a:prstGeom prst="rect">
            <a:avLst/>
          </a:prstGeom>
        </p:spPr>
      </p:pic>
    </p:spTree>
    <p:extLst>
      <p:ext uri="{BB962C8B-B14F-4D97-AF65-F5344CB8AC3E}">
        <p14:creationId xmlns:p14="http://schemas.microsoft.com/office/powerpoint/2010/main" val="197828654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4" name="CuadroTexto 3">
            <a:extLst>
              <a:ext uri="{FF2B5EF4-FFF2-40B4-BE49-F238E27FC236}">
                <a16:creationId xmlns:a16="http://schemas.microsoft.com/office/drawing/2014/main" id="{B9B8C329-BED5-C09C-F09B-E2F2A7739CCE}"/>
              </a:ext>
            </a:extLst>
          </p:cNvPr>
          <p:cNvSpPr txBox="1"/>
          <p:nvPr/>
        </p:nvSpPr>
        <p:spPr>
          <a:xfrm>
            <a:off x="434397" y="688695"/>
            <a:ext cx="5744730" cy="4170372"/>
          </a:xfrm>
          <a:prstGeom prst="rect">
            <a:avLst/>
          </a:prstGeom>
          <a:noFill/>
        </p:spPr>
        <p:txBody>
          <a:bodyPr wrap="square">
            <a:spAutoFit/>
          </a:bodyPr>
          <a:lstStyle/>
          <a:p>
            <a:r>
              <a:rPr lang="es-AR" sz="4000" dirty="0">
                <a:solidFill>
                  <a:srgbClr val="BE3969"/>
                </a:solidFill>
                <a:highlight>
                  <a:srgbClr val="FFFFFF"/>
                </a:highlight>
                <a:latin typeface="Russo One"/>
                <a:ea typeface="Lato"/>
                <a:cs typeface="Lato"/>
                <a:sym typeface="Russo One"/>
              </a:rPr>
              <a:t>Listas de selectores</a:t>
            </a:r>
          </a:p>
          <a:p>
            <a:endParaRPr lang="es-AR" sz="900" dirty="0">
              <a:solidFill>
                <a:srgbClr val="BE3969"/>
              </a:solidFill>
              <a:highlight>
                <a:srgbClr val="FFFFFF"/>
              </a:highlight>
              <a:latin typeface="Russo One"/>
              <a:ea typeface="Lato"/>
              <a:cs typeface="Lato"/>
              <a:sym typeface="Russo One"/>
            </a:endParaRPr>
          </a:p>
          <a:p>
            <a:pPr marL="342900" lvl="0" indent="-342900" rtl="0">
              <a:spcBef>
                <a:spcPts val="0"/>
              </a:spcBef>
              <a:spcAft>
                <a:spcPts val="0"/>
              </a:spcAft>
              <a:buFont typeface="Arial" panose="020B0604020202020204" pitchFamily="34" charset="0"/>
              <a:buChar char="•"/>
            </a:pPr>
            <a:r>
              <a:rPr lang="es-AR" sz="2400" dirty="0">
                <a:solidFill>
                  <a:srgbClr val="4A4A4A"/>
                </a:solidFill>
                <a:highlight>
                  <a:srgbClr val="FFFFFF"/>
                </a:highlight>
                <a:latin typeface="Lato"/>
                <a:ea typeface="Lato"/>
                <a:cs typeface="Lato"/>
                <a:sym typeface="Lato"/>
              </a:rPr>
              <a:t>También los podrías combinar en una lista de selectores, separándolos con una coma. </a:t>
            </a:r>
          </a:p>
          <a:p>
            <a:pPr marL="342900" lvl="0" indent="-342900" rtl="0">
              <a:spcBef>
                <a:spcPts val="0"/>
              </a:spcBef>
              <a:spcAft>
                <a:spcPts val="0"/>
              </a:spcAft>
              <a:buFont typeface="Arial" panose="020B0604020202020204" pitchFamily="34" charset="0"/>
              <a:buChar char="•"/>
            </a:pPr>
            <a:endParaRPr lang="es-AR" sz="2400" dirty="0">
              <a:solidFill>
                <a:srgbClr val="4A4A4A"/>
              </a:solidFill>
              <a:highlight>
                <a:srgbClr val="FFFFFF"/>
              </a:highlight>
              <a:latin typeface="Lato"/>
              <a:ea typeface="Lato"/>
              <a:cs typeface="Lato"/>
              <a:sym typeface="Lato"/>
            </a:endParaRPr>
          </a:p>
          <a:p>
            <a:pPr marL="342900" lvl="0" indent="-342900" rtl="0">
              <a:spcBef>
                <a:spcPts val="0"/>
              </a:spcBef>
              <a:spcAft>
                <a:spcPts val="0"/>
              </a:spcAft>
              <a:buFont typeface="Arial" panose="020B0604020202020204" pitchFamily="34" charset="0"/>
              <a:buChar char="•"/>
            </a:pPr>
            <a:r>
              <a:rPr lang="es-AR" sz="2400" dirty="0">
                <a:solidFill>
                  <a:srgbClr val="4A4A4A"/>
                </a:solidFill>
                <a:highlight>
                  <a:srgbClr val="FFFFFF"/>
                </a:highlight>
                <a:latin typeface="Lato"/>
                <a:ea typeface="Lato"/>
                <a:cs typeface="Lato"/>
                <a:sym typeface="Lato"/>
              </a:rPr>
              <a:t>Es posible dejar un espacio en blanco tanto antes como después de la coma. Incluso puede resultar más legible si cada selector se encuentra en una línea distinta.</a:t>
            </a:r>
          </a:p>
        </p:txBody>
      </p:sp>
      <p:pic>
        <p:nvPicPr>
          <p:cNvPr id="5" name="Imagen 4">
            <a:extLst>
              <a:ext uri="{FF2B5EF4-FFF2-40B4-BE49-F238E27FC236}">
                <a16:creationId xmlns:a16="http://schemas.microsoft.com/office/drawing/2014/main" id="{8FF7EB89-7C8F-BF9A-204D-67A940857184}"/>
              </a:ext>
            </a:extLst>
          </p:cNvPr>
          <p:cNvPicPr>
            <a:picLocks noChangeAspect="1"/>
          </p:cNvPicPr>
          <p:nvPr/>
        </p:nvPicPr>
        <p:blipFill>
          <a:blip r:embed="rId3"/>
          <a:stretch>
            <a:fillRect/>
          </a:stretch>
        </p:blipFill>
        <p:spPr>
          <a:xfrm>
            <a:off x="6440931" y="1920872"/>
            <a:ext cx="1914792" cy="2105319"/>
          </a:xfrm>
          <a:prstGeom prst="rect">
            <a:avLst/>
          </a:prstGeom>
        </p:spPr>
      </p:pic>
    </p:spTree>
    <p:extLst>
      <p:ext uri="{BB962C8B-B14F-4D97-AF65-F5344CB8AC3E}">
        <p14:creationId xmlns:p14="http://schemas.microsoft.com/office/powerpoint/2010/main" val="108508924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4" name="CuadroTexto 3">
            <a:extLst>
              <a:ext uri="{FF2B5EF4-FFF2-40B4-BE49-F238E27FC236}">
                <a16:creationId xmlns:a16="http://schemas.microsoft.com/office/drawing/2014/main" id="{B9B8C329-BED5-C09C-F09B-E2F2A7739CCE}"/>
              </a:ext>
            </a:extLst>
          </p:cNvPr>
          <p:cNvSpPr txBox="1"/>
          <p:nvPr/>
        </p:nvSpPr>
        <p:spPr>
          <a:xfrm>
            <a:off x="434397" y="688695"/>
            <a:ext cx="7882948" cy="3454792"/>
          </a:xfrm>
          <a:prstGeom prst="rect">
            <a:avLst/>
          </a:prstGeom>
          <a:noFill/>
        </p:spPr>
        <p:txBody>
          <a:bodyPr wrap="square">
            <a:spAutoFit/>
          </a:bodyPr>
          <a:lstStyle/>
          <a:p>
            <a:r>
              <a:rPr lang="es-AR" sz="4800" dirty="0">
                <a:solidFill>
                  <a:srgbClr val="BE3969"/>
                </a:solidFill>
                <a:highlight>
                  <a:srgbClr val="FFFFFF"/>
                </a:highlight>
                <a:latin typeface="Russo One"/>
                <a:ea typeface="Lato"/>
                <a:cs typeface="Lato"/>
                <a:sym typeface="Russo One"/>
              </a:rPr>
              <a:t>Tipos de selectores</a:t>
            </a:r>
          </a:p>
          <a:p>
            <a:endParaRPr lang="es-AR" sz="1050" dirty="0">
              <a:solidFill>
                <a:srgbClr val="BE3969"/>
              </a:solidFill>
              <a:highlight>
                <a:srgbClr val="FFFFFF"/>
              </a:highlight>
              <a:latin typeface="Russo One"/>
              <a:ea typeface="Lato"/>
              <a:cs typeface="Lato"/>
              <a:sym typeface="Russo One"/>
            </a:endParaRPr>
          </a:p>
          <a:p>
            <a:pPr marL="342900" lvl="0" indent="-342900" rtl="0">
              <a:spcBef>
                <a:spcPts val="0"/>
              </a:spcBef>
              <a:spcAft>
                <a:spcPts val="0"/>
              </a:spcAft>
              <a:buFont typeface="Arial" panose="020B0604020202020204" pitchFamily="34" charset="0"/>
              <a:buChar char="•"/>
            </a:pPr>
            <a:r>
              <a:rPr lang="es-AR" sz="3200" dirty="0">
                <a:solidFill>
                  <a:srgbClr val="4A4A4A"/>
                </a:solidFill>
                <a:highlight>
                  <a:srgbClr val="FFFFFF"/>
                </a:highlight>
                <a:latin typeface="Lato"/>
                <a:ea typeface="Lato"/>
                <a:cs typeface="Lato"/>
                <a:sym typeface="Lato"/>
              </a:rPr>
              <a:t>Hay diferentes agrupaciones de selectores, y conocer qué tipo de selector necesitas te ayudará a encontrar la herramienta adecuada para tu trabajo.</a:t>
            </a:r>
          </a:p>
          <a:p>
            <a:pPr marL="342900" lvl="0" indent="-342900" rtl="0">
              <a:spcBef>
                <a:spcPts val="0"/>
              </a:spcBef>
              <a:spcAft>
                <a:spcPts val="0"/>
              </a:spcAft>
              <a:buFont typeface="Arial" panose="020B0604020202020204" pitchFamily="34" charset="0"/>
              <a:buChar char="•"/>
            </a:pPr>
            <a:r>
              <a:rPr lang="es-AR" sz="3200" dirty="0" err="1">
                <a:solidFill>
                  <a:srgbClr val="4A4A4A"/>
                </a:solidFill>
                <a:highlight>
                  <a:srgbClr val="FFFFFF"/>
                </a:highlight>
                <a:latin typeface="Lato"/>
                <a:ea typeface="Lato"/>
                <a:cs typeface="Lato"/>
                <a:sym typeface="Lato"/>
              </a:rPr>
              <a:t>Veamoslos</a:t>
            </a:r>
            <a:r>
              <a:rPr lang="es-AR" sz="3200" dirty="0">
                <a:solidFill>
                  <a:srgbClr val="4A4A4A"/>
                </a:solidFill>
                <a:highlight>
                  <a:srgbClr val="FFFFFF"/>
                </a:highlight>
                <a:latin typeface="Lato"/>
                <a:ea typeface="Lato"/>
                <a:cs typeface="Lato"/>
                <a:sym typeface="Lato"/>
              </a:rPr>
              <a:t>! </a:t>
            </a:r>
          </a:p>
        </p:txBody>
      </p:sp>
    </p:spTree>
    <p:extLst>
      <p:ext uri="{BB962C8B-B14F-4D97-AF65-F5344CB8AC3E}">
        <p14:creationId xmlns:p14="http://schemas.microsoft.com/office/powerpoint/2010/main" val="421435208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4" name="CuadroTexto 3">
            <a:extLst>
              <a:ext uri="{FF2B5EF4-FFF2-40B4-BE49-F238E27FC236}">
                <a16:creationId xmlns:a16="http://schemas.microsoft.com/office/drawing/2014/main" id="{B9B8C329-BED5-C09C-F09B-E2F2A7739CCE}"/>
              </a:ext>
            </a:extLst>
          </p:cNvPr>
          <p:cNvSpPr txBox="1"/>
          <p:nvPr/>
        </p:nvSpPr>
        <p:spPr>
          <a:xfrm>
            <a:off x="471342" y="928840"/>
            <a:ext cx="4996585" cy="3893374"/>
          </a:xfrm>
          <a:prstGeom prst="rect">
            <a:avLst/>
          </a:prstGeom>
          <a:noFill/>
        </p:spPr>
        <p:txBody>
          <a:bodyPr wrap="square">
            <a:spAutoFit/>
          </a:bodyPr>
          <a:lstStyle/>
          <a:p>
            <a:r>
              <a:rPr lang="es-AR" sz="3200" dirty="0">
                <a:solidFill>
                  <a:srgbClr val="BE3969"/>
                </a:solidFill>
                <a:highlight>
                  <a:srgbClr val="FFFFFF"/>
                </a:highlight>
                <a:latin typeface="Russo One"/>
                <a:ea typeface="Lato"/>
                <a:cs typeface="Lato"/>
                <a:sym typeface="Russo One"/>
              </a:rPr>
              <a:t>Selectores de tipo, de clase y de ID</a:t>
            </a:r>
          </a:p>
          <a:p>
            <a:endParaRPr lang="es-AR" sz="3200" dirty="0">
              <a:solidFill>
                <a:srgbClr val="BE3969"/>
              </a:solidFill>
              <a:highlight>
                <a:srgbClr val="FFFFFF"/>
              </a:highlight>
              <a:latin typeface="Russo One"/>
              <a:ea typeface="Lato"/>
              <a:cs typeface="Lato"/>
              <a:sym typeface="Russo One"/>
            </a:endParaRPr>
          </a:p>
          <a:p>
            <a:endParaRPr lang="es-AR" sz="700" dirty="0">
              <a:solidFill>
                <a:srgbClr val="BE3969"/>
              </a:solidFill>
              <a:highlight>
                <a:srgbClr val="FFFFFF"/>
              </a:highlight>
              <a:latin typeface="Russo One"/>
              <a:ea typeface="Lato"/>
              <a:cs typeface="Lato"/>
              <a:sym typeface="Russo One"/>
            </a:endParaRPr>
          </a:p>
          <a:p>
            <a:pPr marL="342900" lvl="0" indent="-342900" rtl="0">
              <a:spcBef>
                <a:spcPts val="0"/>
              </a:spcBef>
              <a:spcAft>
                <a:spcPts val="0"/>
              </a:spcAft>
              <a:buFont typeface="Arial" panose="020B0604020202020204" pitchFamily="34" charset="0"/>
              <a:buChar char="•"/>
            </a:pPr>
            <a:r>
              <a:rPr lang="es-AR" sz="1800" dirty="0">
                <a:solidFill>
                  <a:srgbClr val="4A4A4A"/>
                </a:solidFill>
                <a:highlight>
                  <a:srgbClr val="FFFFFF"/>
                </a:highlight>
                <a:latin typeface="Lato"/>
                <a:ea typeface="Lato"/>
                <a:cs typeface="Lato"/>
                <a:sym typeface="Lato"/>
              </a:rPr>
              <a:t>Este grupo incluye selectores que delimitan un elemento HTML, como por ejemplo un &lt;h1&gt;.</a:t>
            </a:r>
          </a:p>
          <a:p>
            <a:pPr lvl="0" rtl="0">
              <a:spcBef>
                <a:spcPts val="0"/>
              </a:spcBef>
              <a:spcAft>
                <a:spcPts val="0"/>
              </a:spcAft>
            </a:pPr>
            <a:endParaRPr lang="es-AR" sz="1800" dirty="0">
              <a:solidFill>
                <a:srgbClr val="4A4A4A"/>
              </a:solidFill>
              <a:highlight>
                <a:srgbClr val="FFFFFF"/>
              </a:highlight>
              <a:latin typeface="Lato"/>
              <a:ea typeface="Lato"/>
              <a:cs typeface="Lato"/>
              <a:sym typeface="Lato"/>
            </a:endParaRPr>
          </a:p>
          <a:p>
            <a:pPr marL="342900" lvl="0" indent="-342900" rtl="0">
              <a:spcBef>
                <a:spcPts val="0"/>
              </a:spcBef>
              <a:spcAft>
                <a:spcPts val="0"/>
              </a:spcAft>
              <a:buFont typeface="Arial" panose="020B0604020202020204" pitchFamily="34" charset="0"/>
              <a:buChar char="•"/>
            </a:pPr>
            <a:r>
              <a:rPr lang="es-AR" sz="1800" dirty="0">
                <a:solidFill>
                  <a:srgbClr val="4A4A4A"/>
                </a:solidFill>
                <a:highlight>
                  <a:srgbClr val="FFFFFF"/>
                </a:highlight>
                <a:latin typeface="Lato"/>
                <a:ea typeface="Lato"/>
                <a:cs typeface="Lato"/>
                <a:sym typeface="Lato"/>
              </a:rPr>
              <a:t>También incluye selectores que delimitan una clase:</a:t>
            </a:r>
          </a:p>
          <a:p>
            <a:pPr marL="342900" lvl="0" indent="-342900" rtl="0">
              <a:spcBef>
                <a:spcPts val="0"/>
              </a:spcBef>
              <a:spcAft>
                <a:spcPts val="0"/>
              </a:spcAft>
              <a:buFont typeface="Arial" panose="020B0604020202020204" pitchFamily="34" charset="0"/>
              <a:buChar char="•"/>
            </a:pPr>
            <a:endParaRPr lang="es-AR" sz="1800" dirty="0">
              <a:solidFill>
                <a:srgbClr val="4A4A4A"/>
              </a:solidFill>
              <a:highlight>
                <a:srgbClr val="FFFFFF"/>
              </a:highlight>
              <a:latin typeface="Lato"/>
              <a:ea typeface="Lato"/>
              <a:cs typeface="Lato"/>
              <a:sym typeface="Lato"/>
            </a:endParaRPr>
          </a:p>
          <a:p>
            <a:pPr marL="342900" lvl="0" indent="-342900" rtl="0">
              <a:spcBef>
                <a:spcPts val="0"/>
              </a:spcBef>
              <a:spcAft>
                <a:spcPts val="0"/>
              </a:spcAft>
              <a:buFont typeface="Arial" panose="020B0604020202020204" pitchFamily="34" charset="0"/>
              <a:buChar char="•"/>
            </a:pPr>
            <a:r>
              <a:rPr lang="es-AR" sz="1800" dirty="0">
                <a:solidFill>
                  <a:srgbClr val="4A4A4A"/>
                </a:solidFill>
                <a:highlight>
                  <a:srgbClr val="FFFFFF"/>
                </a:highlight>
                <a:latin typeface="Lato"/>
                <a:ea typeface="Lato"/>
                <a:cs typeface="Lato"/>
                <a:sym typeface="Lato"/>
              </a:rPr>
              <a:t>o un ID:</a:t>
            </a:r>
          </a:p>
        </p:txBody>
      </p:sp>
      <p:pic>
        <p:nvPicPr>
          <p:cNvPr id="6" name="Imagen 5">
            <a:extLst>
              <a:ext uri="{FF2B5EF4-FFF2-40B4-BE49-F238E27FC236}">
                <a16:creationId xmlns:a16="http://schemas.microsoft.com/office/drawing/2014/main" id="{33BB0DD3-23AB-8297-60BA-9B463509CE32}"/>
              </a:ext>
            </a:extLst>
          </p:cNvPr>
          <p:cNvPicPr>
            <a:picLocks noChangeAspect="1"/>
          </p:cNvPicPr>
          <p:nvPr/>
        </p:nvPicPr>
        <p:blipFill>
          <a:blip r:embed="rId3"/>
          <a:stretch>
            <a:fillRect/>
          </a:stretch>
        </p:blipFill>
        <p:spPr>
          <a:xfrm>
            <a:off x="6022919" y="1561131"/>
            <a:ext cx="901191" cy="1467055"/>
          </a:xfrm>
          <a:prstGeom prst="rect">
            <a:avLst/>
          </a:prstGeom>
        </p:spPr>
      </p:pic>
      <p:pic>
        <p:nvPicPr>
          <p:cNvPr id="8" name="Imagen 7">
            <a:extLst>
              <a:ext uri="{FF2B5EF4-FFF2-40B4-BE49-F238E27FC236}">
                <a16:creationId xmlns:a16="http://schemas.microsoft.com/office/drawing/2014/main" id="{46531307-7DC6-45A6-88BA-46A13CAE8291}"/>
              </a:ext>
            </a:extLst>
          </p:cNvPr>
          <p:cNvPicPr>
            <a:picLocks noChangeAspect="1"/>
          </p:cNvPicPr>
          <p:nvPr/>
        </p:nvPicPr>
        <p:blipFill>
          <a:blip r:embed="rId4"/>
          <a:stretch>
            <a:fillRect/>
          </a:stretch>
        </p:blipFill>
        <p:spPr>
          <a:xfrm>
            <a:off x="7405905" y="1561131"/>
            <a:ext cx="1019317" cy="1467055"/>
          </a:xfrm>
          <a:prstGeom prst="rect">
            <a:avLst/>
          </a:prstGeom>
        </p:spPr>
      </p:pic>
      <p:pic>
        <p:nvPicPr>
          <p:cNvPr id="10" name="Imagen 9">
            <a:extLst>
              <a:ext uri="{FF2B5EF4-FFF2-40B4-BE49-F238E27FC236}">
                <a16:creationId xmlns:a16="http://schemas.microsoft.com/office/drawing/2014/main" id="{A2B03975-A8AE-58C5-8CD5-B203317AC7C6}"/>
              </a:ext>
            </a:extLst>
          </p:cNvPr>
          <p:cNvPicPr>
            <a:picLocks noChangeAspect="1"/>
          </p:cNvPicPr>
          <p:nvPr/>
        </p:nvPicPr>
        <p:blipFill>
          <a:blip r:embed="rId5"/>
          <a:stretch>
            <a:fillRect/>
          </a:stretch>
        </p:blipFill>
        <p:spPr>
          <a:xfrm>
            <a:off x="6562824" y="3312002"/>
            <a:ext cx="1352739" cy="1428949"/>
          </a:xfrm>
          <a:prstGeom prst="rect">
            <a:avLst/>
          </a:prstGeom>
        </p:spPr>
      </p:pic>
    </p:spTree>
    <p:extLst>
      <p:ext uri="{BB962C8B-B14F-4D97-AF65-F5344CB8AC3E}">
        <p14:creationId xmlns:p14="http://schemas.microsoft.com/office/powerpoint/2010/main" val="308732746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4" name="CuadroTexto 3">
            <a:extLst>
              <a:ext uri="{FF2B5EF4-FFF2-40B4-BE49-F238E27FC236}">
                <a16:creationId xmlns:a16="http://schemas.microsoft.com/office/drawing/2014/main" id="{B9B8C329-BED5-C09C-F09B-E2F2A7739CCE}"/>
              </a:ext>
            </a:extLst>
          </p:cNvPr>
          <p:cNvSpPr txBox="1"/>
          <p:nvPr/>
        </p:nvSpPr>
        <p:spPr>
          <a:xfrm>
            <a:off x="475960" y="707167"/>
            <a:ext cx="8076913" cy="3123932"/>
          </a:xfrm>
          <a:prstGeom prst="rect">
            <a:avLst/>
          </a:prstGeom>
          <a:noFill/>
        </p:spPr>
        <p:txBody>
          <a:bodyPr wrap="square">
            <a:spAutoFit/>
          </a:bodyPr>
          <a:lstStyle/>
          <a:p>
            <a:r>
              <a:rPr lang="es-AR" sz="3200" dirty="0">
                <a:solidFill>
                  <a:srgbClr val="BE3969"/>
                </a:solidFill>
                <a:highlight>
                  <a:srgbClr val="FFFFFF"/>
                </a:highlight>
                <a:latin typeface="Russo One"/>
                <a:ea typeface="Lato"/>
                <a:cs typeface="Lato"/>
                <a:sym typeface="Russo One"/>
              </a:rPr>
              <a:t>Selectores de atributo</a:t>
            </a:r>
          </a:p>
          <a:p>
            <a:endParaRPr lang="es-AR" sz="3200" dirty="0">
              <a:solidFill>
                <a:srgbClr val="BE3969"/>
              </a:solidFill>
              <a:highlight>
                <a:srgbClr val="FFFFFF"/>
              </a:highlight>
              <a:latin typeface="Russo One"/>
              <a:ea typeface="Lato"/>
              <a:cs typeface="Lato"/>
              <a:sym typeface="Russo One"/>
            </a:endParaRPr>
          </a:p>
          <a:p>
            <a:endParaRPr lang="es-AR" sz="700" dirty="0">
              <a:solidFill>
                <a:srgbClr val="BE3969"/>
              </a:solidFill>
              <a:highlight>
                <a:srgbClr val="FFFFFF"/>
              </a:highlight>
              <a:latin typeface="Russo One"/>
              <a:ea typeface="Lato"/>
              <a:cs typeface="Lato"/>
              <a:sym typeface="Russo One"/>
            </a:endParaRPr>
          </a:p>
          <a:p>
            <a:pPr marL="342900" lvl="0" indent="-342900" rtl="0">
              <a:spcBef>
                <a:spcPts val="0"/>
              </a:spcBef>
              <a:spcAft>
                <a:spcPts val="0"/>
              </a:spcAft>
              <a:buFont typeface="Arial" panose="020B0604020202020204" pitchFamily="34" charset="0"/>
              <a:buChar char="•"/>
            </a:pPr>
            <a:r>
              <a:rPr lang="es-AR" sz="1800" dirty="0">
                <a:solidFill>
                  <a:srgbClr val="4A4A4A"/>
                </a:solidFill>
                <a:highlight>
                  <a:srgbClr val="FFFFFF"/>
                </a:highlight>
                <a:latin typeface="Lato"/>
                <a:ea typeface="Lato"/>
                <a:cs typeface="Lato"/>
                <a:sym typeface="Lato"/>
              </a:rPr>
              <a:t>Este grupo de selectores te proporciona diferentes formas de seleccionar elementos según la presencia de un atributo determinado en un elemento:</a:t>
            </a:r>
          </a:p>
          <a:p>
            <a:pPr marL="342900" lvl="0" indent="-342900" rtl="0">
              <a:spcBef>
                <a:spcPts val="0"/>
              </a:spcBef>
              <a:spcAft>
                <a:spcPts val="0"/>
              </a:spcAft>
              <a:buFont typeface="Arial" panose="020B0604020202020204" pitchFamily="34" charset="0"/>
              <a:buChar char="•"/>
            </a:pPr>
            <a:endParaRPr lang="es-AR" sz="1800" dirty="0">
              <a:solidFill>
                <a:srgbClr val="4A4A4A"/>
              </a:solidFill>
              <a:highlight>
                <a:srgbClr val="FFFFFF"/>
              </a:highlight>
              <a:latin typeface="Lato"/>
              <a:ea typeface="Lato"/>
              <a:cs typeface="Lato"/>
              <a:sym typeface="Lato"/>
            </a:endParaRPr>
          </a:p>
          <a:p>
            <a:pPr marL="342900" lvl="0" indent="-342900" rtl="0">
              <a:spcBef>
                <a:spcPts val="0"/>
              </a:spcBef>
              <a:spcAft>
                <a:spcPts val="0"/>
              </a:spcAft>
              <a:buFont typeface="Arial" panose="020B0604020202020204" pitchFamily="34" charset="0"/>
              <a:buChar char="•"/>
            </a:pPr>
            <a:endParaRPr lang="es-AR" sz="1800" dirty="0">
              <a:solidFill>
                <a:srgbClr val="4A4A4A"/>
              </a:solidFill>
              <a:highlight>
                <a:srgbClr val="FFFFFF"/>
              </a:highlight>
              <a:latin typeface="Lato"/>
              <a:ea typeface="Lato"/>
              <a:cs typeface="Lato"/>
              <a:sym typeface="Lato"/>
            </a:endParaRPr>
          </a:p>
          <a:p>
            <a:pPr marL="342900" lvl="0" indent="-342900" rtl="0">
              <a:spcBef>
                <a:spcPts val="0"/>
              </a:spcBef>
              <a:spcAft>
                <a:spcPts val="0"/>
              </a:spcAft>
              <a:buFont typeface="Arial" panose="020B0604020202020204" pitchFamily="34" charset="0"/>
              <a:buChar char="•"/>
            </a:pPr>
            <a:endParaRPr lang="es-AR" sz="1800" dirty="0">
              <a:solidFill>
                <a:srgbClr val="4A4A4A"/>
              </a:solidFill>
              <a:highlight>
                <a:srgbClr val="FFFFFF"/>
              </a:highlight>
              <a:latin typeface="Lato"/>
              <a:ea typeface="Lato"/>
              <a:cs typeface="Lato"/>
              <a:sym typeface="Lato"/>
            </a:endParaRPr>
          </a:p>
          <a:p>
            <a:pPr marL="342900" lvl="0" indent="-342900" rtl="0">
              <a:spcBef>
                <a:spcPts val="0"/>
              </a:spcBef>
              <a:spcAft>
                <a:spcPts val="0"/>
              </a:spcAft>
              <a:buFont typeface="Arial" panose="020B0604020202020204" pitchFamily="34" charset="0"/>
              <a:buChar char="•"/>
            </a:pPr>
            <a:r>
              <a:rPr lang="es-AR" sz="1800" dirty="0">
                <a:solidFill>
                  <a:srgbClr val="4A4A4A"/>
                </a:solidFill>
                <a:highlight>
                  <a:srgbClr val="FFFFFF"/>
                </a:highlight>
                <a:latin typeface="Lato"/>
                <a:ea typeface="Lato"/>
                <a:cs typeface="Lato"/>
                <a:sym typeface="Lato"/>
              </a:rPr>
              <a:t>O incluso hacer una selección basada en la presencia de un atributo que tiene un valor particular asignado:</a:t>
            </a:r>
          </a:p>
        </p:txBody>
      </p:sp>
      <p:pic>
        <p:nvPicPr>
          <p:cNvPr id="3" name="Imagen 2">
            <a:extLst>
              <a:ext uri="{FF2B5EF4-FFF2-40B4-BE49-F238E27FC236}">
                <a16:creationId xmlns:a16="http://schemas.microsoft.com/office/drawing/2014/main" id="{E49ACB85-1EB7-EB21-0277-0CCEF7132EA9}"/>
              </a:ext>
            </a:extLst>
          </p:cNvPr>
          <p:cNvPicPr>
            <a:picLocks noChangeAspect="1"/>
          </p:cNvPicPr>
          <p:nvPr/>
        </p:nvPicPr>
        <p:blipFill>
          <a:blip r:embed="rId3"/>
          <a:stretch>
            <a:fillRect/>
          </a:stretch>
        </p:blipFill>
        <p:spPr>
          <a:xfrm>
            <a:off x="3990418" y="2571750"/>
            <a:ext cx="950727" cy="576570"/>
          </a:xfrm>
          <a:prstGeom prst="rect">
            <a:avLst/>
          </a:prstGeom>
        </p:spPr>
      </p:pic>
      <p:pic>
        <p:nvPicPr>
          <p:cNvPr id="7" name="Imagen 6">
            <a:extLst>
              <a:ext uri="{FF2B5EF4-FFF2-40B4-BE49-F238E27FC236}">
                <a16:creationId xmlns:a16="http://schemas.microsoft.com/office/drawing/2014/main" id="{C26F7CB1-81DC-EC58-C794-5E739B4525BF}"/>
              </a:ext>
            </a:extLst>
          </p:cNvPr>
          <p:cNvPicPr>
            <a:picLocks noChangeAspect="1"/>
          </p:cNvPicPr>
          <p:nvPr/>
        </p:nvPicPr>
        <p:blipFill>
          <a:blip r:embed="rId4"/>
          <a:stretch>
            <a:fillRect/>
          </a:stretch>
        </p:blipFill>
        <p:spPr>
          <a:xfrm>
            <a:off x="3409686" y="3984069"/>
            <a:ext cx="2324628" cy="821968"/>
          </a:xfrm>
          <a:prstGeom prst="rect">
            <a:avLst/>
          </a:prstGeom>
        </p:spPr>
      </p:pic>
    </p:spTree>
    <p:extLst>
      <p:ext uri="{BB962C8B-B14F-4D97-AF65-F5344CB8AC3E}">
        <p14:creationId xmlns:p14="http://schemas.microsoft.com/office/powerpoint/2010/main" val="200067134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4" name="CuadroTexto 3">
            <a:extLst>
              <a:ext uri="{FF2B5EF4-FFF2-40B4-BE49-F238E27FC236}">
                <a16:creationId xmlns:a16="http://schemas.microsoft.com/office/drawing/2014/main" id="{B9B8C329-BED5-C09C-F09B-E2F2A7739CCE}"/>
              </a:ext>
            </a:extLst>
          </p:cNvPr>
          <p:cNvSpPr txBox="1"/>
          <p:nvPr/>
        </p:nvSpPr>
        <p:spPr>
          <a:xfrm>
            <a:off x="475960" y="707167"/>
            <a:ext cx="8076913" cy="3462486"/>
          </a:xfrm>
          <a:prstGeom prst="rect">
            <a:avLst/>
          </a:prstGeom>
          <a:noFill/>
        </p:spPr>
        <p:txBody>
          <a:bodyPr wrap="square">
            <a:spAutoFit/>
          </a:bodyPr>
          <a:lstStyle/>
          <a:p>
            <a:r>
              <a:rPr lang="es-AR" sz="2400" dirty="0">
                <a:solidFill>
                  <a:srgbClr val="BE3969"/>
                </a:solidFill>
                <a:highlight>
                  <a:srgbClr val="FFFFFF"/>
                </a:highlight>
                <a:latin typeface="Russo One"/>
                <a:ea typeface="Lato"/>
                <a:cs typeface="Lato"/>
                <a:sym typeface="Russo One"/>
              </a:rPr>
              <a:t>Las </a:t>
            </a:r>
            <a:r>
              <a:rPr lang="es-AR" sz="2400" dirty="0" err="1">
                <a:solidFill>
                  <a:srgbClr val="BE3969"/>
                </a:solidFill>
                <a:highlight>
                  <a:srgbClr val="FFFFFF"/>
                </a:highlight>
                <a:latin typeface="Russo One"/>
                <a:ea typeface="Lato"/>
                <a:cs typeface="Lato"/>
                <a:sym typeface="Russo One"/>
              </a:rPr>
              <a:t>pseudoclases</a:t>
            </a:r>
            <a:r>
              <a:rPr lang="es-AR" sz="2400" dirty="0">
                <a:solidFill>
                  <a:srgbClr val="BE3969"/>
                </a:solidFill>
                <a:highlight>
                  <a:srgbClr val="FFFFFF"/>
                </a:highlight>
                <a:latin typeface="Russo One"/>
                <a:ea typeface="Lato"/>
                <a:cs typeface="Lato"/>
                <a:sym typeface="Russo One"/>
              </a:rPr>
              <a:t> y los </a:t>
            </a:r>
            <a:r>
              <a:rPr lang="es-AR" sz="2400" dirty="0" err="1">
                <a:solidFill>
                  <a:srgbClr val="BE3969"/>
                </a:solidFill>
                <a:highlight>
                  <a:srgbClr val="FFFFFF"/>
                </a:highlight>
                <a:latin typeface="Russo One"/>
                <a:ea typeface="Lato"/>
                <a:cs typeface="Lato"/>
                <a:sym typeface="Russo One"/>
              </a:rPr>
              <a:t>pseudoelementos</a:t>
            </a:r>
            <a:endParaRPr lang="es-AR" sz="2400" dirty="0">
              <a:solidFill>
                <a:srgbClr val="BE3969"/>
              </a:solidFill>
              <a:highlight>
                <a:srgbClr val="FFFFFF"/>
              </a:highlight>
              <a:latin typeface="Russo One"/>
              <a:ea typeface="Lato"/>
              <a:cs typeface="Lato"/>
              <a:sym typeface="Russo One"/>
            </a:endParaRPr>
          </a:p>
          <a:p>
            <a:endParaRPr lang="es-AR" sz="800" dirty="0">
              <a:solidFill>
                <a:srgbClr val="BE3969"/>
              </a:solidFill>
              <a:highlight>
                <a:srgbClr val="FFFFFF"/>
              </a:highlight>
              <a:latin typeface="Russo One"/>
              <a:ea typeface="Lato"/>
              <a:cs typeface="Lato"/>
              <a:sym typeface="Russo One"/>
            </a:endParaRPr>
          </a:p>
          <a:p>
            <a:endParaRPr lang="es-AR" sz="500" dirty="0">
              <a:solidFill>
                <a:srgbClr val="BE3969"/>
              </a:solidFill>
              <a:highlight>
                <a:srgbClr val="FFFFFF"/>
              </a:highlight>
              <a:latin typeface="Russo One"/>
              <a:ea typeface="Lato"/>
              <a:cs typeface="Lato"/>
              <a:sym typeface="Russo One"/>
            </a:endParaRPr>
          </a:p>
          <a:p>
            <a:pPr marL="342900" lvl="0" indent="-342900" rtl="0">
              <a:spcBef>
                <a:spcPts val="0"/>
              </a:spcBef>
              <a:spcAft>
                <a:spcPts val="0"/>
              </a:spcAft>
              <a:buFont typeface="Arial" panose="020B0604020202020204" pitchFamily="34" charset="0"/>
              <a:buChar char="•"/>
            </a:pPr>
            <a:r>
              <a:rPr lang="es-AR" dirty="0">
                <a:solidFill>
                  <a:srgbClr val="4A4A4A"/>
                </a:solidFill>
                <a:highlight>
                  <a:srgbClr val="FFFFFF"/>
                </a:highlight>
                <a:latin typeface="Lato"/>
                <a:ea typeface="Lato"/>
                <a:cs typeface="Lato"/>
                <a:sym typeface="Lato"/>
              </a:rPr>
              <a:t>Este grupo de selectores incluye </a:t>
            </a:r>
            <a:r>
              <a:rPr lang="es-AR" dirty="0" err="1">
                <a:solidFill>
                  <a:srgbClr val="4A4A4A"/>
                </a:solidFill>
                <a:highlight>
                  <a:srgbClr val="FFFFFF"/>
                </a:highlight>
                <a:latin typeface="Lato"/>
                <a:ea typeface="Lato"/>
                <a:cs typeface="Lato"/>
                <a:sym typeface="Lato"/>
              </a:rPr>
              <a:t>pseudoclases</a:t>
            </a:r>
            <a:r>
              <a:rPr lang="es-AR" dirty="0">
                <a:solidFill>
                  <a:srgbClr val="4A4A4A"/>
                </a:solidFill>
                <a:highlight>
                  <a:srgbClr val="FFFFFF"/>
                </a:highlight>
                <a:latin typeface="Lato"/>
                <a:ea typeface="Lato"/>
                <a:cs typeface="Lato"/>
                <a:sym typeface="Lato"/>
              </a:rPr>
              <a:t>, que aplican estilo a ciertos estados de un elemento. La </a:t>
            </a:r>
            <a:r>
              <a:rPr lang="es-AR" dirty="0" err="1">
                <a:solidFill>
                  <a:srgbClr val="4A4A4A"/>
                </a:solidFill>
                <a:highlight>
                  <a:srgbClr val="FFFFFF"/>
                </a:highlight>
                <a:latin typeface="Lato"/>
                <a:ea typeface="Lato"/>
                <a:cs typeface="Lato"/>
                <a:sym typeface="Lato"/>
              </a:rPr>
              <a:t>pseudoclase</a:t>
            </a:r>
            <a:r>
              <a:rPr lang="es-AR" dirty="0">
                <a:solidFill>
                  <a:srgbClr val="4A4A4A"/>
                </a:solidFill>
                <a:highlight>
                  <a:srgbClr val="FFFFFF"/>
                </a:highlight>
                <a:latin typeface="Lato"/>
                <a:ea typeface="Lato"/>
                <a:cs typeface="Lato"/>
                <a:sym typeface="Lato"/>
              </a:rPr>
              <a:t> </a:t>
            </a:r>
            <a:r>
              <a:rPr lang="es-AR" b="1" dirty="0">
                <a:solidFill>
                  <a:schemeClr val="tx1"/>
                </a:solidFill>
                <a:highlight>
                  <a:srgbClr val="FFFFFF"/>
                </a:highlight>
                <a:latin typeface="Lato"/>
                <a:ea typeface="Lato"/>
                <a:cs typeface="Lato"/>
                <a:sym typeface="Lato"/>
              </a:rPr>
              <a:t>:</a:t>
            </a:r>
            <a:r>
              <a:rPr lang="es-AR" b="1" dirty="0" err="1">
                <a:solidFill>
                  <a:schemeClr val="tx1"/>
                </a:solidFill>
                <a:highlight>
                  <a:srgbClr val="FFFFFF"/>
                </a:highlight>
                <a:latin typeface="Lato"/>
                <a:ea typeface="Lato"/>
                <a:cs typeface="Lato"/>
                <a:sym typeface="Lato"/>
              </a:rPr>
              <a:t>hover</a:t>
            </a:r>
            <a:r>
              <a:rPr lang="es-AR" dirty="0">
                <a:solidFill>
                  <a:srgbClr val="4A4A4A"/>
                </a:solidFill>
                <a:highlight>
                  <a:srgbClr val="FFFFFF"/>
                </a:highlight>
                <a:latin typeface="Lato"/>
                <a:ea typeface="Lato"/>
                <a:cs typeface="Lato"/>
                <a:sym typeface="Lato"/>
              </a:rPr>
              <a:t>, por ejemplo, selecciona un elemento solo cuando se le pasa el ratón por encima.</a:t>
            </a:r>
          </a:p>
          <a:p>
            <a:pPr marL="342900" lvl="0" indent="-342900" rtl="0">
              <a:spcBef>
                <a:spcPts val="0"/>
              </a:spcBef>
              <a:spcAft>
                <a:spcPts val="0"/>
              </a:spcAft>
              <a:buFont typeface="Arial" panose="020B0604020202020204" pitchFamily="34" charset="0"/>
              <a:buChar char="•"/>
            </a:pPr>
            <a:endParaRPr lang="es-AR" dirty="0">
              <a:solidFill>
                <a:srgbClr val="4A4A4A"/>
              </a:solidFill>
              <a:highlight>
                <a:srgbClr val="FFFFFF"/>
              </a:highlight>
              <a:latin typeface="Lato"/>
              <a:ea typeface="Lato"/>
              <a:cs typeface="Lato"/>
              <a:sym typeface="Lato"/>
            </a:endParaRPr>
          </a:p>
          <a:p>
            <a:pPr marL="342900" lvl="0" indent="-342900" rtl="0">
              <a:spcBef>
                <a:spcPts val="0"/>
              </a:spcBef>
              <a:spcAft>
                <a:spcPts val="0"/>
              </a:spcAft>
              <a:buFont typeface="Arial" panose="020B0604020202020204" pitchFamily="34" charset="0"/>
              <a:buChar char="•"/>
            </a:pPr>
            <a:endParaRPr lang="es-AR" dirty="0">
              <a:solidFill>
                <a:srgbClr val="4A4A4A"/>
              </a:solidFill>
              <a:highlight>
                <a:srgbClr val="FFFFFF"/>
              </a:highlight>
              <a:latin typeface="Lato"/>
              <a:ea typeface="Lato"/>
              <a:cs typeface="Lato"/>
              <a:sym typeface="Lato"/>
            </a:endParaRPr>
          </a:p>
          <a:p>
            <a:pPr marL="342900" lvl="0" indent="-342900" rtl="0">
              <a:spcBef>
                <a:spcPts val="0"/>
              </a:spcBef>
              <a:spcAft>
                <a:spcPts val="0"/>
              </a:spcAft>
              <a:buFont typeface="Arial" panose="020B0604020202020204" pitchFamily="34" charset="0"/>
              <a:buChar char="•"/>
            </a:pPr>
            <a:endParaRPr lang="es-AR" dirty="0">
              <a:solidFill>
                <a:srgbClr val="4A4A4A"/>
              </a:solidFill>
              <a:highlight>
                <a:srgbClr val="FFFFFF"/>
              </a:highlight>
              <a:latin typeface="Lato"/>
              <a:ea typeface="Lato"/>
              <a:cs typeface="Lato"/>
              <a:sym typeface="Lato"/>
            </a:endParaRPr>
          </a:p>
          <a:p>
            <a:pPr marL="342900" lvl="0" indent="-342900" rtl="0">
              <a:spcBef>
                <a:spcPts val="0"/>
              </a:spcBef>
              <a:spcAft>
                <a:spcPts val="0"/>
              </a:spcAft>
              <a:buFont typeface="Arial" panose="020B0604020202020204" pitchFamily="34" charset="0"/>
              <a:buChar char="•"/>
            </a:pPr>
            <a:endParaRPr lang="es-AR" dirty="0">
              <a:solidFill>
                <a:srgbClr val="4A4A4A"/>
              </a:solidFill>
              <a:highlight>
                <a:srgbClr val="FFFFFF"/>
              </a:highlight>
              <a:latin typeface="Lato"/>
              <a:ea typeface="Lato"/>
              <a:cs typeface="Lato"/>
              <a:sym typeface="Lato"/>
            </a:endParaRPr>
          </a:p>
          <a:p>
            <a:pPr marL="342900" lvl="0" indent="-342900" rtl="0">
              <a:spcBef>
                <a:spcPts val="0"/>
              </a:spcBef>
              <a:spcAft>
                <a:spcPts val="0"/>
              </a:spcAft>
              <a:buFont typeface="Arial" panose="020B0604020202020204" pitchFamily="34" charset="0"/>
              <a:buChar char="•"/>
            </a:pPr>
            <a:endParaRPr lang="es-AR" dirty="0">
              <a:solidFill>
                <a:srgbClr val="4A4A4A"/>
              </a:solidFill>
              <a:highlight>
                <a:srgbClr val="FFFFFF"/>
              </a:highlight>
              <a:latin typeface="Lato"/>
              <a:ea typeface="Lato"/>
              <a:cs typeface="Lato"/>
              <a:sym typeface="Lato"/>
            </a:endParaRPr>
          </a:p>
          <a:p>
            <a:pPr marL="342900" lvl="0" indent="-342900" rtl="0">
              <a:spcBef>
                <a:spcPts val="0"/>
              </a:spcBef>
              <a:spcAft>
                <a:spcPts val="0"/>
              </a:spcAft>
              <a:buFont typeface="Arial" panose="020B0604020202020204" pitchFamily="34" charset="0"/>
              <a:buChar char="•"/>
            </a:pPr>
            <a:r>
              <a:rPr lang="es-AR" dirty="0">
                <a:solidFill>
                  <a:srgbClr val="4A4A4A"/>
                </a:solidFill>
                <a:highlight>
                  <a:srgbClr val="FFFFFF"/>
                </a:highlight>
                <a:latin typeface="Lato"/>
                <a:ea typeface="Lato"/>
                <a:cs typeface="Lato"/>
                <a:sym typeface="Lato"/>
              </a:rPr>
              <a:t>También incluye </a:t>
            </a:r>
            <a:r>
              <a:rPr lang="es-AR" dirty="0" err="1">
                <a:solidFill>
                  <a:srgbClr val="4A4A4A"/>
                </a:solidFill>
                <a:highlight>
                  <a:srgbClr val="FFFFFF"/>
                </a:highlight>
                <a:latin typeface="Lato"/>
                <a:ea typeface="Lato"/>
                <a:cs typeface="Lato"/>
                <a:sym typeface="Lato"/>
              </a:rPr>
              <a:t>pseudoelementos</a:t>
            </a:r>
            <a:r>
              <a:rPr lang="es-AR" dirty="0">
                <a:solidFill>
                  <a:srgbClr val="4A4A4A"/>
                </a:solidFill>
                <a:highlight>
                  <a:srgbClr val="FFFFFF"/>
                </a:highlight>
                <a:latin typeface="Lato"/>
                <a:ea typeface="Lato"/>
                <a:cs typeface="Lato"/>
                <a:sym typeface="Lato"/>
              </a:rPr>
              <a:t>, que seleccionan una parte determinada de un elemento en vez del elemento en sí. Por ejemplo</a:t>
            </a:r>
            <a:r>
              <a:rPr lang="es-AR" b="1" dirty="0">
                <a:solidFill>
                  <a:schemeClr val="tx1"/>
                </a:solidFill>
                <a:highlight>
                  <a:srgbClr val="FFFFFF"/>
                </a:highlight>
                <a:latin typeface="Lato"/>
                <a:ea typeface="Lato"/>
                <a:cs typeface="Lato"/>
                <a:sym typeface="Lato"/>
              </a:rPr>
              <a:t>, ::</a:t>
            </a:r>
            <a:r>
              <a:rPr lang="es-AR" b="1" dirty="0" err="1">
                <a:solidFill>
                  <a:schemeClr val="tx1"/>
                </a:solidFill>
                <a:highlight>
                  <a:srgbClr val="FFFFFF"/>
                </a:highlight>
                <a:latin typeface="Lato"/>
                <a:ea typeface="Lato"/>
                <a:cs typeface="Lato"/>
                <a:sym typeface="Lato"/>
              </a:rPr>
              <a:t>first</a:t>
            </a:r>
            <a:r>
              <a:rPr lang="es-AR" b="1" dirty="0">
                <a:solidFill>
                  <a:schemeClr val="tx1"/>
                </a:solidFill>
                <a:highlight>
                  <a:srgbClr val="FFFFFF"/>
                </a:highlight>
                <a:latin typeface="Lato"/>
                <a:ea typeface="Lato"/>
                <a:cs typeface="Lato"/>
                <a:sym typeface="Lato"/>
              </a:rPr>
              <a:t>-line </a:t>
            </a:r>
            <a:r>
              <a:rPr lang="es-AR" dirty="0">
                <a:solidFill>
                  <a:srgbClr val="4A4A4A"/>
                </a:solidFill>
                <a:highlight>
                  <a:srgbClr val="FFFFFF"/>
                </a:highlight>
                <a:latin typeface="Lato"/>
                <a:ea typeface="Lato"/>
                <a:cs typeface="Lato"/>
                <a:sym typeface="Lato"/>
              </a:rPr>
              <a:t>siempre selecciona la primera línea del texto que se encuentra dentro de un elemento ( </a:t>
            </a:r>
            <a:r>
              <a:rPr lang="es-AR" dirty="0">
                <a:solidFill>
                  <a:schemeClr val="tx1"/>
                </a:solidFill>
                <a:highlight>
                  <a:srgbClr val="FFFFFF"/>
                </a:highlight>
                <a:latin typeface="Lato"/>
                <a:ea typeface="Lato"/>
                <a:cs typeface="Lato"/>
                <a:sym typeface="Lato"/>
              </a:rPr>
              <a:t>&lt;p&gt;</a:t>
            </a:r>
            <a:r>
              <a:rPr lang="es-AR" dirty="0">
                <a:solidFill>
                  <a:srgbClr val="4A4A4A"/>
                </a:solidFill>
                <a:highlight>
                  <a:srgbClr val="FFFFFF"/>
                </a:highlight>
                <a:latin typeface="Lato"/>
                <a:ea typeface="Lato"/>
                <a:cs typeface="Lato"/>
                <a:sym typeface="Lato"/>
              </a:rPr>
              <a:t>, en el ejemplo siguiente), y actúa como si un elemento </a:t>
            </a:r>
            <a:r>
              <a:rPr lang="es-AR" dirty="0">
                <a:solidFill>
                  <a:schemeClr val="tx1"/>
                </a:solidFill>
                <a:highlight>
                  <a:srgbClr val="FFFFFF"/>
                </a:highlight>
                <a:latin typeface="Lato"/>
                <a:ea typeface="Lato"/>
                <a:cs typeface="Lato"/>
                <a:sym typeface="Lato"/>
              </a:rPr>
              <a:t>&lt;</a:t>
            </a:r>
            <a:r>
              <a:rPr lang="es-AR" dirty="0" err="1">
                <a:solidFill>
                  <a:schemeClr val="tx1"/>
                </a:solidFill>
                <a:highlight>
                  <a:srgbClr val="FFFFFF"/>
                </a:highlight>
                <a:latin typeface="Lato"/>
                <a:ea typeface="Lato"/>
                <a:cs typeface="Lato"/>
                <a:sym typeface="Lato"/>
              </a:rPr>
              <a:t>span</a:t>
            </a:r>
            <a:r>
              <a:rPr lang="es-AR" dirty="0">
                <a:solidFill>
                  <a:schemeClr val="tx1"/>
                </a:solidFill>
                <a:highlight>
                  <a:srgbClr val="FFFFFF"/>
                </a:highlight>
                <a:latin typeface="Lato"/>
                <a:ea typeface="Lato"/>
                <a:cs typeface="Lato"/>
                <a:sym typeface="Lato"/>
              </a:rPr>
              <a:t>&gt;</a:t>
            </a:r>
            <a:r>
              <a:rPr lang="es-AR" dirty="0">
                <a:solidFill>
                  <a:srgbClr val="4A4A4A"/>
                </a:solidFill>
                <a:highlight>
                  <a:srgbClr val="FFFFFF"/>
                </a:highlight>
                <a:latin typeface="Lato"/>
                <a:ea typeface="Lato"/>
                <a:cs typeface="Lato"/>
                <a:sym typeface="Lato"/>
              </a:rPr>
              <a:t> hubiera delimitado la primera línea, seleccionado y aplicado estilo.</a:t>
            </a:r>
          </a:p>
          <a:p>
            <a:pPr marL="342900" lvl="0" indent="-342900" rtl="0">
              <a:spcBef>
                <a:spcPts val="0"/>
              </a:spcBef>
              <a:spcAft>
                <a:spcPts val="0"/>
              </a:spcAft>
              <a:buFont typeface="Arial" panose="020B0604020202020204" pitchFamily="34" charset="0"/>
              <a:buChar char="•"/>
            </a:pPr>
            <a:endParaRPr lang="es-AR" dirty="0">
              <a:solidFill>
                <a:srgbClr val="4A4A4A"/>
              </a:solidFill>
              <a:highlight>
                <a:srgbClr val="FFFFFF"/>
              </a:highlight>
              <a:latin typeface="Lato"/>
              <a:ea typeface="Lato"/>
              <a:cs typeface="Lato"/>
              <a:sym typeface="Lato"/>
            </a:endParaRPr>
          </a:p>
        </p:txBody>
      </p:sp>
      <p:pic>
        <p:nvPicPr>
          <p:cNvPr id="5" name="Imagen 4">
            <a:extLst>
              <a:ext uri="{FF2B5EF4-FFF2-40B4-BE49-F238E27FC236}">
                <a16:creationId xmlns:a16="http://schemas.microsoft.com/office/drawing/2014/main" id="{BEA9F168-B75F-CFEF-9B4E-B368E69F29DD}"/>
              </a:ext>
            </a:extLst>
          </p:cNvPr>
          <p:cNvPicPr>
            <a:picLocks noChangeAspect="1"/>
          </p:cNvPicPr>
          <p:nvPr/>
        </p:nvPicPr>
        <p:blipFill>
          <a:blip r:embed="rId3"/>
          <a:stretch>
            <a:fillRect/>
          </a:stretch>
        </p:blipFill>
        <p:spPr>
          <a:xfrm>
            <a:off x="3561672" y="2033541"/>
            <a:ext cx="1448002" cy="809738"/>
          </a:xfrm>
          <a:prstGeom prst="rect">
            <a:avLst/>
          </a:prstGeom>
        </p:spPr>
      </p:pic>
      <p:pic>
        <p:nvPicPr>
          <p:cNvPr id="9" name="Imagen 8">
            <a:extLst>
              <a:ext uri="{FF2B5EF4-FFF2-40B4-BE49-F238E27FC236}">
                <a16:creationId xmlns:a16="http://schemas.microsoft.com/office/drawing/2014/main" id="{3B0B594E-1934-0572-0BE4-B43565FB92DA}"/>
              </a:ext>
            </a:extLst>
          </p:cNvPr>
          <p:cNvPicPr>
            <a:picLocks noChangeAspect="1"/>
          </p:cNvPicPr>
          <p:nvPr/>
        </p:nvPicPr>
        <p:blipFill>
          <a:blip r:embed="rId4"/>
          <a:stretch>
            <a:fillRect/>
          </a:stretch>
        </p:blipFill>
        <p:spPr>
          <a:xfrm>
            <a:off x="3378352" y="4037336"/>
            <a:ext cx="1962424" cy="895475"/>
          </a:xfrm>
          <a:prstGeom prst="rect">
            <a:avLst/>
          </a:prstGeom>
        </p:spPr>
      </p:pic>
    </p:spTree>
    <p:extLst>
      <p:ext uri="{BB962C8B-B14F-4D97-AF65-F5344CB8AC3E}">
        <p14:creationId xmlns:p14="http://schemas.microsoft.com/office/powerpoint/2010/main" val="57200560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4" name="CuadroTexto 3">
            <a:extLst>
              <a:ext uri="{FF2B5EF4-FFF2-40B4-BE49-F238E27FC236}">
                <a16:creationId xmlns:a16="http://schemas.microsoft.com/office/drawing/2014/main" id="{B9B8C329-BED5-C09C-F09B-E2F2A7739CCE}"/>
              </a:ext>
            </a:extLst>
          </p:cNvPr>
          <p:cNvSpPr txBox="1"/>
          <p:nvPr/>
        </p:nvSpPr>
        <p:spPr>
          <a:xfrm>
            <a:off x="475960" y="707167"/>
            <a:ext cx="8076913" cy="2162130"/>
          </a:xfrm>
          <a:prstGeom prst="rect">
            <a:avLst/>
          </a:prstGeom>
          <a:noFill/>
        </p:spPr>
        <p:txBody>
          <a:bodyPr wrap="square">
            <a:spAutoFit/>
          </a:bodyPr>
          <a:lstStyle/>
          <a:p>
            <a:r>
              <a:rPr lang="es-AR" sz="3600" dirty="0">
                <a:solidFill>
                  <a:srgbClr val="BE3969"/>
                </a:solidFill>
                <a:highlight>
                  <a:srgbClr val="FFFFFF"/>
                </a:highlight>
                <a:latin typeface="Russo One"/>
                <a:ea typeface="Lato"/>
                <a:cs typeface="Lato"/>
                <a:sym typeface="Russo One"/>
              </a:rPr>
              <a:t>Combinadores</a:t>
            </a:r>
          </a:p>
          <a:p>
            <a:endParaRPr lang="es-AR" sz="1050" dirty="0">
              <a:solidFill>
                <a:srgbClr val="BE3969"/>
              </a:solidFill>
              <a:highlight>
                <a:srgbClr val="FFFFFF"/>
              </a:highlight>
              <a:latin typeface="Russo One"/>
              <a:ea typeface="Lato"/>
              <a:cs typeface="Lato"/>
              <a:sym typeface="Russo One"/>
            </a:endParaRPr>
          </a:p>
          <a:p>
            <a:endParaRPr lang="es-AR" sz="800" dirty="0">
              <a:solidFill>
                <a:srgbClr val="BE3969"/>
              </a:solidFill>
              <a:highlight>
                <a:srgbClr val="FFFFFF"/>
              </a:highlight>
              <a:latin typeface="Russo One"/>
              <a:ea typeface="Lato"/>
              <a:cs typeface="Lato"/>
              <a:sym typeface="Russo One"/>
            </a:endParaRPr>
          </a:p>
          <a:p>
            <a:pPr marL="342900" lvl="0" indent="-342900" rtl="0">
              <a:spcBef>
                <a:spcPts val="0"/>
              </a:spcBef>
              <a:spcAft>
                <a:spcPts val="0"/>
              </a:spcAft>
              <a:buFont typeface="Arial" panose="020B0604020202020204" pitchFamily="34" charset="0"/>
              <a:buChar char="•"/>
            </a:pPr>
            <a:r>
              <a:rPr lang="es-AR" sz="2000" dirty="0">
                <a:solidFill>
                  <a:srgbClr val="4A4A4A"/>
                </a:solidFill>
                <a:highlight>
                  <a:srgbClr val="FFFFFF"/>
                </a:highlight>
                <a:latin typeface="Lato"/>
                <a:ea typeface="Lato"/>
                <a:cs typeface="Lato"/>
                <a:sym typeface="Lato"/>
              </a:rPr>
              <a:t>El último grupo de selectores combina otros selectores con el fin de delimitar elementos de nuestros documentos. El ejemplo siguiente selecciona los párrafos que son hijos directos del elemento </a:t>
            </a:r>
            <a:r>
              <a:rPr lang="es-AR" sz="2000" dirty="0">
                <a:solidFill>
                  <a:schemeClr val="tx1"/>
                </a:solidFill>
                <a:highlight>
                  <a:srgbClr val="FFFFFF"/>
                </a:highlight>
                <a:latin typeface="Lato"/>
                <a:ea typeface="Lato"/>
                <a:cs typeface="Lato"/>
                <a:sym typeface="Lato"/>
              </a:rPr>
              <a:t>&lt;</a:t>
            </a:r>
            <a:r>
              <a:rPr lang="es-AR" sz="2000" dirty="0" err="1">
                <a:solidFill>
                  <a:schemeClr val="tx1"/>
                </a:solidFill>
                <a:highlight>
                  <a:srgbClr val="FFFFFF"/>
                </a:highlight>
                <a:latin typeface="Lato"/>
                <a:ea typeface="Lato"/>
                <a:cs typeface="Lato"/>
                <a:sym typeface="Lato"/>
              </a:rPr>
              <a:t>article</a:t>
            </a:r>
            <a:r>
              <a:rPr lang="es-AR" sz="2000" dirty="0">
                <a:solidFill>
                  <a:schemeClr val="tx1"/>
                </a:solidFill>
                <a:highlight>
                  <a:srgbClr val="FFFFFF"/>
                </a:highlight>
                <a:latin typeface="Lato"/>
                <a:ea typeface="Lato"/>
                <a:cs typeface="Lato"/>
                <a:sym typeface="Lato"/>
              </a:rPr>
              <a:t>&gt; </a:t>
            </a:r>
            <a:r>
              <a:rPr lang="es-AR" sz="2000" dirty="0">
                <a:solidFill>
                  <a:srgbClr val="4A4A4A"/>
                </a:solidFill>
                <a:highlight>
                  <a:srgbClr val="FFFFFF"/>
                </a:highlight>
                <a:latin typeface="Lato"/>
                <a:ea typeface="Lato"/>
                <a:cs typeface="Lato"/>
                <a:sym typeface="Lato"/>
              </a:rPr>
              <a:t>utilizando el operador de combinación hijo (</a:t>
            </a:r>
            <a:r>
              <a:rPr lang="es-AR" sz="2000" dirty="0">
                <a:solidFill>
                  <a:schemeClr val="tx1"/>
                </a:solidFill>
                <a:highlight>
                  <a:srgbClr val="FFFFFF"/>
                </a:highlight>
                <a:latin typeface="Lato"/>
                <a:ea typeface="Lato"/>
                <a:cs typeface="Lato"/>
                <a:sym typeface="Lato"/>
              </a:rPr>
              <a:t>&gt;</a:t>
            </a:r>
            <a:r>
              <a:rPr lang="es-AR" sz="2000" dirty="0">
                <a:solidFill>
                  <a:srgbClr val="4A4A4A"/>
                </a:solidFill>
                <a:highlight>
                  <a:srgbClr val="FFFFFF"/>
                </a:highlight>
                <a:latin typeface="Lato"/>
                <a:ea typeface="Lato"/>
                <a:cs typeface="Lato"/>
                <a:sym typeface="Lato"/>
              </a:rPr>
              <a:t>):</a:t>
            </a:r>
          </a:p>
        </p:txBody>
      </p:sp>
      <p:pic>
        <p:nvPicPr>
          <p:cNvPr id="3" name="Imagen 2">
            <a:extLst>
              <a:ext uri="{FF2B5EF4-FFF2-40B4-BE49-F238E27FC236}">
                <a16:creationId xmlns:a16="http://schemas.microsoft.com/office/drawing/2014/main" id="{DA2E737C-6C32-7393-C957-2B618588A687}"/>
              </a:ext>
            </a:extLst>
          </p:cNvPr>
          <p:cNvPicPr>
            <a:picLocks noChangeAspect="1"/>
          </p:cNvPicPr>
          <p:nvPr/>
        </p:nvPicPr>
        <p:blipFill>
          <a:blip r:embed="rId3"/>
          <a:stretch>
            <a:fillRect/>
          </a:stretch>
        </p:blipFill>
        <p:spPr>
          <a:xfrm>
            <a:off x="3296134" y="3338449"/>
            <a:ext cx="2551731" cy="1224315"/>
          </a:xfrm>
          <a:prstGeom prst="rect">
            <a:avLst/>
          </a:prstGeom>
        </p:spPr>
      </p:pic>
    </p:spTree>
    <p:extLst>
      <p:ext uri="{BB962C8B-B14F-4D97-AF65-F5344CB8AC3E}">
        <p14:creationId xmlns:p14="http://schemas.microsoft.com/office/powerpoint/2010/main" val="214495859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4" name="CuadroTexto 3">
            <a:extLst>
              <a:ext uri="{FF2B5EF4-FFF2-40B4-BE49-F238E27FC236}">
                <a16:creationId xmlns:a16="http://schemas.microsoft.com/office/drawing/2014/main" id="{B9B8C329-BED5-C09C-F09B-E2F2A7739CCE}"/>
              </a:ext>
            </a:extLst>
          </p:cNvPr>
          <p:cNvSpPr txBox="1"/>
          <p:nvPr/>
        </p:nvSpPr>
        <p:spPr>
          <a:xfrm>
            <a:off x="475960" y="707167"/>
            <a:ext cx="8076913" cy="769441"/>
          </a:xfrm>
          <a:prstGeom prst="rect">
            <a:avLst/>
          </a:prstGeom>
          <a:noFill/>
        </p:spPr>
        <p:txBody>
          <a:bodyPr wrap="square">
            <a:spAutoFit/>
          </a:bodyPr>
          <a:lstStyle/>
          <a:p>
            <a:r>
              <a:rPr lang="es-AR" sz="3600" dirty="0">
                <a:solidFill>
                  <a:srgbClr val="BE3969"/>
                </a:solidFill>
                <a:highlight>
                  <a:srgbClr val="FFFFFF"/>
                </a:highlight>
                <a:latin typeface="Russo One"/>
                <a:ea typeface="Lato"/>
                <a:cs typeface="Lato"/>
                <a:sym typeface="Russo One"/>
              </a:rPr>
              <a:t>Tabla de referencia de selectores</a:t>
            </a:r>
            <a:endParaRPr lang="es-AR" sz="1050" dirty="0">
              <a:solidFill>
                <a:srgbClr val="BE3969"/>
              </a:solidFill>
              <a:highlight>
                <a:srgbClr val="FFFFFF"/>
              </a:highlight>
              <a:latin typeface="Russo One"/>
              <a:ea typeface="Lato"/>
              <a:cs typeface="Lato"/>
              <a:sym typeface="Russo One"/>
            </a:endParaRPr>
          </a:p>
          <a:p>
            <a:endParaRPr lang="es-AR" sz="800" dirty="0">
              <a:solidFill>
                <a:srgbClr val="BE3969"/>
              </a:solidFill>
              <a:highlight>
                <a:srgbClr val="FFFFFF"/>
              </a:highlight>
              <a:latin typeface="Russo One"/>
              <a:ea typeface="Lato"/>
              <a:cs typeface="Lato"/>
              <a:sym typeface="Russo One"/>
            </a:endParaRPr>
          </a:p>
        </p:txBody>
      </p:sp>
      <p:graphicFrame>
        <p:nvGraphicFramePr>
          <p:cNvPr id="2" name="Tabla 1">
            <a:extLst>
              <a:ext uri="{FF2B5EF4-FFF2-40B4-BE49-F238E27FC236}">
                <a16:creationId xmlns:a16="http://schemas.microsoft.com/office/drawing/2014/main" id="{AA392107-F108-06CB-A2E2-201E5CC7C6DD}"/>
              </a:ext>
            </a:extLst>
          </p:cNvPr>
          <p:cNvGraphicFramePr>
            <a:graphicFrameLocks noGrp="1"/>
          </p:cNvGraphicFramePr>
          <p:nvPr>
            <p:extLst>
              <p:ext uri="{D42A27DB-BD31-4B8C-83A1-F6EECF244321}">
                <p14:modId xmlns:p14="http://schemas.microsoft.com/office/powerpoint/2010/main" val="2525617781"/>
              </p:ext>
            </p:extLst>
          </p:nvPr>
        </p:nvGraphicFramePr>
        <p:xfrm>
          <a:off x="1708726" y="1461944"/>
          <a:ext cx="5874327" cy="3461479"/>
        </p:xfrm>
        <a:graphic>
          <a:graphicData uri="http://schemas.openxmlformats.org/drawingml/2006/table">
            <a:tbl>
              <a:tblPr>
                <a:tableStyleId>{D7AC3CCA-C797-4891-BE02-D94E43425B78}</a:tableStyleId>
              </a:tblPr>
              <a:tblGrid>
                <a:gridCol w="1958109">
                  <a:extLst>
                    <a:ext uri="{9D8B030D-6E8A-4147-A177-3AD203B41FA5}">
                      <a16:colId xmlns:a16="http://schemas.microsoft.com/office/drawing/2014/main" val="1474665796"/>
                    </a:ext>
                  </a:extLst>
                </a:gridCol>
                <a:gridCol w="1958109">
                  <a:extLst>
                    <a:ext uri="{9D8B030D-6E8A-4147-A177-3AD203B41FA5}">
                      <a16:colId xmlns:a16="http://schemas.microsoft.com/office/drawing/2014/main" val="3947892208"/>
                    </a:ext>
                  </a:extLst>
                </a:gridCol>
                <a:gridCol w="1958109">
                  <a:extLst>
                    <a:ext uri="{9D8B030D-6E8A-4147-A177-3AD203B41FA5}">
                      <a16:colId xmlns:a16="http://schemas.microsoft.com/office/drawing/2014/main" val="361192784"/>
                    </a:ext>
                  </a:extLst>
                </a:gridCol>
              </a:tblGrid>
              <a:tr h="315351">
                <a:tc>
                  <a:txBody>
                    <a:bodyPr/>
                    <a:lstStyle/>
                    <a:p>
                      <a:pPr algn="ctr" fontAlgn="ctr"/>
                      <a:r>
                        <a:rPr lang="es-AR" sz="900" dirty="0">
                          <a:effectLst/>
                        </a:rPr>
                        <a:t>Selector</a:t>
                      </a:r>
                    </a:p>
                  </a:txBody>
                  <a:tcPr marL="39419" marR="39419" marT="19709" marB="19709" anchor="ctr"/>
                </a:tc>
                <a:tc>
                  <a:txBody>
                    <a:bodyPr/>
                    <a:lstStyle/>
                    <a:p>
                      <a:pPr algn="ctr" fontAlgn="ctr"/>
                      <a:r>
                        <a:rPr lang="es-AR" sz="900">
                          <a:effectLst/>
                        </a:rPr>
                        <a:t>Ejemplo</a:t>
                      </a:r>
                    </a:p>
                  </a:txBody>
                  <a:tcPr marL="39419" marR="39419" marT="19709" marB="19709" anchor="ctr"/>
                </a:tc>
                <a:tc>
                  <a:txBody>
                    <a:bodyPr/>
                    <a:lstStyle/>
                    <a:p>
                      <a:pPr algn="ctr" fontAlgn="ctr"/>
                      <a:r>
                        <a:rPr lang="es-AR" sz="900" dirty="0">
                          <a:effectLst/>
                        </a:rPr>
                        <a:t>Tutorial de aprendizaje de CSS</a:t>
                      </a:r>
                    </a:p>
                  </a:txBody>
                  <a:tcPr marL="39419" marR="39419" marT="19709" marB="19709" anchor="ctr"/>
                </a:tc>
                <a:extLst>
                  <a:ext uri="{0D108BD9-81ED-4DB2-BD59-A6C34878D82A}">
                    <a16:rowId xmlns:a16="http://schemas.microsoft.com/office/drawing/2014/main" val="654683921"/>
                  </a:ext>
                </a:extLst>
              </a:tr>
              <a:tr h="223373">
                <a:tc>
                  <a:txBody>
                    <a:bodyPr/>
                    <a:lstStyle/>
                    <a:p>
                      <a:pPr algn="l" fontAlgn="ctr"/>
                      <a:r>
                        <a:rPr lang="es-AR" sz="900" u="sng">
                          <a:effectLst/>
                          <a:hlinkClick r:id="rId3"/>
                        </a:rPr>
                        <a:t>Selector de tipo</a:t>
                      </a:r>
                      <a:endParaRPr lang="es-AR" sz="900">
                        <a:effectLst/>
                      </a:endParaRPr>
                    </a:p>
                  </a:txBody>
                  <a:tcPr marL="39419" marR="39419" marT="19709" marB="19709" anchor="ctr"/>
                </a:tc>
                <a:tc>
                  <a:txBody>
                    <a:bodyPr/>
                    <a:lstStyle/>
                    <a:p>
                      <a:pPr algn="l" fontAlgn="ctr"/>
                      <a:r>
                        <a:rPr lang="es-AR" sz="900">
                          <a:effectLst/>
                        </a:rPr>
                        <a:t>h1 { }</a:t>
                      </a:r>
                    </a:p>
                  </a:txBody>
                  <a:tcPr marL="39419" marR="39419" marT="19709" marB="19709" anchor="ctr"/>
                </a:tc>
                <a:tc>
                  <a:txBody>
                    <a:bodyPr/>
                    <a:lstStyle/>
                    <a:p>
                      <a:pPr algn="l" fontAlgn="ctr"/>
                      <a:r>
                        <a:rPr lang="es-AR" sz="900" u="sng">
                          <a:effectLst/>
                          <a:hlinkClick r:id="rId4"/>
                        </a:rPr>
                        <a:t>Los tipos de selectores</a:t>
                      </a:r>
                      <a:endParaRPr lang="es-AR" sz="900">
                        <a:effectLst/>
                      </a:endParaRPr>
                    </a:p>
                  </a:txBody>
                  <a:tcPr marL="39419" marR="39419" marT="19709" marB="19709" anchor="ctr"/>
                </a:tc>
                <a:extLst>
                  <a:ext uri="{0D108BD9-81ED-4DB2-BD59-A6C34878D82A}">
                    <a16:rowId xmlns:a16="http://schemas.microsoft.com/office/drawing/2014/main" val="4215033626"/>
                  </a:ext>
                </a:extLst>
              </a:tr>
              <a:tr h="223373">
                <a:tc>
                  <a:txBody>
                    <a:bodyPr/>
                    <a:lstStyle/>
                    <a:p>
                      <a:pPr algn="l" fontAlgn="ctr"/>
                      <a:r>
                        <a:rPr lang="es-AR" sz="900" u="sng">
                          <a:effectLst/>
                          <a:hlinkClick r:id="rId5"/>
                        </a:rPr>
                        <a:t>Selector universal</a:t>
                      </a:r>
                      <a:endParaRPr lang="es-AR" sz="900">
                        <a:effectLst/>
                      </a:endParaRPr>
                    </a:p>
                  </a:txBody>
                  <a:tcPr marL="39419" marR="39419" marT="19709" marB="19709" anchor="ctr"/>
                </a:tc>
                <a:tc>
                  <a:txBody>
                    <a:bodyPr/>
                    <a:lstStyle/>
                    <a:p>
                      <a:pPr algn="l" fontAlgn="ctr"/>
                      <a:r>
                        <a:rPr lang="es-AR" sz="900">
                          <a:effectLst/>
                        </a:rPr>
                        <a:t>* { }</a:t>
                      </a:r>
                    </a:p>
                  </a:txBody>
                  <a:tcPr marL="39419" marR="39419" marT="19709" marB="19709" anchor="ctr"/>
                </a:tc>
                <a:tc>
                  <a:txBody>
                    <a:bodyPr/>
                    <a:lstStyle/>
                    <a:p>
                      <a:pPr algn="l" fontAlgn="ctr"/>
                      <a:r>
                        <a:rPr lang="es-AR" sz="900" u="sng">
                          <a:effectLst/>
                          <a:hlinkClick r:id="rId6"/>
                        </a:rPr>
                        <a:t>El selector universal</a:t>
                      </a:r>
                      <a:endParaRPr lang="es-AR" sz="900">
                        <a:effectLst/>
                      </a:endParaRPr>
                    </a:p>
                  </a:txBody>
                  <a:tcPr marL="39419" marR="39419" marT="19709" marB="19709" anchor="ctr"/>
                </a:tc>
                <a:extLst>
                  <a:ext uri="{0D108BD9-81ED-4DB2-BD59-A6C34878D82A}">
                    <a16:rowId xmlns:a16="http://schemas.microsoft.com/office/drawing/2014/main" val="793630577"/>
                  </a:ext>
                </a:extLst>
              </a:tr>
              <a:tr h="223373">
                <a:tc>
                  <a:txBody>
                    <a:bodyPr/>
                    <a:lstStyle/>
                    <a:p>
                      <a:pPr algn="l" fontAlgn="ctr"/>
                      <a:r>
                        <a:rPr lang="es-AR" sz="900" u="sng">
                          <a:effectLst/>
                          <a:hlinkClick r:id="rId7"/>
                        </a:rPr>
                        <a:t>Selector de clase</a:t>
                      </a:r>
                      <a:endParaRPr lang="es-AR" sz="900">
                        <a:effectLst/>
                      </a:endParaRPr>
                    </a:p>
                  </a:txBody>
                  <a:tcPr marL="39419" marR="39419" marT="19709" marB="19709" anchor="ctr"/>
                </a:tc>
                <a:tc>
                  <a:txBody>
                    <a:bodyPr/>
                    <a:lstStyle/>
                    <a:p>
                      <a:pPr algn="l" fontAlgn="ctr"/>
                      <a:r>
                        <a:rPr lang="es-AR" sz="900">
                          <a:effectLst/>
                        </a:rPr>
                        <a:t>.box { }</a:t>
                      </a:r>
                    </a:p>
                  </a:txBody>
                  <a:tcPr marL="39419" marR="39419" marT="19709" marB="19709" anchor="ctr"/>
                </a:tc>
                <a:tc>
                  <a:txBody>
                    <a:bodyPr/>
                    <a:lstStyle/>
                    <a:p>
                      <a:pPr algn="l" fontAlgn="ctr"/>
                      <a:r>
                        <a:rPr lang="es-AR" sz="900" u="sng">
                          <a:effectLst/>
                          <a:hlinkClick r:id="rId8"/>
                        </a:rPr>
                        <a:t>Los selectores de clase</a:t>
                      </a:r>
                      <a:endParaRPr lang="es-AR" sz="900">
                        <a:effectLst/>
                      </a:endParaRPr>
                    </a:p>
                  </a:txBody>
                  <a:tcPr marL="39419" marR="39419" marT="19709" marB="19709" anchor="ctr"/>
                </a:tc>
                <a:extLst>
                  <a:ext uri="{0D108BD9-81ED-4DB2-BD59-A6C34878D82A}">
                    <a16:rowId xmlns:a16="http://schemas.microsoft.com/office/drawing/2014/main" val="2632906652"/>
                  </a:ext>
                </a:extLst>
              </a:tr>
              <a:tr h="223373">
                <a:tc>
                  <a:txBody>
                    <a:bodyPr/>
                    <a:lstStyle/>
                    <a:p>
                      <a:pPr algn="l" fontAlgn="ctr"/>
                      <a:r>
                        <a:rPr lang="es-AR" sz="900" u="sng">
                          <a:effectLst/>
                          <a:hlinkClick r:id="rId9"/>
                        </a:rPr>
                        <a:t>Selector de ID</a:t>
                      </a:r>
                      <a:endParaRPr lang="es-AR" sz="900">
                        <a:effectLst/>
                      </a:endParaRPr>
                    </a:p>
                  </a:txBody>
                  <a:tcPr marL="39419" marR="39419" marT="19709" marB="19709" anchor="ctr"/>
                </a:tc>
                <a:tc>
                  <a:txBody>
                    <a:bodyPr/>
                    <a:lstStyle/>
                    <a:p>
                      <a:pPr algn="l" fontAlgn="ctr"/>
                      <a:r>
                        <a:rPr lang="es-AR" sz="900">
                          <a:effectLst/>
                        </a:rPr>
                        <a:t>#unique { }</a:t>
                      </a:r>
                    </a:p>
                  </a:txBody>
                  <a:tcPr marL="39419" marR="39419" marT="19709" marB="19709" anchor="ctr"/>
                </a:tc>
                <a:tc>
                  <a:txBody>
                    <a:bodyPr/>
                    <a:lstStyle/>
                    <a:p>
                      <a:pPr algn="l" fontAlgn="ctr"/>
                      <a:r>
                        <a:rPr lang="es-AR" sz="900" u="sng">
                          <a:effectLst/>
                          <a:hlinkClick r:id="rId10"/>
                        </a:rPr>
                        <a:t>Los selectores de ID</a:t>
                      </a:r>
                      <a:endParaRPr lang="es-AR" sz="900">
                        <a:effectLst/>
                      </a:endParaRPr>
                    </a:p>
                  </a:txBody>
                  <a:tcPr marL="39419" marR="39419" marT="19709" marB="19709" anchor="ctr"/>
                </a:tc>
                <a:extLst>
                  <a:ext uri="{0D108BD9-81ED-4DB2-BD59-A6C34878D82A}">
                    <a16:rowId xmlns:a16="http://schemas.microsoft.com/office/drawing/2014/main" val="2185120479"/>
                  </a:ext>
                </a:extLst>
              </a:tr>
              <a:tr h="223373">
                <a:tc>
                  <a:txBody>
                    <a:bodyPr/>
                    <a:lstStyle/>
                    <a:p>
                      <a:pPr algn="l" fontAlgn="ctr"/>
                      <a:r>
                        <a:rPr lang="es-AR" sz="900" u="sng">
                          <a:effectLst/>
                          <a:hlinkClick r:id="rId11"/>
                        </a:rPr>
                        <a:t>Selector de atributo</a:t>
                      </a:r>
                      <a:endParaRPr lang="es-AR" sz="900">
                        <a:effectLst/>
                      </a:endParaRPr>
                    </a:p>
                  </a:txBody>
                  <a:tcPr marL="39419" marR="39419" marT="19709" marB="19709" anchor="ctr"/>
                </a:tc>
                <a:tc>
                  <a:txBody>
                    <a:bodyPr/>
                    <a:lstStyle/>
                    <a:p>
                      <a:pPr algn="l" fontAlgn="ctr"/>
                      <a:r>
                        <a:rPr lang="es-AR" sz="900">
                          <a:effectLst/>
                        </a:rPr>
                        <a:t>a[title] { }</a:t>
                      </a:r>
                    </a:p>
                  </a:txBody>
                  <a:tcPr marL="39419" marR="39419" marT="19709" marB="19709" anchor="ctr"/>
                </a:tc>
                <a:tc>
                  <a:txBody>
                    <a:bodyPr/>
                    <a:lstStyle/>
                    <a:p>
                      <a:pPr algn="l" fontAlgn="ctr"/>
                      <a:r>
                        <a:rPr lang="es-AR" sz="900" u="sng">
                          <a:effectLst/>
                          <a:hlinkClick r:id="rId12"/>
                        </a:rPr>
                        <a:t>Los selectores de atributo</a:t>
                      </a:r>
                      <a:endParaRPr lang="es-AR" sz="900">
                        <a:effectLst/>
                      </a:endParaRPr>
                    </a:p>
                  </a:txBody>
                  <a:tcPr marL="39419" marR="39419" marT="19709" marB="19709" anchor="ctr"/>
                </a:tc>
                <a:extLst>
                  <a:ext uri="{0D108BD9-81ED-4DB2-BD59-A6C34878D82A}">
                    <a16:rowId xmlns:a16="http://schemas.microsoft.com/office/drawing/2014/main" val="461464283"/>
                  </a:ext>
                </a:extLst>
              </a:tr>
              <a:tr h="131396">
                <a:tc>
                  <a:txBody>
                    <a:bodyPr/>
                    <a:lstStyle/>
                    <a:p>
                      <a:pPr algn="l" fontAlgn="ctr"/>
                      <a:r>
                        <a:rPr lang="es-AR" sz="900" u="sng">
                          <a:effectLst/>
                          <a:hlinkClick r:id="rId13"/>
                        </a:rPr>
                        <a:t>Pseudoclase</a:t>
                      </a:r>
                      <a:endParaRPr lang="es-AR" sz="900">
                        <a:effectLst/>
                      </a:endParaRPr>
                    </a:p>
                  </a:txBody>
                  <a:tcPr marL="39419" marR="39419" marT="19709" marB="19709" anchor="ctr"/>
                </a:tc>
                <a:tc>
                  <a:txBody>
                    <a:bodyPr/>
                    <a:lstStyle/>
                    <a:p>
                      <a:pPr algn="l" fontAlgn="ctr"/>
                      <a:r>
                        <a:rPr lang="es-AR" sz="900">
                          <a:effectLst/>
                        </a:rPr>
                        <a:t>p:first-child { }</a:t>
                      </a:r>
                    </a:p>
                  </a:txBody>
                  <a:tcPr marL="39419" marR="39419" marT="19709" marB="19709" anchor="ctr"/>
                </a:tc>
                <a:tc>
                  <a:txBody>
                    <a:bodyPr/>
                    <a:lstStyle/>
                    <a:p>
                      <a:pPr algn="l" fontAlgn="ctr"/>
                      <a:r>
                        <a:rPr lang="es-AR" sz="900" u="sng">
                          <a:effectLst/>
                          <a:hlinkClick r:id="rId14"/>
                        </a:rPr>
                        <a:t>Las pseudoclases</a:t>
                      </a:r>
                      <a:endParaRPr lang="es-AR" sz="900">
                        <a:effectLst/>
                      </a:endParaRPr>
                    </a:p>
                  </a:txBody>
                  <a:tcPr marL="39419" marR="39419" marT="19709" marB="19709" anchor="ctr"/>
                </a:tc>
                <a:extLst>
                  <a:ext uri="{0D108BD9-81ED-4DB2-BD59-A6C34878D82A}">
                    <a16:rowId xmlns:a16="http://schemas.microsoft.com/office/drawing/2014/main" val="3423091472"/>
                  </a:ext>
                </a:extLst>
              </a:tr>
              <a:tr h="223373">
                <a:tc>
                  <a:txBody>
                    <a:bodyPr/>
                    <a:lstStyle/>
                    <a:p>
                      <a:pPr algn="l" fontAlgn="ctr"/>
                      <a:r>
                        <a:rPr lang="es-AR" sz="900" u="sng" dirty="0" err="1">
                          <a:effectLst/>
                          <a:hlinkClick r:id="rId15"/>
                        </a:rPr>
                        <a:t>Pseudoelemento</a:t>
                      </a:r>
                      <a:endParaRPr lang="es-AR" sz="900" dirty="0">
                        <a:effectLst/>
                      </a:endParaRPr>
                    </a:p>
                  </a:txBody>
                  <a:tcPr marL="39419" marR="39419" marT="19709" marB="19709" anchor="ctr"/>
                </a:tc>
                <a:tc>
                  <a:txBody>
                    <a:bodyPr/>
                    <a:lstStyle/>
                    <a:p>
                      <a:pPr algn="l" fontAlgn="ctr"/>
                      <a:r>
                        <a:rPr lang="es-AR" sz="900">
                          <a:effectLst/>
                        </a:rPr>
                        <a:t>p::first-line { }</a:t>
                      </a:r>
                    </a:p>
                  </a:txBody>
                  <a:tcPr marL="39419" marR="39419" marT="19709" marB="19709" anchor="ctr"/>
                </a:tc>
                <a:tc>
                  <a:txBody>
                    <a:bodyPr/>
                    <a:lstStyle/>
                    <a:p>
                      <a:pPr algn="l" fontAlgn="ctr"/>
                      <a:r>
                        <a:rPr lang="es-AR" sz="900" u="sng" dirty="0">
                          <a:effectLst/>
                          <a:hlinkClick r:id="rId16"/>
                        </a:rPr>
                        <a:t>Los </a:t>
                      </a:r>
                      <a:r>
                        <a:rPr lang="es-AR" sz="900" u="sng" dirty="0" err="1">
                          <a:effectLst/>
                          <a:hlinkClick r:id="rId16"/>
                        </a:rPr>
                        <a:t>pseudoelementos</a:t>
                      </a:r>
                      <a:endParaRPr lang="es-AR" sz="900" dirty="0">
                        <a:effectLst/>
                      </a:endParaRPr>
                    </a:p>
                  </a:txBody>
                  <a:tcPr marL="39419" marR="39419" marT="19709" marB="19709" anchor="ctr"/>
                </a:tc>
                <a:extLst>
                  <a:ext uri="{0D108BD9-81ED-4DB2-BD59-A6C34878D82A}">
                    <a16:rowId xmlns:a16="http://schemas.microsoft.com/office/drawing/2014/main" val="340222269"/>
                  </a:ext>
                </a:extLst>
              </a:tr>
              <a:tr h="315351">
                <a:tc>
                  <a:txBody>
                    <a:bodyPr/>
                    <a:lstStyle/>
                    <a:p>
                      <a:pPr algn="l" fontAlgn="ctr"/>
                      <a:r>
                        <a:rPr lang="es-AR" sz="900" u="sng">
                          <a:effectLst/>
                          <a:hlinkClick r:id="rId17"/>
                        </a:rPr>
                        <a:t>Operadores de combinación descendentes</a:t>
                      </a:r>
                      <a:endParaRPr lang="es-AR" sz="900">
                        <a:effectLst/>
                      </a:endParaRPr>
                    </a:p>
                  </a:txBody>
                  <a:tcPr marL="39419" marR="39419" marT="19709" marB="19709" anchor="ctr"/>
                </a:tc>
                <a:tc>
                  <a:txBody>
                    <a:bodyPr/>
                    <a:lstStyle/>
                    <a:p>
                      <a:pPr algn="l" fontAlgn="ctr"/>
                      <a:r>
                        <a:rPr lang="es-AR" sz="900">
                          <a:effectLst/>
                        </a:rPr>
                        <a:t>article p</a:t>
                      </a:r>
                    </a:p>
                  </a:txBody>
                  <a:tcPr marL="39419" marR="39419" marT="19709" marB="19709" anchor="ctr"/>
                </a:tc>
                <a:tc>
                  <a:txBody>
                    <a:bodyPr/>
                    <a:lstStyle/>
                    <a:p>
                      <a:pPr algn="l" fontAlgn="ctr"/>
                      <a:r>
                        <a:rPr lang="es-AR" sz="900" u="sng">
                          <a:effectLst/>
                          <a:hlinkClick r:id="rId18"/>
                        </a:rPr>
                        <a:t>Operadores de combinación descendentes</a:t>
                      </a:r>
                      <a:endParaRPr lang="es-AR" sz="900">
                        <a:effectLst/>
                      </a:endParaRPr>
                    </a:p>
                  </a:txBody>
                  <a:tcPr marL="39419" marR="39419" marT="19709" marB="19709" anchor="ctr"/>
                </a:tc>
                <a:extLst>
                  <a:ext uri="{0D108BD9-81ED-4DB2-BD59-A6C34878D82A}">
                    <a16:rowId xmlns:a16="http://schemas.microsoft.com/office/drawing/2014/main" val="2363399206"/>
                  </a:ext>
                </a:extLst>
              </a:tr>
              <a:tr h="315351">
                <a:tc>
                  <a:txBody>
                    <a:bodyPr/>
                    <a:lstStyle/>
                    <a:p>
                      <a:pPr algn="l" fontAlgn="ctr"/>
                      <a:r>
                        <a:rPr lang="es-AR" sz="900" u="sng">
                          <a:effectLst/>
                          <a:hlinkClick r:id="rId19"/>
                        </a:rPr>
                        <a:t>Operador de combinación de elementos hijo</a:t>
                      </a:r>
                      <a:endParaRPr lang="es-AR" sz="900">
                        <a:effectLst/>
                      </a:endParaRPr>
                    </a:p>
                  </a:txBody>
                  <a:tcPr marL="39419" marR="39419" marT="19709" marB="19709" anchor="ctr"/>
                </a:tc>
                <a:tc>
                  <a:txBody>
                    <a:bodyPr/>
                    <a:lstStyle/>
                    <a:p>
                      <a:pPr algn="l" fontAlgn="ctr"/>
                      <a:r>
                        <a:rPr lang="es-AR" sz="900">
                          <a:effectLst/>
                        </a:rPr>
                        <a:t>article &gt; p</a:t>
                      </a:r>
                    </a:p>
                  </a:txBody>
                  <a:tcPr marL="39419" marR="39419" marT="19709" marB="19709" anchor="ctr"/>
                </a:tc>
                <a:tc>
                  <a:txBody>
                    <a:bodyPr/>
                    <a:lstStyle/>
                    <a:p>
                      <a:pPr algn="l" fontAlgn="ctr"/>
                      <a:r>
                        <a:rPr lang="es-AR" sz="900" u="sng">
                          <a:effectLst/>
                          <a:hlinkClick r:id="rId20"/>
                        </a:rPr>
                        <a:t>Operadores de combinación de elementos hijo</a:t>
                      </a:r>
                      <a:endParaRPr lang="es-AR" sz="900">
                        <a:effectLst/>
                      </a:endParaRPr>
                    </a:p>
                  </a:txBody>
                  <a:tcPr marL="39419" marR="39419" marT="19709" marB="19709" anchor="ctr"/>
                </a:tc>
                <a:extLst>
                  <a:ext uri="{0D108BD9-81ED-4DB2-BD59-A6C34878D82A}">
                    <a16:rowId xmlns:a16="http://schemas.microsoft.com/office/drawing/2014/main" val="2410673416"/>
                  </a:ext>
                </a:extLst>
              </a:tr>
              <a:tr h="499305">
                <a:tc>
                  <a:txBody>
                    <a:bodyPr/>
                    <a:lstStyle/>
                    <a:p>
                      <a:pPr algn="l" fontAlgn="ctr"/>
                      <a:r>
                        <a:rPr lang="es-AR" sz="900" u="sng">
                          <a:effectLst/>
                          <a:hlinkClick r:id="rId21"/>
                        </a:rPr>
                        <a:t>Operador de combinación de elementos hermanos adyacentes</a:t>
                      </a:r>
                      <a:endParaRPr lang="es-AR" sz="900">
                        <a:effectLst/>
                      </a:endParaRPr>
                    </a:p>
                  </a:txBody>
                  <a:tcPr marL="39419" marR="39419" marT="19709" marB="19709" anchor="ctr"/>
                </a:tc>
                <a:tc>
                  <a:txBody>
                    <a:bodyPr/>
                    <a:lstStyle/>
                    <a:p>
                      <a:pPr algn="l" fontAlgn="ctr"/>
                      <a:r>
                        <a:rPr lang="es-AR" sz="900">
                          <a:effectLst/>
                        </a:rPr>
                        <a:t>h1 + p</a:t>
                      </a:r>
                    </a:p>
                  </a:txBody>
                  <a:tcPr marL="39419" marR="39419" marT="19709" marB="19709" anchor="ctr"/>
                </a:tc>
                <a:tc>
                  <a:txBody>
                    <a:bodyPr/>
                    <a:lstStyle/>
                    <a:p>
                      <a:pPr algn="l" fontAlgn="ctr"/>
                      <a:r>
                        <a:rPr lang="es-AR" sz="900" u="sng">
                          <a:effectLst/>
                          <a:hlinkClick r:id="rId22"/>
                        </a:rPr>
                        <a:t>Hermanos adyacentes</a:t>
                      </a:r>
                      <a:endParaRPr lang="es-AR" sz="900">
                        <a:effectLst/>
                      </a:endParaRPr>
                    </a:p>
                  </a:txBody>
                  <a:tcPr marL="39419" marR="39419" marT="19709" marB="19709" anchor="ctr"/>
                </a:tc>
                <a:extLst>
                  <a:ext uri="{0D108BD9-81ED-4DB2-BD59-A6C34878D82A}">
                    <a16:rowId xmlns:a16="http://schemas.microsoft.com/office/drawing/2014/main" val="3031768663"/>
                  </a:ext>
                </a:extLst>
              </a:tr>
              <a:tr h="499305">
                <a:tc>
                  <a:txBody>
                    <a:bodyPr/>
                    <a:lstStyle/>
                    <a:p>
                      <a:pPr algn="l" fontAlgn="ctr"/>
                      <a:r>
                        <a:rPr lang="es-AR" sz="900" u="sng" dirty="0">
                          <a:effectLst/>
                          <a:hlinkClick r:id="rId23"/>
                        </a:rPr>
                        <a:t>Operador de combinación general de elementos hermanos</a:t>
                      </a:r>
                      <a:endParaRPr lang="es-AR" sz="900" dirty="0">
                        <a:effectLst/>
                      </a:endParaRPr>
                    </a:p>
                  </a:txBody>
                  <a:tcPr marL="39419" marR="39419" marT="19709" marB="19709" anchor="ctr"/>
                </a:tc>
                <a:tc>
                  <a:txBody>
                    <a:bodyPr/>
                    <a:lstStyle/>
                    <a:p>
                      <a:pPr algn="l" fontAlgn="ctr"/>
                      <a:r>
                        <a:rPr lang="es-AR" sz="900">
                          <a:effectLst/>
                        </a:rPr>
                        <a:t>h1 ~ p</a:t>
                      </a:r>
                    </a:p>
                  </a:txBody>
                  <a:tcPr marL="39419" marR="39419" marT="19709" marB="19709" anchor="ctr"/>
                </a:tc>
                <a:tc>
                  <a:txBody>
                    <a:bodyPr/>
                    <a:lstStyle/>
                    <a:p>
                      <a:pPr algn="l" fontAlgn="ctr"/>
                      <a:r>
                        <a:rPr lang="es-AR" sz="900" u="sng" dirty="0">
                          <a:effectLst/>
                          <a:hlinkClick r:id="rId24"/>
                        </a:rPr>
                        <a:t>Hermanos generales</a:t>
                      </a:r>
                      <a:endParaRPr lang="es-AR" sz="900" dirty="0">
                        <a:effectLst/>
                      </a:endParaRPr>
                    </a:p>
                  </a:txBody>
                  <a:tcPr marL="39419" marR="39419" marT="19709" marB="19709" anchor="ctr"/>
                </a:tc>
                <a:extLst>
                  <a:ext uri="{0D108BD9-81ED-4DB2-BD59-A6C34878D82A}">
                    <a16:rowId xmlns:a16="http://schemas.microsoft.com/office/drawing/2014/main" val="2914410128"/>
                  </a:ext>
                </a:extLst>
              </a:tr>
            </a:tbl>
          </a:graphicData>
        </a:graphic>
      </p:graphicFrame>
    </p:spTree>
    <p:extLst>
      <p:ext uri="{BB962C8B-B14F-4D97-AF65-F5344CB8AC3E}">
        <p14:creationId xmlns:p14="http://schemas.microsoft.com/office/powerpoint/2010/main" val="352250185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EAC3FF"/>
        </a:solidFill>
        <a:effectLst/>
      </p:bgPr>
    </p:bg>
    <p:spTree>
      <p:nvGrpSpPr>
        <p:cNvPr id="1" name="Shape 152"/>
        <p:cNvGrpSpPr/>
        <p:nvPr/>
      </p:nvGrpSpPr>
      <p:grpSpPr>
        <a:xfrm>
          <a:off x="0" y="0"/>
          <a:ext cx="0" cy="0"/>
          <a:chOff x="0" y="0"/>
          <a:chExt cx="0" cy="0"/>
        </a:xfrm>
      </p:grpSpPr>
      <p:sp>
        <p:nvSpPr>
          <p:cNvPr id="153" name="Google Shape;153;p24"/>
          <p:cNvSpPr txBox="1">
            <a:spLocks noGrp="1"/>
          </p:cNvSpPr>
          <p:nvPr>
            <p:ph type="title" idx="4294967295"/>
          </p:nvPr>
        </p:nvSpPr>
        <p:spPr>
          <a:xfrm>
            <a:off x="798945" y="1771795"/>
            <a:ext cx="4129088" cy="534987"/>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es" sz="4400" dirty="0">
                <a:solidFill>
                  <a:srgbClr val="4A4A4A"/>
                </a:solidFill>
                <a:latin typeface="Russo One"/>
                <a:ea typeface="Russo One"/>
                <a:cs typeface="Russo One"/>
                <a:sym typeface="Russo One"/>
              </a:rPr>
              <a:t>Veamos un ejemplo de </a:t>
            </a:r>
            <a:endParaRPr sz="4400" dirty="0">
              <a:solidFill>
                <a:srgbClr val="4A4A4A"/>
              </a:solidFill>
              <a:latin typeface="Russo One"/>
              <a:ea typeface="Russo One"/>
              <a:cs typeface="Russo One"/>
              <a:sym typeface="Russo One"/>
            </a:endParaRPr>
          </a:p>
          <a:p>
            <a:pPr marL="0" lvl="0" indent="0" algn="l" rtl="0">
              <a:spcBef>
                <a:spcPts val="0"/>
              </a:spcBef>
              <a:spcAft>
                <a:spcPts val="0"/>
              </a:spcAft>
              <a:buSzPts val="990"/>
              <a:buNone/>
            </a:pPr>
            <a:r>
              <a:rPr lang="es" sz="4400" dirty="0">
                <a:solidFill>
                  <a:srgbClr val="CD0055"/>
                </a:solidFill>
                <a:latin typeface="Russo One"/>
                <a:ea typeface="Russo One"/>
                <a:cs typeface="Russo One"/>
                <a:sym typeface="Russo One"/>
              </a:rPr>
              <a:t>este tema</a:t>
            </a:r>
            <a:endParaRPr sz="4400" dirty="0">
              <a:solidFill>
                <a:srgbClr val="CD0055"/>
              </a:solidFill>
              <a:latin typeface="Russo One"/>
              <a:ea typeface="Russo One"/>
              <a:cs typeface="Russo One"/>
              <a:sym typeface="Russo One"/>
            </a:endParaRPr>
          </a:p>
        </p:txBody>
      </p:sp>
      <p:pic>
        <p:nvPicPr>
          <p:cNvPr id="154" name="Google Shape;154;p24"/>
          <p:cNvPicPr preferRelativeResize="0"/>
          <p:nvPr/>
        </p:nvPicPr>
        <p:blipFill>
          <a:blip r:embed="rId3">
            <a:alphaModFix/>
          </a:blip>
          <a:stretch>
            <a:fillRect/>
          </a:stretch>
        </p:blipFill>
        <p:spPr>
          <a:xfrm>
            <a:off x="4437025" y="691975"/>
            <a:ext cx="4392225" cy="4392225"/>
          </a:xfrm>
          <a:prstGeom prst="rect">
            <a:avLst/>
          </a:prstGeom>
          <a:noFill/>
          <a:ln>
            <a:noFill/>
          </a:ln>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BE3969"/>
        </a:solidFill>
        <a:effectLst/>
      </p:bgPr>
    </p:bg>
    <p:spTree>
      <p:nvGrpSpPr>
        <p:cNvPr id="1" name="Shape 158"/>
        <p:cNvGrpSpPr/>
        <p:nvPr/>
      </p:nvGrpSpPr>
      <p:grpSpPr>
        <a:xfrm>
          <a:off x="0" y="0"/>
          <a:ext cx="0" cy="0"/>
          <a:chOff x="0" y="0"/>
          <a:chExt cx="0" cy="0"/>
        </a:xfrm>
      </p:grpSpPr>
      <p:sp>
        <p:nvSpPr>
          <p:cNvPr id="159" name="Google Shape;159;p25"/>
          <p:cNvSpPr txBox="1">
            <a:spLocks noGrp="1"/>
          </p:cNvSpPr>
          <p:nvPr>
            <p:ph type="title" idx="4294967295"/>
          </p:nvPr>
        </p:nvSpPr>
        <p:spPr>
          <a:xfrm>
            <a:off x="701964" y="1198995"/>
            <a:ext cx="4135438" cy="2887663"/>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es" sz="4400" dirty="0">
                <a:solidFill>
                  <a:srgbClr val="EAC3FF"/>
                </a:solidFill>
                <a:latin typeface="Russo One"/>
                <a:ea typeface="Russo One"/>
                <a:cs typeface="Russo One"/>
                <a:sym typeface="Russo One"/>
              </a:rPr>
              <a:t>Ahora es momento </a:t>
            </a:r>
            <a:endParaRPr sz="4400" dirty="0">
              <a:solidFill>
                <a:srgbClr val="EAC3FF"/>
              </a:solidFill>
              <a:latin typeface="Russo One"/>
              <a:ea typeface="Russo One"/>
              <a:cs typeface="Russo One"/>
              <a:sym typeface="Russo One"/>
            </a:endParaRPr>
          </a:p>
          <a:p>
            <a:pPr marL="0" lvl="0" indent="0" algn="l" rtl="0">
              <a:spcBef>
                <a:spcPts val="0"/>
              </a:spcBef>
              <a:spcAft>
                <a:spcPts val="0"/>
              </a:spcAft>
              <a:buSzPts val="990"/>
              <a:buNone/>
            </a:pPr>
            <a:r>
              <a:rPr lang="es" sz="4400" dirty="0">
                <a:solidFill>
                  <a:srgbClr val="EAC3FF"/>
                </a:solidFill>
                <a:latin typeface="Russo One"/>
                <a:ea typeface="Russo One"/>
                <a:cs typeface="Russo One"/>
                <a:sym typeface="Russo One"/>
              </a:rPr>
              <a:t>de aplicar </a:t>
            </a:r>
            <a:r>
              <a:rPr lang="es" sz="4400" dirty="0">
                <a:solidFill>
                  <a:srgbClr val="F0F000"/>
                </a:solidFill>
                <a:latin typeface="Russo One"/>
                <a:ea typeface="Russo One"/>
                <a:cs typeface="Russo One"/>
                <a:sym typeface="Russo One"/>
              </a:rPr>
              <a:t>lo aprendido en clase</a:t>
            </a:r>
            <a:endParaRPr sz="4400" dirty="0">
              <a:solidFill>
                <a:srgbClr val="F0F000"/>
              </a:solidFill>
              <a:latin typeface="Russo One"/>
              <a:ea typeface="Russo One"/>
              <a:cs typeface="Russo One"/>
              <a:sym typeface="Russo One"/>
            </a:endParaRPr>
          </a:p>
        </p:txBody>
      </p:sp>
      <p:pic>
        <p:nvPicPr>
          <p:cNvPr id="160" name="Google Shape;160;p25"/>
          <p:cNvPicPr preferRelativeResize="0"/>
          <p:nvPr/>
        </p:nvPicPr>
        <p:blipFill>
          <a:blip r:embed="rId3">
            <a:alphaModFix/>
          </a:blip>
          <a:stretch>
            <a:fillRect/>
          </a:stretch>
        </p:blipFill>
        <p:spPr>
          <a:xfrm>
            <a:off x="4739375" y="951150"/>
            <a:ext cx="4078050" cy="4078050"/>
          </a:xfrm>
          <a:prstGeom prst="rect">
            <a:avLst/>
          </a:prstGeom>
          <a:noFill/>
          <a:ln>
            <a:noFill/>
          </a:ln>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4" name="CuadroTexto 3">
            <a:extLst>
              <a:ext uri="{FF2B5EF4-FFF2-40B4-BE49-F238E27FC236}">
                <a16:creationId xmlns:a16="http://schemas.microsoft.com/office/drawing/2014/main" id="{B9B8C329-BED5-C09C-F09B-E2F2A7739CCE}"/>
              </a:ext>
            </a:extLst>
          </p:cNvPr>
          <p:cNvSpPr txBox="1"/>
          <p:nvPr/>
        </p:nvSpPr>
        <p:spPr>
          <a:xfrm>
            <a:off x="528853" y="984991"/>
            <a:ext cx="8197130" cy="2185214"/>
          </a:xfrm>
          <a:prstGeom prst="rect">
            <a:avLst/>
          </a:prstGeom>
          <a:noFill/>
        </p:spPr>
        <p:txBody>
          <a:bodyPr wrap="square">
            <a:spAutoFit/>
          </a:bodyPr>
          <a:lstStyle/>
          <a:p>
            <a:r>
              <a:rPr lang="es-AR" sz="4000" dirty="0">
                <a:solidFill>
                  <a:srgbClr val="BE3969"/>
                </a:solidFill>
                <a:highlight>
                  <a:srgbClr val="FFFFFF"/>
                </a:highlight>
                <a:latin typeface="Russo One"/>
                <a:ea typeface="Lato"/>
                <a:cs typeface="Lato"/>
                <a:sym typeface="Russo One"/>
              </a:rPr>
              <a:t>Ejercitación</a:t>
            </a:r>
          </a:p>
          <a:p>
            <a:pPr lvl="0" rtl="0">
              <a:spcBef>
                <a:spcPts val="0"/>
              </a:spcBef>
              <a:spcAft>
                <a:spcPts val="0"/>
              </a:spcAft>
            </a:pPr>
            <a:endParaRPr lang="es-AR" sz="2400" b="1" dirty="0">
              <a:solidFill>
                <a:schemeClr val="tx1"/>
              </a:solidFill>
              <a:highlight>
                <a:srgbClr val="FFFFFF"/>
              </a:highlight>
              <a:latin typeface="Lato"/>
              <a:ea typeface="Lato"/>
              <a:cs typeface="Lato"/>
              <a:sym typeface="Lato"/>
            </a:endParaRPr>
          </a:p>
          <a:p>
            <a:pPr marL="457200" lvl="0" indent="-457200" rtl="0">
              <a:spcBef>
                <a:spcPts val="0"/>
              </a:spcBef>
              <a:spcAft>
                <a:spcPts val="0"/>
              </a:spcAft>
              <a:buFont typeface="Arial" panose="020B0604020202020204" pitchFamily="34" charset="0"/>
              <a:buChar char="•"/>
            </a:pPr>
            <a:r>
              <a:rPr lang="es-AR" sz="2400" b="1" dirty="0">
                <a:solidFill>
                  <a:schemeClr val="tx1"/>
                </a:solidFill>
                <a:highlight>
                  <a:srgbClr val="FFFFFF"/>
                </a:highlight>
                <a:latin typeface="Lato"/>
                <a:ea typeface="Lato"/>
                <a:cs typeface="Lato"/>
                <a:sym typeface="Lato"/>
                <a:hlinkClick r:id="rId3"/>
              </a:rPr>
              <a:t>https://github.com/Ada-IT/ejercicios-frontend/blob/master/modulo-1/ejercicios/05-introduccion-a-css.md</a:t>
            </a:r>
            <a:r>
              <a:rPr lang="es-AR" sz="2400" b="1" dirty="0">
                <a:solidFill>
                  <a:schemeClr val="tx1"/>
                </a:solidFill>
                <a:highlight>
                  <a:srgbClr val="FFFFFF"/>
                </a:highlight>
                <a:latin typeface="Lato"/>
                <a:ea typeface="Lato"/>
                <a:cs typeface="Lato"/>
                <a:sym typeface="Lato"/>
              </a:rPr>
              <a:t> </a:t>
            </a:r>
          </a:p>
        </p:txBody>
      </p:sp>
    </p:spTree>
    <p:extLst>
      <p:ext uri="{BB962C8B-B14F-4D97-AF65-F5344CB8AC3E}">
        <p14:creationId xmlns:p14="http://schemas.microsoft.com/office/powerpoint/2010/main" val="4163936071"/>
      </p:ext>
    </p:extLst>
  </p:cSld>
  <p:clrMapOvr>
    <a:masterClrMapping/>
  </p:clrMapOvr>
</p:sld>
</file>

<file path=ppt/theme/theme1.xml><?xml version="1.0" encoding="utf-8"?>
<a:theme xmlns:a="http://schemas.openxmlformats.org/drawingml/2006/main" name="Simple Light">
  <a:themeElements>
    <a:clrScheme name="Simple Light">
      <a:dk1>
        <a:srgbClr val="CD0055"/>
      </a:dk1>
      <a:lt1>
        <a:srgbClr val="FFFFFF"/>
      </a:lt1>
      <a:dk2>
        <a:srgbClr val="000000"/>
      </a:dk2>
      <a:lt2>
        <a:srgbClr val="F0F000"/>
      </a:lt2>
      <a:accent1>
        <a:srgbClr val="FF9936"/>
      </a:accent1>
      <a:accent2>
        <a:srgbClr val="E98FB5"/>
      </a:accent2>
      <a:accent3>
        <a:srgbClr val="F2D6E1"/>
      </a:accent3>
      <a:accent4>
        <a:srgbClr val="FFAB40"/>
      </a:accent4>
      <a:accent5>
        <a:srgbClr val="9E0046"/>
      </a:accent5>
      <a:accent6>
        <a:srgbClr val="455A64"/>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1912</TotalTime>
  <Words>3015</Words>
  <Application>Microsoft Office PowerPoint</Application>
  <PresentationFormat>Presentación en pantalla (16:9)</PresentationFormat>
  <Paragraphs>362</Paragraphs>
  <Slides>47</Slides>
  <Notes>47</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47</vt:i4>
      </vt:variant>
    </vt:vector>
  </HeadingPairs>
  <TitlesOfParts>
    <vt:vector size="52" baseType="lpstr">
      <vt:lpstr>Russo One</vt:lpstr>
      <vt:lpstr>system-ui</vt:lpstr>
      <vt:lpstr>Lato</vt:lpstr>
      <vt:lpstr>Arial</vt:lpstr>
      <vt:lpstr>Simple Light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Veamos un ejemplo de  este tema</vt:lpstr>
      <vt:lpstr>Ahora es momento  de aplicar lo aprendido en clase</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Franco Ojeda</cp:lastModifiedBy>
  <cp:revision>8</cp:revision>
  <dcterms:modified xsi:type="dcterms:W3CDTF">2025-01-02T20:26:31Z</dcterms:modified>
</cp:coreProperties>
</file>