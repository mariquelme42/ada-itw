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Lato"/>
      <p:regular r:id="rId42"/>
      <p:bold r:id="rId43"/>
      <p:italic r:id="rId44"/>
      <p:boldItalic r:id="rId45"/>
    </p:embeddedFont>
    <p:embeddedFont>
      <p:font typeface="Russo One"/>
      <p:regular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7" roundtripDataSignature="AMtx7mi3XsSfSf2m5uY4unFiH3MBFGBz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2A4080-1A4A-4731-BC69-25C6FC3FDAAE}">
  <a:tblStyle styleId="{382A4080-1A4A-4731-BC69-25C6FC3FDAA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6E6E9"/>
          </a:solidFill>
        </a:fill>
      </a:tcStyle>
    </a:wholeTbl>
    <a:band1H>
      <a:tcTxStyle/>
      <a:tcStyle>
        <a:fill>
          <a:solidFill>
            <a:srgbClr val="EDCAD0"/>
          </a:solidFill>
        </a:fill>
      </a:tcStyle>
    </a:band1H>
    <a:band2H>
      <a:tcTxStyle/>
    </a:band2H>
    <a:band1V>
      <a:tcTxStyle/>
      <a:tcStyle>
        <a:fill>
          <a:solidFill>
            <a:srgbClr val="EDCAD0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6E6E9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F6E6E9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Lato-regular.fntdata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Lato-italic.fntdata"/><Relationship Id="rId21" Type="http://schemas.openxmlformats.org/officeDocument/2006/relationships/slide" Target="slides/slide15.xml"/><Relationship Id="rId43" Type="http://schemas.openxmlformats.org/officeDocument/2006/relationships/font" Target="fonts/Lato-bold.fntdata"/><Relationship Id="rId24" Type="http://schemas.openxmlformats.org/officeDocument/2006/relationships/slide" Target="slides/slide18.xml"/><Relationship Id="rId46" Type="http://schemas.openxmlformats.org/officeDocument/2006/relationships/font" Target="fonts/RussoOne-regular.fntdata"/><Relationship Id="rId23" Type="http://schemas.openxmlformats.org/officeDocument/2006/relationships/slide" Target="slides/slide17.xml"/><Relationship Id="rId45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grpSp>
        <p:nvGrpSpPr>
          <p:cNvPr id="11" name="Google Shape;11;p49"/>
          <p:cNvGrpSpPr/>
          <p:nvPr/>
        </p:nvGrpSpPr>
        <p:grpSpPr>
          <a:xfrm>
            <a:off x="-9875" y="-4950"/>
            <a:ext cx="9153900" cy="770700"/>
            <a:chOff x="-9875" y="-4950"/>
            <a:chExt cx="9153900" cy="770700"/>
          </a:xfrm>
        </p:grpSpPr>
        <p:sp>
          <p:nvSpPr>
            <p:cNvPr id="12" name="Google Shape;12;p49"/>
            <p:cNvSpPr/>
            <p:nvPr/>
          </p:nvSpPr>
          <p:spPr>
            <a:xfrm>
              <a:off x="-9875" y="-4950"/>
              <a:ext cx="9153900" cy="770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" name="Google Shape;13;p4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712025" y="109800"/>
              <a:ext cx="1048575" cy="54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5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5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evelopers.google.com/fonts/docs/getting_started" TargetMode="External"/><Relationship Id="rId4" Type="http://schemas.openxmlformats.org/officeDocument/2006/relationships/hyperlink" Target="https://developer.mozilla.org/es/docs/Web/CSS/font-family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listapart.com/article/howtosizetextincss" TargetMode="External"/><Relationship Id="rId4" Type="http://schemas.openxmlformats.org/officeDocument/2006/relationships/hyperlink" Target="https://alistapart.com/topic/typography-web-fonts" TargetMode="External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eveloper.mozilla.org/es/docs/Web/CSS/font-weight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eveloper.mozilla.org/es/docs/Web/CSS/font-styl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eveloper.mozilla.org/es/docs/Web/CSS/text-transform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eveloper.mozilla.org/en-US/docs/Web/CSS/text-align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eveloper.mozilla.org/en-US/docs/Web/CSS/text-decoration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caniuse.com/#search=text-decoration-color" TargetMode="External"/><Relationship Id="rId4" Type="http://schemas.openxmlformats.org/officeDocument/2006/relationships/image" Target="../media/image20.png"/><Relationship Id="rId5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eveloper.mozilla.org/es/docs/Web/CSS/text-shadow" TargetMode="External"/><Relationship Id="rId4" Type="http://schemas.openxmlformats.org/officeDocument/2006/relationships/hyperlink" Target="http://caniuse.com/#search=text-shadow" TargetMode="External"/><Relationship Id="rId5" Type="http://schemas.openxmlformats.org/officeDocument/2006/relationships/image" Target="../media/image12.png"/><Relationship Id="rId6" Type="http://schemas.openxmlformats.org/officeDocument/2006/relationships/hyperlink" Target="http://www.cssportal.com/css3-text-shadow-generator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eveloper.mozilla.org/en-US/docs/Web/CSS/letter-spacing" TargetMode="External"/><Relationship Id="rId4" Type="http://schemas.openxmlformats.org/officeDocument/2006/relationships/hyperlink" Target="https://developer.mozilla.org/en-US/docs/Web/CSS/word-spacing" TargetMode="External"/><Relationship Id="rId5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eveloper.mozilla.org/es/docs/Web/CSS/line-height" TargetMode="External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ss-tricks.com/what-is-vertical-align" TargetMode="External"/><Relationship Id="rId4" Type="http://schemas.openxmlformats.org/officeDocument/2006/relationships/hyperlink" Target="https://css-tricks.com/what-is-vertical-align" TargetMode="External"/><Relationship Id="rId5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Relationship Id="rId4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Relationship Id="rId4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20" Type="http://schemas.openxmlformats.org/officeDocument/2006/relationships/hyperlink" Target="https://developer.mozilla.org/es/docs/Learn_web_development/Core/Styling_basics/Combinators#Selector_de_combinaci%C3%B3n_de_elementos_hijo" TargetMode="External"/><Relationship Id="rId11" Type="http://schemas.openxmlformats.org/officeDocument/2006/relationships/hyperlink" Target="https://developer.mozilla.org/es/docs/Web/CSS/Attribute_selectors" TargetMode="External"/><Relationship Id="rId22" Type="http://schemas.openxmlformats.org/officeDocument/2006/relationships/hyperlink" Target="https://developer.mozilla.org/es/docs/Learn_web_development/Core/Styling_basics/Combinators#hermanos_adyacentes" TargetMode="External"/><Relationship Id="rId10" Type="http://schemas.openxmlformats.org/officeDocument/2006/relationships/hyperlink" Target="https://developer.mozilla.org/es/docs/conflicting/Learn_web_development/Core/Styling_basics/Basic_selectors#selectores_de_id" TargetMode="External"/><Relationship Id="rId21" Type="http://schemas.openxmlformats.org/officeDocument/2006/relationships/hyperlink" Target="https://developer.mozilla.org/es/docs/Web/CSS/Next-sibling_combinator" TargetMode="External"/><Relationship Id="rId13" Type="http://schemas.openxmlformats.org/officeDocument/2006/relationships/hyperlink" Target="https://developer.mozilla.org/es/docs/Web/CSS/Pseudo-classes" TargetMode="External"/><Relationship Id="rId24" Type="http://schemas.openxmlformats.org/officeDocument/2006/relationships/hyperlink" Target="https://developer.mozilla.org/es/docs/Learn_web_development/Core/Styling_basics/Combinators#hermanos_generales" TargetMode="External"/><Relationship Id="rId12" Type="http://schemas.openxmlformats.org/officeDocument/2006/relationships/hyperlink" Target="https://developer.mozilla.org/es/docs/Learn_web_development/Core/Styling_basics/Attribute_selectors" TargetMode="External"/><Relationship Id="rId23" Type="http://schemas.openxmlformats.org/officeDocument/2006/relationships/hyperlink" Target="https://developer.mozilla.org/es/docs/Web/CSS/Subsequent-sibling_combinator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eveloper.mozilla.org/es/docs/Web/CSS/Type_selectors" TargetMode="External"/><Relationship Id="rId4" Type="http://schemas.openxmlformats.org/officeDocument/2006/relationships/hyperlink" Target="https://developer.mozilla.org/es/docs/conflicting/Learn_web_development/Core/Styling_basics/Basic_selectors#tipos_de_selectores" TargetMode="External"/><Relationship Id="rId9" Type="http://schemas.openxmlformats.org/officeDocument/2006/relationships/hyperlink" Target="https://developer.mozilla.org/es/docs/Web/CSS/ID_selectors" TargetMode="External"/><Relationship Id="rId15" Type="http://schemas.openxmlformats.org/officeDocument/2006/relationships/hyperlink" Target="https://developer.mozilla.org/es/docs/Web/CSS/Pseudo-elements" TargetMode="External"/><Relationship Id="rId14" Type="http://schemas.openxmlformats.org/officeDocument/2006/relationships/hyperlink" Target="https://developer.mozilla.org/es/docs/Learn_web_development/Core/Styling_basics/Pseudo_classes_and_elements#%C2%BFQu%C3%A9_es_una_pseudoclase" TargetMode="External"/><Relationship Id="rId17" Type="http://schemas.openxmlformats.org/officeDocument/2006/relationships/hyperlink" Target="https://developer.mozilla.org/es/docs/Web/CSS/Descendant_combinator" TargetMode="External"/><Relationship Id="rId16" Type="http://schemas.openxmlformats.org/officeDocument/2006/relationships/hyperlink" Target="https://developer.mozilla.org/es/docs/Learn_web_development/Core/Styling_basics/Pseudo_classes_and_elements#%C2%BFQu%C3%A9_es_un_pseudoelemento" TargetMode="External"/><Relationship Id="rId5" Type="http://schemas.openxmlformats.org/officeDocument/2006/relationships/hyperlink" Target="https://developer.mozilla.org/es/docs/Web/CSS/Universal_selectors" TargetMode="External"/><Relationship Id="rId19" Type="http://schemas.openxmlformats.org/officeDocument/2006/relationships/hyperlink" Target="https://developer.mozilla.org/es/docs/Web/CSS/Child_combinator" TargetMode="External"/><Relationship Id="rId6" Type="http://schemas.openxmlformats.org/officeDocument/2006/relationships/hyperlink" Target="https://developer.mozilla.org/es/docs/conflicting/Learn_web_development/Core/Styling_basics/Basic_selectors#el_selector_universal" TargetMode="External"/><Relationship Id="rId18" Type="http://schemas.openxmlformats.org/officeDocument/2006/relationships/hyperlink" Target="https://developer.mozilla.org/es/docs/Learn_web_development/Core/Styling_basics/Combinators#selector_de_descendientes" TargetMode="External"/><Relationship Id="rId7" Type="http://schemas.openxmlformats.org/officeDocument/2006/relationships/hyperlink" Target="https://developer.mozilla.org/es/docs/Web/CSS/Class_selectors" TargetMode="External"/><Relationship Id="rId8" Type="http://schemas.openxmlformats.org/officeDocument/2006/relationships/hyperlink" Target="https://developer.mozilla.org/es/docs/conflicting/Learn_web_development/Core/Styling_basics/Basic_selectors#selectores_de_clase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github.com/Ada-IT/ejercicios-frontend/blob/master/modulo-1/ejercicios/05-introduccion-a-css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"/>
          <p:cNvSpPr txBox="1"/>
          <p:nvPr>
            <p:ph idx="4294967295" type="body"/>
          </p:nvPr>
        </p:nvSpPr>
        <p:spPr>
          <a:xfrm>
            <a:off x="-34100" y="67650"/>
            <a:ext cx="7766100" cy="10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AR" sz="440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Bienvenidas </a:t>
            </a:r>
            <a:endParaRPr b="1" sz="4400">
              <a:solidFill>
                <a:srgbClr val="CD0055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-AR" sz="35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Clase N° 5 </a:t>
            </a:r>
            <a:endParaRPr sz="2500">
              <a:solidFill>
                <a:srgbClr val="999999"/>
              </a:solidFill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4950100" y="400225"/>
            <a:ext cx="3000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</p:txBody>
      </p:sp>
      <p:sp>
        <p:nvSpPr>
          <p:cNvPr id="55" name="Google Shape;55;p1"/>
          <p:cNvSpPr txBox="1"/>
          <p:nvPr/>
        </p:nvSpPr>
        <p:spPr>
          <a:xfrm>
            <a:off x="5852850" y="1196300"/>
            <a:ext cx="350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pic>
        <p:nvPicPr>
          <p:cNvPr id="56" name="Google Shape;5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225" y="1552075"/>
            <a:ext cx="5062301" cy="337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 txBox="1"/>
          <p:nvPr/>
        </p:nvSpPr>
        <p:spPr>
          <a:xfrm>
            <a:off x="1736436" y="1722582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AR" sz="60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Tipografía y Texto</a:t>
            </a:r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3217575" y="1036425"/>
            <a:ext cx="3000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700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CSS parte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/>
        </p:nvSpPr>
        <p:spPr>
          <a:xfrm>
            <a:off x="434396" y="688695"/>
            <a:ext cx="8584913" cy="4224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8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Tipografías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Familias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medio de la propiedad font-family se puede establecer una lista de familias tipográficas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Dado que todas las máquinas pueden no tener todas las tipografías instaladas podemos seleccionar más de una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Las tipografías las separamos con comas. Ejemplo: Arial, serif</a:t>
            </a:r>
            <a:endParaRPr b="0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browser va a elegir cada tipografía de izquierda a derecha hasta encontrar una que tenga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nombres de las tipografías se escriben con comillas dobles en caso de que el nombre contenga espacios, ejemplo: "Times New Roman", Georgia, serif</a:t>
            </a:r>
            <a:endParaRPr b="0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recomienda poner una tipografía por default (serif, sans-serif, monospace, cursive o fantasy) para lograr al menos el estilo deseado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También se pueden utilizar web fonts como pueden ser las de </a:t>
            </a:r>
            <a:r>
              <a:rPr b="0" i="0" lang="es-AR" sz="16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saber más sobre la propiedad font-family pueden ver el </a:t>
            </a:r>
            <a:r>
              <a:rPr b="0" i="0" lang="es-AR" sz="16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MDN</a:t>
            </a:r>
            <a:endParaRPr b="0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/>
        </p:nvSpPr>
        <p:spPr>
          <a:xfrm>
            <a:off x="434396" y="688695"/>
            <a:ext cx="8584913" cy="4224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8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Tipografías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AR" sz="16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Familias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este ejemplo definimos: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texto del documento tiene que ser negro y con tipografía Arial o sans-serif</a:t>
            </a:r>
            <a:endParaRPr b="0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títulos h1 son grises y con tipografía Times New Roman o serif</a:t>
            </a:r>
            <a:endParaRPr b="0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0945" y="1880442"/>
            <a:ext cx="3127161" cy="1884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/>
        </p:nvSpPr>
        <p:spPr>
          <a:xfrm>
            <a:off x="434397" y="688695"/>
            <a:ext cx="7892186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6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Tamaño</a:t>
            </a:r>
            <a:endParaRPr b="1" i="0" sz="20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medio de la propiedad font-size podemos establecer el tamaño de la tipografía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Acepta como valor: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1. </a:t>
            </a:r>
            <a:r>
              <a:rPr b="1" i="0" lang="es-AR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Pixeles</a:t>
            </a: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establecemos el número de píxeles y la palabra px</a:t>
            </a:r>
            <a:endParaRPr b="0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un valor fijo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ideal para pantallas de computadoras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No escalan bien para dispositivos mobile</a:t>
            </a:r>
            <a:endParaRPr b="0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No se pueden agrandar en browsers viejos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 txBox="1"/>
          <p:nvPr/>
        </p:nvSpPr>
        <p:spPr>
          <a:xfrm>
            <a:off x="434397" y="688695"/>
            <a:ext cx="7892186" cy="4216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44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Tamaño – Continuación </a:t>
            </a:r>
            <a:endParaRPr b="1" i="0" sz="2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2. </a:t>
            </a:r>
            <a:r>
              <a:rPr b="1" i="0" lang="es-AR" sz="2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Porcentaje</a:t>
            </a:r>
            <a:r>
              <a:rPr b="0" i="0" lang="es-AR" sz="2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es un % del valor establecido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s-AR" sz="2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relativo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s-AR" sz="2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Escala bien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s-AR" sz="2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fácil para cambiar la relación de todos los tamaños ya que definimos el valor inicial y después lo cambiamos en un solo lugar (el resto es todo relativo)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/>
        </p:nvSpPr>
        <p:spPr>
          <a:xfrm>
            <a:off x="434397" y="688695"/>
            <a:ext cx="7892186" cy="418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Tamaño – Continuación </a:t>
            </a:r>
            <a:endParaRPr b="1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3. </a:t>
            </a:r>
            <a:r>
              <a:rPr b="1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EMS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este valor representa una unidad del tamaño establecido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establecemos el tamaño a 10px, 1em representa 10px y 2em 20px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no se establece un valor toma el por default del browser (16px en general)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 dice que toma el ancho y alto de la letra M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una unidad relativa al padre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Escala bien para mobile</a:t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Funciona en cascada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 truco es establecer el tamaño del sitio en 62.5% tomando que el browser tiene 16px nos queda una tipografía inicial de 10px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Luego podemos utilizar valores como 1.8em para lograr una tipografía de 18px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 txBox="1"/>
          <p:nvPr/>
        </p:nvSpPr>
        <p:spPr>
          <a:xfrm>
            <a:off x="434397" y="688695"/>
            <a:ext cx="7892186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Tamaño – Continuación </a:t>
            </a:r>
            <a:endParaRPr b="1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4. </a:t>
            </a:r>
            <a:r>
              <a:rPr b="1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Points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es una unidad para imprimir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27 puntos representan una pulgada es decir 2,54 cm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Son precisos a la hora de imprimir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aprender más sobre el tema podemos seguir leyendo este buen artículo de</a:t>
            </a:r>
            <a:r>
              <a:rPr b="0" i="0" lang="es-AR" sz="2000" u="none" cap="none" strike="noStrike">
                <a:solidFill>
                  <a:srgbClr val="F5F6F7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s-AR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alistapart.com (en inglés y muy buen sitio)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Una buena sección para mirar del mismo sitio: </a:t>
            </a:r>
            <a:r>
              <a:rPr b="0" i="0" lang="es-AR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Typography Web Fonts</a:t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5" name="Google Shape;9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46581" y="3463329"/>
            <a:ext cx="2749377" cy="1392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/>
          <p:nvPr/>
        </p:nvSpPr>
        <p:spPr>
          <a:xfrm>
            <a:off x="434397" y="688695"/>
            <a:ext cx="7892186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Bold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medio de la propiedad font-weight podemos establecer si el peso de nuestra tipografía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establecer si es normal o bold</a:t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También acepta valores numéricos entre 100 y 900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Otra opción es utilizar valores relativos al padre por medio de lighter (más liviano) o bolder (más pesado)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Estas últimas opciones no son soportadas por todos los browsers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aprender más sobre esta propiedad en el </a:t>
            </a:r>
            <a:r>
              <a:rPr b="0" i="0" lang="es-AR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sitio de MDN</a:t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1" name="Google Shape;10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219" y="3036557"/>
            <a:ext cx="2911561" cy="815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49054" y="4094216"/>
            <a:ext cx="4989967" cy="721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 txBox="1"/>
          <p:nvPr/>
        </p:nvSpPr>
        <p:spPr>
          <a:xfrm>
            <a:off x="434397" y="688695"/>
            <a:ext cx="7892186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Itálica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medio de la propiedad font-style podemos establecer si queremos que nuestra tipografía sea normal, itálica o oblicua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valores que acepta esta propiedad están en inglés: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normal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italic</a:t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oblique</a:t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aprender más sobre esta propiedad en el </a:t>
            </a:r>
            <a:r>
              <a:rPr b="0" i="0" lang="es-AR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sitio de MDN</a:t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8" name="Google Shape;10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219" y="3036557"/>
            <a:ext cx="2911561" cy="815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49054" y="4094216"/>
            <a:ext cx="4989967" cy="721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/>
        </p:nvSpPr>
        <p:spPr>
          <a:xfrm>
            <a:off x="434397" y="688695"/>
            <a:ext cx="78921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Transformación de texto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medio de la propiedad text-transform podemos transformar las mayúsculas y </a:t>
            </a:r>
            <a:r>
              <a:rPr lang="es-AR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minúsculas</a:t>
            </a: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de nuestros textos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 diferencia de lo que venimos viendo en este caso se utiliza text en lugar de font ya que hace referencia al texto y no a la tipografía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Acepta los siguientes valores: </a:t>
            </a:r>
            <a:r>
              <a:rPr b="0" i="0" lang="es-AR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uppercase</a:t>
            </a: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pasa todo el texto a mayúscula </a:t>
            </a:r>
            <a:r>
              <a:rPr b="0" i="0" lang="es-AR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lowercase</a:t>
            </a: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pasa todo el texto a minúscula capitalize: convierte la primer letra de cada palabra a mayúscula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aprender más sobre esta propiedad en el </a:t>
            </a:r>
            <a:r>
              <a:rPr b="0" i="0" lang="es-AR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sitio de MDN</a:t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5" name="Google Shape;11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3320" y="3159887"/>
            <a:ext cx="2893744" cy="790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58159" y="4163042"/>
            <a:ext cx="3227682" cy="692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 txBox="1"/>
          <p:nvPr/>
        </p:nvSpPr>
        <p:spPr>
          <a:xfrm>
            <a:off x="434397" y="688695"/>
            <a:ext cx="7855239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6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Alineado de textos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medio de la propiedad </a:t>
            </a:r>
            <a:r>
              <a:rPr b="1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text-align</a:t>
            </a: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podemos establecer como queremos alinear los textos de forma horizontal</a:t>
            </a:r>
            <a:endParaRPr/>
          </a:p>
          <a:p>
            <a:pPr indent="-158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Acepta los siguientes valores: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left</a:t>
            </a: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alinea todo a la izquierda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right</a:t>
            </a: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alinea todo a la derecha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center</a:t>
            </a: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alinea todo al centro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justify</a:t>
            </a: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hace que el texto ocupe toda la caja (justificado)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aprender más sobre esta propiedad en el </a:t>
            </a:r>
            <a:r>
              <a:rPr b="0" i="0" lang="es-AR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sitio de MDN</a:t>
            </a:r>
            <a:endParaRPr b="0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/>
        </p:nvSpPr>
        <p:spPr>
          <a:xfrm>
            <a:off x="434397" y="688695"/>
            <a:ext cx="78552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Decorado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medio de la propiedad </a:t>
            </a: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text-decoration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establecemos si queremos decorar nuestras tipografía según los valores posibles: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none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saca todo tipo de decorado (es útil para hacer que los </a:t>
            </a:r>
            <a:r>
              <a:rPr lang="es-AR" sz="18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hipervínculos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no tengan una raya debajo del texto)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underline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nos muestra el texto subrayado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overline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agrega una línea sobre el texto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line-through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el texto aparece tachado con una línea en el medio (es útil a la hora de tachar elementos de una lista)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blink</a:t>
            </a: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 Volvemos a los 90's y nuestros textos parpadean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aprender más sobre esta propiedad en el </a:t>
            </a:r>
            <a:r>
              <a:rPr b="0" i="0" lang="es-AR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sitio de MDN</a:t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/>
        </p:nvSpPr>
        <p:spPr>
          <a:xfrm>
            <a:off x="434397" y="688695"/>
            <a:ext cx="7855239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8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Decorado - Continuación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browsers más nuevo se puede establecer el color y tipo de línea que utilizamos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Esta opción todavía </a:t>
            </a:r>
            <a:r>
              <a:rPr b="0" i="0" lang="es-AR" sz="16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 es soportada por todos los browsers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Primer parámetro el tipo de decorado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Segundo parámetro el tipo de línea (más sobre esto cuando vemos bordes)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Finalmente establecemos el color de la línea</a:t>
            </a:r>
            <a:endParaRPr/>
          </a:p>
        </p:txBody>
      </p:sp>
      <p:pic>
        <p:nvPicPr>
          <p:cNvPr id="132" name="Google Shape;132;p14"/>
          <p:cNvPicPr preferRelativeResize="0"/>
          <p:nvPr/>
        </p:nvPicPr>
        <p:blipFill rotWithShape="1">
          <a:blip r:embed="rId4">
            <a:alphaModFix/>
          </a:blip>
          <a:srcRect b="0" l="2447" r="0" t="0"/>
          <a:stretch/>
        </p:blipFill>
        <p:spPr>
          <a:xfrm>
            <a:off x="2479963" y="1580362"/>
            <a:ext cx="3933850" cy="768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15672" y="4231300"/>
            <a:ext cx="2960595" cy="717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/>
        </p:nvSpPr>
        <p:spPr>
          <a:xfrm>
            <a:off x="434397" y="688695"/>
            <a:ext cx="78552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6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Identación</a:t>
            </a:r>
            <a:endParaRPr b="1" i="0" sz="20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identar nuestro texto utilizando la propiedad text-indent</a:t>
            </a:r>
            <a:endParaRPr b="0" i="0" sz="20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Esta propiedad nos permite establecer un valor que va a funcionar como </a:t>
            </a:r>
            <a:r>
              <a:rPr lang="es-AR" sz="2000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margen</a:t>
            </a: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izquierdo de la primer palabra de la primer línea.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Acepta valores negativos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aprender más sobre esta propiedad en el sitio de MDN</a:t>
            </a:r>
            <a:endParaRPr/>
          </a:p>
        </p:txBody>
      </p:sp>
      <p:pic>
        <p:nvPicPr>
          <p:cNvPr id="139" name="Google Shape;139;p15"/>
          <p:cNvPicPr preferRelativeResize="0"/>
          <p:nvPr/>
        </p:nvPicPr>
        <p:blipFill rotWithShape="1">
          <a:blip r:embed="rId3">
            <a:alphaModFix/>
          </a:blip>
          <a:srcRect b="0" l="2737" r="0" t="0"/>
          <a:stretch/>
        </p:blipFill>
        <p:spPr>
          <a:xfrm>
            <a:off x="2301220" y="3685310"/>
            <a:ext cx="4541560" cy="975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434397" y="688695"/>
            <a:ext cx="7855239" cy="2831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Sombra</a:t>
            </a:r>
            <a:endParaRPr b="1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establecer la sombra de nuestro texto utilizamos la propiedad text-shadow</a:t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Esta propiedad utiliza varios valores: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primer parámetro </a:t>
            </a: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maneja el eje x de nuestra sombra, es decir que va de izquierda a derecha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segundo parámetro </a:t>
            </a: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maneja el eje, es decir que va de arriba a abajo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tercer parámetro </a:t>
            </a: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maneja el blur (difuminar) de la sombra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cuarto parámetro </a:t>
            </a: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el color de la sombra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aprender más sobre esta propiedad en el </a:t>
            </a:r>
            <a:r>
              <a:rPr b="0" i="0" lang="es-AR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sitio de MDN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Los browsers actuales </a:t>
            </a:r>
            <a:r>
              <a:rPr b="0" i="0" lang="es-AR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soportan bien esta propiedad</a:t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0437" y="4043884"/>
            <a:ext cx="3675014" cy="46633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4958878" y="3838326"/>
            <a:ext cx="3464685" cy="877455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rgbClr val="5600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400" u="none" cap="none" strike="noStrike">
                <a:solidFill>
                  <a:srgbClr val="F5F6F7"/>
                </a:solidFill>
                <a:latin typeface="Arial"/>
                <a:ea typeface="Arial"/>
                <a:cs typeface="Arial"/>
                <a:sym typeface="Arial"/>
              </a:rPr>
              <a:t>Para jugar con estas opciones podemos usar el </a:t>
            </a:r>
            <a:r>
              <a:rPr b="0" i="0" lang="es-AR" sz="1400" u="sng" cap="none" strike="noStrike">
                <a:solidFill>
                  <a:srgbClr val="F5F6F7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siguiente sitio</a:t>
            </a:r>
            <a:endParaRPr b="0" i="0" sz="1400" u="none" cap="none" strike="noStrike">
              <a:solidFill>
                <a:srgbClr val="F5F6F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/>
        </p:nvSpPr>
        <p:spPr>
          <a:xfrm>
            <a:off x="434398" y="688695"/>
            <a:ext cx="4428548" cy="418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Espaciado o aire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establecer la distancia tanto entre letras como palabras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manejar la distancia entre letras utilizamos letter-spacing</a:t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Para manejar la distancia entre letras utilizamos word-spacing</a:t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aprender más sobre esta propiedad en el sitio de MDN: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sng" cap="none" strike="noStrike">
                <a:solidFill>
                  <a:srgbClr val="F5F6F7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letter-spacing</a:t>
            </a:r>
            <a:endParaRPr b="0" i="0" sz="1800" u="none" cap="none" strike="noStrike">
              <a:solidFill>
                <a:srgbClr val="F5F6F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sng" cap="none" strike="noStrike">
                <a:solidFill>
                  <a:srgbClr val="F5F6F7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word-spacing</a:t>
            </a:r>
            <a:endParaRPr b="0" i="0" sz="1800" u="none" cap="none" strike="noStrike">
              <a:solidFill>
                <a:srgbClr val="F5F6F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0952" y="1524099"/>
            <a:ext cx="3086531" cy="251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/>
        </p:nvSpPr>
        <p:spPr>
          <a:xfrm>
            <a:off x="434398" y="688695"/>
            <a:ext cx="4428548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40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Alto de línea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establecer el alto de línea de un texto por medio de la propiedad line-height</a:t>
            </a:r>
            <a:endParaRPr b="0" i="0" sz="2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Acepta un valor numérico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aprender más sobre esta propiedad en el </a:t>
            </a:r>
            <a:r>
              <a:rPr b="0" i="0" lang="es-AR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sitio de MDN</a:t>
            </a:r>
            <a:endParaRPr b="0" i="0" sz="2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4016" y="1998699"/>
            <a:ext cx="3215226" cy="1742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/>
        </p:nvSpPr>
        <p:spPr>
          <a:xfrm>
            <a:off x="434398" y="688695"/>
            <a:ext cx="8298584" cy="418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Alineado Vertical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Podemos alinear los textos de forma vertical utilizando la propiedad </a:t>
            </a:r>
            <a:r>
              <a:rPr b="1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vertical-align</a:t>
            </a:r>
            <a:endParaRPr b="1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Acepta los siguientes valores: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baseline</a:t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sub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super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top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text-top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middle</a:t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bottom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text-bottom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434398" y="688695"/>
            <a:ext cx="8298584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8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Alineado Vertical – Continuación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Algo común es creer que esta propiedad nos permite alinear los textos de forma vertical en los elementos en bloque pero no funciona de esa forma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Esta propiedad nos permite alinear el contenido de los elementos en línea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Cómo sabemos las imágenes son elementos en línea al igual que los spans, hipervínculos, etc</a:t>
            </a:r>
            <a:endParaRPr b="0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dentro de un párrafo tenemos una imágen, texto y otros elementos en linea, podemos establecer como va a ser la relación entre todos estos elementos que son hijos del párrafo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De esta forma podemos hacer que un texto este bien alineado a una foto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AR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 buen sitio para leer sobre este tema es</a:t>
            </a:r>
            <a:r>
              <a:rPr b="0" i="0" lang="es-AR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s-AR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css tricks (en inglés)</a:t>
            </a:r>
            <a:endParaRPr b="0" i="0" sz="16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9" name="Google Shape;16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7897" y="4167228"/>
            <a:ext cx="4191585" cy="647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3"/>
          <p:cNvSpPr txBox="1"/>
          <p:nvPr/>
        </p:nvSpPr>
        <p:spPr>
          <a:xfrm>
            <a:off x="1731818" y="1902691"/>
            <a:ext cx="6105236" cy="12167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AR" sz="6000" u="none" cap="none" strike="noStrike">
                <a:solidFill>
                  <a:schemeClr val="dk1"/>
                </a:solidFill>
                <a:latin typeface="Russo One"/>
                <a:ea typeface="Russo One"/>
                <a:cs typeface="Russo One"/>
                <a:sym typeface="Russo One"/>
              </a:rPr>
              <a:t>Selectores - MDN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/>
        </p:nvSpPr>
        <p:spPr>
          <a:xfrm>
            <a:off x="434397" y="688695"/>
            <a:ext cx="8478694" cy="3801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40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Selectores CSS</a:t>
            </a:r>
            <a:endParaRPr b="0" i="0" sz="14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CSS los selectores se utilizan para delimitar los elementos HTML de nuestra página web a los que queremos aplicar estilo.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Hay una amplia variedad de selectores CSS, lo que permite una gran precisión a la hora de seleccionar elementos a los que aplicar estilo.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Ahora veremos con detalle todos los tipos y el modo como funcionan.</a:t>
            </a:r>
            <a:endParaRPr b="0" i="0" sz="24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/>
        </p:nvSpPr>
        <p:spPr>
          <a:xfrm>
            <a:off x="434396" y="688695"/>
            <a:ext cx="5499967" cy="3847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6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¿Qué es un selector?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Un selector CSS es la primera parte de una regla CSS.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un patrón de elementos y otros términos que indican al navegador qué elementos HTML se seleccionan para aplicarles una regla que incluye los valores de las propiedades CSS.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elemento o los elementos seleccionados por el selector se denominan sujeto del selector.</a:t>
            </a:r>
            <a:endParaRPr b="0" i="0" sz="20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Fragmento de código con el elemento h1 resaltado." id="186" name="Google Shape;186;p35"/>
          <p:cNvPicPr preferRelativeResize="0"/>
          <p:nvPr/>
        </p:nvPicPr>
        <p:blipFill rotWithShape="1">
          <a:blip r:embed="rId3">
            <a:alphaModFix/>
          </a:blip>
          <a:srcRect b="0" l="0" r="30382" t="0"/>
          <a:stretch/>
        </p:blipFill>
        <p:spPr>
          <a:xfrm>
            <a:off x="6211102" y="1962726"/>
            <a:ext cx="2646571" cy="1759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/>
          <p:nvPr/>
        </p:nvSpPr>
        <p:spPr>
          <a:xfrm>
            <a:off x="434397" y="688695"/>
            <a:ext cx="8478694" cy="38010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40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¿Qué es un selector?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En CSS, los selectores se definen en la especificación de selectores de CSS correspondiente; al igual que cualquier otro elemento de CSS, es necesario que los navegadores los admitan para que funcionen.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La mayoría de los selectores que encontrarás se definen en especificación de nivel 3 de selectores, que es una especificación consolidada y, por lo tanto, la mayoría de navegadores admitirán esos selectores.</a:t>
            </a:r>
            <a:endParaRPr b="0" i="0" sz="24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"/>
          <p:cNvSpPr txBox="1"/>
          <p:nvPr/>
        </p:nvSpPr>
        <p:spPr>
          <a:xfrm>
            <a:off x="434397" y="688695"/>
            <a:ext cx="5744730" cy="41703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40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Listas de selectores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 más de un elemento utiliza el mismo CSS, puedes combinar los selectores en una lista de selectores para que la regla se aplique a cada uno de los selectores individuales.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Por ejemplo, si tengo el mismo CSS para un h1 y para una clase .special, los puedo escribir como dos reglas separadas.</a:t>
            </a:r>
            <a:endParaRPr b="0" i="0" sz="24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7" name="Google Shape;19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0594" y="1699491"/>
            <a:ext cx="2040801" cy="2549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8"/>
          <p:cNvSpPr txBox="1"/>
          <p:nvPr/>
        </p:nvSpPr>
        <p:spPr>
          <a:xfrm>
            <a:off x="434397" y="688695"/>
            <a:ext cx="5744730" cy="41703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40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Listas de selectores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También los podrías combinar en una lista de selectores, separándolos con una coma. 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s-AR" sz="2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 posible dejar un espacio en blanco tanto antes como después de la coma. Incluso puede resultar más legible si cada selector se encuentra en una línea distinta.</a:t>
            </a:r>
            <a:endParaRPr/>
          </a:p>
        </p:txBody>
      </p:sp>
      <p:pic>
        <p:nvPicPr>
          <p:cNvPr id="203" name="Google Shape;2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0931" y="1920872"/>
            <a:ext cx="1914792" cy="2105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/>
          <p:nvPr/>
        </p:nvSpPr>
        <p:spPr>
          <a:xfrm>
            <a:off x="434397" y="688695"/>
            <a:ext cx="7882948" cy="3454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48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Tipos de selectores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Hay diferentes agrupaciones de selectores, y conocer qué tipo de selector necesitas te ayudará a encontrar la herramienta adecuada para tu trabajo.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s-AR" sz="32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Veamoslos!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/>
          <p:nvPr/>
        </p:nvSpPr>
        <p:spPr>
          <a:xfrm>
            <a:off x="471342" y="928840"/>
            <a:ext cx="4996585" cy="389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Selectores de tipo, de clase y de 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 grupo incluye selectores que delimitan un elemento HTML, como por ejemplo un &lt;h1&gt;.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También incluye selectores que delimitan una clase: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 un ID:</a:t>
            </a:r>
            <a:endParaRPr/>
          </a:p>
        </p:txBody>
      </p:sp>
      <p:pic>
        <p:nvPicPr>
          <p:cNvPr id="214" name="Google Shape;21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2919" y="1561131"/>
            <a:ext cx="901191" cy="1467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5905" y="1561131"/>
            <a:ext cx="1019317" cy="1467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2824" y="3312002"/>
            <a:ext cx="1352739" cy="142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 txBox="1"/>
          <p:nvPr/>
        </p:nvSpPr>
        <p:spPr>
          <a:xfrm>
            <a:off x="475960" y="707167"/>
            <a:ext cx="8076913" cy="312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2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Selectores de atributo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 grupo de selectores te proporciona diferentes formas de seleccionar elementos según la presencia de un atributo determinado en un elemento: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AR" sz="18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O incluso hacer una selección basada en la presencia de un atributo que tiene un valor particular asignado:</a:t>
            </a:r>
            <a:endParaRPr/>
          </a:p>
        </p:txBody>
      </p:sp>
      <p:pic>
        <p:nvPicPr>
          <p:cNvPr id="222" name="Google Shape;22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0418" y="2571750"/>
            <a:ext cx="950727" cy="576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9686" y="3984069"/>
            <a:ext cx="2324628" cy="821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/>
          <p:nvPr/>
        </p:nvSpPr>
        <p:spPr>
          <a:xfrm>
            <a:off x="475960" y="707167"/>
            <a:ext cx="8076913" cy="3462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24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Las pseudoclases y los pseudoelementos</a:t>
            </a:r>
            <a:endParaRPr b="0" i="0" sz="24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Este grupo de selectores incluye pseudoclases, que aplican estilo a ciertos estados de un elemento. La pseudoclase </a:t>
            </a:r>
            <a:r>
              <a:rPr b="1" i="0" lang="es-AR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:hover</a:t>
            </a: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por ejemplo, selecciona un elemento solo cuando se le pasa el ratón por encima.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También incluye pseudoelementos, que seleccionan una parte determinada de un elemento en vez del elemento en sí. Por ejemplo</a:t>
            </a:r>
            <a:r>
              <a:rPr b="1" i="0" lang="es-AR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::first-line </a:t>
            </a: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siempre selecciona la primera línea del texto que se encuentra dentro de un elemento ( </a:t>
            </a:r>
            <a:r>
              <a:rPr b="0" i="0" lang="es-AR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&lt;p&gt;</a:t>
            </a: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, en el ejemplo siguiente), y actúa como si un elemento </a:t>
            </a:r>
            <a:r>
              <a:rPr b="0" i="0" lang="es-AR" sz="1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&lt;span&gt;</a:t>
            </a:r>
            <a:r>
              <a:rPr b="0" i="0" lang="es-AR" sz="14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hubiera delimitado la primera línea, seleccionado y aplicado estilo.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A4A4A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9" name="Google Shape;22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1672" y="2033541"/>
            <a:ext cx="1448002" cy="809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8352" y="4037336"/>
            <a:ext cx="1962424" cy="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3"/>
          <p:cNvSpPr txBox="1"/>
          <p:nvPr/>
        </p:nvSpPr>
        <p:spPr>
          <a:xfrm>
            <a:off x="475960" y="707167"/>
            <a:ext cx="8076913" cy="2162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6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Combinadores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El último grupo de selectores combina otros selectores con el fin de delimitar elementos de nuestros documentos. El ejemplo siguiente selecciona los párrafos que son hijos directos del elemento </a:t>
            </a:r>
            <a:r>
              <a:rPr b="0" i="0" lang="es-AR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&lt;article&gt; </a:t>
            </a: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utilizando el operador de combinación hijo (</a:t>
            </a:r>
            <a:r>
              <a:rPr b="0" i="0" lang="es-AR" sz="20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&gt;</a:t>
            </a:r>
            <a:r>
              <a:rPr b="0" i="0" lang="es-AR" sz="20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):</a:t>
            </a:r>
            <a:endParaRPr/>
          </a:p>
        </p:txBody>
      </p:sp>
      <p:pic>
        <p:nvPicPr>
          <p:cNvPr id="236" name="Google Shape;23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6134" y="3338449"/>
            <a:ext cx="2551731" cy="1224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4"/>
          <p:cNvSpPr txBox="1"/>
          <p:nvPr/>
        </p:nvSpPr>
        <p:spPr>
          <a:xfrm>
            <a:off x="475960" y="707167"/>
            <a:ext cx="807691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36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Tabla de referencia de selectores</a:t>
            </a:r>
            <a:endParaRPr b="0" i="0" sz="105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BE3969"/>
              </a:solidFill>
              <a:highlight>
                <a:srgbClr val="FFFFFF"/>
              </a:highlight>
              <a:latin typeface="Russo One"/>
              <a:ea typeface="Russo One"/>
              <a:cs typeface="Russo One"/>
              <a:sym typeface="Russo One"/>
            </a:endParaRPr>
          </a:p>
        </p:txBody>
      </p:sp>
      <p:graphicFrame>
        <p:nvGraphicFramePr>
          <p:cNvPr id="242" name="Google Shape;242;p44"/>
          <p:cNvGraphicFramePr/>
          <p:nvPr/>
        </p:nvGraphicFramePr>
        <p:xfrm>
          <a:off x="1708726" y="14619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{382A4080-1A4A-4731-BC69-25C6FC3FDAAE}</a:tableStyleId>
              </a:tblPr>
              <a:tblGrid>
                <a:gridCol w="1958100"/>
                <a:gridCol w="1958100"/>
                <a:gridCol w="1958100"/>
              </a:tblGrid>
              <a:tr h="315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none" cap="none" strike="noStrike"/>
                        <a:t>Selector</a:t>
                      </a:r>
                      <a:endParaRPr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none" cap="none" strike="noStrike"/>
                        <a:t>Ejemplo</a:t>
                      </a:r>
                      <a:endParaRPr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none" cap="none" strike="noStrike"/>
                        <a:t>Tutorial de aprendizaje de CSS</a:t>
                      </a:r>
                      <a:endParaRPr/>
                    </a:p>
                  </a:txBody>
                  <a:tcPr marT="19700" marB="19700" marR="39425" marL="39425" anchor="ctr"/>
                </a:tc>
              </a:tr>
              <a:tr h="22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3"/>
                        </a:rPr>
                        <a:t>Selector de tipo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none" cap="none" strike="noStrike"/>
                        <a:t>h1 { }</a:t>
                      </a:r>
                      <a:endParaRPr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4"/>
                        </a:rPr>
                        <a:t>Los tipos de selectores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</a:tr>
              <a:tr h="22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5"/>
                        </a:rPr>
                        <a:t>Selector universal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none" cap="none" strike="noStrike"/>
                        <a:t>* { }</a:t>
                      </a:r>
                      <a:endParaRPr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6"/>
                        </a:rPr>
                        <a:t>El selector universal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</a:tr>
              <a:tr h="22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7"/>
                        </a:rPr>
                        <a:t>Selector de clase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none" cap="none" strike="noStrike"/>
                        <a:t>.box { }</a:t>
                      </a:r>
                      <a:endParaRPr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8"/>
                        </a:rPr>
                        <a:t>Los selectores de clase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</a:tr>
              <a:tr h="22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9"/>
                        </a:rPr>
                        <a:t>Selector de ID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none" cap="none" strike="noStrike"/>
                        <a:t>#unique { }</a:t>
                      </a:r>
                      <a:endParaRPr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10"/>
                        </a:rPr>
                        <a:t>Los selectores de ID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</a:tr>
              <a:tr h="22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11"/>
                        </a:rPr>
                        <a:t>Selector de atributo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none" cap="none" strike="noStrike"/>
                        <a:t>a[title] { }</a:t>
                      </a:r>
                      <a:endParaRPr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12"/>
                        </a:rPr>
                        <a:t>Los selectores de atributo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</a:tr>
              <a:tr h="13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13"/>
                        </a:rPr>
                        <a:t>Pseudoclase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none" cap="none" strike="noStrike"/>
                        <a:t>p:first-child { }</a:t>
                      </a:r>
                      <a:endParaRPr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14"/>
                        </a:rPr>
                        <a:t>Las pseudoclases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</a:tr>
              <a:tr h="22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15"/>
                        </a:rPr>
                        <a:t>Pseudoelemento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none" cap="none" strike="noStrike"/>
                        <a:t>p::first-line { }</a:t>
                      </a:r>
                      <a:endParaRPr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16"/>
                        </a:rPr>
                        <a:t>Los pseudoelementos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</a:tr>
              <a:tr h="315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17"/>
                        </a:rPr>
                        <a:t>Operadores de combinación descendentes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none" cap="none" strike="noStrike"/>
                        <a:t>article p</a:t>
                      </a:r>
                      <a:endParaRPr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18"/>
                        </a:rPr>
                        <a:t>Operadores de combinación descendentes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</a:tr>
              <a:tr h="315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19"/>
                        </a:rPr>
                        <a:t>Operador de combinación de elementos hijo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none" cap="none" strike="noStrike"/>
                        <a:t>article &gt; p</a:t>
                      </a:r>
                      <a:endParaRPr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20"/>
                        </a:rPr>
                        <a:t>Operadores de combinación de elementos hijo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</a:tr>
              <a:tr h="49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21"/>
                        </a:rPr>
                        <a:t>Operador de combinación de elementos hermanos adyacentes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none" cap="none" strike="noStrike"/>
                        <a:t>h1 + p</a:t>
                      </a:r>
                      <a:endParaRPr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22"/>
                        </a:rPr>
                        <a:t>Hermanos adyacentes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</a:tr>
              <a:tr h="49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23"/>
                        </a:rPr>
                        <a:t>Operador de combinación general de elementos hermanos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none" cap="none" strike="noStrike"/>
                        <a:t>h1 ~ p</a:t>
                      </a:r>
                      <a:endParaRPr/>
                    </a:p>
                  </a:txBody>
                  <a:tcPr marT="19700" marB="19700" marR="39425" marL="394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900" u="sng" cap="none" strike="noStrike">
                          <a:solidFill>
                            <a:schemeClr val="hlink"/>
                          </a:solidFill>
                          <a:hlinkClick r:id="rId24"/>
                        </a:rPr>
                        <a:t>Hermanos generales</a:t>
                      </a:r>
                      <a:endParaRPr sz="900" u="none" cap="none" strike="noStrike"/>
                    </a:p>
                  </a:txBody>
                  <a:tcPr marT="19700" marB="19700" marR="39425" marL="39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C3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5"/>
          <p:cNvSpPr txBox="1"/>
          <p:nvPr>
            <p:ph idx="4294967295" type="title"/>
          </p:nvPr>
        </p:nvSpPr>
        <p:spPr>
          <a:xfrm>
            <a:off x="798945" y="1771795"/>
            <a:ext cx="4129088" cy="5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AR" sz="4400">
                <a:solidFill>
                  <a:srgbClr val="4A4A4A"/>
                </a:solidFill>
                <a:latin typeface="Russo One"/>
                <a:ea typeface="Russo One"/>
                <a:cs typeface="Russo One"/>
                <a:sym typeface="Russo One"/>
              </a:rPr>
              <a:t>Veamos un ejemplo de </a:t>
            </a:r>
            <a:endParaRPr sz="4400">
              <a:solidFill>
                <a:srgbClr val="4A4A4A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AR" sz="4400">
                <a:solidFill>
                  <a:srgbClr val="CD0055"/>
                </a:solidFill>
                <a:latin typeface="Russo One"/>
                <a:ea typeface="Russo One"/>
                <a:cs typeface="Russo One"/>
                <a:sym typeface="Russo One"/>
              </a:rPr>
              <a:t>este tema</a:t>
            </a:r>
            <a:endParaRPr sz="4400">
              <a:solidFill>
                <a:srgbClr val="CD0055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248" name="Google Shape;24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7025" y="691975"/>
            <a:ext cx="4392225" cy="439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3969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6"/>
          <p:cNvSpPr txBox="1"/>
          <p:nvPr>
            <p:ph idx="4294967295" type="title"/>
          </p:nvPr>
        </p:nvSpPr>
        <p:spPr>
          <a:xfrm>
            <a:off x="701964" y="1198995"/>
            <a:ext cx="4135438" cy="28876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AR" sz="440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Ahora es momento </a:t>
            </a:r>
            <a:endParaRPr sz="4400">
              <a:solidFill>
                <a:srgbClr val="EAC3FF"/>
              </a:solidFill>
              <a:latin typeface="Russo One"/>
              <a:ea typeface="Russo One"/>
              <a:cs typeface="Russo One"/>
              <a:sym typeface="Russo On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AR" sz="4400">
                <a:solidFill>
                  <a:srgbClr val="EAC3FF"/>
                </a:solidFill>
                <a:latin typeface="Russo One"/>
                <a:ea typeface="Russo One"/>
                <a:cs typeface="Russo One"/>
                <a:sym typeface="Russo One"/>
              </a:rPr>
              <a:t>de aplicar </a:t>
            </a:r>
            <a:r>
              <a:rPr lang="es-AR" sz="4400">
                <a:solidFill>
                  <a:srgbClr val="F0F000"/>
                </a:solidFill>
                <a:latin typeface="Russo One"/>
                <a:ea typeface="Russo One"/>
                <a:cs typeface="Russo One"/>
                <a:sym typeface="Russo One"/>
              </a:rPr>
              <a:t>lo aprendido en clase</a:t>
            </a:r>
            <a:endParaRPr sz="4400">
              <a:solidFill>
                <a:srgbClr val="F0F000"/>
              </a:solidFill>
              <a:latin typeface="Russo One"/>
              <a:ea typeface="Russo One"/>
              <a:cs typeface="Russo One"/>
              <a:sym typeface="Russo One"/>
            </a:endParaRPr>
          </a:p>
        </p:txBody>
      </p:sp>
      <p:pic>
        <p:nvPicPr>
          <p:cNvPr id="254" name="Google Shape;25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9375" y="951150"/>
            <a:ext cx="4078050" cy="40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7"/>
          <p:cNvSpPr txBox="1"/>
          <p:nvPr/>
        </p:nvSpPr>
        <p:spPr>
          <a:xfrm>
            <a:off x="528853" y="984991"/>
            <a:ext cx="8197130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4000" u="none" cap="none" strike="noStrike">
                <a:solidFill>
                  <a:srgbClr val="BE3969"/>
                </a:solidFill>
                <a:highlight>
                  <a:srgbClr val="FFFFFF"/>
                </a:highlight>
                <a:latin typeface="Russo One"/>
                <a:ea typeface="Russo One"/>
                <a:cs typeface="Russo One"/>
                <a:sym typeface="Russo One"/>
              </a:rPr>
              <a:t>Ejercitación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s-AR" sz="2400" u="sng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https://github.com/Ada-IT/ejercicios-frontend/blob/master/modulo-1/ejercicios/05-introduccion-a-css.md</a:t>
            </a:r>
            <a:r>
              <a:rPr b="1" i="0" lang="es-AR" sz="24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CD0055"/>
      </a:dk1>
      <a:lt1>
        <a:srgbClr val="FFFFFF"/>
      </a:lt1>
      <a:dk2>
        <a:srgbClr val="000000"/>
      </a:dk2>
      <a:lt2>
        <a:srgbClr val="F0F000"/>
      </a:lt2>
      <a:accent1>
        <a:srgbClr val="FF9936"/>
      </a:accent1>
      <a:accent2>
        <a:srgbClr val="E98FB5"/>
      </a:accent2>
      <a:accent3>
        <a:srgbClr val="F2D6E1"/>
      </a:accent3>
      <a:accent4>
        <a:srgbClr val="FFAB40"/>
      </a:accent4>
      <a:accent5>
        <a:srgbClr val="9E0046"/>
      </a:accent5>
      <a:accent6>
        <a:srgbClr val="455A6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