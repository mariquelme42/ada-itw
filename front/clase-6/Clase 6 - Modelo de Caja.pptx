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5"/>
  </p:notesMasterIdLst>
  <p:sldIdLst>
    <p:sldId id="262" r:id="rId2"/>
    <p:sldId id="287" r:id="rId3"/>
    <p:sldId id="316" r:id="rId4"/>
    <p:sldId id="317" r:id="rId5"/>
    <p:sldId id="318" r:id="rId6"/>
    <p:sldId id="319" r:id="rId7"/>
    <p:sldId id="320" r:id="rId8"/>
    <p:sldId id="321" r:id="rId9"/>
    <p:sldId id="322" r:id="rId10"/>
    <p:sldId id="323" r:id="rId11"/>
    <p:sldId id="324"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 id="337" r:id="rId25"/>
    <p:sldId id="338" r:id="rId26"/>
    <p:sldId id="339" r:id="rId27"/>
    <p:sldId id="340" r:id="rId28"/>
    <p:sldId id="341" r:id="rId29"/>
    <p:sldId id="342" r:id="rId30"/>
    <p:sldId id="343" r:id="rId31"/>
    <p:sldId id="344" r:id="rId32"/>
    <p:sldId id="345" r:id="rId33"/>
    <p:sldId id="346" r:id="rId34"/>
    <p:sldId id="347" r:id="rId35"/>
    <p:sldId id="348" r:id="rId36"/>
    <p:sldId id="288" r:id="rId37"/>
    <p:sldId id="349" r:id="rId38"/>
    <p:sldId id="350" r:id="rId39"/>
    <p:sldId id="351" r:id="rId40"/>
    <p:sldId id="352" r:id="rId41"/>
    <p:sldId id="353" r:id="rId42"/>
    <p:sldId id="354" r:id="rId43"/>
    <p:sldId id="355" r:id="rId44"/>
    <p:sldId id="356" r:id="rId45"/>
    <p:sldId id="357" r:id="rId46"/>
    <p:sldId id="359" r:id="rId47"/>
    <p:sldId id="360" r:id="rId48"/>
    <p:sldId id="361" r:id="rId49"/>
    <p:sldId id="362" r:id="rId50"/>
    <p:sldId id="358" r:id="rId51"/>
    <p:sldId id="267" r:id="rId52"/>
    <p:sldId id="268" r:id="rId53"/>
    <p:sldId id="397" r:id="rId54"/>
  </p:sldIdLst>
  <p:sldSz cx="9144000" cy="5143500" type="screen16x9"/>
  <p:notesSz cx="6858000" cy="9144000"/>
  <p:embeddedFontLst>
    <p:embeddedFont>
      <p:font typeface="Lato" panose="020F0502020204030203" pitchFamily="34" charset="0"/>
      <p:regular r:id="rId56"/>
      <p:bold r:id="rId57"/>
      <p:italic r:id="rId58"/>
      <p:boldItalic r:id="rId59"/>
    </p:embeddedFont>
    <p:embeddedFont>
      <p:font typeface="Russo One" panose="020B0604020202020204" charset="0"/>
      <p:regular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ernardita Bauque" initials="" lastIdx="4" clrIdx="0"/>
  <p:cmAuthor id="1" name="catalina llarin" initials=""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18CB89-29BF-476F-BAC4-F03CFA606FF7}">
  <a:tblStyle styleId="{B718CB89-29BF-476F-BAC4-F03CFA606FF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d6070746ec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d6070746ec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1717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030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7133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6614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7392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5273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98933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61241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3286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9930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15813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2444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35319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70695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9589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4107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1556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8703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95171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0189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86120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7296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201453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2985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06632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823977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30493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860483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25365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67483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62634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22695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790974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20047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45870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36134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495358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68286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095601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08423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802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591488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961883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04476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88486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354704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84668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182983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230456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6070746ec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d6070746ec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d6070746ec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d6070746ec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6683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grpSp>
        <p:nvGrpSpPr>
          <p:cNvPr id="50" name="Google Shape;50;p12"/>
          <p:cNvGrpSpPr/>
          <p:nvPr/>
        </p:nvGrpSpPr>
        <p:grpSpPr>
          <a:xfrm>
            <a:off x="-9875" y="-4950"/>
            <a:ext cx="9153900" cy="770700"/>
            <a:chOff x="-9875" y="-4950"/>
            <a:chExt cx="9153900" cy="770700"/>
          </a:xfrm>
        </p:grpSpPr>
        <p:sp>
          <p:nvSpPr>
            <p:cNvPr id="51" name="Google Shape;51;p12"/>
            <p:cNvSpPr/>
            <p:nvPr/>
          </p:nvSpPr>
          <p:spPr>
            <a:xfrm>
              <a:off x="-9875" y="-4950"/>
              <a:ext cx="9153900" cy="770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2" name="Google Shape;52;p12"/>
            <p:cNvPicPr preferRelativeResize="0"/>
            <p:nvPr/>
          </p:nvPicPr>
          <p:blipFill>
            <a:blip r:embed="rId2">
              <a:alphaModFix/>
            </a:blip>
            <a:stretch>
              <a:fillRect/>
            </a:stretch>
          </p:blipFill>
          <p:spPr>
            <a:xfrm>
              <a:off x="7712025" y="109800"/>
              <a:ext cx="1048575" cy="541200"/>
            </a:xfrm>
            <a:prstGeom prst="rect">
              <a:avLst/>
            </a:prstGeom>
            <a:solidFill>
              <a:schemeClr val="lt1"/>
            </a:solid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9.xml"/><Relationship Id="rId1" Type="http://schemas.openxmlformats.org/officeDocument/2006/relationships/slideLayout" Target="../slideLayouts/slideLayout10.xml"/><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hyperlink" Target="https://github.com/Ada-IT/ejercicios-frontend/blob/master/modulo-1/ejercicios/06-modelo-de-caja.md" TargetMode="External"/><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19"/>
          <p:cNvSpPr txBox="1">
            <a:spLocks noGrp="1"/>
          </p:cNvSpPr>
          <p:nvPr>
            <p:ph type="body" idx="4294967295"/>
          </p:nvPr>
        </p:nvSpPr>
        <p:spPr>
          <a:xfrm>
            <a:off x="484909" y="1320657"/>
            <a:ext cx="4759325" cy="2262187"/>
          </a:xfrm>
          <a:prstGeom prst="rect">
            <a:avLst/>
          </a:prstGeom>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US" sz="4400" b="1" dirty="0" err="1">
                <a:solidFill>
                  <a:srgbClr val="CD0055"/>
                </a:solidFill>
                <a:latin typeface="Russo One"/>
                <a:ea typeface="Russo One"/>
                <a:cs typeface="Russo One"/>
                <a:sym typeface="Russo One"/>
              </a:rPr>
              <a:t>Clase</a:t>
            </a:r>
            <a:r>
              <a:rPr lang="en-US" sz="4400" b="1" dirty="0">
                <a:solidFill>
                  <a:srgbClr val="CD0055"/>
                </a:solidFill>
                <a:latin typeface="Russo One"/>
                <a:ea typeface="Russo One"/>
                <a:cs typeface="Russo One"/>
                <a:sym typeface="Russo One"/>
              </a:rPr>
              <a:t> 6: </a:t>
            </a:r>
          </a:p>
          <a:p>
            <a:pPr marL="0" lvl="0" indent="0" algn="l" rtl="0">
              <a:lnSpc>
                <a:spcPct val="120000"/>
              </a:lnSpc>
              <a:spcBef>
                <a:spcPts val="0"/>
              </a:spcBef>
              <a:spcAft>
                <a:spcPts val="0"/>
              </a:spcAft>
              <a:buNone/>
            </a:pPr>
            <a:r>
              <a:rPr lang="es-AR" sz="4400" b="1" dirty="0">
                <a:solidFill>
                  <a:srgbClr val="CD0055"/>
                </a:solidFill>
                <a:latin typeface="Russo One"/>
                <a:ea typeface="Russo One"/>
                <a:cs typeface="Russo One"/>
                <a:sym typeface="Russo One"/>
              </a:rPr>
              <a:t>Modelo de Caja</a:t>
            </a:r>
            <a:endParaRPr sz="4000" dirty="0"/>
          </a:p>
        </p:txBody>
      </p:sp>
      <p:pic>
        <p:nvPicPr>
          <p:cNvPr id="114" name="Google Shape;114;p19"/>
          <p:cNvPicPr preferRelativeResize="0"/>
          <p:nvPr/>
        </p:nvPicPr>
        <p:blipFill>
          <a:blip r:embed="rId3">
            <a:alphaModFix/>
          </a:blip>
          <a:stretch>
            <a:fillRect/>
          </a:stretch>
        </p:blipFill>
        <p:spPr>
          <a:xfrm>
            <a:off x="5244234" y="1215032"/>
            <a:ext cx="3424075" cy="34039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10" name="Imagen 9">
            <a:extLst>
              <a:ext uri="{FF2B5EF4-FFF2-40B4-BE49-F238E27FC236}">
                <a16:creationId xmlns:a16="http://schemas.microsoft.com/office/drawing/2014/main" id="{437777EF-90F3-E966-8050-96D4E3F5B69A}"/>
              </a:ext>
            </a:extLst>
          </p:cNvPr>
          <p:cNvPicPr>
            <a:picLocks noChangeAspect="1"/>
          </p:cNvPicPr>
          <p:nvPr/>
        </p:nvPicPr>
        <p:blipFill>
          <a:blip r:embed="rId3"/>
          <a:stretch>
            <a:fillRect/>
          </a:stretch>
        </p:blipFill>
        <p:spPr>
          <a:xfrm>
            <a:off x="0" y="0"/>
            <a:ext cx="9144000" cy="5143500"/>
          </a:xfrm>
          <a:prstGeom prst="rect">
            <a:avLst/>
          </a:prstGeom>
        </p:spPr>
      </p:pic>
      <p:sp>
        <p:nvSpPr>
          <p:cNvPr id="11" name="Google Shape;71;p15"/>
          <p:cNvSpPr txBox="1">
            <a:spLocks/>
          </p:cNvSpPr>
          <p:nvPr/>
        </p:nvSpPr>
        <p:spPr>
          <a:xfrm>
            <a:off x="1750290" y="1963376"/>
            <a:ext cx="6105236" cy="12167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AR" sz="6000" dirty="0">
                <a:solidFill>
                  <a:schemeClr val="tx1"/>
                </a:solidFill>
                <a:latin typeface="Russo One"/>
                <a:ea typeface="Russo One"/>
                <a:cs typeface="Russo One"/>
                <a:sym typeface="Russo One"/>
              </a:rPr>
              <a:t>Modelo de Caja</a:t>
            </a:r>
          </a:p>
        </p:txBody>
      </p:sp>
    </p:spTree>
    <p:extLst>
      <p:ext uri="{BB962C8B-B14F-4D97-AF65-F5344CB8AC3E}">
        <p14:creationId xmlns:p14="http://schemas.microsoft.com/office/powerpoint/2010/main" val="2069778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6" y="688695"/>
            <a:ext cx="8584913" cy="1423467"/>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Modelo de Caja</a:t>
            </a:r>
          </a:p>
          <a:p>
            <a:endParaRPr lang="es-AR" sz="1050" dirty="0">
              <a:solidFill>
                <a:srgbClr val="BE3969"/>
              </a:solidFill>
              <a:highlight>
                <a:srgbClr val="FFFFFF"/>
              </a:highlight>
              <a:latin typeface="Russo One"/>
              <a:ea typeface="Lato"/>
              <a:cs typeface="Lato"/>
              <a:sym typeface="Russo One"/>
            </a:endParaRP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Podemos pensar los elementos de HTML como una caja</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Este concepto se conoce como box </a:t>
            </a:r>
            <a:r>
              <a:rPr lang="es-AR" sz="1600" dirty="0" err="1">
                <a:solidFill>
                  <a:srgbClr val="4A4A4A"/>
                </a:solidFill>
                <a:highlight>
                  <a:srgbClr val="FFFFFF"/>
                </a:highlight>
                <a:latin typeface="Lato"/>
                <a:ea typeface="Lato"/>
                <a:cs typeface="Lato"/>
                <a:sym typeface="Lato"/>
              </a:rPr>
              <a:t>model</a:t>
            </a:r>
            <a:endParaRPr lang="es-AR" sz="1600" dirty="0">
              <a:solidFill>
                <a:srgbClr val="4A4A4A"/>
              </a:solidFill>
              <a:highlight>
                <a:srgbClr val="FFFFFF"/>
              </a:highlight>
              <a:latin typeface="Lato"/>
              <a:ea typeface="Lato"/>
              <a:cs typeface="Lato"/>
              <a:sym typeface="Lato"/>
            </a:endParaRPr>
          </a:p>
        </p:txBody>
      </p:sp>
      <p:pic>
        <p:nvPicPr>
          <p:cNvPr id="1026" name="Picture 2" descr="Qué es y cómo funciona el modelo de caja en CSS3">
            <a:extLst>
              <a:ext uri="{FF2B5EF4-FFF2-40B4-BE49-F238E27FC236}">
                <a16:creationId xmlns:a16="http://schemas.microsoft.com/office/drawing/2014/main" id="{1F0904E3-B7B6-9CE4-0A75-4D648DEC4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743" y="2359312"/>
            <a:ext cx="4424218" cy="2488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676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5" y="688695"/>
            <a:ext cx="8483313" cy="4378122"/>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Modelo de Caja – Continuación </a:t>
            </a:r>
          </a:p>
          <a:p>
            <a:endParaRPr lang="es-AR" sz="1050" dirty="0">
              <a:solidFill>
                <a:srgbClr val="BE3969"/>
              </a:solidFill>
              <a:highlight>
                <a:srgbClr val="FFFFFF"/>
              </a:highlight>
              <a:latin typeface="Russo One"/>
              <a:ea typeface="Lato"/>
              <a:cs typeface="Lato"/>
              <a:sym typeface="Russo One"/>
            </a:endParaRP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chemeClr val="tx1"/>
                </a:solidFill>
                <a:highlight>
                  <a:srgbClr val="FFFFFF"/>
                </a:highlight>
                <a:latin typeface="Lato"/>
                <a:ea typeface="Lato"/>
                <a:cs typeface="Lato"/>
                <a:sym typeface="Lato"/>
              </a:rPr>
              <a:t>content</a:t>
            </a:r>
            <a:r>
              <a:rPr lang="es-AR" sz="1600" dirty="0">
                <a:solidFill>
                  <a:srgbClr val="4A4A4A"/>
                </a:solidFill>
                <a:highlight>
                  <a:srgbClr val="FFFFFF"/>
                </a:highlight>
                <a:latin typeface="Lato"/>
                <a:ea typeface="Lato"/>
                <a:cs typeface="Lato"/>
                <a:sym typeface="Lato"/>
              </a:rPr>
              <a:t>: es el contenido del elemento, por ejemplo un texto u otros elementos</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padding</a:t>
            </a:r>
            <a:r>
              <a:rPr lang="es-AR" sz="1600" dirty="0">
                <a:solidFill>
                  <a:srgbClr val="4A4A4A"/>
                </a:solidFill>
                <a:highlight>
                  <a:srgbClr val="FFFFFF"/>
                </a:highlight>
                <a:latin typeface="Lato"/>
                <a:ea typeface="Lato"/>
                <a:cs typeface="Lato"/>
                <a:sym typeface="Lato"/>
              </a:rPr>
              <a:t>: es un margen interno entre el borde y el contenido, podemos establecer diferentes valores para la parte superior, inferior, izquierda y derecha</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 es el borde de la caja y se le pueden aplicar diferentes estilo</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margin</a:t>
            </a:r>
            <a:r>
              <a:rPr lang="es-AR" sz="1600" dirty="0">
                <a:solidFill>
                  <a:srgbClr val="4A4A4A"/>
                </a:solidFill>
                <a:highlight>
                  <a:srgbClr val="FFFFFF"/>
                </a:highlight>
                <a:latin typeface="Lato"/>
                <a:ea typeface="Lato"/>
                <a:cs typeface="Lato"/>
                <a:sym typeface="Lato"/>
              </a:rPr>
              <a:t>: es el margen externo de la caja, podemos establecer diferentes valores para la parte superior, inferior, izquierda y derecha</a:t>
            </a: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En HTML existen elementos del tipo en bloque (block) y en </a:t>
            </a:r>
            <a:r>
              <a:rPr lang="es-AR" sz="1600" dirty="0" err="1">
                <a:solidFill>
                  <a:srgbClr val="4A4A4A"/>
                </a:solidFill>
                <a:highlight>
                  <a:srgbClr val="FFFFFF"/>
                </a:highlight>
                <a:latin typeface="Lato"/>
                <a:ea typeface="Lato"/>
                <a:cs typeface="Lato"/>
                <a:sym typeface="Lato"/>
              </a:rPr>
              <a:t>linea</a:t>
            </a:r>
            <a:r>
              <a:rPr lang="es-AR" sz="1600" dirty="0">
                <a:solidFill>
                  <a:srgbClr val="4A4A4A"/>
                </a:solidFill>
                <a:highlight>
                  <a:srgbClr val="FFFFFF"/>
                </a:highlight>
                <a:latin typeface="Lato"/>
                <a:ea typeface="Lato"/>
                <a:cs typeface="Lato"/>
                <a:sym typeface="Lato"/>
              </a:rPr>
              <a:t> (</a:t>
            </a:r>
            <a:r>
              <a:rPr lang="es-AR" sz="1600" dirty="0" err="1">
                <a:solidFill>
                  <a:srgbClr val="4A4A4A"/>
                </a:solidFill>
                <a:highlight>
                  <a:srgbClr val="FFFFFF"/>
                </a:highlight>
                <a:latin typeface="Lato"/>
                <a:ea typeface="Lato"/>
                <a:cs typeface="Lato"/>
                <a:sym typeface="Lato"/>
              </a:rPr>
              <a:t>inline</a:t>
            </a:r>
            <a:r>
              <a:rPr lang="es-AR" sz="1600" dirty="0">
                <a:solidFill>
                  <a:srgbClr val="4A4A4A"/>
                </a:solidFill>
                <a:highlight>
                  <a:srgbClr val="FFFFFF"/>
                </a:highlight>
                <a:latin typeface="Lato"/>
                <a:ea typeface="Lato"/>
                <a:cs typeface="Lato"/>
                <a:sym typeface="Lato"/>
              </a:rPr>
              <a:t>)</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Estos tipos de elementos se diferencian en la forma que se comportan y como se aplican los atributos de la caja</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Los elementos en </a:t>
            </a:r>
            <a:r>
              <a:rPr lang="es-AR" sz="1600" dirty="0" err="1">
                <a:solidFill>
                  <a:srgbClr val="4A4A4A"/>
                </a:solidFill>
                <a:highlight>
                  <a:srgbClr val="FFFFFF"/>
                </a:highlight>
                <a:latin typeface="Lato"/>
                <a:ea typeface="Lato"/>
                <a:cs typeface="Lato"/>
                <a:sym typeface="Lato"/>
              </a:rPr>
              <a:t>linea</a:t>
            </a:r>
            <a:r>
              <a:rPr lang="es-AR" sz="1600" dirty="0">
                <a:solidFill>
                  <a:srgbClr val="4A4A4A"/>
                </a:solidFill>
                <a:highlight>
                  <a:srgbClr val="FFFFFF"/>
                </a:highlight>
                <a:latin typeface="Lato"/>
                <a:ea typeface="Lato"/>
                <a:cs typeface="Lato"/>
                <a:sym typeface="Lato"/>
              </a:rPr>
              <a:t> por ejemplo ignoran los márgenes </a:t>
            </a:r>
            <a:r>
              <a:rPr lang="es-AR" sz="1600" dirty="0" err="1">
                <a:solidFill>
                  <a:srgbClr val="4A4A4A"/>
                </a:solidFill>
                <a:highlight>
                  <a:srgbClr val="FFFFFF"/>
                </a:highlight>
                <a:latin typeface="Lato"/>
                <a:ea typeface="Lato"/>
                <a:cs typeface="Lato"/>
                <a:sym typeface="Lato"/>
              </a:rPr>
              <a:t>superiror</a:t>
            </a:r>
            <a:r>
              <a:rPr lang="es-AR" sz="1600" dirty="0">
                <a:solidFill>
                  <a:srgbClr val="4A4A4A"/>
                </a:solidFill>
                <a:highlight>
                  <a:srgbClr val="FFFFFF"/>
                </a:highlight>
                <a:latin typeface="Lato"/>
                <a:ea typeface="Lato"/>
                <a:cs typeface="Lato"/>
                <a:sym typeface="Lato"/>
              </a:rPr>
              <a:t> e inferior pero si aplica los de izquierda y derecha</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También los elementos en </a:t>
            </a:r>
            <a:r>
              <a:rPr lang="es-AR" sz="1600" dirty="0" err="1">
                <a:solidFill>
                  <a:srgbClr val="4A4A4A"/>
                </a:solidFill>
                <a:highlight>
                  <a:srgbClr val="FFFFFF"/>
                </a:highlight>
                <a:latin typeface="Lato"/>
                <a:ea typeface="Lato"/>
                <a:cs typeface="Lato"/>
                <a:sym typeface="Lato"/>
              </a:rPr>
              <a:t>linea</a:t>
            </a:r>
            <a:r>
              <a:rPr lang="es-AR" sz="1600" dirty="0">
                <a:solidFill>
                  <a:srgbClr val="4A4A4A"/>
                </a:solidFill>
                <a:highlight>
                  <a:srgbClr val="FFFFFF"/>
                </a:highlight>
                <a:latin typeface="Lato"/>
                <a:ea typeface="Lato"/>
                <a:cs typeface="Lato"/>
                <a:sym typeface="Lato"/>
              </a:rPr>
              <a:t> ignoran las propiedades de ancho y alto (lo vemos más adelante)</a:t>
            </a:r>
          </a:p>
        </p:txBody>
      </p:sp>
    </p:spTree>
    <p:extLst>
      <p:ext uri="{BB962C8B-B14F-4D97-AF65-F5344CB8AC3E}">
        <p14:creationId xmlns:p14="http://schemas.microsoft.com/office/powerpoint/2010/main" val="1288912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5" y="688695"/>
            <a:ext cx="8483313" cy="4078039"/>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Modelo de Caja – Continuación </a:t>
            </a:r>
          </a:p>
          <a:p>
            <a:endParaRPr lang="es-AR" sz="1100" dirty="0">
              <a:solidFill>
                <a:srgbClr val="BE3969"/>
              </a:solidFill>
              <a:highlight>
                <a:srgbClr val="FFFFFF"/>
              </a:highlight>
              <a:latin typeface="Russo One"/>
              <a:ea typeface="Lato"/>
              <a:cs typeface="Lato"/>
              <a:sym typeface="Russo One"/>
            </a:endParaRPr>
          </a:p>
          <a:p>
            <a:pPr lvl="0" rtl="0">
              <a:spcBef>
                <a:spcPts val="0"/>
              </a:spcBef>
              <a:spcAft>
                <a:spcPts val="0"/>
              </a:spcAft>
            </a:pPr>
            <a:r>
              <a:rPr lang="es-AR" sz="1800" b="1" dirty="0">
                <a:solidFill>
                  <a:schemeClr val="tx1"/>
                </a:solidFill>
                <a:highlight>
                  <a:srgbClr val="FFFFFF"/>
                </a:highlight>
                <a:latin typeface="Lato"/>
                <a:ea typeface="Lato"/>
                <a:cs typeface="Lato"/>
                <a:sym typeface="Lato"/>
              </a:rPr>
              <a:t>IMPORTANTE</a:t>
            </a:r>
          </a:p>
          <a:p>
            <a:pPr marL="285750" lvl="0" indent="-285750" rtl="0">
              <a:spcBef>
                <a:spcPts val="0"/>
              </a:spcBef>
              <a:spcAft>
                <a:spcPts val="0"/>
              </a:spcAft>
              <a:buFont typeface="Arial" panose="020B0604020202020204" pitchFamily="34" charset="0"/>
              <a:buChar char="•"/>
            </a:pPr>
            <a:endParaRPr lang="es-AR" sz="1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800" dirty="0">
                <a:solidFill>
                  <a:srgbClr val="4A4A4A"/>
                </a:solidFill>
                <a:highlight>
                  <a:srgbClr val="FFFFFF"/>
                </a:highlight>
                <a:latin typeface="Lato"/>
                <a:ea typeface="Lato"/>
                <a:cs typeface="Lato"/>
                <a:sym typeface="Lato"/>
              </a:rPr>
              <a:t>Para calcular el ancho de un elemento tenemos que tener en cuenta:</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Ancho del elemento</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Espacio asignado para </a:t>
            </a:r>
            <a:r>
              <a:rPr lang="es-AR" sz="1800" dirty="0" err="1">
                <a:solidFill>
                  <a:srgbClr val="4A4A4A"/>
                </a:solidFill>
                <a:highlight>
                  <a:srgbClr val="FFFFFF"/>
                </a:highlight>
                <a:latin typeface="Lato"/>
                <a:ea typeface="Lato"/>
                <a:cs typeface="Lato"/>
                <a:sym typeface="Lato"/>
              </a:rPr>
              <a:t>padding</a:t>
            </a:r>
            <a:r>
              <a:rPr lang="es-AR" sz="1800" dirty="0">
                <a:solidFill>
                  <a:srgbClr val="4A4A4A"/>
                </a:solidFill>
                <a:highlight>
                  <a:srgbClr val="FFFFFF"/>
                </a:highlight>
                <a:latin typeface="Lato"/>
                <a:ea typeface="Lato"/>
                <a:cs typeface="Lato"/>
                <a:sym typeface="Lato"/>
              </a:rPr>
              <a:t> (margen interno)</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Ancho del borde</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Espacio asignado a los </a:t>
            </a:r>
            <a:r>
              <a:rPr lang="es-AR" sz="1800" dirty="0" err="1">
                <a:solidFill>
                  <a:srgbClr val="4A4A4A"/>
                </a:solidFill>
                <a:highlight>
                  <a:srgbClr val="FFFFFF"/>
                </a:highlight>
                <a:latin typeface="Lato"/>
                <a:ea typeface="Lato"/>
                <a:cs typeface="Lato"/>
                <a:sym typeface="Lato"/>
              </a:rPr>
              <a:t>márgines</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800" dirty="0">
                <a:solidFill>
                  <a:srgbClr val="4A4A4A"/>
                </a:solidFill>
                <a:highlight>
                  <a:srgbClr val="FFFFFF"/>
                </a:highlight>
                <a:latin typeface="Lato"/>
                <a:ea typeface="Lato"/>
                <a:cs typeface="Lato"/>
                <a:sym typeface="Lato"/>
              </a:rPr>
              <a:t>Sumando todos estos valores obtenemos el ancho real de los elementos</a:t>
            </a:r>
          </a:p>
          <a:p>
            <a:pPr marL="285750" lvl="0" indent="-285750" rtl="0">
              <a:spcBef>
                <a:spcPts val="0"/>
              </a:spcBef>
              <a:spcAft>
                <a:spcPts val="0"/>
              </a:spcAft>
              <a:buFont typeface="Arial" panose="020B0604020202020204" pitchFamily="34" charset="0"/>
              <a:buChar char="•"/>
            </a:pP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Algunos browsers viejos manejaban el modelo de la caja de otra forma y esto traía </a:t>
            </a:r>
            <a:r>
              <a:rPr lang="es-AR" sz="1800" dirty="0" err="1">
                <a:solidFill>
                  <a:srgbClr val="4A4A4A"/>
                </a:solidFill>
                <a:highlight>
                  <a:srgbClr val="FFFFFF"/>
                </a:highlight>
                <a:latin typeface="Lato"/>
                <a:ea typeface="Lato"/>
                <a:cs typeface="Lato"/>
                <a:sym typeface="Lato"/>
              </a:rPr>
              <a:t>inconpatibilidad</a:t>
            </a:r>
            <a:r>
              <a:rPr lang="es-AR" sz="1800" dirty="0">
                <a:solidFill>
                  <a:srgbClr val="4A4A4A"/>
                </a:solidFill>
                <a:highlight>
                  <a:srgbClr val="FFFFFF"/>
                </a:highlight>
                <a:latin typeface="Lato"/>
                <a:ea typeface="Lato"/>
                <a:cs typeface="Lato"/>
                <a:sym typeface="Lato"/>
              </a:rPr>
              <a:t> entre ellos</a:t>
            </a:r>
          </a:p>
        </p:txBody>
      </p:sp>
    </p:spTree>
    <p:extLst>
      <p:ext uri="{BB962C8B-B14F-4D97-AF65-F5344CB8AC3E}">
        <p14:creationId xmlns:p14="http://schemas.microsoft.com/office/powerpoint/2010/main" val="3933728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5" y="688695"/>
            <a:ext cx="8483313" cy="3046988"/>
          </a:xfrm>
          <a:prstGeom prst="rect">
            <a:avLst/>
          </a:prstGeom>
          <a:noFill/>
        </p:spPr>
        <p:txBody>
          <a:bodyPr wrap="square">
            <a:spAutoFit/>
          </a:bodyPr>
          <a:lstStyle/>
          <a:p>
            <a:r>
              <a:rPr lang="es-AR" sz="2400" dirty="0">
                <a:solidFill>
                  <a:srgbClr val="BE3969"/>
                </a:solidFill>
                <a:highlight>
                  <a:srgbClr val="FFFFFF"/>
                </a:highlight>
                <a:latin typeface="Russo One"/>
                <a:ea typeface="Lato"/>
                <a:cs typeface="Lato"/>
                <a:sym typeface="Russo One"/>
              </a:rPr>
              <a:t>Color de fondo</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La propiedad </a:t>
            </a:r>
            <a:r>
              <a:rPr lang="es-AR" dirty="0" err="1">
                <a:solidFill>
                  <a:srgbClr val="4A4A4A"/>
                </a:solidFill>
                <a:highlight>
                  <a:srgbClr val="FFFFFF"/>
                </a:highlight>
                <a:latin typeface="Lato"/>
                <a:ea typeface="Lato"/>
                <a:cs typeface="Lato"/>
                <a:sym typeface="Lato"/>
              </a:rPr>
              <a:t>background</a:t>
            </a:r>
            <a:r>
              <a:rPr lang="es-AR" dirty="0">
                <a:solidFill>
                  <a:srgbClr val="4A4A4A"/>
                </a:solidFill>
                <a:highlight>
                  <a:srgbClr val="FFFFFF"/>
                </a:highlight>
                <a:latin typeface="Lato"/>
                <a:ea typeface="Lato"/>
                <a:cs typeface="Lato"/>
                <a:sym typeface="Lato"/>
              </a:rPr>
              <a:t>-color nos permite establecer un color de fondo</a:t>
            </a: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Podemos utilizar esta propiedad para nuestros diseños y también resaltar la caja de un elemento</a:t>
            </a: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Acepta un color como valor (cualquiera de los que vimos)</a:t>
            </a: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En este ejemplo establecemos que todos los </a:t>
            </a:r>
            <a:r>
              <a:rPr lang="es-AR" dirty="0" err="1">
                <a:solidFill>
                  <a:srgbClr val="4A4A4A"/>
                </a:solidFill>
                <a:highlight>
                  <a:srgbClr val="FFFFFF"/>
                </a:highlight>
                <a:latin typeface="Lato"/>
                <a:ea typeface="Lato"/>
                <a:cs typeface="Lato"/>
                <a:sym typeface="Lato"/>
              </a:rPr>
              <a:t>divs</a:t>
            </a:r>
            <a:r>
              <a:rPr lang="es-AR" dirty="0">
                <a:solidFill>
                  <a:srgbClr val="4A4A4A"/>
                </a:solidFill>
                <a:highlight>
                  <a:srgbClr val="FFFFFF"/>
                </a:highlight>
                <a:latin typeface="Lato"/>
                <a:ea typeface="Lato"/>
                <a:cs typeface="Lato"/>
                <a:sym typeface="Lato"/>
              </a:rPr>
              <a:t> tengan un color de fondo gris claro</a:t>
            </a: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También existe el color </a:t>
            </a:r>
            <a:r>
              <a:rPr lang="es-AR" dirty="0" err="1">
                <a:solidFill>
                  <a:srgbClr val="4A4A4A"/>
                </a:solidFill>
                <a:highlight>
                  <a:srgbClr val="FFFFFF"/>
                </a:highlight>
                <a:latin typeface="Lato"/>
                <a:ea typeface="Lato"/>
                <a:cs typeface="Lato"/>
                <a:sym typeface="Lato"/>
              </a:rPr>
              <a:t>transparent</a:t>
            </a:r>
            <a:r>
              <a:rPr lang="es-AR" dirty="0">
                <a:solidFill>
                  <a:srgbClr val="4A4A4A"/>
                </a:solidFill>
                <a:highlight>
                  <a:srgbClr val="FFFFFF"/>
                </a:highlight>
                <a:latin typeface="Lato"/>
                <a:ea typeface="Lato"/>
                <a:cs typeface="Lato"/>
                <a:sym typeface="Lato"/>
              </a:rPr>
              <a:t> que es el valor por default</a:t>
            </a:r>
          </a:p>
        </p:txBody>
      </p:sp>
      <p:pic>
        <p:nvPicPr>
          <p:cNvPr id="3" name="Imagen 2">
            <a:extLst>
              <a:ext uri="{FF2B5EF4-FFF2-40B4-BE49-F238E27FC236}">
                <a16:creationId xmlns:a16="http://schemas.microsoft.com/office/drawing/2014/main" id="{E70C88F5-B4FF-FC5E-1D31-2F5E40C0A5BF}"/>
              </a:ext>
            </a:extLst>
          </p:cNvPr>
          <p:cNvPicPr>
            <a:picLocks noChangeAspect="1"/>
          </p:cNvPicPr>
          <p:nvPr/>
        </p:nvPicPr>
        <p:blipFill>
          <a:blip r:embed="rId3"/>
          <a:stretch>
            <a:fillRect/>
          </a:stretch>
        </p:blipFill>
        <p:spPr>
          <a:xfrm>
            <a:off x="3486728" y="2261254"/>
            <a:ext cx="1999182" cy="725928"/>
          </a:xfrm>
          <a:prstGeom prst="rect">
            <a:avLst/>
          </a:prstGeom>
        </p:spPr>
      </p:pic>
      <p:pic>
        <p:nvPicPr>
          <p:cNvPr id="6" name="Imagen 5">
            <a:extLst>
              <a:ext uri="{FF2B5EF4-FFF2-40B4-BE49-F238E27FC236}">
                <a16:creationId xmlns:a16="http://schemas.microsoft.com/office/drawing/2014/main" id="{A3D4E0FE-448A-C1F1-D69F-90637DB1DB90}"/>
              </a:ext>
            </a:extLst>
          </p:cNvPr>
          <p:cNvPicPr>
            <a:picLocks noChangeAspect="1"/>
          </p:cNvPicPr>
          <p:nvPr/>
        </p:nvPicPr>
        <p:blipFill>
          <a:blip r:embed="rId4"/>
          <a:stretch>
            <a:fillRect/>
          </a:stretch>
        </p:blipFill>
        <p:spPr>
          <a:xfrm>
            <a:off x="3118284" y="3923355"/>
            <a:ext cx="2907432" cy="848001"/>
          </a:xfrm>
          <a:prstGeom prst="rect">
            <a:avLst/>
          </a:prstGeom>
        </p:spPr>
      </p:pic>
    </p:spTree>
    <p:extLst>
      <p:ext uri="{BB962C8B-B14F-4D97-AF65-F5344CB8AC3E}">
        <p14:creationId xmlns:p14="http://schemas.microsoft.com/office/powerpoint/2010/main" val="225975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5" y="688695"/>
            <a:ext cx="8483313" cy="4031873"/>
          </a:xfrm>
          <a:prstGeom prst="rect">
            <a:avLst/>
          </a:prstGeom>
          <a:noFill/>
        </p:spPr>
        <p:txBody>
          <a:bodyPr wrap="square">
            <a:spAutoFit/>
          </a:bodyPr>
          <a:lstStyle/>
          <a:p>
            <a:r>
              <a:rPr lang="es-AR" sz="3600" dirty="0">
                <a:solidFill>
                  <a:srgbClr val="BE3969"/>
                </a:solidFill>
                <a:highlight>
                  <a:srgbClr val="FFFFFF"/>
                </a:highlight>
                <a:latin typeface="Russo One"/>
                <a:ea typeface="Lato"/>
                <a:cs typeface="Lato"/>
                <a:sym typeface="Russo One"/>
              </a:rPr>
              <a:t>Ancho y Alto</a:t>
            </a:r>
          </a:p>
          <a:p>
            <a:pPr lvl="0" rtl="0">
              <a:spcBef>
                <a:spcPts val="0"/>
              </a:spcBef>
              <a:spcAft>
                <a:spcPts val="0"/>
              </a:spcAft>
            </a:pP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Por medio de las propiedades </a:t>
            </a:r>
            <a:r>
              <a:rPr lang="es-AR" sz="2000" dirty="0" err="1">
                <a:solidFill>
                  <a:srgbClr val="4A4A4A"/>
                </a:solidFill>
                <a:highlight>
                  <a:srgbClr val="FFFFFF"/>
                </a:highlight>
                <a:latin typeface="Lato"/>
                <a:ea typeface="Lato"/>
                <a:cs typeface="Lato"/>
                <a:sym typeface="Lato"/>
              </a:rPr>
              <a:t>width</a:t>
            </a:r>
            <a:r>
              <a:rPr lang="es-AR" sz="2000" dirty="0">
                <a:solidFill>
                  <a:srgbClr val="4A4A4A"/>
                </a:solidFill>
                <a:highlight>
                  <a:srgbClr val="FFFFFF"/>
                </a:highlight>
                <a:latin typeface="Lato"/>
                <a:ea typeface="Lato"/>
                <a:cs typeface="Lato"/>
                <a:sym typeface="Lato"/>
              </a:rPr>
              <a:t> y </a:t>
            </a:r>
            <a:r>
              <a:rPr lang="es-AR" sz="2000" dirty="0" err="1">
                <a:solidFill>
                  <a:srgbClr val="4A4A4A"/>
                </a:solidFill>
                <a:highlight>
                  <a:srgbClr val="FFFFFF"/>
                </a:highlight>
                <a:latin typeface="Lato"/>
                <a:ea typeface="Lato"/>
                <a:cs typeface="Lato"/>
                <a:sym typeface="Lato"/>
              </a:rPr>
              <a:t>height</a:t>
            </a:r>
            <a:r>
              <a:rPr lang="es-AR" sz="2000" dirty="0">
                <a:solidFill>
                  <a:srgbClr val="4A4A4A"/>
                </a:solidFill>
                <a:highlight>
                  <a:srgbClr val="FFFFFF"/>
                </a:highlight>
                <a:latin typeface="Lato"/>
                <a:ea typeface="Lato"/>
                <a:cs typeface="Lato"/>
                <a:sym typeface="Lato"/>
              </a:rPr>
              <a:t> podemos establecer el ancho y alto de la caja</a:t>
            </a: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Acepta medidas en </a:t>
            </a:r>
            <a:r>
              <a:rPr lang="es-AR" sz="2000" dirty="0" err="1">
                <a:solidFill>
                  <a:srgbClr val="4A4A4A"/>
                </a:solidFill>
                <a:highlight>
                  <a:srgbClr val="FFFFFF"/>
                </a:highlight>
                <a:latin typeface="Lato"/>
                <a:ea typeface="Lato"/>
                <a:cs typeface="Lato"/>
                <a:sym typeface="Lato"/>
              </a:rPr>
              <a:t>px</a:t>
            </a:r>
            <a:r>
              <a:rPr lang="es-AR" sz="2000" dirty="0">
                <a:solidFill>
                  <a:srgbClr val="4A4A4A"/>
                </a:solidFill>
                <a:highlight>
                  <a:srgbClr val="FFFFFF"/>
                </a:highlight>
                <a:latin typeface="Lato"/>
                <a:ea typeface="Lato"/>
                <a:cs typeface="Lato"/>
                <a:sym typeface="Lato"/>
              </a:rPr>
              <a:t>, % o </a:t>
            </a:r>
            <a:r>
              <a:rPr lang="es-AR" sz="2000" dirty="0" err="1">
                <a:solidFill>
                  <a:srgbClr val="4A4A4A"/>
                </a:solidFill>
                <a:highlight>
                  <a:srgbClr val="FFFFFF"/>
                </a:highlight>
                <a:latin typeface="Lato"/>
                <a:ea typeface="Lato"/>
                <a:cs typeface="Lato"/>
                <a:sym typeface="Lato"/>
              </a:rPr>
              <a:t>ems</a:t>
            </a: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En el ejemplo anterior establecemos el alto y el ancho de la caja en 200px es decir que estamos haciendo un cuadrado</a:t>
            </a:r>
          </a:p>
        </p:txBody>
      </p:sp>
      <p:pic>
        <p:nvPicPr>
          <p:cNvPr id="5" name="Imagen 4">
            <a:extLst>
              <a:ext uri="{FF2B5EF4-FFF2-40B4-BE49-F238E27FC236}">
                <a16:creationId xmlns:a16="http://schemas.microsoft.com/office/drawing/2014/main" id="{3D89E078-D614-81E9-E96F-48AAAFB5A4B1}"/>
              </a:ext>
            </a:extLst>
          </p:cNvPr>
          <p:cNvPicPr>
            <a:picLocks noChangeAspect="1"/>
          </p:cNvPicPr>
          <p:nvPr/>
        </p:nvPicPr>
        <p:blipFill>
          <a:blip r:embed="rId3"/>
          <a:stretch>
            <a:fillRect/>
          </a:stretch>
        </p:blipFill>
        <p:spPr>
          <a:xfrm>
            <a:off x="3478561" y="2715490"/>
            <a:ext cx="1689183" cy="1103599"/>
          </a:xfrm>
          <a:prstGeom prst="rect">
            <a:avLst/>
          </a:prstGeom>
        </p:spPr>
      </p:pic>
    </p:spTree>
    <p:extLst>
      <p:ext uri="{BB962C8B-B14F-4D97-AF65-F5344CB8AC3E}">
        <p14:creationId xmlns:p14="http://schemas.microsoft.com/office/powerpoint/2010/main" val="4236137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5" y="688695"/>
            <a:ext cx="8483313" cy="3077766"/>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Ancho y Alto – Continuación </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También podemos establecer valores mínimos o máximos para un elemento</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Utilizamos min-</a:t>
            </a:r>
            <a:r>
              <a:rPr lang="es-AR" sz="1800" dirty="0" err="1">
                <a:solidFill>
                  <a:srgbClr val="4A4A4A"/>
                </a:solidFill>
                <a:highlight>
                  <a:srgbClr val="FFFFFF"/>
                </a:highlight>
                <a:latin typeface="Lato"/>
                <a:ea typeface="Lato"/>
                <a:cs typeface="Lato"/>
                <a:sym typeface="Lato"/>
              </a:rPr>
              <a:t>width</a:t>
            </a:r>
            <a:r>
              <a:rPr lang="es-AR" sz="1800" dirty="0">
                <a:solidFill>
                  <a:srgbClr val="4A4A4A"/>
                </a:solidFill>
                <a:highlight>
                  <a:srgbClr val="FFFFFF"/>
                </a:highlight>
                <a:latin typeface="Lato"/>
                <a:ea typeface="Lato"/>
                <a:cs typeface="Lato"/>
                <a:sym typeface="Lato"/>
              </a:rPr>
              <a:t> y </a:t>
            </a:r>
            <a:r>
              <a:rPr lang="es-AR" sz="1800" dirty="0" err="1">
                <a:solidFill>
                  <a:srgbClr val="4A4A4A"/>
                </a:solidFill>
                <a:highlight>
                  <a:srgbClr val="FFFFFF"/>
                </a:highlight>
                <a:latin typeface="Lato"/>
                <a:ea typeface="Lato"/>
                <a:cs typeface="Lato"/>
                <a:sym typeface="Lato"/>
              </a:rPr>
              <a:t>max-width</a:t>
            </a:r>
            <a:r>
              <a:rPr lang="es-AR" sz="1800" dirty="0">
                <a:solidFill>
                  <a:srgbClr val="4A4A4A"/>
                </a:solidFill>
                <a:highlight>
                  <a:srgbClr val="FFFFFF"/>
                </a:highlight>
                <a:latin typeface="Lato"/>
                <a:ea typeface="Lato"/>
                <a:cs typeface="Lato"/>
                <a:sym typeface="Lato"/>
              </a:rPr>
              <a:t> para establecer el mínimo y máximo ancho de la caja</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Podemos hacer lo mismo con el alto utilizando min-</a:t>
            </a:r>
            <a:r>
              <a:rPr lang="es-AR" sz="1800" dirty="0" err="1">
                <a:solidFill>
                  <a:srgbClr val="4A4A4A"/>
                </a:solidFill>
                <a:highlight>
                  <a:srgbClr val="FFFFFF"/>
                </a:highlight>
                <a:latin typeface="Lato"/>
                <a:ea typeface="Lato"/>
                <a:cs typeface="Lato"/>
                <a:sym typeface="Lato"/>
              </a:rPr>
              <a:t>height</a:t>
            </a:r>
            <a:r>
              <a:rPr lang="es-AR" sz="1800" dirty="0">
                <a:solidFill>
                  <a:srgbClr val="4A4A4A"/>
                </a:solidFill>
                <a:highlight>
                  <a:srgbClr val="FFFFFF"/>
                </a:highlight>
                <a:latin typeface="Lato"/>
                <a:ea typeface="Lato"/>
                <a:cs typeface="Lato"/>
                <a:sym typeface="Lato"/>
              </a:rPr>
              <a:t> y </a:t>
            </a:r>
            <a:r>
              <a:rPr lang="es-AR" sz="1800" dirty="0" err="1">
                <a:solidFill>
                  <a:srgbClr val="4A4A4A"/>
                </a:solidFill>
                <a:highlight>
                  <a:srgbClr val="FFFFFF"/>
                </a:highlight>
                <a:latin typeface="Lato"/>
                <a:ea typeface="Lato"/>
                <a:cs typeface="Lato"/>
                <a:sym typeface="Lato"/>
              </a:rPr>
              <a:t>max-height</a:t>
            </a:r>
            <a:r>
              <a:rPr lang="es-AR" sz="1800" dirty="0">
                <a:solidFill>
                  <a:srgbClr val="4A4A4A"/>
                </a:solidFill>
                <a:highlight>
                  <a:srgbClr val="FFFFFF"/>
                </a:highlight>
                <a:latin typeface="Lato"/>
                <a:ea typeface="Lato"/>
                <a:cs typeface="Lato"/>
                <a:sym typeface="Lato"/>
              </a:rPr>
              <a:t> para establecer el mínimo y máximo alto de la caja</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En este ejemplo, establecemos que mínimo alto y ancho de una caja</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En caso de necesitar ser más grande la caja se va a agrandar pero nunca va a ser menor a 100px</a:t>
            </a:r>
          </a:p>
        </p:txBody>
      </p:sp>
      <p:pic>
        <p:nvPicPr>
          <p:cNvPr id="8" name="Imagen 7">
            <a:extLst>
              <a:ext uri="{FF2B5EF4-FFF2-40B4-BE49-F238E27FC236}">
                <a16:creationId xmlns:a16="http://schemas.microsoft.com/office/drawing/2014/main" id="{D8E708DE-88AA-CC9C-731A-552BB457737C}"/>
              </a:ext>
            </a:extLst>
          </p:cNvPr>
          <p:cNvPicPr>
            <a:picLocks noChangeAspect="1"/>
          </p:cNvPicPr>
          <p:nvPr/>
        </p:nvPicPr>
        <p:blipFill>
          <a:blip r:embed="rId3"/>
          <a:stretch>
            <a:fillRect/>
          </a:stretch>
        </p:blipFill>
        <p:spPr>
          <a:xfrm>
            <a:off x="3302281" y="3766461"/>
            <a:ext cx="2539438" cy="1175665"/>
          </a:xfrm>
          <a:prstGeom prst="rect">
            <a:avLst/>
          </a:prstGeom>
        </p:spPr>
      </p:pic>
    </p:spTree>
    <p:extLst>
      <p:ext uri="{BB962C8B-B14F-4D97-AF65-F5344CB8AC3E}">
        <p14:creationId xmlns:p14="http://schemas.microsoft.com/office/powerpoint/2010/main" val="3507513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5" y="688695"/>
            <a:ext cx="8483313" cy="2800767"/>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Contenido Extra</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Existe una propiedad llamada </a:t>
            </a:r>
            <a:r>
              <a:rPr lang="es-AR" sz="1800" dirty="0" err="1">
                <a:solidFill>
                  <a:srgbClr val="4A4A4A"/>
                </a:solidFill>
                <a:highlight>
                  <a:srgbClr val="FFFFFF"/>
                </a:highlight>
                <a:latin typeface="Lato"/>
                <a:ea typeface="Lato"/>
                <a:cs typeface="Lato"/>
                <a:sym typeface="Lato"/>
              </a:rPr>
              <a:t>overflow</a:t>
            </a:r>
            <a:r>
              <a:rPr lang="es-AR" sz="1800" dirty="0">
                <a:solidFill>
                  <a:srgbClr val="4A4A4A"/>
                </a:solidFill>
                <a:highlight>
                  <a:srgbClr val="FFFFFF"/>
                </a:highlight>
                <a:latin typeface="Lato"/>
                <a:ea typeface="Lato"/>
                <a:cs typeface="Lato"/>
                <a:sym typeface="Lato"/>
              </a:rPr>
              <a:t> que nos permite manejar como se debe comportar el contenido extra de nuestro sitio</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Muchas veces el browser no sabe como cortar un texto y simplemente se ve mal</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Esta propiedad acepta los valores </a:t>
            </a:r>
            <a:r>
              <a:rPr lang="es-AR" sz="1800" dirty="0" err="1">
                <a:solidFill>
                  <a:srgbClr val="4A4A4A"/>
                </a:solidFill>
                <a:highlight>
                  <a:srgbClr val="FFFFFF"/>
                </a:highlight>
                <a:latin typeface="Lato"/>
                <a:ea typeface="Lato"/>
                <a:cs typeface="Lato"/>
                <a:sym typeface="Lato"/>
              </a:rPr>
              <a:t>hidden</a:t>
            </a:r>
            <a:r>
              <a:rPr lang="es-AR" sz="1800" dirty="0">
                <a:solidFill>
                  <a:srgbClr val="4A4A4A"/>
                </a:solidFill>
                <a:highlight>
                  <a:srgbClr val="FFFFFF"/>
                </a:highlight>
                <a:latin typeface="Lato"/>
                <a:ea typeface="Lato"/>
                <a:cs typeface="Lato"/>
                <a:sym typeface="Lato"/>
              </a:rPr>
              <a:t> y </a:t>
            </a:r>
            <a:r>
              <a:rPr lang="es-AR" sz="1800" dirty="0" err="1">
                <a:solidFill>
                  <a:srgbClr val="4A4A4A"/>
                </a:solidFill>
                <a:highlight>
                  <a:srgbClr val="FFFFFF"/>
                </a:highlight>
                <a:latin typeface="Lato"/>
                <a:ea typeface="Lato"/>
                <a:cs typeface="Lato"/>
                <a:sym typeface="Lato"/>
              </a:rPr>
              <a:t>scroll</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Con </a:t>
            </a:r>
            <a:r>
              <a:rPr lang="es-AR" sz="1800" dirty="0" err="1">
                <a:solidFill>
                  <a:srgbClr val="4A4A4A"/>
                </a:solidFill>
                <a:highlight>
                  <a:srgbClr val="FFFFFF"/>
                </a:highlight>
                <a:latin typeface="Lato"/>
                <a:ea typeface="Lato"/>
                <a:cs typeface="Lato"/>
                <a:sym typeface="Lato"/>
              </a:rPr>
              <a:t>hidden</a:t>
            </a:r>
            <a:r>
              <a:rPr lang="es-AR" sz="1800" dirty="0">
                <a:solidFill>
                  <a:srgbClr val="4A4A4A"/>
                </a:solidFill>
                <a:highlight>
                  <a:srgbClr val="FFFFFF"/>
                </a:highlight>
                <a:latin typeface="Lato"/>
                <a:ea typeface="Lato"/>
                <a:cs typeface="Lato"/>
                <a:sym typeface="Lato"/>
              </a:rPr>
              <a:t> ocultamos el contenido extra</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Con </a:t>
            </a:r>
            <a:r>
              <a:rPr lang="es-AR" sz="1800" dirty="0" err="1">
                <a:solidFill>
                  <a:srgbClr val="4A4A4A"/>
                </a:solidFill>
                <a:highlight>
                  <a:srgbClr val="FFFFFF"/>
                </a:highlight>
                <a:latin typeface="Lato"/>
                <a:ea typeface="Lato"/>
                <a:cs typeface="Lato"/>
                <a:sym typeface="Lato"/>
              </a:rPr>
              <a:t>scroll</a:t>
            </a:r>
            <a:r>
              <a:rPr lang="es-AR" sz="1800" dirty="0">
                <a:solidFill>
                  <a:srgbClr val="4A4A4A"/>
                </a:solidFill>
                <a:highlight>
                  <a:srgbClr val="FFFFFF"/>
                </a:highlight>
                <a:latin typeface="Lato"/>
                <a:ea typeface="Lato"/>
                <a:cs typeface="Lato"/>
                <a:sym typeface="Lato"/>
              </a:rPr>
              <a:t> permitimos que el usuario pueda </a:t>
            </a:r>
            <a:r>
              <a:rPr lang="es-AR" sz="1800" dirty="0" err="1">
                <a:solidFill>
                  <a:srgbClr val="4A4A4A"/>
                </a:solidFill>
                <a:highlight>
                  <a:srgbClr val="FFFFFF"/>
                </a:highlight>
                <a:latin typeface="Lato"/>
                <a:ea typeface="Lato"/>
                <a:cs typeface="Lato"/>
                <a:sym typeface="Lato"/>
              </a:rPr>
              <a:t>scrollear</a:t>
            </a:r>
            <a:r>
              <a:rPr lang="es-AR" sz="1800" dirty="0">
                <a:solidFill>
                  <a:srgbClr val="4A4A4A"/>
                </a:solidFill>
                <a:highlight>
                  <a:srgbClr val="FFFFFF"/>
                </a:highlight>
                <a:latin typeface="Lato"/>
                <a:ea typeface="Lato"/>
                <a:cs typeface="Lato"/>
                <a:sym typeface="Lato"/>
              </a:rPr>
              <a:t> el contenido</a:t>
            </a:r>
          </a:p>
        </p:txBody>
      </p:sp>
      <p:pic>
        <p:nvPicPr>
          <p:cNvPr id="3" name="Imagen 2">
            <a:extLst>
              <a:ext uri="{FF2B5EF4-FFF2-40B4-BE49-F238E27FC236}">
                <a16:creationId xmlns:a16="http://schemas.microsoft.com/office/drawing/2014/main" id="{8EACD70F-BE91-6E8F-8539-A4A69D09C995}"/>
              </a:ext>
            </a:extLst>
          </p:cNvPr>
          <p:cNvPicPr>
            <a:picLocks noChangeAspect="1"/>
          </p:cNvPicPr>
          <p:nvPr/>
        </p:nvPicPr>
        <p:blipFill>
          <a:blip r:embed="rId3"/>
          <a:stretch>
            <a:fillRect/>
          </a:stretch>
        </p:blipFill>
        <p:spPr>
          <a:xfrm>
            <a:off x="3076678" y="3596321"/>
            <a:ext cx="2667372" cy="1257475"/>
          </a:xfrm>
          <a:prstGeom prst="rect">
            <a:avLst/>
          </a:prstGeom>
        </p:spPr>
      </p:pic>
    </p:spTree>
    <p:extLst>
      <p:ext uri="{BB962C8B-B14F-4D97-AF65-F5344CB8AC3E}">
        <p14:creationId xmlns:p14="http://schemas.microsoft.com/office/powerpoint/2010/main" val="818536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5" y="688695"/>
            <a:ext cx="8483313" cy="3077766"/>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Bordes:</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800" dirty="0">
                <a:solidFill>
                  <a:srgbClr val="4A4A4A"/>
                </a:solidFill>
                <a:highlight>
                  <a:srgbClr val="FFFFFF"/>
                </a:highlight>
                <a:latin typeface="Lato"/>
                <a:ea typeface="Lato"/>
                <a:cs typeface="Lato"/>
                <a:sym typeface="Lato"/>
              </a:rPr>
              <a:t>Por medio de la propiedad </a:t>
            </a:r>
            <a:r>
              <a:rPr lang="es-AR" sz="1800" dirty="0" err="1">
                <a:solidFill>
                  <a:srgbClr val="4A4A4A"/>
                </a:solidFill>
                <a:highlight>
                  <a:srgbClr val="FFFFFF"/>
                </a:highlight>
                <a:latin typeface="Lato"/>
                <a:ea typeface="Lato"/>
                <a:cs typeface="Lato"/>
                <a:sym typeface="Lato"/>
              </a:rPr>
              <a:t>border</a:t>
            </a:r>
            <a:r>
              <a:rPr lang="es-AR" sz="1800" dirty="0">
                <a:solidFill>
                  <a:srgbClr val="4A4A4A"/>
                </a:solidFill>
                <a:highlight>
                  <a:srgbClr val="FFFFFF"/>
                </a:highlight>
                <a:latin typeface="Lato"/>
                <a:ea typeface="Lato"/>
                <a:cs typeface="Lato"/>
                <a:sym typeface="Lato"/>
              </a:rPr>
              <a:t> podemos establecer el borde de la caja</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800" dirty="0">
                <a:solidFill>
                  <a:srgbClr val="4A4A4A"/>
                </a:solidFill>
                <a:highlight>
                  <a:srgbClr val="FFFFFF"/>
                </a:highlight>
                <a:latin typeface="Lato"/>
                <a:ea typeface="Lato"/>
                <a:cs typeface="Lato"/>
                <a:sym typeface="Lato"/>
              </a:rPr>
              <a:t>Acepta como valores:</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Primero el ancho: utiliza medidas en pixeles o cualquiera de las otras medidas vistas</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Segundo parámetro: es el estilo de borde que queremos</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Tercer parámetro: es el color del borde</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p:txBody>
      </p:sp>
      <p:pic>
        <p:nvPicPr>
          <p:cNvPr id="5" name="Imagen 4">
            <a:extLst>
              <a:ext uri="{FF2B5EF4-FFF2-40B4-BE49-F238E27FC236}">
                <a16:creationId xmlns:a16="http://schemas.microsoft.com/office/drawing/2014/main" id="{CD28D4FF-F909-303B-31D0-DB85494C7D27}"/>
              </a:ext>
            </a:extLst>
          </p:cNvPr>
          <p:cNvPicPr>
            <a:picLocks noChangeAspect="1"/>
          </p:cNvPicPr>
          <p:nvPr/>
        </p:nvPicPr>
        <p:blipFill>
          <a:blip r:embed="rId3"/>
          <a:stretch>
            <a:fillRect/>
          </a:stretch>
        </p:blipFill>
        <p:spPr>
          <a:xfrm>
            <a:off x="3014445" y="3606138"/>
            <a:ext cx="3115110" cy="1219370"/>
          </a:xfrm>
          <a:prstGeom prst="rect">
            <a:avLst/>
          </a:prstGeom>
        </p:spPr>
      </p:pic>
    </p:spTree>
    <p:extLst>
      <p:ext uri="{BB962C8B-B14F-4D97-AF65-F5344CB8AC3E}">
        <p14:creationId xmlns:p14="http://schemas.microsoft.com/office/powerpoint/2010/main" val="318815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5" y="688695"/>
            <a:ext cx="8483313" cy="4216539"/>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Bordes – Continuación </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Cada uno de estos valores se pueden establecer de forma </a:t>
            </a:r>
            <a:r>
              <a:rPr lang="es-AR" sz="1600" dirty="0" err="1">
                <a:solidFill>
                  <a:srgbClr val="4A4A4A"/>
                </a:solidFill>
                <a:highlight>
                  <a:srgbClr val="FFFFFF"/>
                </a:highlight>
                <a:latin typeface="Lato"/>
                <a:ea typeface="Lato"/>
                <a:cs typeface="Lato"/>
                <a:sym typeface="Lato"/>
              </a:rPr>
              <a:t>indiviudal</a:t>
            </a:r>
            <a:r>
              <a:rPr lang="es-AR" sz="1600" dirty="0">
                <a:solidFill>
                  <a:srgbClr val="4A4A4A"/>
                </a:solidFill>
                <a:highlight>
                  <a:srgbClr val="FFFFFF"/>
                </a:highlight>
                <a:latin typeface="Lato"/>
                <a:ea typeface="Lato"/>
                <a:cs typeface="Lato"/>
                <a:sym typeface="Lato"/>
              </a:rPr>
              <a:t>:</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Para el ancho utilizamos </a:t>
            </a:r>
            <a:r>
              <a:rPr lang="es-AR" sz="1600" dirty="0" err="1">
                <a:solidFill>
                  <a:srgbClr val="4A4A4A"/>
                </a:solidFill>
                <a:highlight>
                  <a:srgbClr val="FFFFFF"/>
                </a:highlight>
                <a:latin typeface="Lato"/>
                <a:ea typeface="Lato"/>
                <a:cs typeface="Lato"/>
                <a:sym typeface="Lato"/>
              </a:rPr>
              <a:t>border-width</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Para el diseño utilizamos </a:t>
            </a:r>
            <a:r>
              <a:rPr lang="es-AR" sz="1600" dirty="0" err="1">
                <a:solidFill>
                  <a:srgbClr val="4A4A4A"/>
                </a:solidFill>
                <a:highlight>
                  <a:srgbClr val="FFFFFF"/>
                </a:highlight>
                <a:latin typeface="Lato"/>
                <a:ea typeface="Lato"/>
                <a:cs typeface="Lato"/>
                <a:sym typeface="Lato"/>
              </a:rPr>
              <a:t>border-style</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Para el color utilizamos </a:t>
            </a:r>
            <a:r>
              <a:rPr lang="es-AR" sz="1600" dirty="0" err="1">
                <a:solidFill>
                  <a:srgbClr val="4A4A4A"/>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-color</a:t>
            </a: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Es lo mismo si utilizo la propiedad borde o la sumatoria de las otras propiedades (</a:t>
            </a:r>
            <a:r>
              <a:rPr lang="es-AR" sz="1600" dirty="0" err="1">
                <a:solidFill>
                  <a:srgbClr val="4A4A4A"/>
                </a:solidFill>
                <a:highlight>
                  <a:srgbClr val="FFFFFF"/>
                </a:highlight>
                <a:latin typeface="Lato"/>
                <a:ea typeface="Lato"/>
                <a:cs typeface="Lato"/>
                <a:sym typeface="Lato"/>
              </a:rPr>
              <a:t>border-width</a:t>
            </a:r>
            <a:r>
              <a:rPr lang="es-AR" sz="1600" dirty="0">
                <a:solidFill>
                  <a:srgbClr val="4A4A4A"/>
                </a:solidFill>
                <a:highlight>
                  <a:srgbClr val="FFFFFF"/>
                </a:highlight>
                <a:latin typeface="Lato"/>
                <a:ea typeface="Lato"/>
                <a:cs typeface="Lato"/>
                <a:sym typeface="Lato"/>
              </a:rPr>
              <a:t>, </a:t>
            </a:r>
            <a:r>
              <a:rPr lang="es-AR" sz="1600" dirty="0" err="1">
                <a:solidFill>
                  <a:srgbClr val="4A4A4A"/>
                </a:solidFill>
                <a:highlight>
                  <a:srgbClr val="FFFFFF"/>
                </a:highlight>
                <a:latin typeface="Lato"/>
                <a:ea typeface="Lato"/>
                <a:cs typeface="Lato"/>
                <a:sym typeface="Lato"/>
              </a:rPr>
              <a:t>style</a:t>
            </a:r>
            <a:r>
              <a:rPr lang="es-AR" sz="1600" dirty="0">
                <a:solidFill>
                  <a:srgbClr val="4A4A4A"/>
                </a:solidFill>
                <a:highlight>
                  <a:srgbClr val="FFFFFF"/>
                </a:highlight>
                <a:latin typeface="Lato"/>
                <a:ea typeface="Lato"/>
                <a:cs typeface="Lato"/>
                <a:sym typeface="Lato"/>
              </a:rPr>
              <a:t> y color)</a:t>
            </a:r>
          </a:p>
        </p:txBody>
      </p:sp>
      <p:pic>
        <p:nvPicPr>
          <p:cNvPr id="3" name="Imagen 2">
            <a:extLst>
              <a:ext uri="{FF2B5EF4-FFF2-40B4-BE49-F238E27FC236}">
                <a16:creationId xmlns:a16="http://schemas.microsoft.com/office/drawing/2014/main" id="{84DB82C7-6E31-21F8-54AA-1C990A88434E}"/>
              </a:ext>
            </a:extLst>
          </p:cNvPr>
          <p:cNvPicPr>
            <a:picLocks noChangeAspect="1"/>
          </p:cNvPicPr>
          <p:nvPr/>
        </p:nvPicPr>
        <p:blipFill>
          <a:blip r:embed="rId3"/>
          <a:stretch>
            <a:fillRect/>
          </a:stretch>
        </p:blipFill>
        <p:spPr>
          <a:xfrm>
            <a:off x="3274291" y="2571750"/>
            <a:ext cx="2755091" cy="1634989"/>
          </a:xfrm>
          <a:prstGeom prst="rect">
            <a:avLst/>
          </a:prstGeom>
        </p:spPr>
      </p:pic>
    </p:spTree>
    <p:extLst>
      <p:ext uri="{BB962C8B-B14F-4D97-AF65-F5344CB8AC3E}">
        <p14:creationId xmlns:p14="http://schemas.microsoft.com/office/powerpoint/2010/main" val="642209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545531"/>
            <a:ext cx="8483313" cy="4462760"/>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Bordes – Continuación </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800" dirty="0">
                <a:solidFill>
                  <a:srgbClr val="4A4A4A"/>
                </a:solidFill>
                <a:highlight>
                  <a:srgbClr val="FFFFFF"/>
                </a:highlight>
                <a:latin typeface="Lato"/>
                <a:ea typeface="Lato"/>
                <a:cs typeface="Lato"/>
                <a:sym typeface="Lato"/>
              </a:rPr>
              <a:t>Para los estilos de los bordes existen los siguientes valores:</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solid</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dotted</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dashed</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double</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groove</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ridge</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inset</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Outset</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800" dirty="0">
                <a:solidFill>
                  <a:srgbClr val="4A4A4A"/>
                </a:solidFill>
                <a:highlight>
                  <a:srgbClr val="FFFFFF"/>
                </a:highlight>
                <a:latin typeface="Lato"/>
                <a:ea typeface="Lato"/>
                <a:cs typeface="Lato"/>
                <a:sym typeface="Lato"/>
              </a:rPr>
              <a:t>También podemos establecer los bordes de manera individual (top </a:t>
            </a:r>
            <a:r>
              <a:rPr lang="es-AR" sz="1800" dirty="0" err="1">
                <a:solidFill>
                  <a:srgbClr val="4A4A4A"/>
                </a:solidFill>
                <a:highlight>
                  <a:srgbClr val="FFFFFF"/>
                </a:highlight>
                <a:latin typeface="Lato"/>
                <a:ea typeface="Lato"/>
                <a:cs typeface="Lato"/>
                <a:sym typeface="Lato"/>
              </a:rPr>
              <a:t>right</a:t>
            </a:r>
            <a:r>
              <a:rPr lang="es-AR" sz="1800" dirty="0">
                <a:solidFill>
                  <a:srgbClr val="4A4A4A"/>
                </a:solidFill>
                <a:highlight>
                  <a:srgbClr val="FFFFFF"/>
                </a:highlight>
                <a:latin typeface="Lato"/>
                <a:ea typeface="Lato"/>
                <a:cs typeface="Lato"/>
                <a:sym typeface="Lato"/>
              </a:rPr>
              <a:t> bottom </a:t>
            </a:r>
            <a:r>
              <a:rPr lang="es-AR" sz="1800" dirty="0" err="1">
                <a:solidFill>
                  <a:srgbClr val="4A4A4A"/>
                </a:solidFill>
                <a:highlight>
                  <a:srgbClr val="FFFFFF"/>
                </a:highlight>
                <a:latin typeface="Lato"/>
                <a:ea typeface="Lato"/>
                <a:cs typeface="Lato"/>
                <a:sym typeface="Lato"/>
              </a:rPr>
              <a:t>left</a:t>
            </a:r>
            <a:r>
              <a:rPr lang="es-AR" sz="1800" dirty="0">
                <a:solidFill>
                  <a:srgbClr val="4A4A4A"/>
                </a:solidFill>
                <a:highlight>
                  <a:srgbClr val="FFFFFF"/>
                </a:highlight>
                <a:latin typeface="Lato"/>
                <a:ea typeface="Lato"/>
                <a:cs typeface="Lato"/>
                <a:sym typeface="Lato"/>
              </a:rPr>
              <a:t>)</a:t>
            </a:r>
          </a:p>
        </p:txBody>
      </p:sp>
    </p:spTree>
    <p:extLst>
      <p:ext uri="{BB962C8B-B14F-4D97-AF65-F5344CB8AC3E}">
        <p14:creationId xmlns:p14="http://schemas.microsoft.com/office/powerpoint/2010/main" val="3077772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545531"/>
            <a:ext cx="8483313" cy="4216539"/>
          </a:xfrm>
          <a:prstGeom prst="rect">
            <a:avLst/>
          </a:prstGeom>
          <a:noFill/>
        </p:spPr>
        <p:txBody>
          <a:bodyPr wrap="square">
            <a:spAutoFit/>
          </a:bodyPr>
          <a:lstStyle/>
          <a:p>
            <a:r>
              <a:rPr lang="es-AR" sz="4400" dirty="0">
                <a:solidFill>
                  <a:srgbClr val="BE3969"/>
                </a:solidFill>
                <a:highlight>
                  <a:srgbClr val="FFFFFF"/>
                </a:highlight>
                <a:latin typeface="Russo One"/>
                <a:ea typeface="Lato"/>
                <a:cs typeface="Lato"/>
                <a:sym typeface="Russo One"/>
              </a:rPr>
              <a:t>Bordes – Continuación </a:t>
            </a:r>
          </a:p>
          <a:p>
            <a:pPr lvl="0" rtl="0">
              <a:spcBef>
                <a:spcPts val="0"/>
              </a:spcBef>
              <a:spcAft>
                <a:spcPts val="0"/>
              </a:spcAft>
            </a:pPr>
            <a:endParaRPr lang="es-AR" sz="2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2800" dirty="0">
                <a:solidFill>
                  <a:srgbClr val="4A4A4A"/>
                </a:solidFill>
                <a:highlight>
                  <a:srgbClr val="FFFFFF"/>
                </a:highlight>
                <a:latin typeface="Lato"/>
                <a:ea typeface="Lato"/>
                <a:cs typeface="Lato"/>
                <a:sym typeface="Lato"/>
              </a:rPr>
              <a:t>Por ejemplo para establecer los anchos del borde podemos utilizar las siguientes propiedades:</a:t>
            </a:r>
          </a:p>
          <a:p>
            <a:pPr lvl="0" rtl="0">
              <a:spcBef>
                <a:spcPts val="0"/>
              </a:spcBef>
              <a:spcAft>
                <a:spcPts val="0"/>
              </a:spcAft>
            </a:pPr>
            <a:endParaRPr lang="es-AR" sz="2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800" dirty="0" err="1">
                <a:solidFill>
                  <a:srgbClr val="4A4A4A"/>
                </a:solidFill>
                <a:highlight>
                  <a:srgbClr val="FFFFFF"/>
                </a:highlight>
                <a:latin typeface="Lato"/>
                <a:ea typeface="Lato"/>
                <a:cs typeface="Lato"/>
                <a:sym typeface="Lato"/>
              </a:rPr>
              <a:t>border</a:t>
            </a:r>
            <a:r>
              <a:rPr lang="es-AR" sz="2800" dirty="0">
                <a:solidFill>
                  <a:srgbClr val="4A4A4A"/>
                </a:solidFill>
                <a:highlight>
                  <a:srgbClr val="FFFFFF"/>
                </a:highlight>
                <a:latin typeface="Lato"/>
                <a:ea typeface="Lato"/>
                <a:cs typeface="Lato"/>
                <a:sym typeface="Lato"/>
              </a:rPr>
              <a:t>-top-</a:t>
            </a:r>
            <a:r>
              <a:rPr lang="es-AR" sz="2800" dirty="0" err="1">
                <a:solidFill>
                  <a:srgbClr val="4A4A4A"/>
                </a:solidFill>
                <a:highlight>
                  <a:srgbClr val="FFFFFF"/>
                </a:highlight>
                <a:latin typeface="Lato"/>
                <a:ea typeface="Lato"/>
                <a:cs typeface="Lato"/>
                <a:sym typeface="Lato"/>
              </a:rPr>
              <a:t>width</a:t>
            </a:r>
            <a:endParaRPr lang="es-AR" sz="2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800" dirty="0" err="1">
                <a:solidFill>
                  <a:srgbClr val="4A4A4A"/>
                </a:solidFill>
                <a:highlight>
                  <a:srgbClr val="FFFFFF"/>
                </a:highlight>
                <a:latin typeface="Lato"/>
                <a:ea typeface="Lato"/>
                <a:cs typeface="Lato"/>
                <a:sym typeface="Lato"/>
              </a:rPr>
              <a:t>border-right-width</a:t>
            </a:r>
            <a:endParaRPr lang="es-AR" sz="2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800" dirty="0" err="1">
                <a:solidFill>
                  <a:srgbClr val="4A4A4A"/>
                </a:solidFill>
                <a:highlight>
                  <a:srgbClr val="FFFFFF"/>
                </a:highlight>
                <a:latin typeface="Lato"/>
                <a:ea typeface="Lato"/>
                <a:cs typeface="Lato"/>
                <a:sym typeface="Lato"/>
              </a:rPr>
              <a:t>border</a:t>
            </a:r>
            <a:r>
              <a:rPr lang="es-AR" sz="2800" dirty="0">
                <a:solidFill>
                  <a:srgbClr val="4A4A4A"/>
                </a:solidFill>
                <a:highlight>
                  <a:srgbClr val="FFFFFF"/>
                </a:highlight>
                <a:latin typeface="Lato"/>
                <a:ea typeface="Lato"/>
                <a:cs typeface="Lato"/>
                <a:sym typeface="Lato"/>
              </a:rPr>
              <a:t>-bottom-</a:t>
            </a:r>
            <a:r>
              <a:rPr lang="es-AR" sz="2800" dirty="0" err="1">
                <a:solidFill>
                  <a:srgbClr val="4A4A4A"/>
                </a:solidFill>
                <a:highlight>
                  <a:srgbClr val="FFFFFF"/>
                </a:highlight>
                <a:latin typeface="Lato"/>
                <a:ea typeface="Lato"/>
                <a:cs typeface="Lato"/>
                <a:sym typeface="Lato"/>
              </a:rPr>
              <a:t>width</a:t>
            </a:r>
            <a:endParaRPr lang="es-AR" sz="2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800" dirty="0" err="1">
                <a:solidFill>
                  <a:srgbClr val="4A4A4A"/>
                </a:solidFill>
                <a:highlight>
                  <a:srgbClr val="FFFFFF"/>
                </a:highlight>
                <a:latin typeface="Lato"/>
                <a:ea typeface="Lato"/>
                <a:cs typeface="Lato"/>
                <a:sym typeface="Lato"/>
              </a:rPr>
              <a:t>border-left-width</a:t>
            </a:r>
            <a:endParaRPr lang="es-AR" sz="2800" dirty="0">
              <a:solidFill>
                <a:srgbClr val="4A4A4A"/>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665837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545531"/>
            <a:ext cx="8483313" cy="4462760"/>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Bordes – Continuación </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también podemos establecer valores </a:t>
            </a:r>
            <a:r>
              <a:rPr lang="es-AR" sz="1600" dirty="0" err="1">
                <a:solidFill>
                  <a:srgbClr val="4A4A4A"/>
                </a:solidFill>
                <a:highlight>
                  <a:srgbClr val="FFFFFF"/>
                </a:highlight>
                <a:latin typeface="Lato"/>
                <a:ea typeface="Lato"/>
                <a:cs typeface="Lato"/>
                <a:sym typeface="Lato"/>
              </a:rPr>
              <a:t>indivduales</a:t>
            </a:r>
            <a:r>
              <a:rPr lang="es-AR" sz="1600" dirty="0">
                <a:solidFill>
                  <a:srgbClr val="4A4A4A"/>
                </a:solidFill>
                <a:highlight>
                  <a:srgbClr val="FFFFFF"/>
                </a:highlight>
                <a:latin typeface="Lato"/>
                <a:ea typeface="Lato"/>
                <a:cs typeface="Lato"/>
                <a:sym typeface="Lato"/>
              </a:rPr>
              <a:t> utilizando una sola propiedad con muchos valores:</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err="1">
                <a:solidFill>
                  <a:srgbClr val="4A4A4A"/>
                </a:solidFill>
                <a:highlight>
                  <a:srgbClr val="FFFFFF"/>
                </a:highlight>
                <a:latin typeface="Lato"/>
                <a:ea typeface="Lato"/>
                <a:cs typeface="Lato"/>
                <a:sym typeface="Lato"/>
              </a:rPr>
              <a:t>border-width</a:t>
            </a:r>
            <a:r>
              <a:rPr lang="es-AR" sz="1600" dirty="0">
                <a:solidFill>
                  <a:srgbClr val="4A4A4A"/>
                </a:solidFill>
                <a:highlight>
                  <a:srgbClr val="FFFFFF"/>
                </a:highlight>
                <a:latin typeface="Lato"/>
                <a:ea typeface="Lato"/>
                <a:cs typeface="Lato"/>
                <a:sym typeface="Lato"/>
              </a:rPr>
              <a:t>: top </a:t>
            </a:r>
            <a:r>
              <a:rPr lang="es-AR" sz="1600" dirty="0" err="1">
                <a:solidFill>
                  <a:srgbClr val="4A4A4A"/>
                </a:solidFill>
                <a:highlight>
                  <a:srgbClr val="FFFFFF"/>
                </a:highlight>
                <a:latin typeface="Lato"/>
                <a:ea typeface="Lato"/>
                <a:cs typeface="Lato"/>
                <a:sym typeface="Lato"/>
              </a:rPr>
              <a:t>right</a:t>
            </a:r>
            <a:r>
              <a:rPr lang="es-AR" sz="1600" dirty="0">
                <a:solidFill>
                  <a:srgbClr val="4A4A4A"/>
                </a:solidFill>
                <a:highlight>
                  <a:srgbClr val="FFFFFF"/>
                </a:highlight>
                <a:latin typeface="Lato"/>
                <a:ea typeface="Lato"/>
                <a:cs typeface="Lato"/>
                <a:sym typeface="Lato"/>
              </a:rPr>
              <a:t> bottom </a:t>
            </a:r>
            <a:r>
              <a:rPr lang="es-AR" sz="1600" dirty="0" err="1">
                <a:solidFill>
                  <a:srgbClr val="4A4A4A"/>
                </a:solidFill>
                <a:highlight>
                  <a:srgbClr val="FFFFFF"/>
                </a:highlight>
                <a:latin typeface="Lato"/>
                <a:ea typeface="Lato"/>
                <a:cs typeface="Lato"/>
                <a:sym typeface="Lato"/>
              </a:rPr>
              <a:t>left</a:t>
            </a:r>
            <a:r>
              <a:rPr lang="es-AR" sz="1600" dirty="0">
                <a:solidFill>
                  <a:srgbClr val="4A4A4A"/>
                </a:solidFill>
                <a:highlight>
                  <a:srgbClr val="FFFFFF"/>
                </a:highlight>
                <a:latin typeface="Lato"/>
                <a:ea typeface="Lato"/>
                <a:cs typeface="Lato"/>
                <a:sym typeface="Lato"/>
              </a:rPr>
              <a:t>;</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En este caso estamos estableciendo:</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2px para el borde superior (top)</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1px para el borde derecho (</a:t>
            </a:r>
            <a:r>
              <a:rPr lang="es-AR" sz="1600" dirty="0" err="1">
                <a:solidFill>
                  <a:srgbClr val="4A4A4A"/>
                </a:solidFill>
                <a:highlight>
                  <a:srgbClr val="FFFFFF"/>
                </a:highlight>
                <a:latin typeface="Lato"/>
                <a:ea typeface="Lato"/>
                <a:cs typeface="Lato"/>
                <a:sym typeface="Lato"/>
              </a:rPr>
              <a:t>right</a:t>
            </a:r>
            <a:r>
              <a:rPr lang="es-AR" sz="1600" dirty="0">
                <a:solidFill>
                  <a:srgbClr val="4A4A4A"/>
                </a:solidFill>
                <a:highlight>
                  <a:srgbClr val="FFFFFF"/>
                </a:highlight>
                <a:latin typeface="Lato"/>
                <a:ea typeface="Lato"/>
                <a:cs typeface="Lato"/>
                <a:sym typeface="Lato"/>
              </a:rPr>
              <a:t>)</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1px para el borde inferior (bottom)</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2px para el borde de la izquierda (</a:t>
            </a:r>
            <a:r>
              <a:rPr lang="es-AR" sz="1600" dirty="0" err="1">
                <a:solidFill>
                  <a:srgbClr val="4A4A4A"/>
                </a:solidFill>
                <a:highlight>
                  <a:srgbClr val="FFFFFF"/>
                </a:highlight>
                <a:latin typeface="Lato"/>
                <a:ea typeface="Lato"/>
                <a:cs typeface="Lato"/>
                <a:sym typeface="Lato"/>
              </a:rPr>
              <a:t>left</a:t>
            </a:r>
            <a:r>
              <a:rPr lang="es-AR" sz="1600" dirty="0">
                <a:solidFill>
                  <a:srgbClr val="4A4A4A"/>
                </a:solidFill>
                <a:highlight>
                  <a:srgbClr val="FFFFFF"/>
                </a:highlight>
                <a:latin typeface="Lato"/>
                <a:ea typeface="Lato"/>
                <a:cs typeface="Lato"/>
                <a:sym typeface="Lato"/>
              </a:rPr>
              <a:t>)</a:t>
            </a:r>
          </a:p>
        </p:txBody>
      </p:sp>
      <p:pic>
        <p:nvPicPr>
          <p:cNvPr id="3" name="Imagen 2">
            <a:extLst>
              <a:ext uri="{FF2B5EF4-FFF2-40B4-BE49-F238E27FC236}">
                <a16:creationId xmlns:a16="http://schemas.microsoft.com/office/drawing/2014/main" id="{A74554C0-FE67-7125-5155-5732E4EC9014}"/>
              </a:ext>
            </a:extLst>
          </p:cNvPr>
          <p:cNvPicPr>
            <a:picLocks noChangeAspect="1"/>
          </p:cNvPicPr>
          <p:nvPr/>
        </p:nvPicPr>
        <p:blipFill>
          <a:blip r:embed="rId3"/>
          <a:stretch>
            <a:fillRect/>
          </a:stretch>
        </p:blipFill>
        <p:spPr>
          <a:xfrm>
            <a:off x="2976269" y="2364343"/>
            <a:ext cx="3191461" cy="961712"/>
          </a:xfrm>
          <a:prstGeom prst="rect">
            <a:avLst/>
          </a:prstGeom>
        </p:spPr>
      </p:pic>
    </p:spTree>
    <p:extLst>
      <p:ext uri="{BB962C8B-B14F-4D97-AF65-F5344CB8AC3E}">
        <p14:creationId xmlns:p14="http://schemas.microsoft.com/office/powerpoint/2010/main" val="3283505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545531"/>
            <a:ext cx="8483313" cy="4462760"/>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Bordes – Continuación </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Si queremos el mismo valor para el borde superior e inferior y derecha e izquierda podemos utilizar solo dos valores:</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border-width</a:t>
            </a:r>
            <a:r>
              <a:rPr lang="es-AR" sz="1600" dirty="0">
                <a:solidFill>
                  <a:srgbClr val="4A4A4A"/>
                </a:solidFill>
                <a:highlight>
                  <a:srgbClr val="FFFFFF"/>
                </a:highlight>
                <a:latin typeface="Lato"/>
                <a:ea typeface="Lato"/>
                <a:cs typeface="Lato"/>
                <a:sym typeface="Lato"/>
              </a:rPr>
              <a:t>: top/bottom </a:t>
            </a:r>
            <a:r>
              <a:rPr lang="es-AR" sz="1600" dirty="0" err="1">
                <a:solidFill>
                  <a:srgbClr val="4A4A4A"/>
                </a:solidFill>
                <a:highlight>
                  <a:srgbClr val="FFFFFF"/>
                </a:highlight>
                <a:latin typeface="Lato"/>
                <a:ea typeface="Lato"/>
                <a:cs typeface="Lato"/>
                <a:sym typeface="Lato"/>
              </a:rPr>
              <a:t>right</a:t>
            </a:r>
            <a:r>
              <a:rPr lang="es-AR" sz="1600" dirty="0">
                <a:solidFill>
                  <a:srgbClr val="4A4A4A"/>
                </a:solidFill>
                <a:highlight>
                  <a:srgbClr val="FFFFFF"/>
                </a:highlight>
                <a:latin typeface="Lato"/>
                <a:ea typeface="Lato"/>
                <a:cs typeface="Lato"/>
                <a:sym typeface="Lato"/>
              </a:rPr>
              <a:t>/</a:t>
            </a:r>
            <a:r>
              <a:rPr lang="es-AR" sz="1600" dirty="0" err="1">
                <a:solidFill>
                  <a:srgbClr val="4A4A4A"/>
                </a:solidFill>
                <a:highlight>
                  <a:srgbClr val="FFFFFF"/>
                </a:highlight>
                <a:latin typeface="Lato"/>
                <a:ea typeface="Lato"/>
                <a:cs typeface="Lato"/>
                <a:sym typeface="Lato"/>
              </a:rPr>
              <a:t>left</a:t>
            </a:r>
            <a:r>
              <a:rPr lang="es-AR" sz="1600" dirty="0">
                <a:solidFill>
                  <a:srgbClr val="4A4A4A"/>
                </a:solidFill>
                <a:highlight>
                  <a:srgbClr val="FFFFFF"/>
                </a:highlight>
                <a:latin typeface="Lato"/>
                <a:ea typeface="Lato"/>
                <a:cs typeface="Lato"/>
                <a:sym typeface="Lato"/>
              </a:rPr>
              <a:t>;</a:t>
            </a: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border-width</a:t>
            </a:r>
            <a:r>
              <a:rPr lang="es-AR" sz="1600" dirty="0">
                <a:solidFill>
                  <a:srgbClr val="4A4A4A"/>
                </a:solidFill>
                <a:highlight>
                  <a:srgbClr val="FFFFFF"/>
                </a:highlight>
                <a:latin typeface="Lato"/>
                <a:ea typeface="Lato"/>
                <a:cs typeface="Lato"/>
                <a:sym typeface="Lato"/>
              </a:rPr>
              <a:t>: 2px 1px;</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Es decir que establecemos 2px para el borde superior e inferior y 1px para el borde derecho e izquierdo</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El </a:t>
            </a:r>
            <a:r>
              <a:rPr lang="es-AR" sz="1600" dirty="0" err="1">
                <a:solidFill>
                  <a:srgbClr val="4A4A4A"/>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 </a:t>
            </a:r>
            <a:r>
              <a:rPr lang="es-AR" sz="1600" dirty="0" err="1">
                <a:solidFill>
                  <a:srgbClr val="4A4A4A"/>
                </a:solidFill>
                <a:highlight>
                  <a:srgbClr val="FFFFFF"/>
                </a:highlight>
                <a:latin typeface="Lato"/>
                <a:ea typeface="Lato"/>
                <a:cs typeface="Lato"/>
                <a:sym typeface="Lato"/>
              </a:rPr>
              <a:t>style</a:t>
            </a:r>
            <a:r>
              <a:rPr lang="es-AR" sz="1600" dirty="0">
                <a:solidFill>
                  <a:srgbClr val="4A4A4A"/>
                </a:solidFill>
                <a:highlight>
                  <a:srgbClr val="FFFFFF"/>
                </a:highlight>
                <a:latin typeface="Lato"/>
                <a:ea typeface="Lato"/>
                <a:cs typeface="Lato"/>
                <a:sym typeface="Lato"/>
              </a:rPr>
              <a:t> funciona de la misma forma:</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-top-</a:t>
            </a:r>
            <a:r>
              <a:rPr lang="es-AR" sz="1600" dirty="0" err="1">
                <a:solidFill>
                  <a:srgbClr val="4A4A4A"/>
                </a:solidFill>
                <a:highlight>
                  <a:srgbClr val="FFFFFF"/>
                </a:highlight>
                <a:latin typeface="Lato"/>
                <a:ea typeface="Lato"/>
                <a:cs typeface="Lato"/>
                <a:sym typeface="Lato"/>
              </a:rPr>
              <a:t>style</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border-left-style</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border-right-style</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-bottom-</a:t>
            </a:r>
            <a:r>
              <a:rPr lang="es-AR" sz="1600" dirty="0" err="1">
                <a:solidFill>
                  <a:srgbClr val="4A4A4A"/>
                </a:solidFill>
                <a:highlight>
                  <a:srgbClr val="FFFFFF"/>
                </a:highlight>
                <a:latin typeface="Lato"/>
                <a:ea typeface="Lato"/>
                <a:cs typeface="Lato"/>
                <a:sym typeface="Lato"/>
              </a:rPr>
              <a:t>style</a:t>
            </a:r>
            <a:endParaRPr lang="es-AR" sz="1600" dirty="0">
              <a:solidFill>
                <a:srgbClr val="4A4A4A"/>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2841345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545531"/>
            <a:ext cx="8483313" cy="3477875"/>
          </a:xfrm>
          <a:prstGeom prst="rect">
            <a:avLst/>
          </a:prstGeom>
          <a:noFill/>
        </p:spPr>
        <p:txBody>
          <a:bodyPr wrap="square">
            <a:spAutoFit/>
          </a:bodyPr>
          <a:lstStyle/>
          <a:p>
            <a:r>
              <a:rPr lang="es-AR" sz="2400" dirty="0">
                <a:solidFill>
                  <a:srgbClr val="BE3969"/>
                </a:solidFill>
                <a:highlight>
                  <a:srgbClr val="FFFFFF"/>
                </a:highlight>
                <a:latin typeface="Russo One"/>
                <a:ea typeface="Lato"/>
                <a:cs typeface="Lato"/>
                <a:sym typeface="Russo One"/>
              </a:rPr>
              <a:t>Bordes – Continuación </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También podemos establecer 4 valores en el mismo orden que los anteriores utilizando la propiedad </a:t>
            </a:r>
            <a:r>
              <a:rPr lang="es-AR" dirty="0" err="1">
                <a:solidFill>
                  <a:srgbClr val="4A4A4A"/>
                </a:solidFill>
                <a:highlight>
                  <a:srgbClr val="FFFFFF"/>
                </a:highlight>
                <a:latin typeface="Lato"/>
                <a:ea typeface="Lato"/>
                <a:cs typeface="Lato"/>
                <a:sym typeface="Lato"/>
              </a:rPr>
              <a:t>border-style</a:t>
            </a: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También podemos establecer un color de borde para cada uno de ellos:</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border</a:t>
            </a:r>
            <a:r>
              <a:rPr lang="es-AR" dirty="0">
                <a:solidFill>
                  <a:srgbClr val="4A4A4A"/>
                </a:solidFill>
                <a:highlight>
                  <a:srgbClr val="FFFFFF"/>
                </a:highlight>
                <a:latin typeface="Lato"/>
                <a:ea typeface="Lato"/>
                <a:cs typeface="Lato"/>
                <a:sym typeface="Lato"/>
              </a:rPr>
              <a:t>-top-color</a:t>
            </a:r>
          </a:p>
          <a:p>
            <a:pPr marL="285750" lvl="0" indent="-2857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border</a:t>
            </a:r>
            <a:r>
              <a:rPr lang="es-AR" dirty="0">
                <a:solidFill>
                  <a:srgbClr val="4A4A4A"/>
                </a:solidFill>
                <a:highlight>
                  <a:srgbClr val="FFFFFF"/>
                </a:highlight>
                <a:latin typeface="Lato"/>
                <a:ea typeface="Lato"/>
                <a:cs typeface="Lato"/>
                <a:sym typeface="Lato"/>
              </a:rPr>
              <a:t>-</a:t>
            </a:r>
            <a:r>
              <a:rPr lang="es-AR" dirty="0" err="1">
                <a:solidFill>
                  <a:srgbClr val="4A4A4A"/>
                </a:solidFill>
                <a:highlight>
                  <a:srgbClr val="FFFFFF"/>
                </a:highlight>
                <a:latin typeface="Lato"/>
                <a:ea typeface="Lato"/>
                <a:cs typeface="Lato"/>
                <a:sym typeface="Lato"/>
              </a:rPr>
              <a:t>right</a:t>
            </a:r>
            <a:r>
              <a:rPr lang="es-AR" dirty="0">
                <a:solidFill>
                  <a:srgbClr val="4A4A4A"/>
                </a:solidFill>
                <a:highlight>
                  <a:srgbClr val="FFFFFF"/>
                </a:highlight>
                <a:latin typeface="Lato"/>
                <a:ea typeface="Lato"/>
                <a:cs typeface="Lato"/>
                <a:sym typeface="Lato"/>
              </a:rPr>
              <a:t>-color</a:t>
            </a:r>
          </a:p>
          <a:p>
            <a:pPr marL="285750" lvl="0" indent="-2857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border</a:t>
            </a:r>
            <a:r>
              <a:rPr lang="es-AR" dirty="0">
                <a:solidFill>
                  <a:srgbClr val="4A4A4A"/>
                </a:solidFill>
                <a:highlight>
                  <a:srgbClr val="FFFFFF"/>
                </a:highlight>
                <a:latin typeface="Lato"/>
                <a:ea typeface="Lato"/>
                <a:cs typeface="Lato"/>
                <a:sym typeface="Lato"/>
              </a:rPr>
              <a:t>-bottom-color</a:t>
            </a:r>
          </a:p>
          <a:p>
            <a:pPr marL="285750" lvl="0" indent="-2857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border</a:t>
            </a:r>
            <a:r>
              <a:rPr lang="es-AR" dirty="0">
                <a:solidFill>
                  <a:srgbClr val="4A4A4A"/>
                </a:solidFill>
                <a:highlight>
                  <a:srgbClr val="FFFFFF"/>
                </a:highlight>
                <a:latin typeface="Lato"/>
                <a:ea typeface="Lato"/>
                <a:cs typeface="Lato"/>
                <a:sym typeface="Lato"/>
              </a:rPr>
              <a:t>-</a:t>
            </a:r>
            <a:r>
              <a:rPr lang="es-AR" dirty="0" err="1">
                <a:solidFill>
                  <a:srgbClr val="4A4A4A"/>
                </a:solidFill>
                <a:highlight>
                  <a:srgbClr val="FFFFFF"/>
                </a:highlight>
                <a:latin typeface="Lato"/>
                <a:ea typeface="Lato"/>
                <a:cs typeface="Lato"/>
                <a:sym typeface="Lato"/>
              </a:rPr>
              <a:t>left</a:t>
            </a:r>
            <a:r>
              <a:rPr lang="es-AR" dirty="0">
                <a:solidFill>
                  <a:srgbClr val="4A4A4A"/>
                </a:solidFill>
                <a:highlight>
                  <a:srgbClr val="FFFFFF"/>
                </a:highlight>
                <a:latin typeface="Lato"/>
                <a:ea typeface="Lato"/>
                <a:cs typeface="Lato"/>
                <a:sym typeface="Lato"/>
              </a:rPr>
              <a:t>-color</a:t>
            </a: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También podemos establecer todos los valores del borde utilizando la propiedad </a:t>
            </a:r>
            <a:r>
              <a:rPr lang="es-AR" dirty="0" err="1">
                <a:solidFill>
                  <a:srgbClr val="4A4A4A"/>
                </a:solidFill>
                <a:highlight>
                  <a:srgbClr val="FFFFFF"/>
                </a:highlight>
                <a:latin typeface="Lato"/>
                <a:ea typeface="Lato"/>
                <a:cs typeface="Lato"/>
                <a:sym typeface="Lato"/>
              </a:rPr>
              <a:t>border</a:t>
            </a: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Los valores que espera son: </a:t>
            </a:r>
            <a:r>
              <a:rPr lang="es-AR" dirty="0" err="1">
                <a:solidFill>
                  <a:srgbClr val="4A4A4A"/>
                </a:solidFill>
                <a:highlight>
                  <a:srgbClr val="FFFFFF"/>
                </a:highlight>
                <a:latin typeface="Lato"/>
                <a:ea typeface="Lato"/>
                <a:cs typeface="Lato"/>
                <a:sym typeface="Lato"/>
              </a:rPr>
              <a:t>border-width</a:t>
            </a:r>
            <a:r>
              <a:rPr lang="es-AR" dirty="0">
                <a:solidFill>
                  <a:srgbClr val="4A4A4A"/>
                </a:solidFill>
                <a:highlight>
                  <a:srgbClr val="FFFFFF"/>
                </a:highlight>
                <a:latin typeface="Lato"/>
                <a:ea typeface="Lato"/>
                <a:cs typeface="Lato"/>
                <a:sym typeface="Lato"/>
              </a:rPr>
              <a:t> </a:t>
            </a:r>
            <a:r>
              <a:rPr lang="es-AR" dirty="0" err="1">
                <a:solidFill>
                  <a:srgbClr val="4A4A4A"/>
                </a:solidFill>
                <a:highlight>
                  <a:srgbClr val="FFFFFF"/>
                </a:highlight>
                <a:latin typeface="Lato"/>
                <a:ea typeface="Lato"/>
                <a:cs typeface="Lato"/>
                <a:sym typeface="Lato"/>
              </a:rPr>
              <a:t>border-style</a:t>
            </a:r>
            <a:r>
              <a:rPr lang="es-AR" dirty="0">
                <a:solidFill>
                  <a:srgbClr val="4A4A4A"/>
                </a:solidFill>
                <a:highlight>
                  <a:srgbClr val="FFFFFF"/>
                </a:highlight>
                <a:latin typeface="Lato"/>
                <a:ea typeface="Lato"/>
                <a:cs typeface="Lato"/>
                <a:sym typeface="Lato"/>
              </a:rPr>
              <a:t> </a:t>
            </a:r>
            <a:r>
              <a:rPr lang="es-AR" dirty="0" err="1">
                <a:solidFill>
                  <a:srgbClr val="4A4A4A"/>
                </a:solidFill>
                <a:highlight>
                  <a:srgbClr val="FFFFFF"/>
                </a:highlight>
                <a:latin typeface="Lato"/>
                <a:ea typeface="Lato"/>
                <a:cs typeface="Lato"/>
                <a:sym typeface="Lato"/>
              </a:rPr>
              <a:t>border</a:t>
            </a:r>
            <a:r>
              <a:rPr lang="es-AR" dirty="0">
                <a:solidFill>
                  <a:srgbClr val="4A4A4A"/>
                </a:solidFill>
                <a:highlight>
                  <a:srgbClr val="FFFFFF"/>
                </a:highlight>
                <a:latin typeface="Lato"/>
                <a:ea typeface="Lato"/>
                <a:cs typeface="Lato"/>
                <a:sym typeface="Lato"/>
              </a:rPr>
              <a:t>-color</a:t>
            </a:r>
          </a:p>
        </p:txBody>
      </p:sp>
      <p:pic>
        <p:nvPicPr>
          <p:cNvPr id="3" name="Imagen 2">
            <a:extLst>
              <a:ext uri="{FF2B5EF4-FFF2-40B4-BE49-F238E27FC236}">
                <a16:creationId xmlns:a16="http://schemas.microsoft.com/office/drawing/2014/main" id="{6234D5D4-F8EA-3982-086C-4B686812FAFE}"/>
              </a:ext>
            </a:extLst>
          </p:cNvPr>
          <p:cNvPicPr>
            <a:picLocks noChangeAspect="1"/>
          </p:cNvPicPr>
          <p:nvPr/>
        </p:nvPicPr>
        <p:blipFill>
          <a:blip r:embed="rId3"/>
          <a:stretch>
            <a:fillRect/>
          </a:stretch>
        </p:blipFill>
        <p:spPr>
          <a:xfrm>
            <a:off x="3496641" y="4085895"/>
            <a:ext cx="2220274" cy="841503"/>
          </a:xfrm>
          <a:prstGeom prst="rect">
            <a:avLst/>
          </a:prstGeom>
        </p:spPr>
      </p:pic>
    </p:spTree>
    <p:extLst>
      <p:ext uri="{BB962C8B-B14F-4D97-AF65-F5344CB8AC3E}">
        <p14:creationId xmlns:p14="http://schemas.microsoft.com/office/powerpoint/2010/main" val="3547197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545531"/>
            <a:ext cx="8483313" cy="2523768"/>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Aire interno de la caja</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Por medio de la propiedad </a:t>
            </a:r>
            <a:r>
              <a:rPr lang="es-AR" sz="1800" dirty="0" err="1">
                <a:solidFill>
                  <a:srgbClr val="4A4A4A"/>
                </a:solidFill>
                <a:highlight>
                  <a:srgbClr val="FFFFFF"/>
                </a:highlight>
                <a:latin typeface="Lato"/>
                <a:ea typeface="Lato"/>
                <a:cs typeface="Lato"/>
                <a:sym typeface="Lato"/>
              </a:rPr>
              <a:t>padding</a:t>
            </a:r>
            <a:r>
              <a:rPr lang="es-AR" sz="1800" dirty="0">
                <a:solidFill>
                  <a:srgbClr val="4A4A4A"/>
                </a:solidFill>
                <a:highlight>
                  <a:srgbClr val="FFFFFF"/>
                </a:highlight>
                <a:latin typeface="Lato"/>
                <a:ea typeface="Lato"/>
                <a:cs typeface="Lato"/>
                <a:sym typeface="Lato"/>
              </a:rPr>
              <a:t> podemos establecer un </a:t>
            </a:r>
            <a:r>
              <a:rPr lang="es-AR" sz="1800" dirty="0" err="1">
                <a:solidFill>
                  <a:srgbClr val="4A4A4A"/>
                </a:solidFill>
                <a:highlight>
                  <a:srgbClr val="FFFFFF"/>
                </a:highlight>
                <a:latin typeface="Lato"/>
                <a:ea typeface="Lato"/>
                <a:cs typeface="Lato"/>
                <a:sym typeface="Lato"/>
              </a:rPr>
              <a:t>márgen</a:t>
            </a:r>
            <a:r>
              <a:rPr lang="es-AR" sz="1800" dirty="0">
                <a:solidFill>
                  <a:srgbClr val="4A4A4A"/>
                </a:solidFill>
                <a:highlight>
                  <a:srgbClr val="FFFFFF"/>
                </a:highlight>
                <a:latin typeface="Lato"/>
                <a:ea typeface="Lato"/>
                <a:cs typeface="Lato"/>
                <a:sym typeface="Lato"/>
              </a:rPr>
              <a:t> interno de la caja</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Este concepto establece un aire interno a la caja</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Acepta distintos tipos de medida</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Al utilizar la propiedad </a:t>
            </a:r>
            <a:r>
              <a:rPr lang="es-AR" sz="1800" dirty="0" err="1">
                <a:solidFill>
                  <a:srgbClr val="4A4A4A"/>
                </a:solidFill>
                <a:highlight>
                  <a:srgbClr val="FFFFFF"/>
                </a:highlight>
                <a:latin typeface="Lato"/>
                <a:ea typeface="Lato"/>
                <a:cs typeface="Lato"/>
                <a:sym typeface="Lato"/>
              </a:rPr>
              <a:t>padding</a:t>
            </a:r>
            <a:r>
              <a:rPr lang="es-AR" sz="1800" dirty="0">
                <a:solidFill>
                  <a:srgbClr val="4A4A4A"/>
                </a:solidFill>
                <a:highlight>
                  <a:srgbClr val="FFFFFF"/>
                </a:highlight>
                <a:latin typeface="Lato"/>
                <a:ea typeface="Lato"/>
                <a:cs typeface="Lato"/>
                <a:sym typeface="Lato"/>
              </a:rPr>
              <a:t> con un sólo valor estamos estableciendo todos los lados iguales (top, </a:t>
            </a:r>
            <a:r>
              <a:rPr lang="es-AR" sz="1800" dirty="0" err="1">
                <a:solidFill>
                  <a:srgbClr val="4A4A4A"/>
                </a:solidFill>
                <a:highlight>
                  <a:srgbClr val="FFFFFF"/>
                </a:highlight>
                <a:latin typeface="Lato"/>
                <a:ea typeface="Lato"/>
                <a:cs typeface="Lato"/>
                <a:sym typeface="Lato"/>
              </a:rPr>
              <a:t>right</a:t>
            </a:r>
            <a:r>
              <a:rPr lang="es-AR" sz="1800" dirty="0">
                <a:solidFill>
                  <a:srgbClr val="4A4A4A"/>
                </a:solidFill>
                <a:highlight>
                  <a:srgbClr val="FFFFFF"/>
                </a:highlight>
                <a:latin typeface="Lato"/>
                <a:ea typeface="Lato"/>
                <a:cs typeface="Lato"/>
                <a:sym typeface="Lato"/>
              </a:rPr>
              <a:t>, bottom y </a:t>
            </a:r>
            <a:r>
              <a:rPr lang="es-AR" sz="1800" dirty="0" err="1">
                <a:solidFill>
                  <a:srgbClr val="4A4A4A"/>
                </a:solidFill>
                <a:highlight>
                  <a:srgbClr val="FFFFFF"/>
                </a:highlight>
                <a:latin typeface="Lato"/>
                <a:ea typeface="Lato"/>
                <a:cs typeface="Lato"/>
                <a:sym typeface="Lato"/>
              </a:rPr>
              <a:t>left</a:t>
            </a:r>
            <a:r>
              <a:rPr lang="es-AR" sz="1800" dirty="0">
                <a:solidFill>
                  <a:srgbClr val="4A4A4A"/>
                </a:solidFill>
                <a:highlight>
                  <a:srgbClr val="FFFFFF"/>
                </a:highlight>
                <a:latin typeface="Lato"/>
                <a:ea typeface="Lato"/>
                <a:cs typeface="Lato"/>
                <a:sym typeface="Lato"/>
              </a:rPr>
              <a:t>)</a:t>
            </a:r>
          </a:p>
        </p:txBody>
      </p:sp>
      <p:pic>
        <p:nvPicPr>
          <p:cNvPr id="5" name="Imagen 4">
            <a:extLst>
              <a:ext uri="{FF2B5EF4-FFF2-40B4-BE49-F238E27FC236}">
                <a16:creationId xmlns:a16="http://schemas.microsoft.com/office/drawing/2014/main" id="{D081BB0C-C227-A778-3361-1051CC8E4E18}"/>
              </a:ext>
            </a:extLst>
          </p:cNvPr>
          <p:cNvPicPr>
            <a:picLocks noChangeAspect="1"/>
          </p:cNvPicPr>
          <p:nvPr/>
        </p:nvPicPr>
        <p:blipFill>
          <a:blip r:embed="rId3"/>
          <a:stretch>
            <a:fillRect/>
          </a:stretch>
        </p:blipFill>
        <p:spPr>
          <a:xfrm>
            <a:off x="3321318" y="3355450"/>
            <a:ext cx="2372056" cy="1305107"/>
          </a:xfrm>
          <a:prstGeom prst="rect">
            <a:avLst/>
          </a:prstGeom>
        </p:spPr>
      </p:pic>
    </p:spTree>
    <p:extLst>
      <p:ext uri="{BB962C8B-B14F-4D97-AF65-F5344CB8AC3E}">
        <p14:creationId xmlns:p14="http://schemas.microsoft.com/office/powerpoint/2010/main" val="122717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483313" cy="2246769"/>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Aire interno de la caja – Continuación </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800" dirty="0">
                <a:solidFill>
                  <a:srgbClr val="4A4A4A"/>
                </a:solidFill>
                <a:highlight>
                  <a:srgbClr val="FFFFFF"/>
                </a:highlight>
                <a:latin typeface="Lato"/>
                <a:ea typeface="Lato"/>
                <a:cs typeface="Lato"/>
                <a:sym typeface="Lato"/>
              </a:rPr>
              <a:t>También lo podemos establecer para cada uno de los lados de forma individual:</a:t>
            </a: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padding</a:t>
            </a:r>
            <a:r>
              <a:rPr lang="es-AR" sz="1800" dirty="0">
                <a:solidFill>
                  <a:srgbClr val="4A4A4A"/>
                </a:solidFill>
                <a:highlight>
                  <a:srgbClr val="FFFFFF"/>
                </a:highlight>
                <a:latin typeface="Lato"/>
                <a:ea typeface="Lato"/>
                <a:cs typeface="Lato"/>
                <a:sym typeface="Lato"/>
              </a:rPr>
              <a:t>-top</a:t>
            </a: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padding</a:t>
            </a:r>
            <a:r>
              <a:rPr lang="es-AR" sz="1800" dirty="0">
                <a:solidFill>
                  <a:srgbClr val="4A4A4A"/>
                </a:solidFill>
                <a:highlight>
                  <a:srgbClr val="FFFFFF"/>
                </a:highlight>
                <a:latin typeface="Lato"/>
                <a:ea typeface="Lato"/>
                <a:cs typeface="Lato"/>
                <a:sym typeface="Lato"/>
              </a:rPr>
              <a:t>-bottom</a:t>
            </a: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padding-left</a:t>
            </a: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err="1">
                <a:solidFill>
                  <a:srgbClr val="4A4A4A"/>
                </a:solidFill>
                <a:highlight>
                  <a:srgbClr val="FFFFFF"/>
                </a:highlight>
                <a:latin typeface="Lato"/>
                <a:ea typeface="Lato"/>
                <a:cs typeface="Lato"/>
                <a:sym typeface="Lato"/>
              </a:rPr>
              <a:t>padding-right</a:t>
            </a:r>
            <a:endParaRPr lang="es-AR" sz="1800" dirty="0">
              <a:solidFill>
                <a:srgbClr val="4A4A4A"/>
              </a:solidFill>
              <a:highlight>
                <a:srgbClr val="FFFFFF"/>
              </a:highlight>
              <a:latin typeface="Lato"/>
              <a:ea typeface="Lato"/>
              <a:cs typeface="Lato"/>
              <a:sym typeface="Lato"/>
            </a:endParaRPr>
          </a:p>
        </p:txBody>
      </p:sp>
      <p:pic>
        <p:nvPicPr>
          <p:cNvPr id="3" name="Imagen 2">
            <a:extLst>
              <a:ext uri="{FF2B5EF4-FFF2-40B4-BE49-F238E27FC236}">
                <a16:creationId xmlns:a16="http://schemas.microsoft.com/office/drawing/2014/main" id="{98EAEB53-D0B1-B124-2A06-8DD80664153D}"/>
              </a:ext>
            </a:extLst>
          </p:cNvPr>
          <p:cNvPicPr>
            <a:picLocks noChangeAspect="1"/>
          </p:cNvPicPr>
          <p:nvPr/>
        </p:nvPicPr>
        <p:blipFill>
          <a:blip r:embed="rId3"/>
          <a:stretch>
            <a:fillRect/>
          </a:stretch>
        </p:blipFill>
        <p:spPr>
          <a:xfrm>
            <a:off x="3451404" y="3158531"/>
            <a:ext cx="2241191" cy="1523736"/>
          </a:xfrm>
          <a:prstGeom prst="rect">
            <a:avLst/>
          </a:prstGeom>
        </p:spPr>
      </p:pic>
    </p:spTree>
    <p:extLst>
      <p:ext uri="{BB962C8B-B14F-4D97-AF65-F5344CB8AC3E}">
        <p14:creationId xmlns:p14="http://schemas.microsoft.com/office/powerpoint/2010/main" val="4294195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483313" cy="1969770"/>
          </a:xfrm>
          <a:prstGeom prst="rect">
            <a:avLst/>
          </a:prstGeom>
          <a:noFill/>
        </p:spPr>
        <p:txBody>
          <a:bodyPr wrap="square">
            <a:spAutoFit/>
          </a:bodyPr>
          <a:lstStyle/>
          <a:p>
            <a:r>
              <a:rPr lang="es-AR" sz="2400" dirty="0">
                <a:solidFill>
                  <a:srgbClr val="BE3969"/>
                </a:solidFill>
                <a:highlight>
                  <a:srgbClr val="FFFFFF"/>
                </a:highlight>
                <a:latin typeface="Russo One"/>
                <a:ea typeface="Lato"/>
                <a:cs typeface="Lato"/>
                <a:sym typeface="Russo One"/>
              </a:rPr>
              <a:t>Aire interno de la caja – Continuación </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Otra opción para hacer esto es utilizar 4 o 2 valores al igual que lo </a:t>
            </a:r>
            <a:r>
              <a:rPr lang="es-AR" dirty="0" err="1">
                <a:solidFill>
                  <a:srgbClr val="4A4A4A"/>
                </a:solidFill>
                <a:highlight>
                  <a:srgbClr val="FFFFFF"/>
                </a:highlight>
                <a:latin typeface="Lato"/>
                <a:ea typeface="Lato"/>
                <a:cs typeface="Lato"/>
                <a:sym typeface="Lato"/>
              </a:rPr>
              <a:t>hizimos</a:t>
            </a:r>
            <a:r>
              <a:rPr lang="es-AR" dirty="0">
                <a:solidFill>
                  <a:srgbClr val="4A4A4A"/>
                </a:solidFill>
                <a:highlight>
                  <a:srgbClr val="FFFFFF"/>
                </a:highlight>
                <a:latin typeface="Lato"/>
                <a:ea typeface="Lato"/>
                <a:cs typeface="Lato"/>
                <a:sym typeface="Lato"/>
              </a:rPr>
              <a:t> con los bordes</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padding</a:t>
            </a:r>
            <a:r>
              <a:rPr lang="es-AR" dirty="0">
                <a:solidFill>
                  <a:srgbClr val="4A4A4A"/>
                </a:solidFill>
                <a:highlight>
                  <a:srgbClr val="FFFFFF"/>
                </a:highlight>
                <a:latin typeface="Lato"/>
                <a:ea typeface="Lato"/>
                <a:cs typeface="Lato"/>
                <a:sym typeface="Lato"/>
              </a:rPr>
              <a:t>: top/bottom </a:t>
            </a:r>
            <a:r>
              <a:rPr lang="es-AR" dirty="0" err="1">
                <a:solidFill>
                  <a:srgbClr val="4A4A4A"/>
                </a:solidFill>
                <a:highlight>
                  <a:srgbClr val="FFFFFF"/>
                </a:highlight>
                <a:latin typeface="Lato"/>
                <a:ea typeface="Lato"/>
                <a:cs typeface="Lato"/>
                <a:sym typeface="Lato"/>
              </a:rPr>
              <a:t>right</a:t>
            </a:r>
            <a:r>
              <a:rPr lang="es-AR" dirty="0">
                <a:solidFill>
                  <a:srgbClr val="4A4A4A"/>
                </a:solidFill>
                <a:highlight>
                  <a:srgbClr val="FFFFFF"/>
                </a:highlight>
                <a:latin typeface="Lato"/>
                <a:ea typeface="Lato"/>
                <a:cs typeface="Lato"/>
                <a:sym typeface="Lato"/>
              </a:rPr>
              <a:t>/</a:t>
            </a:r>
            <a:r>
              <a:rPr lang="es-AR" dirty="0" err="1">
                <a:solidFill>
                  <a:srgbClr val="4A4A4A"/>
                </a:solidFill>
                <a:highlight>
                  <a:srgbClr val="FFFFFF"/>
                </a:highlight>
                <a:latin typeface="Lato"/>
                <a:ea typeface="Lato"/>
                <a:cs typeface="Lato"/>
                <a:sym typeface="Lato"/>
              </a:rPr>
              <a:t>left</a:t>
            </a:r>
            <a:r>
              <a:rPr lang="es-AR" dirty="0">
                <a:solidFill>
                  <a:srgbClr val="4A4A4A"/>
                </a:solidFill>
                <a:highlight>
                  <a:srgbClr val="FFFFFF"/>
                </a:highlight>
                <a:latin typeface="Lato"/>
                <a:ea typeface="Lato"/>
                <a:cs typeface="Lato"/>
                <a:sym typeface="Lato"/>
              </a:rPr>
              <a:t>;</a:t>
            </a:r>
          </a:p>
          <a:p>
            <a:pPr marL="285750" lvl="0" indent="-2857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padding</a:t>
            </a:r>
            <a:r>
              <a:rPr lang="es-AR" dirty="0">
                <a:solidFill>
                  <a:srgbClr val="4A4A4A"/>
                </a:solidFill>
                <a:highlight>
                  <a:srgbClr val="FFFFFF"/>
                </a:highlight>
                <a:latin typeface="Lato"/>
                <a:ea typeface="Lato"/>
                <a:cs typeface="Lato"/>
                <a:sym typeface="Lato"/>
              </a:rPr>
              <a:t>: 10px 20px;</a:t>
            </a:r>
          </a:p>
          <a:p>
            <a:pPr marL="285750" lvl="0" indent="-2857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padding</a:t>
            </a:r>
            <a:r>
              <a:rPr lang="es-AR" dirty="0">
                <a:solidFill>
                  <a:srgbClr val="4A4A4A"/>
                </a:solidFill>
                <a:highlight>
                  <a:srgbClr val="FFFFFF"/>
                </a:highlight>
                <a:latin typeface="Lato"/>
                <a:ea typeface="Lato"/>
                <a:cs typeface="Lato"/>
                <a:sym typeface="Lato"/>
              </a:rPr>
              <a:t>: top </a:t>
            </a:r>
            <a:r>
              <a:rPr lang="es-AR" dirty="0" err="1">
                <a:solidFill>
                  <a:srgbClr val="4A4A4A"/>
                </a:solidFill>
                <a:highlight>
                  <a:srgbClr val="FFFFFF"/>
                </a:highlight>
                <a:latin typeface="Lato"/>
                <a:ea typeface="Lato"/>
                <a:cs typeface="Lato"/>
                <a:sym typeface="Lato"/>
              </a:rPr>
              <a:t>right</a:t>
            </a:r>
            <a:r>
              <a:rPr lang="es-AR" dirty="0">
                <a:solidFill>
                  <a:srgbClr val="4A4A4A"/>
                </a:solidFill>
                <a:highlight>
                  <a:srgbClr val="FFFFFF"/>
                </a:highlight>
                <a:latin typeface="Lato"/>
                <a:ea typeface="Lato"/>
                <a:cs typeface="Lato"/>
                <a:sym typeface="Lato"/>
              </a:rPr>
              <a:t> bottom </a:t>
            </a:r>
            <a:r>
              <a:rPr lang="es-AR" dirty="0" err="1">
                <a:solidFill>
                  <a:srgbClr val="4A4A4A"/>
                </a:solidFill>
                <a:highlight>
                  <a:srgbClr val="FFFFFF"/>
                </a:highlight>
                <a:latin typeface="Lato"/>
                <a:ea typeface="Lato"/>
                <a:cs typeface="Lato"/>
                <a:sym typeface="Lato"/>
              </a:rPr>
              <a:t>left</a:t>
            </a:r>
            <a:r>
              <a:rPr lang="es-AR" dirty="0">
                <a:solidFill>
                  <a:srgbClr val="4A4A4A"/>
                </a:solidFill>
                <a:highlight>
                  <a:srgbClr val="FFFFFF"/>
                </a:highlight>
                <a:latin typeface="Lato"/>
                <a:ea typeface="Lato"/>
                <a:cs typeface="Lato"/>
                <a:sym typeface="Lato"/>
              </a:rPr>
              <a:t>;</a:t>
            </a:r>
          </a:p>
          <a:p>
            <a:pPr marL="285750" lvl="0" indent="-2857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padding</a:t>
            </a:r>
            <a:r>
              <a:rPr lang="es-AR" dirty="0">
                <a:solidFill>
                  <a:srgbClr val="4A4A4A"/>
                </a:solidFill>
                <a:highlight>
                  <a:srgbClr val="FFFFFF"/>
                </a:highlight>
                <a:latin typeface="Lato"/>
                <a:ea typeface="Lato"/>
                <a:cs typeface="Lato"/>
                <a:sym typeface="Lato"/>
              </a:rPr>
              <a:t>: 10px 15px 12px 25px;</a:t>
            </a:r>
          </a:p>
        </p:txBody>
      </p:sp>
      <p:pic>
        <p:nvPicPr>
          <p:cNvPr id="5" name="Imagen 4">
            <a:extLst>
              <a:ext uri="{FF2B5EF4-FFF2-40B4-BE49-F238E27FC236}">
                <a16:creationId xmlns:a16="http://schemas.microsoft.com/office/drawing/2014/main" id="{5EC952EB-F323-C515-80EE-EEF039E70712}"/>
              </a:ext>
            </a:extLst>
          </p:cNvPr>
          <p:cNvPicPr>
            <a:picLocks noChangeAspect="1"/>
          </p:cNvPicPr>
          <p:nvPr/>
        </p:nvPicPr>
        <p:blipFill>
          <a:blip r:embed="rId3"/>
          <a:stretch>
            <a:fillRect/>
          </a:stretch>
        </p:blipFill>
        <p:spPr>
          <a:xfrm>
            <a:off x="2706255" y="2876497"/>
            <a:ext cx="3228261" cy="931645"/>
          </a:xfrm>
          <a:prstGeom prst="rect">
            <a:avLst/>
          </a:prstGeom>
        </p:spPr>
      </p:pic>
      <p:pic>
        <p:nvPicPr>
          <p:cNvPr id="7" name="Imagen 6">
            <a:extLst>
              <a:ext uri="{FF2B5EF4-FFF2-40B4-BE49-F238E27FC236}">
                <a16:creationId xmlns:a16="http://schemas.microsoft.com/office/drawing/2014/main" id="{ECA6A5AC-6B59-3EB8-FBA4-C68CA0651373}"/>
              </a:ext>
            </a:extLst>
          </p:cNvPr>
          <p:cNvPicPr>
            <a:picLocks noChangeAspect="1"/>
          </p:cNvPicPr>
          <p:nvPr/>
        </p:nvPicPr>
        <p:blipFill>
          <a:blip r:embed="rId4"/>
          <a:stretch>
            <a:fillRect/>
          </a:stretch>
        </p:blipFill>
        <p:spPr>
          <a:xfrm>
            <a:off x="3071091" y="3906102"/>
            <a:ext cx="2341571" cy="999269"/>
          </a:xfrm>
          <a:prstGeom prst="rect">
            <a:avLst/>
          </a:prstGeom>
        </p:spPr>
      </p:pic>
    </p:spTree>
    <p:extLst>
      <p:ext uri="{BB962C8B-B14F-4D97-AF65-F5344CB8AC3E}">
        <p14:creationId xmlns:p14="http://schemas.microsoft.com/office/powerpoint/2010/main" val="2463864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483313" cy="3108543"/>
          </a:xfrm>
          <a:prstGeom prst="rect">
            <a:avLst/>
          </a:prstGeom>
          <a:noFill/>
        </p:spPr>
        <p:txBody>
          <a:bodyPr wrap="square">
            <a:spAutoFit/>
          </a:bodyPr>
          <a:lstStyle/>
          <a:p>
            <a:r>
              <a:rPr lang="es-AR" sz="3600" dirty="0">
                <a:solidFill>
                  <a:srgbClr val="BE3969"/>
                </a:solidFill>
                <a:highlight>
                  <a:srgbClr val="FFFFFF"/>
                </a:highlight>
                <a:latin typeface="Russo One"/>
                <a:ea typeface="Lato"/>
                <a:cs typeface="Lato"/>
                <a:sym typeface="Russo One"/>
              </a:rPr>
              <a:t>Márgenes</a:t>
            </a:r>
          </a:p>
          <a:p>
            <a:pPr lvl="0" rtl="0">
              <a:spcBef>
                <a:spcPts val="0"/>
              </a:spcBef>
              <a:spcAft>
                <a:spcPts val="0"/>
              </a:spcAft>
            </a:pP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Por medio de la propiedad </a:t>
            </a:r>
            <a:r>
              <a:rPr lang="es-AR" sz="2000" dirty="0" err="1">
                <a:solidFill>
                  <a:srgbClr val="4A4A4A"/>
                </a:solidFill>
                <a:highlight>
                  <a:srgbClr val="FFFFFF"/>
                </a:highlight>
                <a:latin typeface="Lato"/>
                <a:ea typeface="Lato"/>
                <a:cs typeface="Lato"/>
                <a:sym typeface="Lato"/>
              </a:rPr>
              <a:t>margin</a:t>
            </a:r>
            <a:r>
              <a:rPr lang="es-AR" sz="2000" dirty="0">
                <a:solidFill>
                  <a:srgbClr val="4A4A4A"/>
                </a:solidFill>
                <a:highlight>
                  <a:srgbClr val="FFFFFF"/>
                </a:highlight>
                <a:latin typeface="Lato"/>
                <a:ea typeface="Lato"/>
                <a:cs typeface="Lato"/>
                <a:sym typeface="Lato"/>
              </a:rPr>
              <a:t> podemos establecer el </a:t>
            </a:r>
            <a:r>
              <a:rPr lang="es-AR" sz="2000" dirty="0" err="1">
                <a:solidFill>
                  <a:srgbClr val="4A4A4A"/>
                </a:solidFill>
                <a:highlight>
                  <a:srgbClr val="FFFFFF"/>
                </a:highlight>
                <a:latin typeface="Lato"/>
                <a:ea typeface="Lato"/>
                <a:cs typeface="Lato"/>
                <a:sym typeface="Lato"/>
              </a:rPr>
              <a:t>márgen</a:t>
            </a:r>
            <a:r>
              <a:rPr lang="es-AR" sz="2000" dirty="0">
                <a:solidFill>
                  <a:srgbClr val="4A4A4A"/>
                </a:solidFill>
                <a:highlight>
                  <a:srgbClr val="FFFFFF"/>
                </a:highlight>
                <a:latin typeface="Lato"/>
                <a:ea typeface="Lato"/>
                <a:cs typeface="Lato"/>
                <a:sym typeface="Lato"/>
              </a:rPr>
              <a:t> de la caja</a:t>
            </a: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Esta propiedad soporta cualquier unidad de medida (</a:t>
            </a:r>
            <a:r>
              <a:rPr lang="es-AR" sz="2000" dirty="0" err="1">
                <a:solidFill>
                  <a:srgbClr val="4A4A4A"/>
                </a:solidFill>
                <a:highlight>
                  <a:srgbClr val="FFFFFF"/>
                </a:highlight>
                <a:latin typeface="Lato"/>
                <a:ea typeface="Lato"/>
                <a:cs typeface="Lato"/>
                <a:sym typeface="Lato"/>
              </a:rPr>
              <a:t>px</a:t>
            </a:r>
            <a:r>
              <a:rPr lang="es-AR" sz="2000" dirty="0">
                <a:solidFill>
                  <a:srgbClr val="4A4A4A"/>
                </a:solidFill>
                <a:highlight>
                  <a:srgbClr val="FFFFFF"/>
                </a:highlight>
                <a:latin typeface="Lato"/>
                <a:ea typeface="Lato"/>
                <a:cs typeface="Lato"/>
                <a:sym typeface="Lato"/>
              </a:rPr>
              <a:t>, em, %)</a:t>
            </a: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El </a:t>
            </a:r>
            <a:r>
              <a:rPr lang="es-AR" sz="2000" dirty="0" err="1">
                <a:solidFill>
                  <a:srgbClr val="4A4A4A"/>
                </a:solidFill>
                <a:highlight>
                  <a:srgbClr val="FFFFFF"/>
                </a:highlight>
                <a:latin typeface="Lato"/>
                <a:ea typeface="Lato"/>
                <a:cs typeface="Lato"/>
                <a:sym typeface="Lato"/>
              </a:rPr>
              <a:t>márgen</a:t>
            </a:r>
            <a:r>
              <a:rPr lang="es-AR" sz="2000" dirty="0">
                <a:solidFill>
                  <a:srgbClr val="4A4A4A"/>
                </a:solidFill>
                <a:highlight>
                  <a:srgbClr val="FFFFFF"/>
                </a:highlight>
                <a:latin typeface="Lato"/>
                <a:ea typeface="Lato"/>
                <a:cs typeface="Lato"/>
                <a:sym typeface="Lato"/>
              </a:rPr>
              <a:t> es exterior al los elementos y comienza luego del </a:t>
            </a:r>
            <a:r>
              <a:rPr lang="es-AR" sz="2000" dirty="0" err="1">
                <a:solidFill>
                  <a:srgbClr val="4A4A4A"/>
                </a:solidFill>
                <a:highlight>
                  <a:srgbClr val="FFFFFF"/>
                </a:highlight>
                <a:latin typeface="Lato"/>
                <a:ea typeface="Lato"/>
                <a:cs typeface="Lato"/>
                <a:sym typeface="Lato"/>
              </a:rPr>
              <a:t>border</a:t>
            </a: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Nos permite distanciar elementos entre sí</a:t>
            </a: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Si establecemos un color de fondo y un </a:t>
            </a:r>
            <a:r>
              <a:rPr lang="es-AR" sz="2000" dirty="0" err="1">
                <a:solidFill>
                  <a:srgbClr val="4A4A4A"/>
                </a:solidFill>
                <a:highlight>
                  <a:srgbClr val="FFFFFF"/>
                </a:highlight>
                <a:latin typeface="Lato"/>
                <a:ea typeface="Lato"/>
                <a:cs typeface="Lato"/>
                <a:sym typeface="Lato"/>
              </a:rPr>
              <a:t>márgen</a:t>
            </a:r>
            <a:r>
              <a:rPr lang="es-AR" sz="2000" dirty="0">
                <a:solidFill>
                  <a:srgbClr val="4A4A4A"/>
                </a:solidFill>
                <a:highlight>
                  <a:srgbClr val="FFFFFF"/>
                </a:highlight>
                <a:latin typeface="Lato"/>
                <a:ea typeface="Lato"/>
                <a:cs typeface="Lato"/>
                <a:sym typeface="Lato"/>
              </a:rPr>
              <a:t> no se va a ver más color de fondo como con el </a:t>
            </a:r>
            <a:r>
              <a:rPr lang="es-AR" sz="2000" dirty="0" err="1">
                <a:solidFill>
                  <a:srgbClr val="4A4A4A"/>
                </a:solidFill>
                <a:highlight>
                  <a:srgbClr val="FFFFFF"/>
                </a:highlight>
                <a:latin typeface="Lato"/>
                <a:ea typeface="Lato"/>
                <a:cs typeface="Lato"/>
                <a:sym typeface="Lato"/>
              </a:rPr>
              <a:t>padding</a:t>
            </a:r>
            <a:r>
              <a:rPr lang="es-AR" sz="2000" dirty="0">
                <a:solidFill>
                  <a:srgbClr val="4A4A4A"/>
                </a:solidFill>
                <a:highlight>
                  <a:srgbClr val="FFFFFF"/>
                </a:highlight>
                <a:latin typeface="Lato"/>
                <a:ea typeface="Lato"/>
                <a:cs typeface="Lato"/>
                <a:sym typeface="Lato"/>
              </a:rPr>
              <a:t> ya que el </a:t>
            </a:r>
            <a:r>
              <a:rPr lang="es-AR" sz="2000" dirty="0" err="1">
                <a:solidFill>
                  <a:srgbClr val="4A4A4A"/>
                </a:solidFill>
                <a:highlight>
                  <a:srgbClr val="FFFFFF"/>
                </a:highlight>
                <a:latin typeface="Lato"/>
                <a:ea typeface="Lato"/>
                <a:cs typeface="Lato"/>
                <a:sym typeface="Lato"/>
              </a:rPr>
              <a:t>márgen</a:t>
            </a:r>
            <a:r>
              <a:rPr lang="es-AR" sz="2000" dirty="0">
                <a:solidFill>
                  <a:srgbClr val="4A4A4A"/>
                </a:solidFill>
                <a:highlight>
                  <a:srgbClr val="FFFFFF"/>
                </a:highlight>
                <a:latin typeface="Lato"/>
                <a:ea typeface="Lato"/>
                <a:cs typeface="Lato"/>
                <a:sym typeface="Lato"/>
              </a:rPr>
              <a:t> es externo</a:t>
            </a:r>
          </a:p>
        </p:txBody>
      </p:sp>
    </p:spTree>
    <p:extLst>
      <p:ext uri="{BB962C8B-B14F-4D97-AF65-F5344CB8AC3E}">
        <p14:creationId xmlns:p14="http://schemas.microsoft.com/office/powerpoint/2010/main" val="110634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483313" cy="2492990"/>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Márgenes – Continuación </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Los valores funcionan igual que en el </a:t>
            </a:r>
            <a:r>
              <a:rPr lang="es-AR" sz="1600" dirty="0" err="1">
                <a:solidFill>
                  <a:srgbClr val="4A4A4A"/>
                </a:solidFill>
                <a:highlight>
                  <a:srgbClr val="FFFFFF"/>
                </a:highlight>
                <a:latin typeface="Lato"/>
                <a:ea typeface="Lato"/>
                <a:cs typeface="Lato"/>
                <a:sym typeface="Lato"/>
              </a:rPr>
              <a:t>padding</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Un solo valor establece todos los márgenes iguales</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Podemos establecer 2 valores en caso de que queremos el </a:t>
            </a:r>
            <a:r>
              <a:rPr lang="es-AR" sz="1600" dirty="0" err="1">
                <a:solidFill>
                  <a:srgbClr val="4A4A4A"/>
                </a:solidFill>
                <a:highlight>
                  <a:srgbClr val="FFFFFF"/>
                </a:highlight>
                <a:latin typeface="Lato"/>
                <a:ea typeface="Lato"/>
                <a:cs typeface="Lato"/>
                <a:sym typeface="Lato"/>
              </a:rPr>
              <a:t>mísmo</a:t>
            </a:r>
            <a:r>
              <a:rPr lang="es-AR" sz="1600" dirty="0">
                <a:solidFill>
                  <a:srgbClr val="4A4A4A"/>
                </a:solidFill>
                <a:highlight>
                  <a:srgbClr val="FFFFFF"/>
                </a:highlight>
                <a:latin typeface="Lato"/>
                <a:ea typeface="Lato"/>
                <a:cs typeface="Lato"/>
                <a:sym typeface="Lato"/>
              </a:rPr>
              <a:t> valor para top/bottom y </a:t>
            </a:r>
            <a:r>
              <a:rPr lang="es-AR" sz="1600" dirty="0" err="1">
                <a:solidFill>
                  <a:srgbClr val="4A4A4A"/>
                </a:solidFill>
                <a:highlight>
                  <a:srgbClr val="FFFFFF"/>
                </a:highlight>
                <a:latin typeface="Lato"/>
                <a:ea typeface="Lato"/>
                <a:cs typeface="Lato"/>
                <a:sym typeface="Lato"/>
              </a:rPr>
              <a:t>left</a:t>
            </a:r>
            <a:r>
              <a:rPr lang="es-AR" sz="1600" dirty="0">
                <a:solidFill>
                  <a:srgbClr val="4A4A4A"/>
                </a:solidFill>
                <a:highlight>
                  <a:srgbClr val="FFFFFF"/>
                </a:highlight>
                <a:latin typeface="Lato"/>
                <a:ea typeface="Lato"/>
                <a:cs typeface="Lato"/>
                <a:sym typeface="Lato"/>
              </a:rPr>
              <a:t>/</a:t>
            </a:r>
            <a:r>
              <a:rPr lang="es-AR" sz="1600" dirty="0" err="1">
                <a:solidFill>
                  <a:srgbClr val="4A4A4A"/>
                </a:solidFill>
                <a:highlight>
                  <a:srgbClr val="FFFFFF"/>
                </a:highlight>
                <a:latin typeface="Lato"/>
                <a:ea typeface="Lato"/>
                <a:cs typeface="Lato"/>
                <a:sym typeface="Lato"/>
              </a:rPr>
              <a:t>right</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Podemos establecer 4 valores en caso de querer utilizar la propiedad </a:t>
            </a:r>
            <a:r>
              <a:rPr lang="es-AR" sz="1600" dirty="0" err="1">
                <a:solidFill>
                  <a:srgbClr val="4A4A4A"/>
                </a:solidFill>
                <a:highlight>
                  <a:srgbClr val="FFFFFF"/>
                </a:highlight>
                <a:latin typeface="Lato"/>
                <a:ea typeface="Lato"/>
                <a:cs typeface="Lato"/>
                <a:sym typeface="Lato"/>
              </a:rPr>
              <a:t>margin</a:t>
            </a:r>
            <a:r>
              <a:rPr lang="es-AR" sz="1600" dirty="0">
                <a:solidFill>
                  <a:srgbClr val="4A4A4A"/>
                </a:solidFill>
                <a:highlight>
                  <a:srgbClr val="FFFFFF"/>
                </a:highlight>
                <a:latin typeface="Lato"/>
                <a:ea typeface="Lato"/>
                <a:cs typeface="Lato"/>
                <a:sym typeface="Lato"/>
              </a:rPr>
              <a:t> para establecer valores individuales para cada margen. Esta forma de escribir los márgenes también va en sentido de las agujas del reloj: top </a:t>
            </a:r>
            <a:r>
              <a:rPr lang="es-AR" sz="1600" dirty="0" err="1">
                <a:solidFill>
                  <a:srgbClr val="4A4A4A"/>
                </a:solidFill>
                <a:highlight>
                  <a:srgbClr val="FFFFFF"/>
                </a:highlight>
                <a:latin typeface="Lato"/>
                <a:ea typeface="Lato"/>
                <a:cs typeface="Lato"/>
                <a:sym typeface="Lato"/>
              </a:rPr>
              <a:t>right</a:t>
            </a:r>
            <a:r>
              <a:rPr lang="es-AR" sz="1600" dirty="0">
                <a:solidFill>
                  <a:srgbClr val="4A4A4A"/>
                </a:solidFill>
                <a:highlight>
                  <a:srgbClr val="FFFFFF"/>
                </a:highlight>
                <a:latin typeface="Lato"/>
                <a:ea typeface="Lato"/>
                <a:cs typeface="Lato"/>
                <a:sym typeface="Lato"/>
              </a:rPr>
              <a:t> bottom </a:t>
            </a:r>
            <a:r>
              <a:rPr lang="es-AR" sz="1600" dirty="0" err="1">
                <a:solidFill>
                  <a:srgbClr val="4A4A4A"/>
                </a:solidFill>
                <a:highlight>
                  <a:srgbClr val="FFFFFF"/>
                </a:highlight>
                <a:latin typeface="Lato"/>
                <a:ea typeface="Lato"/>
                <a:cs typeface="Lato"/>
                <a:sym typeface="Lato"/>
              </a:rPr>
              <a:t>left</a:t>
            </a:r>
            <a:endParaRPr lang="es-AR" sz="1600" dirty="0">
              <a:solidFill>
                <a:srgbClr val="4A4A4A"/>
              </a:solidFill>
              <a:highlight>
                <a:srgbClr val="FFFFFF"/>
              </a:highlight>
              <a:latin typeface="Lato"/>
              <a:ea typeface="Lato"/>
              <a:cs typeface="Lato"/>
              <a:sym typeface="Lato"/>
            </a:endParaRPr>
          </a:p>
        </p:txBody>
      </p:sp>
      <p:pic>
        <p:nvPicPr>
          <p:cNvPr id="3" name="Imagen 2">
            <a:extLst>
              <a:ext uri="{FF2B5EF4-FFF2-40B4-BE49-F238E27FC236}">
                <a16:creationId xmlns:a16="http://schemas.microsoft.com/office/drawing/2014/main" id="{686436A6-92FD-431E-E225-1406CDE4124B}"/>
              </a:ext>
            </a:extLst>
          </p:cNvPr>
          <p:cNvPicPr>
            <a:picLocks noChangeAspect="1"/>
          </p:cNvPicPr>
          <p:nvPr/>
        </p:nvPicPr>
        <p:blipFill>
          <a:blip r:embed="rId3"/>
          <a:srcRect b="72276"/>
          <a:stretch/>
        </p:blipFill>
        <p:spPr>
          <a:xfrm>
            <a:off x="472428" y="3746976"/>
            <a:ext cx="2650823" cy="855611"/>
          </a:xfrm>
          <a:prstGeom prst="rect">
            <a:avLst/>
          </a:prstGeom>
        </p:spPr>
      </p:pic>
      <p:pic>
        <p:nvPicPr>
          <p:cNvPr id="5" name="Imagen 4">
            <a:extLst>
              <a:ext uri="{FF2B5EF4-FFF2-40B4-BE49-F238E27FC236}">
                <a16:creationId xmlns:a16="http://schemas.microsoft.com/office/drawing/2014/main" id="{D9EEA258-D31C-AEC6-C0FD-BF3B9A918A37}"/>
              </a:ext>
            </a:extLst>
          </p:cNvPr>
          <p:cNvPicPr>
            <a:picLocks noChangeAspect="1"/>
          </p:cNvPicPr>
          <p:nvPr/>
        </p:nvPicPr>
        <p:blipFill>
          <a:blip r:embed="rId3"/>
          <a:srcRect t="36175" b="34867"/>
          <a:stretch/>
        </p:blipFill>
        <p:spPr>
          <a:xfrm>
            <a:off x="3281366" y="3708884"/>
            <a:ext cx="2650823" cy="893703"/>
          </a:xfrm>
          <a:prstGeom prst="rect">
            <a:avLst/>
          </a:prstGeom>
        </p:spPr>
      </p:pic>
      <p:pic>
        <p:nvPicPr>
          <p:cNvPr id="6" name="Imagen 5">
            <a:extLst>
              <a:ext uri="{FF2B5EF4-FFF2-40B4-BE49-F238E27FC236}">
                <a16:creationId xmlns:a16="http://schemas.microsoft.com/office/drawing/2014/main" id="{A3334CAE-A9C6-3CA6-AB96-65BCF79F7683}"/>
              </a:ext>
            </a:extLst>
          </p:cNvPr>
          <p:cNvPicPr>
            <a:picLocks noChangeAspect="1"/>
          </p:cNvPicPr>
          <p:nvPr/>
        </p:nvPicPr>
        <p:blipFill>
          <a:blip r:embed="rId3"/>
          <a:srcRect t="73214"/>
          <a:stretch/>
        </p:blipFill>
        <p:spPr>
          <a:xfrm>
            <a:off x="6090304" y="3742392"/>
            <a:ext cx="2650823" cy="826685"/>
          </a:xfrm>
          <a:prstGeom prst="rect">
            <a:avLst/>
          </a:prstGeom>
        </p:spPr>
      </p:pic>
    </p:spTree>
    <p:extLst>
      <p:ext uri="{BB962C8B-B14F-4D97-AF65-F5344CB8AC3E}">
        <p14:creationId xmlns:p14="http://schemas.microsoft.com/office/powerpoint/2010/main" val="2166789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4788769" cy="3970318"/>
          </a:xfrm>
          <a:prstGeom prst="rect">
            <a:avLst/>
          </a:prstGeom>
          <a:noFill/>
        </p:spPr>
        <p:txBody>
          <a:bodyPr wrap="square">
            <a:spAutoFit/>
          </a:bodyPr>
          <a:lstStyle/>
          <a:p>
            <a:r>
              <a:rPr lang="es-AR" sz="3600" dirty="0">
                <a:solidFill>
                  <a:srgbClr val="BE3969"/>
                </a:solidFill>
                <a:highlight>
                  <a:srgbClr val="FFFFFF"/>
                </a:highlight>
                <a:latin typeface="Russo One"/>
                <a:ea typeface="Lato"/>
                <a:cs typeface="Lato"/>
                <a:sym typeface="Russo One"/>
              </a:rPr>
              <a:t>Márgenes – Continuación </a:t>
            </a:r>
          </a:p>
          <a:p>
            <a:pPr lvl="0" rtl="0">
              <a:spcBef>
                <a:spcPts val="0"/>
              </a:spcBef>
              <a:spcAft>
                <a:spcPts val="0"/>
              </a:spcAft>
            </a:pPr>
            <a:endParaRPr lang="es-AR" sz="2000" dirty="0">
              <a:solidFill>
                <a:srgbClr val="4A4A4A"/>
              </a:solidFill>
              <a:highlight>
                <a:srgbClr val="FFFFFF"/>
              </a:highlight>
              <a:latin typeface="Lato"/>
              <a:ea typeface="Lato"/>
              <a:cs typeface="Lato"/>
              <a:sym typeface="Lato"/>
            </a:endParaRPr>
          </a:p>
          <a:p>
            <a:pPr lvl="0" rtl="0">
              <a:spcBef>
                <a:spcPts val="0"/>
              </a:spcBef>
              <a:spcAft>
                <a:spcPts val="0"/>
              </a:spcAft>
            </a:pPr>
            <a:r>
              <a:rPr lang="es-AR" sz="2000" dirty="0">
                <a:solidFill>
                  <a:srgbClr val="4A4A4A"/>
                </a:solidFill>
                <a:highlight>
                  <a:srgbClr val="FFFFFF"/>
                </a:highlight>
                <a:latin typeface="Lato"/>
                <a:ea typeface="Lato"/>
                <a:cs typeface="Lato"/>
                <a:sym typeface="Lato"/>
              </a:rPr>
              <a:t>También podemos establecer los márgenes de forma individual solamente utilizando las siguientes propiedades:</a:t>
            </a:r>
          </a:p>
          <a:p>
            <a:pPr lvl="0" rtl="0">
              <a:spcBef>
                <a:spcPts val="0"/>
              </a:spcBef>
              <a:spcAft>
                <a:spcPts val="0"/>
              </a:spcAft>
            </a:pP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err="1">
                <a:solidFill>
                  <a:srgbClr val="4A4A4A"/>
                </a:solidFill>
                <a:highlight>
                  <a:srgbClr val="FFFFFF"/>
                </a:highlight>
                <a:latin typeface="Lato"/>
                <a:ea typeface="Lato"/>
                <a:cs typeface="Lato"/>
                <a:sym typeface="Lato"/>
              </a:rPr>
              <a:t>margin</a:t>
            </a:r>
            <a:r>
              <a:rPr lang="es-AR" sz="2000" dirty="0">
                <a:solidFill>
                  <a:srgbClr val="4A4A4A"/>
                </a:solidFill>
                <a:highlight>
                  <a:srgbClr val="FFFFFF"/>
                </a:highlight>
                <a:latin typeface="Lato"/>
                <a:ea typeface="Lato"/>
                <a:cs typeface="Lato"/>
                <a:sym typeface="Lato"/>
              </a:rPr>
              <a:t>-top</a:t>
            </a:r>
          </a:p>
          <a:p>
            <a:pPr marL="285750" lvl="0" indent="-285750" rtl="0">
              <a:spcBef>
                <a:spcPts val="0"/>
              </a:spcBef>
              <a:spcAft>
                <a:spcPts val="0"/>
              </a:spcAft>
              <a:buFont typeface="Arial" panose="020B0604020202020204" pitchFamily="34" charset="0"/>
              <a:buChar char="•"/>
            </a:pPr>
            <a:r>
              <a:rPr lang="es-AR" sz="2000" dirty="0" err="1">
                <a:solidFill>
                  <a:srgbClr val="4A4A4A"/>
                </a:solidFill>
                <a:highlight>
                  <a:srgbClr val="FFFFFF"/>
                </a:highlight>
                <a:latin typeface="Lato"/>
                <a:ea typeface="Lato"/>
                <a:cs typeface="Lato"/>
                <a:sym typeface="Lato"/>
              </a:rPr>
              <a:t>margin</a:t>
            </a:r>
            <a:r>
              <a:rPr lang="es-AR" sz="2000" dirty="0">
                <a:solidFill>
                  <a:srgbClr val="4A4A4A"/>
                </a:solidFill>
                <a:highlight>
                  <a:srgbClr val="FFFFFF"/>
                </a:highlight>
                <a:latin typeface="Lato"/>
                <a:ea typeface="Lato"/>
                <a:cs typeface="Lato"/>
                <a:sym typeface="Lato"/>
              </a:rPr>
              <a:t>-bottom</a:t>
            </a:r>
          </a:p>
          <a:p>
            <a:pPr marL="285750" lvl="0" indent="-285750" rtl="0">
              <a:spcBef>
                <a:spcPts val="0"/>
              </a:spcBef>
              <a:spcAft>
                <a:spcPts val="0"/>
              </a:spcAft>
              <a:buFont typeface="Arial" panose="020B0604020202020204" pitchFamily="34" charset="0"/>
              <a:buChar char="•"/>
            </a:pPr>
            <a:r>
              <a:rPr lang="es-AR" sz="2000" dirty="0" err="1">
                <a:solidFill>
                  <a:srgbClr val="4A4A4A"/>
                </a:solidFill>
                <a:highlight>
                  <a:srgbClr val="FFFFFF"/>
                </a:highlight>
                <a:latin typeface="Lato"/>
                <a:ea typeface="Lato"/>
                <a:cs typeface="Lato"/>
                <a:sym typeface="Lato"/>
              </a:rPr>
              <a:t>margin-left</a:t>
            </a: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err="1">
                <a:solidFill>
                  <a:srgbClr val="4A4A4A"/>
                </a:solidFill>
                <a:highlight>
                  <a:srgbClr val="FFFFFF"/>
                </a:highlight>
                <a:latin typeface="Lato"/>
                <a:ea typeface="Lato"/>
                <a:cs typeface="Lato"/>
                <a:sym typeface="Lato"/>
              </a:rPr>
              <a:t>margin-right</a:t>
            </a:r>
            <a:endParaRPr lang="es-AR" sz="2000" dirty="0">
              <a:solidFill>
                <a:srgbClr val="4A4A4A"/>
              </a:solidFill>
              <a:highlight>
                <a:srgbClr val="FFFFFF"/>
              </a:highlight>
              <a:latin typeface="Lato"/>
              <a:ea typeface="Lato"/>
              <a:cs typeface="Lato"/>
              <a:sym typeface="Lato"/>
            </a:endParaRPr>
          </a:p>
        </p:txBody>
      </p:sp>
      <p:pic>
        <p:nvPicPr>
          <p:cNvPr id="7" name="Imagen 6">
            <a:extLst>
              <a:ext uri="{FF2B5EF4-FFF2-40B4-BE49-F238E27FC236}">
                <a16:creationId xmlns:a16="http://schemas.microsoft.com/office/drawing/2014/main" id="{619E2381-DD47-2CD9-57CF-E933832F0DFE}"/>
              </a:ext>
            </a:extLst>
          </p:cNvPr>
          <p:cNvPicPr>
            <a:picLocks noChangeAspect="1"/>
          </p:cNvPicPr>
          <p:nvPr/>
        </p:nvPicPr>
        <p:blipFill>
          <a:blip r:embed="rId3"/>
          <a:stretch>
            <a:fillRect/>
          </a:stretch>
        </p:blipFill>
        <p:spPr>
          <a:xfrm>
            <a:off x="5354289" y="1722146"/>
            <a:ext cx="2915057" cy="2114845"/>
          </a:xfrm>
          <a:prstGeom prst="rect">
            <a:avLst/>
          </a:prstGeom>
        </p:spPr>
      </p:pic>
    </p:spTree>
    <p:extLst>
      <p:ext uri="{BB962C8B-B14F-4D97-AF65-F5344CB8AC3E}">
        <p14:creationId xmlns:p14="http://schemas.microsoft.com/office/powerpoint/2010/main" val="1074862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3" y="808768"/>
            <a:ext cx="5638514" cy="3908762"/>
          </a:xfrm>
          <a:prstGeom prst="rect">
            <a:avLst/>
          </a:prstGeom>
          <a:noFill/>
        </p:spPr>
        <p:txBody>
          <a:bodyPr wrap="square">
            <a:spAutoFit/>
          </a:bodyPr>
          <a:lstStyle/>
          <a:p>
            <a:r>
              <a:rPr lang="es-AR" sz="2000" dirty="0">
                <a:solidFill>
                  <a:srgbClr val="BE3969"/>
                </a:solidFill>
                <a:highlight>
                  <a:srgbClr val="FFFFFF"/>
                </a:highlight>
                <a:latin typeface="Russo One"/>
                <a:ea typeface="Lato"/>
                <a:cs typeface="Lato"/>
                <a:sym typeface="Russo One"/>
              </a:rPr>
              <a:t>Márgenes – Continuación </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marL="342900" lvl="0" indent="-34290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Podemos establecer el valor auto para que el browser establezca el valor de forma automática</a:t>
            </a:r>
          </a:p>
          <a:p>
            <a:pPr marL="342900" lvl="0" indent="-34290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Utilizando este valor para los márgenes izquierda y derecha más establecer un valor de ancho de caja podemos centrar un elemento</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En el ejemplo establecemos lo siguiente:</a:t>
            </a:r>
          </a:p>
          <a:p>
            <a:pPr marL="342900" lvl="0" indent="-34290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El </a:t>
            </a:r>
            <a:r>
              <a:rPr lang="es-AR" sz="1200" dirty="0" err="1">
                <a:solidFill>
                  <a:srgbClr val="4A4A4A"/>
                </a:solidFill>
                <a:highlight>
                  <a:srgbClr val="FFFFFF"/>
                </a:highlight>
                <a:latin typeface="Lato"/>
                <a:ea typeface="Lato"/>
                <a:cs typeface="Lato"/>
                <a:sym typeface="Lato"/>
              </a:rPr>
              <a:t>márgen</a:t>
            </a:r>
            <a:r>
              <a:rPr lang="es-AR" sz="1200" dirty="0">
                <a:solidFill>
                  <a:srgbClr val="4A4A4A"/>
                </a:solidFill>
                <a:highlight>
                  <a:srgbClr val="FFFFFF"/>
                </a:highlight>
                <a:latin typeface="Lato"/>
                <a:ea typeface="Lato"/>
                <a:cs typeface="Lato"/>
                <a:sym typeface="Lato"/>
              </a:rPr>
              <a:t> top/bottom en 0 establece que esa caja no tiene márgenes superior e inferior</a:t>
            </a:r>
          </a:p>
          <a:p>
            <a:pPr marL="342900" lvl="0" indent="-34290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El </a:t>
            </a:r>
            <a:r>
              <a:rPr lang="es-AR" sz="1200" dirty="0" err="1">
                <a:solidFill>
                  <a:srgbClr val="4A4A4A"/>
                </a:solidFill>
                <a:highlight>
                  <a:srgbClr val="FFFFFF"/>
                </a:highlight>
                <a:latin typeface="Lato"/>
                <a:ea typeface="Lato"/>
                <a:cs typeface="Lato"/>
                <a:sym typeface="Lato"/>
              </a:rPr>
              <a:t>márgen</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lef</a:t>
            </a:r>
            <a:r>
              <a:rPr lang="es-AR" sz="1200" dirty="0">
                <a:solidFill>
                  <a:srgbClr val="4A4A4A"/>
                </a:solidFill>
                <a:highlight>
                  <a:srgbClr val="FFFFFF"/>
                </a:highlight>
                <a:latin typeface="Lato"/>
                <a:ea typeface="Lato"/>
                <a:cs typeface="Lato"/>
                <a:sym typeface="Lato"/>
              </a:rPr>
              <a:t>/</a:t>
            </a:r>
            <a:r>
              <a:rPr lang="es-AR" sz="1200" dirty="0" err="1">
                <a:solidFill>
                  <a:srgbClr val="4A4A4A"/>
                </a:solidFill>
                <a:highlight>
                  <a:srgbClr val="FFFFFF"/>
                </a:highlight>
                <a:latin typeface="Lato"/>
                <a:ea typeface="Lato"/>
                <a:cs typeface="Lato"/>
                <a:sym typeface="Lato"/>
              </a:rPr>
              <a:t>right</a:t>
            </a:r>
            <a:r>
              <a:rPr lang="es-AR" sz="1200" dirty="0">
                <a:solidFill>
                  <a:srgbClr val="4A4A4A"/>
                </a:solidFill>
                <a:highlight>
                  <a:srgbClr val="FFFFFF"/>
                </a:highlight>
                <a:latin typeface="Lato"/>
                <a:ea typeface="Lato"/>
                <a:cs typeface="Lato"/>
                <a:sym typeface="Lato"/>
              </a:rPr>
              <a:t> en auto establece que esa caja tiene que tener estos márgenes en automático</a:t>
            </a:r>
          </a:p>
          <a:p>
            <a:pPr marL="342900" lvl="0" indent="-34290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El ancho de la caja es de 500px</a:t>
            </a:r>
          </a:p>
          <a:p>
            <a:pPr marL="342900" lvl="0" indent="-34290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Al hacer toda esta combinación de propiedades logramos centrar de forma horizontal</a:t>
            </a:r>
          </a:p>
          <a:p>
            <a:pPr marL="342900" lvl="0" indent="-34290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Esta técnica funciona bien con los elementos en bloque</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Recordemos que para centrar un elemento </a:t>
            </a:r>
            <a:r>
              <a:rPr lang="es-AR" sz="1200" dirty="0" err="1">
                <a:solidFill>
                  <a:srgbClr val="4A4A4A"/>
                </a:solidFill>
                <a:highlight>
                  <a:srgbClr val="FFFFFF"/>
                </a:highlight>
                <a:latin typeface="Lato"/>
                <a:ea typeface="Lato"/>
                <a:cs typeface="Lato"/>
                <a:sym typeface="Lato"/>
              </a:rPr>
              <a:t>inline</a:t>
            </a:r>
            <a:r>
              <a:rPr lang="es-AR" sz="1200" dirty="0">
                <a:solidFill>
                  <a:srgbClr val="4A4A4A"/>
                </a:solidFill>
                <a:highlight>
                  <a:srgbClr val="FFFFFF"/>
                </a:highlight>
                <a:latin typeface="Lato"/>
                <a:ea typeface="Lato"/>
                <a:cs typeface="Lato"/>
                <a:sym typeface="Lato"/>
              </a:rPr>
              <a:t> podemos establecer la propiedad </a:t>
            </a:r>
            <a:r>
              <a:rPr lang="es-AR" sz="1200" dirty="0" err="1">
                <a:solidFill>
                  <a:srgbClr val="4A4A4A"/>
                </a:solidFill>
                <a:highlight>
                  <a:srgbClr val="FFFFFF"/>
                </a:highlight>
                <a:latin typeface="Lato"/>
                <a:ea typeface="Lato"/>
                <a:cs typeface="Lato"/>
                <a:sym typeface="Lato"/>
              </a:rPr>
              <a:t>text-align:center</a:t>
            </a:r>
            <a:r>
              <a:rPr lang="es-AR" sz="1200" dirty="0">
                <a:solidFill>
                  <a:srgbClr val="4A4A4A"/>
                </a:solidFill>
                <a:highlight>
                  <a:srgbClr val="FFFFFF"/>
                </a:highlight>
                <a:latin typeface="Lato"/>
                <a:ea typeface="Lato"/>
                <a:cs typeface="Lato"/>
                <a:sym typeface="Lato"/>
              </a:rPr>
              <a:t> al padre del elemento que queremos centrar de forma horizontal</a:t>
            </a:r>
          </a:p>
        </p:txBody>
      </p:sp>
      <p:pic>
        <p:nvPicPr>
          <p:cNvPr id="3" name="Imagen 2">
            <a:extLst>
              <a:ext uri="{FF2B5EF4-FFF2-40B4-BE49-F238E27FC236}">
                <a16:creationId xmlns:a16="http://schemas.microsoft.com/office/drawing/2014/main" id="{9B5CC199-9897-0EAA-01CB-71991A095F43}"/>
              </a:ext>
            </a:extLst>
          </p:cNvPr>
          <p:cNvPicPr>
            <a:picLocks noChangeAspect="1"/>
          </p:cNvPicPr>
          <p:nvPr/>
        </p:nvPicPr>
        <p:blipFill>
          <a:blip r:embed="rId3"/>
          <a:stretch>
            <a:fillRect/>
          </a:stretch>
        </p:blipFill>
        <p:spPr>
          <a:xfrm>
            <a:off x="6244626" y="2048674"/>
            <a:ext cx="2372056" cy="1428949"/>
          </a:xfrm>
          <a:prstGeom prst="rect">
            <a:avLst/>
          </a:prstGeom>
        </p:spPr>
      </p:pic>
    </p:spTree>
    <p:extLst>
      <p:ext uri="{BB962C8B-B14F-4D97-AF65-F5344CB8AC3E}">
        <p14:creationId xmlns:p14="http://schemas.microsoft.com/office/powerpoint/2010/main" val="4107818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220077" cy="2246769"/>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Sombra</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marL="342900" lvl="0" indent="-34290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Utilizando la propiedad box-</a:t>
            </a:r>
            <a:r>
              <a:rPr lang="es-AR" sz="1800" dirty="0" err="1">
                <a:solidFill>
                  <a:srgbClr val="4A4A4A"/>
                </a:solidFill>
                <a:highlight>
                  <a:srgbClr val="FFFFFF"/>
                </a:highlight>
                <a:latin typeface="Lato"/>
                <a:ea typeface="Lato"/>
                <a:cs typeface="Lato"/>
                <a:sym typeface="Lato"/>
              </a:rPr>
              <a:t>shadow</a:t>
            </a:r>
            <a:r>
              <a:rPr lang="es-AR" sz="1800" dirty="0">
                <a:solidFill>
                  <a:srgbClr val="4A4A4A"/>
                </a:solidFill>
                <a:highlight>
                  <a:srgbClr val="FFFFFF"/>
                </a:highlight>
                <a:latin typeface="Lato"/>
                <a:ea typeface="Lato"/>
                <a:cs typeface="Lato"/>
                <a:sym typeface="Lato"/>
              </a:rPr>
              <a:t> establecemos una sombra a la caja</a:t>
            </a:r>
          </a:p>
          <a:p>
            <a:pPr marL="342900" lvl="0" indent="-34290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funciona de la misma forma que la sombra del texto pero sobre la caja</a:t>
            </a:r>
          </a:p>
          <a:p>
            <a:pPr marL="342900" lvl="0" indent="-34290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Acepta los siguientes valores: offset-x offset-y </a:t>
            </a:r>
            <a:r>
              <a:rPr lang="es-AR" sz="1800" dirty="0" err="1">
                <a:solidFill>
                  <a:srgbClr val="4A4A4A"/>
                </a:solidFill>
                <a:highlight>
                  <a:srgbClr val="FFFFFF"/>
                </a:highlight>
                <a:latin typeface="Lato"/>
                <a:ea typeface="Lato"/>
                <a:cs typeface="Lato"/>
                <a:sym typeface="Lato"/>
              </a:rPr>
              <a:t>blur-radius</a:t>
            </a:r>
            <a:r>
              <a:rPr lang="es-AR" sz="1800" dirty="0">
                <a:solidFill>
                  <a:srgbClr val="4A4A4A"/>
                </a:solidFill>
                <a:highlight>
                  <a:srgbClr val="FFFFFF"/>
                </a:highlight>
                <a:latin typeface="Lato"/>
                <a:ea typeface="Lato"/>
                <a:cs typeface="Lato"/>
                <a:sym typeface="Lato"/>
              </a:rPr>
              <a:t> spread-</a:t>
            </a:r>
            <a:r>
              <a:rPr lang="es-AR" sz="1800" dirty="0" err="1">
                <a:solidFill>
                  <a:srgbClr val="4A4A4A"/>
                </a:solidFill>
                <a:highlight>
                  <a:srgbClr val="FFFFFF"/>
                </a:highlight>
                <a:latin typeface="Lato"/>
                <a:ea typeface="Lato"/>
                <a:cs typeface="Lato"/>
                <a:sym typeface="Lato"/>
              </a:rPr>
              <a:t>radius</a:t>
            </a:r>
            <a:r>
              <a:rPr lang="es-AR" sz="1800" dirty="0">
                <a:solidFill>
                  <a:srgbClr val="4A4A4A"/>
                </a:solidFill>
                <a:highlight>
                  <a:srgbClr val="FFFFFF"/>
                </a:highlight>
                <a:latin typeface="Lato"/>
                <a:ea typeface="Lato"/>
                <a:cs typeface="Lato"/>
                <a:sym typeface="Lato"/>
              </a:rPr>
              <a:t> color</a:t>
            </a:r>
          </a:p>
          <a:p>
            <a:pPr marL="342900" lvl="0" indent="-34290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Esta propiedad acepta valores negativos</a:t>
            </a:r>
          </a:p>
        </p:txBody>
      </p:sp>
      <p:pic>
        <p:nvPicPr>
          <p:cNvPr id="5" name="Imagen 4">
            <a:extLst>
              <a:ext uri="{FF2B5EF4-FFF2-40B4-BE49-F238E27FC236}">
                <a16:creationId xmlns:a16="http://schemas.microsoft.com/office/drawing/2014/main" id="{47FA31FD-AD97-7A62-A2FF-C57CAB623BC3}"/>
              </a:ext>
            </a:extLst>
          </p:cNvPr>
          <p:cNvPicPr>
            <a:picLocks noChangeAspect="1"/>
          </p:cNvPicPr>
          <p:nvPr/>
        </p:nvPicPr>
        <p:blipFill>
          <a:blip r:embed="rId3"/>
          <a:stretch>
            <a:fillRect/>
          </a:stretch>
        </p:blipFill>
        <p:spPr>
          <a:xfrm>
            <a:off x="2150735" y="3302353"/>
            <a:ext cx="4648849" cy="1152686"/>
          </a:xfrm>
          <a:prstGeom prst="rect">
            <a:avLst/>
          </a:prstGeom>
        </p:spPr>
      </p:pic>
    </p:spTree>
    <p:extLst>
      <p:ext uri="{BB962C8B-B14F-4D97-AF65-F5344CB8AC3E}">
        <p14:creationId xmlns:p14="http://schemas.microsoft.com/office/powerpoint/2010/main" val="949813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220077" cy="3077766"/>
          </a:xfrm>
          <a:prstGeom prst="rect">
            <a:avLst/>
          </a:prstGeom>
          <a:noFill/>
        </p:spPr>
        <p:txBody>
          <a:bodyPr wrap="square">
            <a:spAutoFit/>
          </a:bodyPr>
          <a:lstStyle/>
          <a:p>
            <a:r>
              <a:rPr lang="es-AR" sz="1800" dirty="0">
                <a:solidFill>
                  <a:srgbClr val="BE3969"/>
                </a:solidFill>
                <a:highlight>
                  <a:srgbClr val="FFFFFF"/>
                </a:highlight>
                <a:latin typeface="Russo One"/>
                <a:ea typeface="Lato"/>
                <a:cs typeface="Lato"/>
                <a:sym typeface="Russo One"/>
              </a:rPr>
              <a:t>Sombra - Continuación </a:t>
            </a:r>
          </a:p>
          <a:p>
            <a:pPr lvl="0" rtl="0">
              <a:spcBef>
                <a:spcPts val="0"/>
              </a:spcBef>
              <a:spcAft>
                <a:spcPts val="0"/>
              </a:spcAft>
            </a:pPr>
            <a:endParaRPr lang="es-AR" sz="11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100" dirty="0">
                <a:solidFill>
                  <a:srgbClr val="4A4A4A"/>
                </a:solidFill>
                <a:highlight>
                  <a:srgbClr val="FFFFFF"/>
                </a:highlight>
                <a:latin typeface="Lato"/>
                <a:ea typeface="Lato"/>
                <a:cs typeface="Lato"/>
                <a:sym typeface="Lato"/>
              </a:rPr>
              <a:t>En el ejemplo anterior establecemos los siguientes valores de sombra de la caja:</a:t>
            </a:r>
          </a:p>
          <a:p>
            <a:pPr marL="342900" lvl="0" indent="-342900" rtl="0">
              <a:spcBef>
                <a:spcPts val="0"/>
              </a:spcBef>
              <a:spcAft>
                <a:spcPts val="0"/>
              </a:spcAft>
              <a:buFont typeface="Arial" panose="020B0604020202020204" pitchFamily="34" charset="0"/>
              <a:buChar char="•"/>
            </a:pPr>
            <a:endParaRPr lang="es-AR" sz="1100" dirty="0">
              <a:solidFill>
                <a:srgbClr val="4A4A4A"/>
              </a:solidFill>
              <a:highlight>
                <a:srgbClr val="FFFFFF"/>
              </a:highlight>
              <a:latin typeface="Lato"/>
              <a:ea typeface="Lato"/>
              <a:cs typeface="Lato"/>
              <a:sym typeface="Lato"/>
            </a:endParaRPr>
          </a:p>
          <a:p>
            <a:pPr marL="342900" lvl="0" indent="-342900" rtl="0">
              <a:spcBef>
                <a:spcPts val="0"/>
              </a:spcBef>
              <a:spcAft>
                <a:spcPts val="0"/>
              </a:spcAft>
              <a:buFont typeface="Arial" panose="020B0604020202020204" pitchFamily="34" charset="0"/>
              <a:buChar char="•"/>
            </a:pPr>
            <a:r>
              <a:rPr lang="es-AR" sz="1100" dirty="0">
                <a:solidFill>
                  <a:srgbClr val="4A4A4A"/>
                </a:solidFill>
                <a:highlight>
                  <a:srgbClr val="FFFFFF"/>
                </a:highlight>
                <a:latin typeface="Lato"/>
                <a:ea typeface="Lato"/>
                <a:cs typeface="Lato"/>
                <a:sym typeface="Lato"/>
              </a:rPr>
              <a:t>1 </a:t>
            </a:r>
            <a:r>
              <a:rPr lang="es-AR" sz="1100" dirty="0" err="1">
                <a:solidFill>
                  <a:srgbClr val="4A4A4A"/>
                </a:solidFill>
                <a:highlight>
                  <a:srgbClr val="FFFFFF"/>
                </a:highlight>
                <a:latin typeface="Lato"/>
                <a:ea typeface="Lato"/>
                <a:cs typeface="Lato"/>
                <a:sym typeface="Lato"/>
              </a:rPr>
              <a:t>px</a:t>
            </a:r>
            <a:r>
              <a:rPr lang="es-AR" sz="1100" dirty="0">
                <a:solidFill>
                  <a:srgbClr val="4A4A4A"/>
                </a:solidFill>
                <a:highlight>
                  <a:srgbClr val="FFFFFF"/>
                </a:highlight>
                <a:latin typeface="Lato"/>
                <a:ea typeface="Lato"/>
                <a:cs typeface="Lato"/>
                <a:sym typeface="Lato"/>
              </a:rPr>
              <a:t> de offset-x</a:t>
            </a:r>
          </a:p>
          <a:p>
            <a:pPr marL="342900" lvl="0" indent="-342900" rtl="0">
              <a:spcBef>
                <a:spcPts val="0"/>
              </a:spcBef>
              <a:spcAft>
                <a:spcPts val="0"/>
              </a:spcAft>
              <a:buFont typeface="Arial" panose="020B0604020202020204" pitchFamily="34" charset="0"/>
              <a:buChar char="•"/>
            </a:pPr>
            <a:r>
              <a:rPr lang="es-AR" sz="1100" dirty="0">
                <a:solidFill>
                  <a:srgbClr val="4A4A4A"/>
                </a:solidFill>
                <a:highlight>
                  <a:srgbClr val="FFFFFF"/>
                </a:highlight>
                <a:latin typeface="Lato"/>
                <a:ea typeface="Lato"/>
                <a:cs typeface="Lato"/>
                <a:sym typeface="Lato"/>
              </a:rPr>
              <a:t>2 </a:t>
            </a:r>
            <a:r>
              <a:rPr lang="es-AR" sz="1100" dirty="0" err="1">
                <a:solidFill>
                  <a:srgbClr val="4A4A4A"/>
                </a:solidFill>
                <a:highlight>
                  <a:srgbClr val="FFFFFF"/>
                </a:highlight>
                <a:latin typeface="Lato"/>
                <a:ea typeface="Lato"/>
                <a:cs typeface="Lato"/>
                <a:sym typeface="Lato"/>
              </a:rPr>
              <a:t>px</a:t>
            </a:r>
            <a:r>
              <a:rPr lang="es-AR" sz="1100" dirty="0">
                <a:solidFill>
                  <a:srgbClr val="4A4A4A"/>
                </a:solidFill>
                <a:highlight>
                  <a:srgbClr val="FFFFFF"/>
                </a:highlight>
                <a:latin typeface="Lato"/>
                <a:ea typeface="Lato"/>
                <a:cs typeface="Lato"/>
                <a:sym typeface="Lato"/>
              </a:rPr>
              <a:t> de offset-y</a:t>
            </a:r>
          </a:p>
          <a:p>
            <a:pPr marL="342900" lvl="0" indent="-342900" rtl="0">
              <a:spcBef>
                <a:spcPts val="0"/>
              </a:spcBef>
              <a:spcAft>
                <a:spcPts val="0"/>
              </a:spcAft>
              <a:buFont typeface="Arial" panose="020B0604020202020204" pitchFamily="34" charset="0"/>
              <a:buChar char="•"/>
            </a:pPr>
            <a:r>
              <a:rPr lang="es-AR" sz="1100" dirty="0">
                <a:solidFill>
                  <a:srgbClr val="4A4A4A"/>
                </a:solidFill>
                <a:highlight>
                  <a:srgbClr val="FFFFFF"/>
                </a:highlight>
                <a:latin typeface="Lato"/>
                <a:ea typeface="Lato"/>
                <a:cs typeface="Lato"/>
                <a:sym typeface="Lato"/>
              </a:rPr>
              <a:t>5 </a:t>
            </a:r>
            <a:r>
              <a:rPr lang="es-AR" sz="1100" dirty="0" err="1">
                <a:solidFill>
                  <a:srgbClr val="4A4A4A"/>
                </a:solidFill>
                <a:highlight>
                  <a:srgbClr val="FFFFFF"/>
                </a:highlight>
                <a:latin typeface="Lato"/>
                <a:ea typeface="Lato"/>
                <a:cs typeface="Lato"/>
                <a:sym typeface="Lato"/>
              </a:rPr>
              <a:t>px</a:t>
            </a:r>
            <a:r>
              <a:rPr lang="es-AR" sz="1100" dirty="0">
                <a:solidFill>
                  <a:srgbClr val="4A4A4A"/>
                </a:solidFill>
                <a:highlight>
                  <a:srgbClr val="FFFFFF"/>
                </a:highlight>
                <a:latin typeface="Lato"/>
                <a:ea typeface="Lato"/>
                <a:cs typeface="Lato"/>
                <a:sym typeface="Lato"/>
              </a:rPr>
              <a:t> de </a:t>
            </a:r>
            <a:r>
              <a:rPr lang="es-AR" sz="1100" dirty="0" err="1">
                <a:solidFill>
                  <a:srgbClr val="4A4A4A"/>
                </a:solidFill>
                <a:highlight>
                  <a:srgbClr val="FFFFFF"/>
                </a:highlight>
                <a:latin typeface="Lato"/>
                <a:ea typeface="Lato"/>
                <a:cs typeface="Lato"/>
                <a:sym typeface="Lato"/>
              </a:rPr>
              <a:t>blur-radius</a:t>
            </a:r>
            <a:endParaRPr lang="es-AR" sz="1100" dirty="0">
              <a:solidFill>
                <a:srgbClr val="4A4A4A"/>
              </a:solidFill>
              <a:highlight>
                <a:srgbClr val="FFFFFF"/>
              </a:highlight>
              <a:latin typeface="Lato"/>
              <a:ea typeface="Lato"/>
              <a:cs typeface="Lato"/>
              <a:sym typeface="Lato"/>
            </a:endParaRPr>
          </a:p>
          <a:p>
            <a:pPr marL="342900" lvl="0" indent="-342900" rtl="0">
              <a:spcBef>
                <a:spcPts val="0"/>
              </a:spcBef>
              <a:spcAft>
                <a:spcPts val="0"/>
              </a:spcAft>
              <a:buFont typeface="Arial" panose="020B0604020202020204" pitchFamily="34" charset="0"/>
              <a:buChar char="•"/>
            </a:pPr>
            <a:r>
              <a:rPr lang="es-AR" sz="1100" dirty="0">
                <a:solidFill>
                  <a:srgbClr val="4A4A4A"/>
                </a:solidFill>
                <a:highlight>
                  <a:srgbClr val="FFFFFF"/>
                </a:highlight>
                <a:latin typeface="Lato"/>
                <a:ea typeface="Lato"/>
                <a:cs typeface="Lato"/>
                <a:sym typeface="Lato"/>
              </a:rPr>
              <a:t>-3px spread-</a:t>
            </a:r>
            <a:r>
              <a:rPr lang="es-AR" sz="1100" dirty="0" err="1">
                <a:solidFill>
                  <a:srgbClr val="4A4A4A"/>
                </a:solidFill>
                <a:highlight>
                  <a:srgbClr val="FFFFFF"/>
                </a:highlight>
                <a:latin typeface="Lato"/>
                <a:ea typeface="Lato"/>
                <a:cs typeface="Lato"/>
                <a:sym typeface="Lato"/>
              </a:rPr>
              <a:t>radius</a:t>
            </a:r>
            <a:endParaRPr lang="es-AR" sz="1100" dirty="0">
              <a:solidFill>
                <a:srgbClr val="4A4A4A"/>
              </a:solidFill>
              <a:highlight>
                <a:srgbClr val="FFFFFF"/>
              </a:highlight>
              <a:latin typeface="Lato"/>
              <a:ea typeface="Lato"/>
              <a:cs typeface="Lato"/>
              <a:sym typeface="Lato"/>
            </a:endParaRPr>
          </a:p>
          <a:p>
            <a:pPr marL="342900" lvl="0" indent="-342900" rtl="0">
              <a:spcBef>
                <a:spcPts val="0"/>
              </a:spcBef>
              <a:spcAft>
                <a:spcPts val="0"/>
              </a:spcAft>
              <a:buFont typeface="Arial" panose="020B0604020202020204" pitchFamily="34" charset="0"/>
              <a:buChar char="•"/>
            </a:pPr>
            <a:r>
              <a:rPr lang="es-AR" sz="1100" dirty="0">
                <a:solidFill>
                  <a:srgbClr val="4A4A4A"/>
                </a:solidFill>
                <a:highlight>
                  <a:srgbClr val="FFFFFF"/>
                </a:highlight>
                <a:latin typeface="Lato"/>
                <a:ea typeface="Lato"/>
                <a:cs typeface="Lato"/>
                <a:sym typeface="Lato"/>
              </a:rPr>
              <a:t>Color de sombra #aaa (un gris oscuro)</a:t>
            </a:r>
          </a:p>
          <a:p>
            <a:pPr lvl="0" rtl="0">
              <a:spcBef>
                <a:spcPts val="0"/>
              </a:spcBef>
              <a:spcAft>
                <a:spcPts val="0"/>
              </a:spcAft>
            </a:pPr>
            <a:endParaRPr lang="es-AR" sz="11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100" dirty="0">
                <a:solidFill>
                  <a:srgbClr val="4A4A4A"/>
                </a:solidFill>
                <a:highlight>
                  <a:srgbClr val="FFFFFF"/>
                </a:highlight>
                <a:latin typeface="Lato"/>
                <a:ea typeface="Lato"/>
                <a:cs typeface="Lato"/>
                <a:sym typeface="Lato"/>
              </a:rPr>
              <a:t>Para ver como funciona esta propiedad podemos utilizar la siguiente herramienta</a:t>
            </a:r>
          </a:p>
          <a:p>
            <a:pPr marL="342900" lvl="0" indent="-342900" rtl="0">
              <a:spcBef>
                <a:spcPts val="0"/>
              </a:spcBef>
              <a:spcAft>
                <a:spcPts val="0"/>
              </a:spcAft>
              <a:buFont typeface="Arial" panose="020B0604020202020204" pitchFamily="34" charset="0"/>
              <a:buChar char="•"/>
            </a:pPr>
            <a:endParaRPr lang="es-AR" sz="11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100" dirty="0">
                <a:solidFill>
                  <a:srgbClr val="4A4A4A"/>
                </a:solidFill>
                <a:highlight>
                  <a:srgbClr val="FFFFFF"/>
                </a:highlight>
                <a:latin typeface="Lato"/>
                <a:ea typeface="Lato"/>
                <a:cs typeface="Lato"/>
                <a:sym typeface="Lato"/>
              </a:rPr>
              <a:t>También podemos establecer que la sombra es interna a la caja si utilizamos el valor </a:t>
            </a:r>
            <a:r>
              <a:rPr lang="es-AR" sz="1100" dirty="0" err="1">
                <a:solidFill>
                  <a:srgbClr val="4A4A4A"/>
                </a:solidFill>
                <a:highlight>
                  <a:srgbClr val="FFFFFF"/>
                </a:highlight>
                <a:latin typeface="Lato"/>
                <a:ea typeface="Lato"/>
                <a:cs typeface="Lato"/>
                <a:sym typeface="Lato"/>
              </a:rPr>
              <a:t>inset</a:t>
            </a:r>
            <a:r>
              <a:rPr lang="es-AR" sz="1100" dirty="0">
                <a:solidFill>
                  <a:srgbClr val="4A4A4A"/>
                </a:solidFill>
                <a:highlight>
                  <a:srgbClr val="FFFFFF"/>
                </a:highlight>
                <a:latin typeface="Lato"/>
                <a:ea typeface="Lato"/>
                <a:cs typeface="Lato"/>
                <a:sym typeface="Lato"/>
              </a:rPr>
              <a:t> como primer valor</a:t>
            </a:r>
          </a:p>
          <a:p>
            <a:pPr marL="342900" lvl="0" indent="-342900" rtl="0">
              <a:spcBef>
                <a:spcPts val="0"/>
              </a:spcBef>
              <a:spcAft>
                <a:spcPts val="0"/>
              </a:spcAft>
              <a:buFont typeface="Arial" panose="020B0604020202020204" pitchFamily="34" charset="0"/>
              <a:buChar char="•"/>
            </a:pPr>
            <a:endParaRPr lang="es-AR" sz="11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100" dirty="0">
                <a:solidFill>
                  <a:srgbClr val="4A4A4A"/>
                </a:solidFill>
                <a:highlight>
                  <a:srgbClr val="FFFFFF"/>
                </a:highlight>
                <a:latin typeface="Lato"/>
                <a:ea typeface="Lato"/>
                <a:cs typeface="Lato"/>
                <a:sym typeface="Lato"/>
              </a:rPr>
              <a:t>En caso de no establecer este valor el browser asimila que la sombra es externa a la caja</a:t>
            </a:r>
          </a:p>
          <a:p>
            <a:pPr marL="342900" lvl="0" indent="-342900" rtl="0">
              <a:spcBef>
                <a:spcPts val="0"/>
              </a:spcBef>
              <a:spcAft>
                <a:spcPts val="0"/>
              </a:spcAft>
              <a:buFont typeface="Arial" panose="020B0604020202020204" pitchFamily="34" charset="0"/>
              <a:buChar char="•"/>
            </a:pPr>
            <a:endParaRPr lang="es-AR" sz="11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100" dirty="0">
                <a:solidFill>
                  <a:srgbClr val="4A4A4A"/>
                </a:solidFill>
                <a:highlight>
                  <a:srgbClr val="FFFFFF"/>
                </a:highlight>
                <a:latin typeface="Lato"/>
                <a:ea typeface="Lato"/>
                <a:cs typeface="Lato"/>
                <a:sym typeface="Lato"/>
              </a:rPr>
              <a:t>El resto de los valores sigue funcionando igual sólo que se desplazan un lugar</a:t>
            </a:r>
          </a:p>
        </p:txBody>
      </p:sp>
      <p:pic>
        <p:nvPicPr>
          <p:cNvPr id="3" name="Imagen 2">
            <a:extLst>
              <a:ext uri="{FF2B5EF4-FFF2-40B4-BE49-F238E27FC236}">
                <a16:creationId xmlns:a16="http://schemas.microsoft.com/office/drawing/2014/main" id="{229D0C1D-216F-B12A-38DD-F9D6321DC130}"/>
              </a:ext>
            </a:extLst>
          </p:cNvPr>
          <p:cNvPicPr>
            <a:picLocks noChangeAspect="1"/>
          </p:cNvPicPr>
          <p:nvPr/>
        </p:nvPicPr>
        <p:blipFill>
          <a:blip r:embed="rId3"/>
          <a:stretch>
            <a:fillRect/>
          </a:stretch>
        </p:blipFill>
        <p:spPr>
          <a:xfrm>
            <a:off x="2766290" y="4096649"/>
            <a:ext cx="3975187" cy="835772"/>
          </a:xfrm>
          <a:prstGeom prst="rect">
            <a:avLst/>
          </a:prstGeom>
        </p:spPr>
      </p:pic>
    </p:spTree>
    <p:extLst>
      <p:ext uri="{BB962C8B-B14F-4D97-AF65-F5344CB8AC3E}">
        <p14:creationId xmlns:p14="http://schemas.microsoft.com/office/powerpoint/2010/main" val="2356737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220077" cy="4062651"/>
          </a:xfrm>
          <a:prstGeom prst="rect">
            <a:avLst/>
          </a:prstGeom>
          <a:noFill/>
        </p:spPr>
        <p:txBody>
          <a:bodyPr wrap="square">
            <a:spAutoFit/>
          </a:bodyPr>
          <a:lstStyle/>
          <a:p>
            <a:r>
              <a:rPr lang="es-AR" sz="2400" dirty="0">
                <a:solidFill>
                  <a:srgbClr val="BE3969"/>
                </a:solidFill>
                <a:highlight>
                  <a:srgbClr val="FFFFFF"/>
                </a:highlight>
                <a:latin typeface="Russo One"/>
                <a:ea typeface="Lato"/>
                <a:cs typeface="Lato"/>
                <a:sym typeface="Russo One"/>
              </a:rPr>
              <a:t>Cambiar la forma en la que se comporta un elemento</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Utilizando la propiedad </a:t>
            </a:r>
            <a:r>
              <a:rPr lang="es-AR" dirty="0" err="1">
                <a:solidFill>
                  <a:srgbClr val="4A4A4A"/>
                </a:solidFill>
                <a:highlight>
                  <a:srgbClr val="FFFFFF"/>
                </a:highlight>
                <a:latin typeface="Lato"/>
                <a:ea typeface="Lato"/>
                <a:cs typeface="Lato"/>
                <a:sym typeface="Lato"/>
              </a:rPr>
              <a:t>display</a:t>
            </a:r>
            <a:r>
              <a:rPr lang="es-AR" dirty="0">
                <a:solidFill>
                  <a:srgbClr val="4A4A4A"/>
                </a:solidFill>
                <a:highlight>
                  <a:srgbClr val="FFFFFF"/>
                </a:highlight>
                <a:latin typeface="Lato"/>
                <a:ea typeface="Lato"/>
                <a:cs typeface="Lato"/>
                <a:sym typeface="Lato"/>
              </a:rPr>
              <a:t> podemos cambiar la forma en que se comportan los elementos</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Podemos cambiar un elemento en bloque para que se comporte como uno en línea y viceversa</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Esta propiedad soporta los siguientes valores:</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marL="171450" lvl="0" indent="-171450" rtl="0">
              <a:spcBef>
                <a:spcPts val="0"/>
              </a:spcBef>
              <a:spcAft>
                <a:spcPts val="0"/>
              </a:spcAft>
              <a:buFont typeface="Arial" panose="020B0604020202020204" pitchFamily="34" charset="0"/>
              <a:buChar char="•"/>
            </a:pPr>
            <a:r>
              <a:rPr lang="es-AR" dirty="0" err="1">
                <a:solidFill>
                  <a:schemeClr val="tx1"/>
                </a:solidFill>
                <a:highlight>
                  <a:srgbClr val="FFFFFF"/>
                </a:highlight>
                <a:latin typeface="Lato"/>
                <a:ea typeface="Lato"/>
                <a:cs typeface="Lato"/>
                <a:sym typeface="Lato"/>
              </a:rPr>
              <a:t>inline</a:t>
            </a:r>
            <a:r>
              <a:rPr lang="es-AR" dirty="0">
                <a:solidFill>
                  <a:srgbClr val="4A4A4A"/>
                </a:solidFill>
                <a:highlight>
                  <a:srgbClr val="FFFFFF"/>
                </a:highlight>
                <a:latin typeface="Lato"/>
                <a:ea typeface="Lato"/>
                <a:cs typeface="Lato"/>
                <a:sym typeface="Lato"/>
              </a:rPr>
              <a:t>: Establece que este elemento es en línea</a:t>
            </a:r>
          </a:p>
          <a:p>
            <a:pPr marL="171450" lvl="0" indent="-171450" rtl="0">
              <a:spcBef>
                <a:spcPts val="0"/>
              </a:spcBef>
              <a:spcAft>
                <a:spcPts val="0"/>
              </a:spcAft>
              <a:buFont typeface="Arial" panose="020B0604020202020204" pitchFamily="34" charset="0"/>
              <a:buChar char="•"/>
            </a:pPr>
            <a:r>
              <a:rPr lang="es-AR" dirty="0">
                <a:solidFill>
                  <a:schemeClr val="tx1"/>
                </a:solidFill>
                <a:highlight>
                  <a:srgbClr val="FFFFFF"/>
                </a:highlight>
                <a:latin typeface="Lato"/>
                <a:ea typeface="Lato"/>
                <a:cs typeface="Lato"/>
                <a:sym typeface="Lato"/>
              </a:rPr>
              <a:t>block</a:t>
            </a:r>
            <a:r>
              <a:rPr lang="es-AR" dirty="0">
                <a:solidFill>
                  <a:srgbClr val="4A4A4A"/>
                </a:solidFill>
                <a:highlight>
                  <a:srgbClr val="FFFFFF"/>
                </a:highlight>
                <a:latin typeface="Lato"/>
                <a:ea typeface="Lato"/>
                <a:cs typeface="Lato"/>
                <a:sym typeface="Lato"/>
              </a:rPr>
              <a:t>: Establece que este elemento es en bloque</a:t>
            </a:r>
          </a:p>
          <a:p>
            <a:pPr marL="171450" lvl="0" indent="-171450" rtl="0">
              <a:spcBef>
                <a:spcPts val="0"/>
              </a:spcBef>
              <a:spcAft>
                <a:spcPts val="0"/>
              </a:spcAft>
              <a:buFont typeface="Arial" panose="020B0604020202020204" pitchFamily="34" charset="0"/>
              <a:buChar char="•"/>
            </a:pPr>
            <a:r>
              <a:rPr lang="es-AR" dirty="0" err="1">
                <a:solidFill>
                  <a:schemeClr val="tx1"/>
                </a:solidFill>
                <a:highlight>
                  <a:srgbClr val="FFFFFF"/>
                </a:highlight>
                <a:latin typeface="Lato"/>
                <a:ea typeface="Lato"/>
                <a:cs typeface="Lato"/>
                <a:sym typeface="Lato"/>
              </a:rPr>
              <a:t>inline</a:t>
            </a:r>
            <a:r>
              <a:rPr lang="es-AR" dirty="0">
                <a:solidFill>
                  <a:schemeClr val="tx1"/>
                </a:solidFill>
                <a:highlight>
                  <a:srgbClr val="FFFFFF"/>
                </a:highlight>
                <a:latin typeface="Lato"/>
                <a:ea typeface="Lato"/>
                <a:cs typeface="Lato"/>
                <a:sym typeface="Lato"/>
              </a:rPr>
              <a:t>-block</a:t>
            </a:r>
            <a:r>
              <a:rPr lang="es-AR" dirty="0">
                <a:solidFill>
                  <a:srgbClr val="4A4A4A"/>
                </a:solidFill>
                <a:highlight>
                  <a:srgbClr val="FFFFFF"/>
                </a:highlight>
                <a:latin typeface="Lato"/>
                <a:ea typeface="Lato"/>
                <a:cs typeface="Lato"/>
                <a:sym typeface="Lato"/>
              </a:rPr>
              <a:t>: Establece que este elemento se comporte como en línea pero con propiedades de caja como si fuera en bloque</a:t>
            </a:r>
          </a:p>
          <a:p>
            <a:pPr marL="171450" lvl="0" indent="-171450" rtl="0">
              <a:spcBef>
                <a:spcPts val="0"/>
              </a:spcBef>
              <a:spcAft>
                <a:spcPts val="0"/>
              </a:spcAft>
              <a:buFont typeface="Arial" panose="020B0604020202020204" pitchFamily="34" charset="0"/>
              <a:buChar char="•"/>
            </a:pPr>
            <a:r>
              <a:rPr lang="es-AR" dirty="0" err="1">
                <a:solidFill>
                  <a:schemeClr val="tx1"/>
                </a:solidFill>
                <a:highlight>
                  <a:srgbClr val="FFFFFF"/>
                </a:highlight>
                <a:latin typeface="Lato"/>
                <a:ea typeface="Lato"/>
                <a:cs typeface="Lato"/>
                <a:sym typeface="Lato"/>
              </a:rPr>
              <a:t>none</a:t>
            </a:r>
            <a:r>
              <a:rPr lang="es-AR" dirty="0">
                <a:solidFill>
                  <a:srgbClr val="4A4A4A"/>
                </a:solidFill>
                <a:highlight>
                  <a:srgbClr val="FFFFFF"/>
                </a:highlight>
                <a:latin typeface="Lato"/>
                <a:ea typeface="Lato"/>
                <a:cs typeface="Lato"/>
                <a:sym typeface="Lato"/>
              </a:rPr>
              <a:t>: Este elemento no se ve pero tampoco pertenece al documento, es como si no existiera. Si vemos el código fuente vamos a ver que el elemento existe sólo que el browser lo ignora</a:t>
            </a:r>
          </a:p>
          <a:p>
            <a:pPr marL="171450" lvl="0" indent="-171450" rtl="0">
              <a:spcBef>
                <a:spcPts val="0"/>
              </a:spcBef>
              <a:spcAft>
                <a:spcPts val="0"/>
              </a:spcAft>
              <a:buFont typeface="Arial" panose="020B0604020202020204" pitchFamily="34" charset="0"/>
              <a:buChar char="•"/>
            </a:pPr>
            <a:r>
              <a:rPr lang="es-AR" dirty="0" err="1">
                <a:solidFill>
                  <a:schemeClr val="tx1"/>
                </a:solidFill>
                <a:highlight>
                  <a:srgbClr val="FFFFFF"/>
                </a:highlight>
                <a:latin typeface="Lato"/>
                <a:ea typeface="Lato"/>
                <a:cs typeface="Lato"/>
                <a:sym typeface="Lato"/>
              </a:rPr>
              <a:t>hidden</a:t>
            </a:r>
            <a:r>
              <a:rPr lang="es-AR" dirty="0">
                <a:solidFill>
                  <a:srgbClr val="4A4A4A"/>
                </a:solidFill>
                <a:highlight>
                  <a:srgbClr val="FFFFFF"/>
                </a:highlight>
                <a:latin typeface="Lato"/>
                <a:ea typeface="Lato"/>
                <a:cs typeface="Lato"/>
                <a:sym typeface="Lato"/>
              </a:rPr>
              <a:t>: Oculta un elemento pero sigue siendo parte del documento</a:t>
            </a:r>
          </a:p>
          <a:p>
            <a:pPr marL="171450" lvl="0" indent="-171450" rtl="0">
              <a:spcBef>
                <a:spcPts val="0"/>
              </a:spcBef>
              <a:spcAft>
                <a:spcPts val="0"/>
              </a:spcAft>
              <a:buFont typeface="Arial" panose="020B0604020202020204" pitchFamily="34" charset="0"/>
              <a:buChar char="•"/>
            </a:pPr>
            <a:r>
              <a:rPr lang="es-AR" dirty="0">
                <a:solidFill>
                  <a:schemeClr val="tx1"/>
                </a:solidFill>
                <a:highlight>
                  <a:srgbClr val="FFFFFF"/>
                </a:highlight>
                <a:latin typeface="Lato"/>
                <a:ea typeface="Lato"/>
                <a:cs typeface="Lato"/>
                <a:sym typeface="Lato"/>
              </a:rPr>
              <a:t>visible</a:t>
            </a:r>
            <a:r>
              <a:rPr lang="es-AR" dirty="0">
                <a:solidFill>
                  <a:srgbClr val="4A4A4A"/>
                </a:solidFill>
                <a:highlight>
                  <a:srgbClr val="FFFFFF"/>
                </a:highlight>
                <a:latin typeface="Lato"/>
                <a:ea typeface="Lato"/>
                <a:cs typeface="Lato"/>
                <a:sym typeface="Lato"/>
              </a:rPr>
              <a:t>: Establecemos que este elemento tiene que ser visible</a:t>
            </a:r>
          </a:p>
        </p:txBody>
      </p:sp>
    </p:spTree>
    <p:extLst>
      <p:ext uri="{BB962C8B-B14F-4D97-AF65-F5344CB8AC3E}">
        <p14:creationId xmlns:p14="http://schemas.microsoft.com/office/powerpoint/2010/main" val="3807881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220077" cy="2739211"/>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Borders redondeados</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Por medio de la propiedad </a:t>
            </a:r>
            <a:r>
              <a:rPr lang="es-AR" sz="1600" dirty="0" err="1">
                <a:solidFill>
                  <a:srgbClr val="4A4A4A"/>
                </a:solidFill>
                <a:highlight>
                  <a:srgbClr val="FFFFFF"/>
                </a:highlight>
                <a:latin typeface="Lato"/>
                <a:ea typeface="Lato"/>
                <a:cs typeface="Lato"/>
                <a:sym typeface="Lato"/>
              </a:rPr>
              <a:t>border-radius</a:t>
            </a:r>
            <a:r>
              <a:rPr lang="es-AR" sz="1600" dirty="0">
                <a:solidFill>
                  <a:srgbClr val="4A4A4A"/>
                </a:solidFill>
                <a:highlight>
                  <a:srgbClr val="FFFFFF"/>
                </a:highlight>
                <a:latin typeface="Lato"/>
                <a:ea typeface="Lato"/>
                <a:cs typeface="Lato"/>
                <a:sym typeface="Lato"/>
              </a:rPr>
              <a:t> podemos establecer bordes redondeados</a:t>
            </a:r>
          </a:p>
          <a:p>
            <a:pPr lvl="0" rtl="0">
              <a:spcBef>
                <a:spcPts val="0"/>
              </a:spcBef>
              <a:spcAft>
                <a:spcPts val="0"/>
              </a:spcAft>
            </a:pPr>
            <a:r>
              <a:rPr lang="es-AR" sz="1600" dirty="0">
                <a:solidFill>
                  <a:srgbClr val="4A4A4A"/>
                </a:solidFill>
                <a:highlight>
                  <a:srgbClr val="FFFFFF"/>
                </a:highlight>
                <a:latin typeface="Lato"/>
                <a:ea typeface="Lato"/>
                <a:cs typeface="Lato"/>
                <a:sym typeface="Lato"/>
              </a:rPr>
              <a:t>Acepta valores numéricos</a:t>
            </a:r>
          </a:p>
          <a:p>
            <a:pPr lvl="0" rtl="0">
              <a:spcBef>
                <a:spcPts val="0"/>
              </a:spcBef>
              <a:spcAft>
                <a:spcPts val="0"/>
              </a:spcAft>
            </a:pPr>
            <a:r>
              <a:rPr lang="es-AR" sz="1600" dirty="0">
                <a:solidFill>
                  <a:srgbClr val="4A4A4A"/>
                </a:solidFill>
                <a:highlight>
                  <a:srgbClr val="FFFFFF"/>
                </a:highlight>
                <a:latin typeface="Lato"/>
                <a:ea typeface="Lato"/>
                <a:cs typeface="Lato"/>
                <a:sym typeface="Lato"/>
              </a:rPr>
              <a:t>NO acepta valores negativos</a:t>
            </a:r>
          </a:p>
          <a:p>
            <a:pPr lvl="0" rtl="0">
              <a:spcBef>
                <a:spcPts val="0"/>
              </a:spcBef>
              <a:spcAft>
                <a:spcPts val="0"/>
              </a:spcAft>
            </a:pPr>
            <a:r>
              <a:rPr lang="es-AR" sz="1600" dirty="0">
                <a:solidFill>
                  <a:srgbClr val="4A4A4A"/>
                </a:solidFill>
                <a:highlight>
                  <a:srgbClr val="FFFFFF"/>
                </a:highlight>
                <a:latin typeface="Lato"/>
                <a:ea typeface="Lato"/>
                <a:cs typeface="Lato"/>
                <a:sym typeface="Lato"/>
              </a:rPr>
              <a:t>Esta propiedad acepta dos valores:</a:t>
            </a:r>
          </a:p>
          <a:p>
            <a:pPr marL="285750" lvl="0" indent="-285750" rtl="0">
              <a:spcBef>
                <a:spcPts val="0"/>
              </a:spcBef>
              <a:spcAft>
                <a:spcPts val="0"/>
              </a:spcAft>
              <a:buFont typeface="Arial" panose="020B0604020202020204" pitchFamily="34" charset="0"/>
              <a:buChar char="•"/>
            </a:pPr>
            <a:r>
              <a:rPr lang="es-AR" sz="1600" dirty="0">
                <a:solidFill>
                  <a:schemeClr val="tx1"/>
                </a:solidFill>
                <a:highlight>
                  <a:srgbClr val="FFFFFF"/>
                </a:highlight>
                <a:latin typeface="Lato"/>
                <a:ea typeface="Lato"/>
                <a:cs typeface="Lato"/>
                <a:sym typeface="Lato"/>
              </a:rPr>
              <a:t>Largo</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Porcentage</a:t>
            </a:r>
            <a:endParaRPr lang="es-AR" sz="1600" dirty="0">
              <a:solidFill>
                <a:schemeClr val="tx1"/>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Para probar distintos valores y ver como queda podemos utilizar el siguiente generador</a:t>
            </a:r>
          </a:p>
          <a:p>
            <a:pPr lvl="0" rtl="0">
              <a:spcBef>
                <a:spcPts val="0"/>
              </a:spcBef>
              <a:spcAft>
                <a:spcPts val="0"/>
              </a:spcAft>
            </a:pPr>
            <a:r>
              <a:rPr lang="es-AR" sz="1600" dirty="0">
                <a:solidFill>
                  <a:srgbClr val="4A4A4A"/>
                </a:solidFill>
                <a:highlight>
                  <a:srgbClr val="FFFFFF"/>
                </a:highlight>
                <a:latin typeface="Lato"/>
                <a:ea typeface="Lato"/>
                <a:cs typeface="Lato"/>
                <a:sym typeface="Lato"/>
              </a:rPr>
              <a:t>Para </a:t>
            </a:r>
            <a:r>
              <a:rPr lang="es-AR" sz="1600" dirty="0" err="1">
                <a:solidFill>
                  <a:srgbClr val="4A4A4A"/>
                </a:solidFill>
                <a:highlight>
                  <a:srgbClr val="FFFFFF"/>
                </a:highlight>
                <a:latin typeface="Lato"/>
                <a:ea typeface="Lato"/>
                <a:cs typeface="Lato"/>
                <a:sym typeface="Lato"/>
              </a:rPr>
              <a:t>enteder</a:t>
            </a:r>
            <a:r>
              <a:rPr lang="es-AR" sz="1600" dirty="0">
                <a:solidFill>
                  <a:srgbClr val="4A4A4A"/>
                </a:solidFill>
                <a:highlight>
                  <a:srgbClr val="FFFFFF"/>
                </a:highlight>
                <a:latin typeface="Lato"/>
                <a:ea typeface="Lato"/>
                <a:cs typeface="Lato"/>
                <a:sym typeface="Lato"/>
              </a:rPr>
              <a:t> más sobre cómo funciona esta propiedad pueden consultar el sitio de MDN</a:t>
            </a:r>
          </a:p>
        </p:txBody>
      </p:sp>
      <p:pic>
        <p:nvPicPr>
          <p:cNvPr id="3" name="Imagen 2">
            <a:extLst>
              <a:ext uri="{FF2B5EF4-FFF2-40B4-BE49-F238E27FC236}">
                <a16:creationId xmlns:a16="http://schemas.microsoft.com/office/drawing/2014/main" id="{8F34AB82-75A6-8865-0851-A7CB4262F715}"/>
              </a:ext>
            </a:extLst>
          </p:cNvPr>
          <p:cNvPicPr>
            <a:picLocks noChangeAspect="1"/>
          </p:cNvPicPr>
          <p:nvPr/>
        </p:nvPicPr>
        <p:blipFill>
          <a:blip r:embed="rId3"/>
          <a:stretch>
            <a:fillRect/>
          </a:stretch>
        </p:blipFill>
        <p:spPr>
          <a:xfrm>
            <a:off x="3134398" y="3713638"/>
            <a:ext cx="2875204" cy="1156332"/>
          </a:xfrm>
          <a:prstGeom prst="rect">
            <a:avLst/>
          </a:prstGeom>
        </p:spPr>
      </p:pic>
    </p:spTree>
    <p:extLst>
      <p:ext uri="{BB962C8B-B14F-4D97-AF65-F5344CB8AC3E}">
        <p14:creationId xmlns:p14="http://schemas.microsoft.com/office/powerpoint/2010/main" val="165496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220077" cy="2246769"/>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Borders redondeados</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También podemos establecer un valor individual para cada uno de las esquinas:</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-top-</a:t>
            </a:r>
            <a:r>
              <a:rPr lang="es-AR" sz="1600" dirty="0" err="1">
                <a:solidFill>
                  <a:srgbClr val="4A4A4A"/>
                </a:solidFill>
                <a:highlight>
                  <a:srgbClr val="FFFFFF"/>
                </a:highlight>
                <a:latin typeface="Lato"/>
                <a:ea typeface="Lato"/>
                <a:cs typeface="Lato"/>
                <a:sym typeface="Lato"/>
              </a:rPr>
              <a:t>right</a:t>
            </a:r>
            <a:r>
              <a:rPr lang="es-AR" sz="1600" dirty="0">
                <a:solidFill>
                  <a:srgbClr val="4A4A4A"/>
                </a:solidFill>
                <a:highlight>
                  <a:srgbClr val="FFFFFF"/>
                </a:highlight>
                <a:latin typeface="Lato"/>
                <a:ea typeface="Lato"/>
                <a:cs typeface="Lato"/>
                <a:sym typeface="Lato"/>
              </a:rPr>
              <a:t>-</a:t>
            </a:r>
            <a:r>
              <a:rPr lang="es-AR" sz="1600" dirty="0" err="1">
                <a:solidFill>
                  <a:srgbClr val="4A4A4A"/>
                </a:solidFill>
                <a:highlight>
                  <a:srgbClr val="FFFFFF"/>
                </a:highlight>
                <a:latin typeface="Lato"/>
                <a:ea typeface="Lato"/>
                <a:cs typeface="Lato"/>
                <a:sym typeface="Lato"/>
              </a:rPr>
              <a:t>radius</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-top-</a:t>
            </a:r>
            <a:r>
              <a:rPr lang="es-AR" sz="1600" dirty="0" err="1">
                <a:solidFill>
                  <a:srgbClr val="4A4A4A"/>
                </a:solidFill>
                <a:highlight>
                  <a:srgbClr val="FFFFFF"/>
                </a:highlight>
                <a:latin typeface="Lato"/>
                <a:ea typeface="Lato"/>
                <a:cs typeface="Lato"/>
                <a:sym typeface="Lato"/>
              </a:rPr>
              <a:t>left</a:t>
            </a:r>
            <a:r>
              <a:rPr lang="es-AR" sz="1600" dirty="0">
                <a:solidFill>
                  <a:srgbClr val="4A4A4A"/>
                </a:solidFill>
                <a:highlight>
                  <a:srgbClr val="FFFFFF"/>
                </a:highlight>
                <a:latin typeface="Lato"/>
                <a:ea typeface="Lato"/>
                <a:cs typeface="Lato"/>
                <a:sym typeface="Lato"/>
              </a:rPr>
              <a:t>-</a:t>
            </a:r>
            <a:r>
              <a:rPr lang="es-AR" sz="1600" dirty="0" err="1">
                <a:solidFill>
                  <a:srgbClr val="4A4A4A"/>
                </a:solidFill>
                <a:highlight>
                  <a:srgbClr val="FFFFFF"/>
                </a:highlight>
                <a:latin typeface="Lato"/>
                <a:ea typeface="Lato"/>
                <a:cs typeface="Lato"/>
                <a:sym typeface="Lato"/>
              </a:rPr>
              <a:t>radius</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-bottom-</a:t>
            </a:r>
            <a:r>
              <a:rPr lang="es-AR" sz="1600" dirty="0" err="1">
                <a:solidFill>
                  <a:srgbClr val="4A4A4A"/>
                </a:solidFill>
                <a:highlight>
                  <a:srgbClr val="FFFFFF"/>
                </a:highlight>
                <a:latin typeface="Lato"/>
                <a:ea typeface="Lato"/>
                <a:cs typeface="Lato"/>
                <a:sym typeface="Lato"/>
              </a:rPr>
              <a:t>right</a:t>
            </a:r>
            <a:r>
              <a:rPr lang="es-AR" sz="1600" dirty="0">
                <a:solidFill>
                  <a:srgbClr val="4A4A4A"/>
                </a:solidFill>
                <a:highlight>
                  <a:srgbClr val="FFFFFF"/>
                </a:highlight>
                <a:latin typeface="Lato"/>
                <a:ea typeface="Lato"/>
                <a:cs typeface="Lato"/>
                <a:sym typeface="Lato"/>
              </a:rPr>
              <a:t>-</a:t>
            </a:r>
            <a:r>
              <a:rPr lang="es-AR" sz="1600" dirty="0" err="1">
                <a:solidFill>
                  <a:srgbClr val="4A4A4A"/>
                </a:solidFill>
                <a:highlight>
                  <a:srgbClr val="FFFFFF"/>
                </a:highlight>
                <a:latin typeface="Lato"/>
                <a:ea typeface="Lato"/>
                <a:cs typeface="Lato"/>
                <a:sym typeface="Lato"/>
              </a:rPr>
              <a:t>radius</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rgbClr val="4A4A4A"/>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-bottom-</a:t>
            </a:r>
            <a:r>
              <a:rPr lang="es-AR" sz="1600" dirty="0" err="1">
                <a:solidFill>
                  <a:srgbClr val="4A4A4A"/>
                </a:solidFill>
                <a:highlight>
                  <a:srgbClr val="FFFFFF"/>
                </a:highlight>
                <a:latin typeface="Lato"/>
                <a:ea typeface="Lato"/>
                <a:cs typeface="Lato"/>
                <a:sym typeface="Lato"/>
              </a:rPr>
              <a:t>left</a:t>
            </a:r>
            <a:r>
              <a:rPr lang="es-AR" sz="1600" dirty="0">
                <a:solidFill>
                  <a:srgbClr val="4A4A4A"/>
                </a:solidFill>
                <a:highlight>
                  <a:srgbClr val="FFFFFF"/>
                </a:highlight>
                <a:latin typeface="Lato"/>
                <a:ea typeface="Lato"/>
                <a:cs typeface="Lato"/>
                <a:sym typeface="Lato"/>
              </a:rPr>
              <a:t>-</a:t>
            </a:r>
            <a:r>
              <a:rPr lang="es-AR" sz="1600" dirty="0" err="1">
                <a:solidFill>
                  <a:srgbClr val="4A4A4A"/>
                </a:solidFill>
                <a:highlight>
                  <a:srgbClr val="FFFFFF"/>
                </a:highlight>
                <a:latin typeface="Lato"/>
                <a:ea typeface="Lato"/>
                <a:cs typeface="Lato"/>
                <a:sym typeface="Lato"/>
              </a:rPr>
              <a:t>radius</a:t>
            </a:r>
            <a:endParaRPr lang="es-AR" sz="1600" dirty="0">
              <a:solidFill>
                <a:srgbClr val="4A4A4A"/>
              </a:solidFill>
              <a:highlight>
                <a:srgbClr val="FFFFFF"/>
              </a:highlight>
              <a:latin typeface="Lato"/>
              <a:ea typeface="Lato"/>
              <a:cs typeface="Lato"/>
              <a:sym typeface="Lato"/>
            </a:endParaRPr>
          </a:p>
        </p:txBody>
      </p:sp>
      <p:pic>
        <p:nvPicPr>
          <p:cNvPr id="5" name="Imagen 4">
            <a:extLst>
              <a:ext uri="{FF2B5EF4-FFF2-40B4-BE49-F238E27FC236}">
                <a16:creationId xmlns:a16="http://schemas.microsoft.com/office/drawing/2014/main" id="{A554FDB2-646B-21D1-2B02-C90E658F29A9}"/>
              </a:ext>
            </a:extLst>
          </p:cNvPr>
          <p:cNvPicPr>
            <a:picLocks noChangeAspect="1"/>
          </p:cNvPicPr>
          <p:nvPr/>
        </p:nvPicPr>
        <p:blipFill>
          <a:blip r:embed="rId3"/>
          <a:stretch>
            <a:fillRect/>
          </a:stretch>
        </p:blipFill>
        <p:spPr>
          <a:xfrm>
            <a:off x="2302357" y="3174972"/>
            <a:ext cx="4539285" cy="1677562"/>
          </a:xfrm>
          <a:prstGeom prst="rect">
            <a:avLst/>
          </a:prstGeom>
        </p:spPr>
      </p:pic>
    </p:spTree>
    <p:extLst>
      <p:ext uri="{BB962C8B-B14F-4D97-AF65-F5344CB8AC3E}">
        <p14:creationId xmlns:p14="http://schemas.microsoft.com/office/powerpoint/2010/main" val="1140863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220077" cy="3354765"/>
          </a:xfrm>
          <a:prstGeom prst="rect">
            <a:avLst/>
          </a:prstGeom>
          <a:noFill/>
        </p:spPr>
        <p:txBody>
          <a:bodyPr wrap="square">
            <a:spAutoFit/>
          </a:bodyPr>
          <a:lstStyle/>
          <a:p>
            <a:r>
              <a:rPr lang="es-AR" sz="2000" dirty="0">
                <a:solidFill>
                  <a:srgbClr val="BE3969"/>
                </a:solidFill>
                <a:highlight>
                  <a:srgbClr val="FFFFFF"/>
                </a:highlight>
                <a:latin typeface="Russo One"/>
                <a:ea typeface="Lato"/>
                <a:cs typeface="Lato"/>
                <a:sym typeface="Russo One"/>
              </a:rPr>
              <a:t>Imagen de fondo</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Existen algunas propiedades que nos permiten utilizar imágenes como fondo de la caja</a:t>
            </a: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Por medio de la propiedad </a:t>
            </a:r>
            <a:r>
              <a:rPr lang="es-AR" sz="1200" b="1" dirty="0" err="1">
                <a:solidFill>
                  <a:schemeClr val="tx1"/>
                </a:solidFill>
                <a:highlight>
                  <a:srgbClr val="FFFFFF"/>
                </a:highlight>
                <a:latin typeface="Lato"/>
                <a:ea typeface="Lato"/>
                <a:cs typeface="Lato"/>
                <a:sym typeface="Lato"/>
              </a:rPr>
              <a:t>background-image</a:t>
            </a:r>
            <a:r>
              <a:rPr lang="es-AR" sz="1200" dirty="0">
                <a:solidFill>
                  <a:srgbClr val="4A4A4A"/>
                </a:solidFill>
                <a:highlight>
                  <a:srgbClr val="FFFFFF"/>
                </a:highlight>
                <a:latin typeface="Lato"/>
                <a:ea typeface="Lato"/>
                <a:cs typeface="Lato"/>
                <a:sym typeface="Lato"/>
              </a:rPr>
              <a:t> podemos establecer una o varias imágenes de fondo</a:t>
            </a: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Acepta como valor la ruta de una imagen</a:t>
            </a: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Para poder establecer el valor de la ruta de la imagen utilizamos la función </a:t>
            </a:r>
            <a:r>
              <a:rPr lang="es-AR" sz="1200" dirty="0" err="1">
                <a:solidFill>
                  <a:srgbClr val="4A4A4A"/>
                </a:solidFill>
                <a:highlight>
                  <a:srgbClr val="FFFFFF"/>
                </a:highlight>
                <a:latin typeface="Lato"/>
                <a:ea typeface="Lato"/>
                <a:cs typeface="Lato"/>
                <a:sym typeface="Lato"/>
              </a:rPr>
              <a:t>url</a:t>
            </a:r>
            <a:r>
              <a:rPr lang="es-AR" sz="1200" dirty="0">
                <a:solidFill>
                  <a:srgbClr val="4A4A4A"/>
                </a:solidFill>
                <a:highlight>
                  <a:srgbClr val="FFFFFF"/>
                </a:highlight>
                <a:latin typeface="Lato"/>
                <a:ea typeface="Lato"/>
                <a:cs typeface="Lato"/>
                <a:sym typeface="Lato"/>
              </a:rPr>
              <a:t>()</a:t>
            </a: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Las rutas de las imágenes pueden ser relativas o </a:t>
            </a:r>
            <a:r>
              <a:rPr lang="es-AR" sz="1200" dirty="0" err="1">
                <a:solidFill>
                  <a:srgbClr val="4A4A4A"/>
                </a:solidFill>
                <a:highlight>
                  <a:srgbClr val="FFFFFF"/>
                </a:highlight>
                <a:latin typeface="Lato"/>
                <a:ea typeface="Lato"/>
                <a:cs typeface="Lato"/>
                <a:sym typeface="Lato"/>
              </a:rPr>
              <a:t>absoultas</a:t>
            </a: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Hasta ahora vimos como establecer el color de fondo utilizando la propiedad </a:t>
            </a:r>
            <a:r>
              <a:rPr lang="es-AR" sz="1200" b="1" dirty="0" err="1">
                <a:solidFill>
                  <a:schemeClr val="tx1"/>
                </a:solidFill>
                <a:highlight>
                  <a:srgbClr val="FFFFFF"/>
                </a:highlight>
                <a:latin typeface="Lato"/>
                <a:ea typeface="Lato"/>
                <a:cs typeface="Lato"/>
                <a:sym typeface="Lato"/>
              </a:rPr>
              <a:t>background</a:t>
            </a:r>
            <a:r>
              <a:rPr lang="es-AR" sz="1200" b="1" dirty="0">
                <a:solidFill>
                  <a:schemeClr val="tx1"/>
                </a:solidFill>
                <a:highlight>
                  <a:srgbClr val="FFFFFF"/>
                </a:highlight>
                <a:latin typeface="Lato"/>
                <a:ea typeface="Lato"/>
                <a:cs typeface="Lato"/>
                <a:sym typeface="Lato"/>
              </a:rPr>
              <a:t>-color</a:t>
            </a: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Para saber más sobre esta propiedad podemos entrar en el sitio de MDN</a:t>
            </a: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Para establecer más de una imagen establecemos valores separados por coma</a:t>
            </a: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Ejemplo:</a:t>
            </a:r>
          </a:p>
        </p:txBody>
      </p:sp>
      <p:pic>
        <p:nvPicPr>
          <p:cNvPr id="3" name="Imagen 2">
            <a:extLst>
              <a:ext uri="{FF2B5EF4-FFF2-40B4-BE49-F238E27FC236}">
                <a16:creationId xmlns:a16="http://schemas.microsoft.com/office/drawing/2014/main" id="{8E2605B9-4A05-28E8-E06A-4A24ACBE1DD4}"/>
              </a:ext>
            </a:extLst>
          </p:cNvPr>
          <p:cNvPicPr>
            <a:picLocks noChangeAspect="1"/>
          </p:cNvPicPr>
          <p:nvPr/>
        </p:nvPicPr>
        <p:blipFill>
          <a:blip r:embed="rId3"/>
          <a:stretch>
            <a:fillRect/>
          </a:stretch>
        </p:blipFill>
        <p:spPr>
          <a:xfrm>
            <a:off x="2776692" y="2805835"/>
            <a:ext cx="3590616" cy="664929"/>
          </a:xfrm>
          <a:prstGeom prst="rect">
            <a:avLst/>
          </a:prstGeom>
        </p:spPr>
      </p:pic>
      <p:pic>
        <p:nvPicPr>
          <p:cNvPr id="7" name="Imagen 6">
            <a:extLst>
              <a:ext uri="{FF2B5EF4-FFF2-40B4-BE49-F238E27FC236}">
                <a16:creationId xmlns:a16="http://schemas.microsoft.com/office/drawing/2014/main" id="{34FA784F-FEE5-93FA-A147-91E5A1A64D88}"/>
              </a:ext>
            </a:extLst>
          </p:cNvPr>
          <p:cNvPicPr>
            <a:picLocks noChangeAspect="1"/>
          </p:cNvPicPr>
          <p:nvPr/>
        </p:nvPicPr>
        <p:blipFill>
          <a:blip r:embed="rId4"/>
          <a:stretch>
            <a:fillRect/>
          </a:stretch>
        </p:blipFill>
        <p:spPr>
          <a:xfrm>
            <a:off x="1791854" y="4233324"/>
            <a:ext cx="5560291" cy="629043"/>
          </a:xfrm>
          <a:prstGeom prst="rect">
            <a:avLst/>
          </a:prstGeom>
        </p:spPr>
      </p:pic>
    </p:spTree>
    <p:extLst>
      <p:ext uri="{BB962C8B-B14F-4D97-AF65-F5344CB8AC3E}">
        <p14:creationId xmlns:p14="http://schemas.microsoft.com/office/powerpoint/2010/main" val="9613718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65122" y="808768"/>
            <a:ext cx="8220077" cy="4093428"/>
          </a:xfrm>
          <a:prstGeom prst="rect">
            <a:avLst/>
          </a:prstGeom>
          <a:noFill/>
        </p:spPr>
        <p:txBody>
          <a:bodyPr wrap="square">
            <a:spAutoFit/>
          </a:bodyPr>
          <a:lstStyle/>
          <a:p>
            <a:r>
              <a:rPr lang="es-AR" sz="2000" dirty="0">
                <a:solidFill>
                  <a:srgbClr val="BE3969"/>
                </a:solidFill>
                <a:highlight>
                  <a:srgbClr val="FFFFFF"/>
                </a:highlight>
                <a:latin typeface="Russo One"/>
                <a:ea typeface="Lato"/>
                <a:cs typeface="Lato"/>
                <a:sym typeface="Russo One"/>
              </a:rPr>
              <a:t>Repetir el fondo</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Por defecto la imagen que establecemos como fondo se va a repetir tantas veces como pueda</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Para controlar la forma en que se repite la imagen de fondo utilizamos la propiedad </a:t>
            </a:r>
            <a:r>
              <a:rPr lang="es-AR" sz="1200" dirty="0" err="1">
                <a:solidFill>
                  <a:srgbClr val="4A4A4A"/>
                </a:solidFill>
                <a:highlight>
                  <a:srgbClr val="FFFFFF"/>
                </a:highlight>
                <a:latin typeface="Lato"/>
                <a:ea typeface="Lato"/>
                <a:cs typeface="Lato"/>
                <a:sym typeface="Lato"/>
              </a:rPr>
              <a:t>background-repeat</a:t>
            </a: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Esta propiedad acepta los siguientes valores:</a:t>
            </a:r>
          </a:p>
          <a:p>
            <a:pPr marL="285750" lvl="0" indent="-285750" rtl="0">
              <a:spcBef>
                <a:spcPts val="0"/>
              </a:spcBef>
              <a:spcAft>
                <a:spcPts val="0"/>
              </a:spcAft>
              <a:buFont typeface="Arial" panose="020B0604020202020204" pitchFamily="34" charset="0"/>
              <a:buChar char="•"/>
            </a:pPr>
            <a:r>
              <a:rPr lang="es-AR" sz="1200" b="1" dirty="0" err="1">
                <a:solidFill>
                  <a:schemeClr val="tx1"/>
                </a:solidFill>
                <a:highlight>
                  <a:srgbClr val="FFFFFF"/>
                </a:highlight>
                <a:latin typeface="Lato"/>
                <a:ea typeface="Lato"/>
                <a:cs typeface="Lato"/>
                <a:sym typeface="Lato"/>
              </a:rPr>
              <a:t>repeat</a:t>
            </a:r>
            <a:r>
              <a:rPr lang="es-AR" sz="1200" dirty="0">
                <a:solidFill>
                  <a:srgbClr val="4A4A4A"/>
                </a:solidFill>
                <a:highlight>
                  <a:srgbClr val="FFFFFF"/>
                </a:highlight>
                <a:latin typeface="Lato"/>
                <a:ea typeface="Lato"/>
                <a:cs typeface="Lato"/>
                <a:sym typeface="Lato"/>
              </a:rPr>
              <a:t>: es el valor por default y repite la imagen todo lo que puede tanto en el eje x como en el y</a:t>
            </a:r>
          </a:p>
          <a:p>
            <a:pPr marL="285750" lvl="0" indent="-285750" rtl="0">
              <a:spcBef>
                <a:spcPts val="0"/>
              </a:spcBef>
              <a:spcAft>
                <a:spcPts val="0"/>
              </a:spcAft>
              <a:buFont typeface="Arial" panose="020B0604020202020204" pitchFamily="34" charset="0"/>
              <a:buChar char="•"/>
            </a:pPr>
            <a:r>
              <a:rPr lang="es-AR" sz="1200" b="1" dirty="0" err="1">
                <a:solidFill>
                  <a:schemeClr val="tx1"/>
                </a:solidFill>
                <a:highlight>
                  <a:srgbClr val="FFFFFF"/>
                </a:highlight>
                <a:latin typeface="Lato"/>
                <a:ea typeface="Lato"/>
                <a:cs typeface="Lato"/>
                <a:sym typeface="Lato"/>
              </a:rPr>
              <a:t>repeat</a:t>
            </a:r>
            <a:r>
              <a:rPr lang="es-AR" sz="1200" b="1" dirty="0">
                <a:solidFill>
                  <a:schemeClr val="tx1"/>
                </a:solidFill>
                <a:highlight>
                  <a:srgbClr val="FFFFFF"/>
                </a:highlight>
                <a:latin typeface="Lato"/>
                <a:ea typeface="Lato"/>
                <a:cs typeface="Lato"/>
                <a:sym typeface="Lato"/>
              </a:rPr>
              <a:t>-x</a:t>
            </a:r>
            <a:r>
              <a:rPr lang="es-AR" sz="1200" dirty="0">
                <a:solidFill>
                  <a:srgbClr val="4A4A4A"/>
                </a:solidFill>
                <a:highlight>
                  <a:srgbClr val="FFFFFF"/>
                </a:highlight>
                <a:latin typeface="Lato"/>
                <a:ea typeface="Lato"/>
                <a:cs typeface="Lato"/>
                <a:sym typeface="Lato"/>
              </a:rPr>
              <a:t>: repite la imagen sólo en el eje x</a:t>
            </a:r>
          </a:p>
          <a:p>
            <a:pPr marL="285750" lvl="0" indent="-285750" rtl="0">
              <a:spcBef>
                <a:spcPts val="0"/>
              </a:spcBef>
              <a:spcAft>
                <a:spcPts val="0"/>
              </a:spcAft>
              <a:buFont typeface="Arial" panose="020B0604020202020204" pitchFamily="34" charset="0"/>
              <a:buChar char="•"/>
            </a:pPr>
            <a:r>
              <a:rPr lang="es-AR" sz="1200" b="1" dirty="0" err="1">
                <a:solidFill>
                  <a:schemeClr val="tx1"/>
                </a:solidFill>
                <a:highlight>
                  <a:srgbClr val="FFFFFF"/>
                </a:highlight>
                <a:latin typeface="Lato"/>
                <a:ea typeface="Lato"/>
                <a:cs typeface="Lato"/>
                <a:sym typeface="Lato"/>
              </a:rPr>
              <a:t>repeat</a:t>
            </a:r>
            <a:r>
              <a:rPr lang="es-AR" sz="1200" b="1" dirty="0">
                <a:solidFill>
                  <a:schemeClr val="tx1"/>
                </a:solidFill>
                <a:highlight>
                  <a:srgbClr val="FFFFFF"/>
                </a:highlight>
                <a:latin typeface="Lato"/>
                <a:ea typeface="Lato"/>
                <a:cs typeface="Lato"/>
                <a:sym typeface="Lato"/>
              </a:rPr>
              <a:t>-y</a:t>
            </a:r>
            <a:r>
              <a:rPr lang="es-AR" sz="1200" dirty="0">
                <a:solidFill>
                  <a:srgbClr val="4A4A4A"/>
                </a:solidFill>
                <a:highlight>
                  <a:srgbClr val="FFFFFF"/>
                </a:highlight>
                <a:latin typeface="Lato"/>
                <a:ea typeface="Lato"/>
                <a:cs typeface="Lato"/>
                <a:sym typeface="Lato"/>
              </a:rPr>
              <a:t>: repite la imagen sólo en el eje y</a:t>
            </a:r>
          </a:p>
          <a:p>
            <a:pPr marL="285750" lvl="0" indent="-285750" rtl="0">
              <a:spcBef>
                <a:spcPts val="0"/>
              </a:spcBef>
              <a:spcAft>
                <a:spcPts val="0"/>
              </a:spcAft>
              <a:buFont typeface="Arial" panose="020B0604020202020204" pitchFamily="34" charset="0"/>
              <a:buChar char="•"/>
            </a:pPr>
            <a:r>
              <a:rPr lang="es-AR" sz="1200" b="1" dirty="0">
                <a:solidFill>
                  <a:schemeClr val="tx1"/>
                </a:solidFill>
                <a:highlight>
                  <a:srgbClr val="FFFFFF"/>
                </a:highlight>
                <a:latin typeface="Lato"/>
                <a:ea typeface="Lato"/>
                <a:cs typeface="Lato"/>
                <a:sym typeface="Lato"/>
              </a:rPr>
              <a:t>no-</a:t>
            </a:r>
            <a:r>
              <a:rPr lang="es-AR" sz="1200" b="1" dirty="0" err="1">
                <a:solidFill>
                  <a:schemeClr val="tx1"/>
                </a:solidFill>
                <a:highlight>
                  <a:srgbClr val="FFFFFF"/>
                </a:highlight>
                <a:latin typeface="Lato"/>
                <a:ea typeface="Lato"/>
                <a:cs typeface="Lato"/>
                <a:sym typeface="Lato"/>
              </a:rPr>
              <a:t>repeat</a:t>
            </a:r>
            <a:r>
              <a:rPr lang="es-AR" sz="1200" dirty="0">
                <a:solidFill>
                  <a:srgbClr val="4A4A4A"/>
                </a:solidFill>
                <a:highlight>
                  <a:srgbClr val="FFFFFF"/>
                </a:highlight>
                <a:latin typeface="Lato"/>
                <a:ea typeface="Lato"/>
                <a:cs typeface="Lato"/>
                <a:sym typeface="Lato"/>
              </a:rPr>
              <a:t>: no repite la imagen, es decir que se muestra tan solo una vez</a:t>
            </a: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endParaRPr lang="es-AR" sz="12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Es importante recordar que trabajar con imágenes muchas veces es más fácil si lo hacemos en la medida que necesitamos</a:t>
            </a: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Dado que el browser tiene que descargar cada foto de manera individual también conviene tener estas </a:t>
            </a:r>
            <a:r>
              <a:rPr lang="es-AR" sz="1200" dirty="0" err="1">
                <a:solidFill>
                  <a:srgbClr val="4A4A4A"/>
                </a:solidFill>
                <a:highlight>
                  <a:srgbClr val="FFFFFF"/>
                </a:highlight>
                <a:latin typeface="Lato"/>
                <a:ea typeface="Lato"/>
                <a:cs typeface="Lato"/>
                <a:sym typeface="Lato"/>
              </a:rPr>
              <a:t>imagenes</a:t>
            </a:r>
            <a:r>
              <a:rPr lang="es-AR" sz="1200" dirty="0">
                <a:solidFill>
                  <a:srgbClr val="4A4A4A"/>
                </a:solidFill>
                <a:highlight>
                  <a:srgbClr val="FFFFFF"/>
                </a:highlight>
                <a:latin typeface="Lato"/>
                <a:ea typeface="Lato"/>
                <a:cs typeface="Lato"/>
                <a:sym typeface="Lato"/>
              </a:rPr>
              <a:t> optimizadas para que pesen menos</a:t>
            </a:r>
          </a:p>
        </p:txBody>
      </p:sp>
      <p:pic>
        <p:nvPicPr>
          <p:cNvPr id="5" name="Imagen 4">
            <a:extLst>
              <a:ext uri="{FF2B5EF4-FFF2-40B4-BE49-F238E27FC236}">
                <a16:creationId xmlns:a16="http://schemas.microsoft.com/office/drawing/2014/main" id="{8D55A515-CC06-B457-1E57-14EC57A2DFE9}"/>
              </a:ext>
            </a:extLst>
          </p:cNvPr>
          <p:cNvPicPr>
            <a:picLocks noChangeAspect="1"/>
          </p:cNvPicPr>
          <p:nvPr/>
        </p:nvPicPr>
        <p:blipFill>
          <a:blip r:embed="rId3"/>
          <a:stretch>
            <a:fillRect/>
          </a:stretch>
        </p:blipFill>
        <p:spPr>
          <a:xfrm>
            <a:off x="2729344" y="3176623"/>
            <a:ext cx="3081165" cy="751381"/>
          </a:xfrm>
          <a:prstGeom prst="rect">
            <a:avLst/>
          </a:prstGeom>
        </p:spPr>
      </p:pic>
    </p:spTree>
    <p:extLst>
      <p:ext uri="{BB962C8B-B14F-4D97-AF65-F5344CB8AC3E}">
        <p14:creationId xmlns:p14="http://schemas.microsoft.com/office/powerpoint/2010/main" val="427497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328033" y="619423"/>
            <a:ext cx="8487933" cy="4339650"/>
          </a:xfrm>
          <a:prstGeom prst="rect">
            <a:avLst/>
          </a:prstGeom>
          <a:noFill/>
        </p:spPr>
        <p:txBody>
          <a:bodyPr wrap="square">
            <a:spAutoFit/>
          </a:bodyPr>
          <a:lstStyle/>
          <a:p>
            <a:r>
              <a:rPr lang="es-AR" sz="2400" dirty="0">
                <a:solidFill>
                  <a:srgbClr val="BE3969"/>
                </a:solidFill>
                <a:highlight>
                  <a:srgbClr val="FFFFFF"/>
                </a:highlight>
                <a:latin typeface="Russo One"/>
                <a:ea typeface="Lato"/>
                <a:cs typeface="Lato"/>
                <a:sym typeface="Russo One"/>
              </a:rPr>
              <a:t>Repetir el fondo</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Posicionar el fondo</a:t>
            </a: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Por defecto la imagen de fondo se posiciona en el borde izquierdo superior del fondo</a:t>
            </a: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Podemos cambiar la posición de la imagen de fondo utilizamos la propiedad </a:t>
            </a:r>
            <a:r>
              <a:rPr lang="es-AR" dirty="0" err="1">
                <a:solidFill>
                  <a:srgbClr val="4A4A4A"/>
                </a:solidFill>
                <a:highlight>
                  <a:srgbClr val="FFFFFF"/>
                </a:highlight>
                <a:latin typeface="Lato"/>
                <a:ea typeface="Lato"/>
                <a:cs typeface="Lato"/>
                <a:sym typeface="Lato"/>
              </a:rPr>
              <a:t>background</a:t>
            </a:r>
            <a:r>
              <a:rPr lang="es-AR" dirty="0">
                <a:solidFill>
                  <a:srgbClr val="4A4A4A"/>
                </a:solidFill>
                <a:highlight>
                  <a:srgbClr val="FFFFFF"/>
                </a:highlight>
                <a:latin typeface="Lato"/>
                <a:ea typeface="Lato"/>
                <a:cs typeface="Lato"/>
                <a:sym typeface="Lato"/>
              </a:rPr>
              <a:t>-position</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Esta propiedad acepta los siguientes valores:</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1. El </a:t>
            </a:r>
            <a:r>
              <a:rPr lang="es-AR" dirty="0">
                <a:solidFill>
                  <a:schemeClr val="tx1"/>
                </a:solidFill>
                <a:highlight>
                  <a:srgbClr val="FFFFFF"/>
                </a:highlight>
                <a:latin typeface="Lato"/>
                <a:ea typeface="Lato"/>
                <a:cs typeface="Lato"/>
                <a:sym typeface="Lato"/>
              </a:rPr>
              <a:t>primer valor </a:t>
            </a:r>
            <a:r>
              <a:rPr lang="es-AR" dirty="0" err="1">
                <a:solidFill>
                  <a:srgbClr val="4A4A4A"/>
                </a:solidFill>
                <a:highlight>
                  <a:srgbClr val="FFFFFF"/>
                </a:highlight>
                <a:latin typeface="Lato"/>
                <a:ea typeface="Lato"/>
                <a:cs typeface="Lato"/>
                <a:sym typeface="Lato"/>
              </a:rPr>
              <a:t>especifíca</a:t>
            </a:r>
            <a:r>
              <a:rPr lang="es-AR" dirty="0">
                <a:solidFill>
                  <a:srgbClr val="4A4A4A"/>
                </a:solidFill>
                <a:highlight>
                  <a:srgbClr val="FFFFFF"/>
                </a:highlight>
                <a:latin typeface="Lato"/>
                <a:ea typeface="Lato"/>
                <a:cs typeface="Lato"/>
                <a:sym typeface="Lato"/>
              </a:rPr>
              <a:t> el eje x y tiene los siguientes valores:</a:t>
            </a:r>
          </a:p>
          <a:p>
            <a:pPr marL="171450" lvl="0" indent="-1714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Unidad de medida (puede ser %, </a:t>
            </a:r>
            <a:r>
              <a:rPr lang="es-AR" dirty="0" err="1">
                <a:solidFill>
                  <a:srgbClr val="4A4A4A"/>
                </a:solidFill>
                <a:highlight>
                  <a:srgbClr val="FFFFFF"/>
                </a:highlight>
                <a:latin typeface="Lato"/>
                <a:ea typeface="Lato"/>
                <a:cs typeface="Lato"/>
                <a:sym typeface="Lato"/>
              </a:rPr>
              <a:t>px</a:t>
            </a:r>
            <a:r>
              <a:rPr lang="es-AR" dirty="0">
                <a:solidFill>
                  <a:srgbClr val="4A4A4A"/>
                </a:solidFill>
                <a:highlight>
                  <a:srgbClr val="FFFFFF"/>
                </a:highlight>
                <a:latin typeface="Lato"/>
                <a:ea typeface="Lato"/>
                <a:cs typeface="Lato"/>
                <a:sym typeface="Lato"/>
              </a:rPr>
              <a:t>, em)</a:t>
            </a:r>
          </a:p>
          <a:p>
            <a:pPr marL="171450" lvl="0" indent="-1714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left</a:t>
            </a:r>
            <a:endParaRPr lang="es-AR" dirty="0">
              <a:solidFill>
                <a:srgbClr val="4A4A4A"/>
              </a:solidFill>
              <a:highlight>
                <a:srgbClr val="FFFFFF"/>
              </a:highlight>
              <a:latin typeface="Lato"/>
              <a:ea typeface="Lato"/>
              <a:cs typeface="Lato"/>
              <a:sym typeface="Lato"/>
            </a:endParaRPr>
          </a:p>
          <a:p>
            <a:pPr marL="171450" lvl="0" indent="-1714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center</a:t>
            </a:r>
          </a:p>
          <a:p>
            <a:pPr marL="171450" lvl="0" indent="-171450" rtl="0">
              <a:spcBef>
                <a:spcPts val="0"/>
              </a:spcBef>
              <a:spcAft>
                <a:spcPts val="0"/>
              </a:spcAft>
              <a:buFont typeface="Arial" panose="020B0604020202020204" pitchFamily="34" charset="0"/>
              <a:buChar char="•"/>
            </a:pPr>
            <a:r>
              <a:rPr lang="es-AR" dirty="0" err="1">
                <a:solidFill>
                  <a:srgbClr val="4A4A4A"/>
                </a:solidFill>
                <a:highlight>
                  <a:srgbClr val="FFFFFF"/>
                </a:highlight>
                <a:latin typeface="Lato"/>
                <a:ea typeface="Lato"/>
                <a:cs typeface="Lato"/>
                <a:sym typeface="Lato"/>
              </a:rPr>
              <a:t>Right</a:t>
            </a: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2. El </a:t>
            </a:r>
            <a:r>
              <a:rPr lang="es-AR" dirty="0">
                <a:solidFill>
                  <a:schemeClr val="tx1"/>
                </a:solidFill>
                <a:highlight>
                  <a:srgbClr val="FFFFFF"/>
                </a:highlight>
                <a:latin typeface="Lato"/>
                <a:ea typeface="Lato"/>
                <a:cs typeface="Lato"/>
                <a:sym typeface="Lato"/>
              </a:rPr>
              <a:t>segundo valor</a:t>
            </a:r>
            <a:r>
              <a:rPr lang="es-AR" dirty="0">
                <a:solidFill>
                  <a:srgbClr val="4A4A4A"/>
                </a:solidFill>
                <a:highlight>
                  <a:srgbClr val="FFFFFF"/>
                </a:highlight>
                <a:latin typeface="Lato"/>
                <a:ea typeface="Lato"/>
                <a:cs typeface="Lato"/>
                <a:sym typeface="Lato"/>
              </a:rPr>
              <a:t> </a:t>
            </a:r>
            <a:r>
              <a:rPr lang="es-AR" dirty="0" err="1">
                <a:solidFill>
                  <a:srgbClr val="4A4A4A"/>
                </a:solidFill>
                <a:highlight>
                  <a:srgbClr val="FFFFFF"/>
                </a:highlight>
                <a:latin typeface="Lato"/>
                <a:ea typeface="Lato"/>
                <a:cs typeface="Lato"/>
                <a:sym typeface="Lato"/>
              </a:rPr>
              <a:t>especifíca</a:t>
            </a:r>
            <a:r>
              <a:rPr lang="es-AR" dirty="0">
                <a:solidFill>
                  <a:srgbClr val="4A4A4A"/>
                </a:solidFill>
                <a:highlight>
                  <a:srgbClr val="FFFFFF"/>
                </a:highlight>
                <a:latin typeface="Lato"/>
                <a:ea typeface="Lato"/>
                <a:cs typeface="Lato"/>
                <a:sym typeface="Lato"/>
              </a:rPr>
              <a:t> el eje y tiene los siguientes valores:</a:t>
            </a:r>
          </a:p>
          <a:p>
            <a:pPr marL="171450" lvl="0" indent="-1714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Unidad de medida (puede ser %, </a:t>
            </a:r>
            <a:r>
              <a:rPr lang="es-AR" dirty="0" err="1">
                <a:solidFill>
                  <a:srgbClr val="4A4A4A"/>
                </a:solidFill>
                <a:highlight>
                  <a:srgbClr val="FFFFFF"/>
                </a:highlight>
                <a:latin typeface="Lato"/>
                <a:ea typeface="Lato"/>
                <a:cs typeface="Lato"/>
                <a:sym typeface="Lato"/>
              </a:rPr>
              <a:t>px</a:t>
            </a:r>
            <a:r>
              <a:rPr lang="es-AR" dirty="0">
                <a:solidFill>
                  <a:srgbClr val="4A4A4A"/>
                </a:solidFill>
                <a:highlight>
                  <a:srgbClr val="FFFFFF"/>
                </a:highlight>
                <a:latin typeface="Lato"/>
                <a:ea typeface="Lato"/>
                <a:cs typeface="Lato"/>
                <a:sym typeface="Lato"/>
              </a:rPr>
              <a:t>, em)</a:t>
            </a:r>
          </a:p>
          <a:p>
            <a:pPr marL="171450" lvl="0" indent="-1714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top</a:t>
            </a:r>
          </a:p>
          <a:p>
            <a:pPr marL="171450" lvl="0" indent="-1714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center</a:t>
            </a:r>
          </a:p>
          <a:p>
            <a:pPr marL="171450" lvl="0" indent="-1714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bottom</a:t>
            </a:r>
          </a:p>
        </p:txBody>
      </p:sp>
    </p:spTree>
    <p:extLst>
      <p:ext uri="{BB962C8B-B14F-4D97-AF65-F5344CB8AC3E}">
        <p14:creationId xmlns:p14="http://schemas.microsoft.com/office/powerpoint/2010/main" val="364713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1997" y="633278"/>
            <a:ext cx="2863131" cy="4370427"/>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Repetir el fondo</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Podemos ver como combinar distintos valores para posicionar las imágenes de fondo:</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left</a:t>
            </a:r>
            <a:r>
              <a:rPr lang="es-AR" sz="1600" dirty="0">
                <a:solidFill>
                  <a:schemeClr val="tx1"/>
                </a:solidFill>
                <a:highlight>
                  <a:srgbClr val="FFFFFF"/>
                </a:highlight>
                <a:latin typeface="Lato"/>
                <a:ea typeface="Lato"/>
                <a:cs typeface="Lato"/>
                <a:sym typeface="Lato"/>
              </a:rPr>
              <a:t> top</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left</a:t>
            </a:r>
            <a:r>
              <a:rPr lang="es-AR" sz="1600" dirty="0">
                <a:solidFill>
                  <a:schemeClr val="tx1"/>
                </a:solidFill>
                <a:highlight>
                  <a:srgbClr val="FFFFFF"/>
                </a:highlight>
                <a:latin typeface="Lato"/>
                <a:ea typeface="Lato"/>
                <a:cs typeface="Lato"/>
                <a:sym typeface="Lato"/>
              </a:rPr>
              <a:t> center</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left</a:t>
            </a:r>
            <a:r>
              <a:rPr lang="es-AR" sz="1600" dirty="0">
                <a:solidFill>
                  <a:schemeClr val="tx1"/>
                </a:solidFill>
                <a:highlight>
                  <a:srgbClr val="FFFFFF"/>
                </a:highlight>
                <a:latin typeface="Lato"/>
                <a:ea typeface="Lato"/>
                <a:cs typeface="Lato"/>
                <a:sym typeface="Lato"/>
              </a:rPr>
              <a:t> bottom</a:t>
            </a:r>
          </a:p>
          <a:p>
            <a:pPr marL="285750" lvl="0" indent="-285750" rtl="0">
              <a:spcBef>
                <a:spcPts val="0"/>
              </a:spcBef>
              <a:spcAft>
                <a:spcPts val="0"/>
              </a:spcAft>
              <a:buFont typeface="Arial" panose="020B0604020202020204" pitchFamily="34" charset="0"/>
              <a:buChar char="•"/>
            </a:pPr>
            <a:r>
              <a:rPr lang="es-AR" sz="1600" dirty="0">
                <a:solidFill>
                  <a:schemeClr val="tx1"/>
                </a:solidFill>
                <a:highlight>
                  <a:srgbClr val="FFFFFF"/>
                </a:highlight>
                <a:latin typeface="Lato"/>
                <a:ea typeface="Lato"/>
                <a:cs typeface="Lato"/>
                <a:sym typeface="Lato"/>
              </a:rPr>
              <a:t>center top</a:t>
            </a:r>
          </a:p>
          <a:p>
            <a:pPr marL="285750" lvl="0" indent="-285750" rtl="0">
              <a:spcBef>
                <a:spcPts val="0"/>
              </a:spcBef>
              <a:spcAft>
                <a:spcPts val="0"/>
              </a:spcAft>
              <a:buFont typeface="Arial" panose="020B0604020202020204" pitchFamily="34" charset="0"/>
              <a:buChar char="•"/>
            </a:pPr>
            <a:r>
              <a:rPr lang="es-AR" sz="1600" dirty="0">
                <a:solidFill>
                  <a:schemeClr val="tx1"/>
                </a:solidFill>
                <a:highlight>
                  <a:srgbClr val="FFFFFF"/>
                </a:highlight>
                <a:latin typeface="Lato"/>
                <a:ea typeface="Lato"/>
                <a:cs typeface="Lato"/>
                <a:sym typeface="Lato"/>
              </a:rPr>
              <a:t>center </a:t>
            </a:r>
            <a:r>
              <a:rPr lang="es-AR" sz="1600" dirty="0" err="1">
                <a:solidFill>
                  <a:schemeClr val="tx1"/>
                </a:solidFill>
                <a:highlight>
                  <a:srgbClr val="FFFFFF"/>
                </a:highlight>
                <a:latin typeface="Lato"/>
                <a:ea typeface="Lato"/>
                <a:cs typeface="Lato"/>
                <a:sym typeface="Lato"/>
              </a:rPr>
              <a:t>center</a:t>
            </a:r>
            <a:endParaRPr lang="es-AR" sz="1600"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chemeClr val="tx1"/>
                </a:solidFill>
                <a:highlight>
                  <a:srgbClr val="FFFFFF"/>
                </a:highlight>
                <a:latin typeface="Lato"/>
                <a:ea typeface="Lato"/>
                <a:cs typeface="Lato"/>
                <a:sym typeface="Lato"/>
              </a:rPr>
              <a:t>center bottom</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right</a:t>
            </a:r>
            <a:r>
              <a:rPr lang="es-AR" sz="1600" dirty="0">
                <a:solidFill>
                  <a:schemeClr val="tx1"/>
                </a:solidFill>
                <a:highlight>
                  <a:srgbClr val="FFFFFF"/>
                </a:highlight>
                <a:latin typeface="Lato"/>
                <a:ea typeface="Lato"/>
                <a:cs typeface="Lato"/>
                <a:sym typeface="Lato"/>
              </a:rPr>
              <a:t> top</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right</a:t>
            </a:r>
            <a:r>
              <a:rPr lang="es-AR" sz="1600" dirty="0">
                <a:solidFill>
                  <a:schemeClr val="tx1"/>
                </a:solidFill>
                <a:highlight>
                  <a:srgbClr val="FFFFFF"/>
                </a:highlight>
                <a:latin typeface="Lato"/>
                <a:ea typeface="Lato"/>
                <a:cs typeface="Lato"/>
                <a:sym typeface="Lato"/>
              </a:rPr>
              <a:t> center</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right</a:t>
            </a:r>
            <a:r>
              <a:rPr lang="es-AR" sz="1600" dirty="0">
                <a:solidFill>
                  <a:schemeClr val="tx1"/>
                </a:solidFill>
                <a:highlight>
                  <a:srgbClr val="FFFFFF"/>
                </a:highlight>
                <a:latin typeface="Lato"/>
                <a:ea typeface="Lato"/>
                <a:cs typeface="Lato"/>
                <a:sym typeface="Lato"/>
              </a:rPr>
              <a:t> bottom</a:t>
            </a:r>
          </a:p>
        </p:txBody>
      </p:sp>
      <p:pic>
        <p:nvPicPr>
          <p:cNvPr id="3" name="Imagen 2">
            <a:extLst>
              <a:ext uri="{FF2B5EF4-FFF2-40B4-BE49-F238E27FC236}">
                <a16:creationId xmlns:a16="http://schemas.microsoft.com/office/drawing/2014/main" id="{6D10D2D4-EEE6-4FB5-D309-52C355CD2709}"/>
              </a:ext>
            </a:extLst>
          </p:cNvPr>
          <p:cNvPicPr>
            <a:picLocks noChangeAspect="1"/>
          </p:cNvPicPr>
          <p:nvPr/>
        </p:nvPicPr>
        <p:blipFill>
          <a:blip r:embed="rId3"/>
          <a:stretch>
            <a:fillRect/>
          </a:stretch>
        </p:blipFill>
        <p:spPr>
          <a:xfrm>
            <a:off x="3597564" y="2207881"/>
            <a:ext cx="5308742" cy="1723443"/>
          </a:xfrm>
          <a:prstGeom prst="rect">
            <a:avLst/>
          </a:prstGeom>
        </p:spPr>
      </p:pic>
    </p:spTree>
    <p:extLst>
      <p:ext uri="{BB962C8B-B14F-4D97-AF65-F5344CB8AC3E}">
        <p14:creationId xmlns:p14="http://schemas.microsoft.com/office/powerpoint/2010/main" val="1589311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1997" y="633278"/>
            <a:ext cx="4488730" cy="4216539"/>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Fijar el fondo:</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Por medio de la propiedad </a:t>
            </a:r>
            <a:r>
              <a:rPr lang="es-AR" sz="1600" b="1" dirty="0" err="1">
                <a:solidFill>
                  <a:schemeClr val="tx1"/>
                </a:solidFill>
                <a:highlight>
                  <a:srgbClr val="FFFFFF"/>
                </a:highlight>
                <a:latin typeface="Lato"/>
                <a:ea typeface="Lato"/>
                <a:cs typeface="Lato"/>
                <a:sym typeface="Lato"/>
              </a:rPr>
              <a:t>background-attachment</a:t>
            </a:r>
            <a:r>
              <a:rPr lang="es-AR" sz="1600" dirty="0">
                <a:solidFill>
                  <a:srgbClr val="4A4A4A"/>
                </a:solidFill>
                <a:highlight>
                  <a:srgbClr val="FFFFFF"/>
                </a:highlight>
                <a:latin typeface="Lato"/>
                <a:ea typeface="Lato"/>
                <a:cs typeface="Lato"/>
                <a:sym typeface="Lato"/>
              </a:rPr>
              <a:t> podemos establecer si queremos fijar o </a:t>
            </a:r>
            <a:r>
              <a:rPr lang="es-AR" sz="1600" dirty="0" err="1">
                <a:solidFill>
                  <a:srgbClr val="4A4A4A"/>
                </a:solidFill>
                <a:highlight>
                  <a:srgbClr val="FFFFFF"/>
                </a:highlight>
                <a:latin typeface="Lato"/>
                <a:ea typeface="Lato"/>
                <a:cs typeface="Lato"/>
                <a:sym typeface="Lato"/>
              </a:rPr>
              <a:t>escrolear</a:t>
            </a:r>
            <a:r>
              <a:rPr lang="es-AR" sz="1600" dirty="0">
                <a:solidFill>
                  <a:srgbClr val="4A4A4A"/>
                </a:solidFill>
                <a:highlight>
                  <a:srgbClr val="FFFFFF"/>
                </a:highlight>
                <a:latin typeface="Lato"/>
                <a:ea typeface="Lato"/>
                <a:cs typeface="Lato"/>
                <a:sym typeface="Lato"/>
              </a:rPr>
              <a:t> el fondo según el valor seleccionado:</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fixed</a:t>
            </a:r>
            <a:r>
              <a:rPr lang="es-AR" sz="1600" dirty="0">
                <a:solidFill>
                  <a:srgbClr val="4A4A4A"/>
                </a:solidFill>
                <a:highlight>
                  <a:srgbClr val="FFFFFF"/>
                </a:highlight>
                <a:latin typeface="Lato"/>
                <a:ea typeface="Lato"/>
                <a:cs typeface="Lato"/>
                <a:sym typeface="Lato"/>
              </a:rPr>
              <a:t>: la imagen se queda fija y el resto del documento parece como si flota sobre la imagen de fondo, esto pasa ya que al establecer esta propiedad en </a:t>
            </a:r>
            <a:r>
              <a:rPr lang="es-AR" sz="1600" dirty="0" err="1">
                <a:solidFill>
                  <a:srgbClr val="4A4A4A"/>
                </a:solidFill>
                <a:highlight>
                  <a:srgbClr val="FFFFFF"/>
                </a:highlight>
                <a:latin typeface="Lato"/>
                <a:ea typeface="Lato"/>
                <a:cs typeface="Lato"/>
                <a:sym typeface="Lato"/>
              </a:rPr>
              <a:t>scroll</a:t>
            </a:r>
            <a:r>
              <a:rPr lang="es-AR" sz="1600" dirty="0">
                <a:solidFill>
                  <a:srgbClr val="4A4A4A"/>
                </a:solidFill>
                <a:highlight>
                  <a:srgbClr val="FFFFFF"/>
                </a:highlight>
                <a:latin typeface="Lato"/>
                <a:ea typeface="Lato"/>
                <a:cs typeface="Lato"/>
                <a:sym typeface="Lato"/>
              </a:rPr>
              <a:t> la imagen de fondo se </a:t>
            </a:r>
            <a:r>
              <a:rPr lang="es-AR" sz="1600" dirty="0" err="1">
                <a:solidFill>
                  <a:srgbClr val="4A4A4A"/>
                </a:solidFill>
                <a:highlight>
                  <a:srgbClr val="FFFFFF"/>
                </a:highlight>
                <a:latin typeface="Lato"/>
                <a:ea typeface="Lato"/>
                <a:cs typeface="Lato"/>
                <a:sym typeface="Lato"/>
              </a:rPr>
              <a:t>scrollea</a:t>
            </a:r>
            <a:r>
              <a:rPr lang="es-AR" sz="1600" dirty="0">
                <a:solidFill>
                  <a:srgbClr val="4A4A4A"/>
                </a:solidFill>
                <a:highlight>
                  <a:srgbClr val="FFFFFF"/>
                </a:highlight>
                <a:latin typeface="Lato"/>
                <a:ea typeface="Lato"/>
                <a:cs typeface="Lato"/>
                <a:sym typeface="Lato"/>
              </a:rPr>
              <a:t> con el resto del documento.</a:t>
            </a: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scroll</a:t>
            </a:r>
            <a:r>
              <a:rPr lang="es-AR" sz="1600" dirty="0">
                <a:solidFill>
                  <a:srgbClr val="4A4A4A"/>
                </a:solidFill>
                <a:highlight>
                  <a:srgbClr val="FFFFFF"/>
                </a:highlight>
                <a:latin typeface="Lato"/>
                <a:ea typeface="Lato"/>
                <a:cs typeface="Lato"/>
                <a:sym typeface="Lato"/>
              </a:rPr>
              <a:t>: la imagen sube y baja según el usuario </a:t>
            </a:r>
            <a:r>
              <a:rPr lang="es-AR" sz="1600" dirty="0" err="1">
                <a:solidFill>
                  <a:srgbClr val="4A4A4A"/>
                </a:solidFill>
                <a:highlight>
                  <a:srgbClr val="FFFFFF"/>
                </a:highlight>
                <a:latin typeface="Lato"/>
                <a:ea typeface="Lato"/>
                <a:cs typeface="Lato"/>
                <a:sym typeface="Lato"/>
              </a:rPr>
              <a:t>scrolea</a:t>
            </a:r>
            <a:endParaRPr lang="es-AR" sz="1600" dirty="0">
              <a:solidFill>
                <a:schemeClr val="tx1"/>
              </a:solidFill>
              <a:highlight>
                <a:srgbClr val="FFFFFF"/>
              </a:highlight>
              <a:latin typeface="Lato"/>
              <a:ea typeface="Lato"/>
              <a:cs typeface="Lato"/>
              <a:sym typeface="Lato"/>
            </a:endParaRPr>
          </a:p>
        </p:txBody>
      </p:sp>
      <p:pic>
        <p:nvPicPr>
          <p:cNvPr id="5" name="Imagen 4">
            <a:extLst>
              <a:ext uri="{FF2B5EF4-FFF2-40B4-BE49-F238E27FC236}">
                <a16:creationId xmlns:a16="http://schemas.microsoft.com/office/drawing/2014/main" id="{F87CA1E7-CF24-0438-A858-57EEFE0B5E75}"/>
              </a:ext>
            </a:extLst>
          </p:cNvPr>
          <p:cNvPicPr>
            <a:picLocks noChangeAspect="1"/>
          </p:cNvPicPr>
          <p:nvPr/>
        </p:nvPicPr>
        <p:blipFill>
          <a:blip r:embed="rId3"/>
          <a:stretch>
            <a:fillRect/>
          </a:stretch>
        </p:blipFill>
        <p:spPr>
          <a:xfrm>
            <a:off x="5395848" y="1749713"/>
            <a:ext cx="3290952" cy="2198666"/>
          </a:xfrm>
          <a:prstGeom prst="rect">
            <a:avLst/>
          </a:prstGeom>
        </p:spPr>
      </p:pic>
    </p:spTree>
    <p:extLst>
      <p:ext uri="{BB962C8B-B14F-4D97-AF65-F5344CB8AC3E}">
        <p14:creationId xmlns:p14="http://schemas.microsoft.com/office/powerpoint/2010/main" val="1589577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1996" y="633278"/>
            <a:ext cx="8072439" cy="2492990"/>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Establecer todos los valores juntos:</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Por medio de la propiedad </a:t>
            </a:r>
            <a:r>
              <a:rPr lang="es-AR" sz="1600" b="1" dirty="0" err="1">
                <a:solidFill>
                  <a:schemeClr val="tx1"/>
                </a:solidFill>
                <a:highlight>
                  <a:srgbClr val="FFFFFF"/>
                </a:highlight>
                <a:latin typeface="Lato"/>
                <a:ea typeface="Lato"/>
                <a:cs typeface="Lato"/>
                <a:sym typeface="Lato"/>
              </a:rPr>
              <a:t>background</a:t>
            </a:r>
            <a:r>
              <a:rPr lang="es-AR" sz="1600" b="1" dirty="0">
                <a:solidFill>
                  <a:schemeClr val="tx1"/>
                </a:solidFill>
                <a:highlight>
                  <a:srgbClr val="FFFFFF"/>
                </a:highlight>
                <a:latin typeface="Lato"/>
                <a:ea typeface="Lato"/>
                <a:cs typeface="Lato"/>
                <a:sym typeface="Lato"/>
              </a:rPr>
              <a:t> </a:t>
            </a:r>
            <a:r>
              <a:rPr lang="es-AR" sz="1600" dirty="0">
                <a:solidFill>
                  <a:srgbClr val="4A4A4A"/>
                </a:solidFill>
                <a:highlight>
                  <a:srgbClr val="FFFFFF"/>
                </a:highlight>
                <a:latin typeface="Lato"/>
                <a:ea typeface="Lato"/>
                <a:cs typeface="Lato"/>
                <a:sym typeface="Lato"/>
              </a:rPr>
              <a:t>podemos establecer todos los valores en una sola propiedad respetando el siguiente orden:</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background</a:t>
            </a:r>
            <a:r>
              <a:rPr lang="es-AR" sz="1600" dirty="0">
                <a:solidFill>
                  <a:schemeClr val="tx1"/>
                </a:solidFill>
                <a:highlight>
                  <a:srgbClr val="FFFFFF"/>
                </a:highlight>
                <a:latin typeface="Lato"/>
                <a:ea typeface="Lato"/>
                <a:cs typeface="Lato"/>
                <a:sym typeface="Lato"/>
              </a:rPr>
              <a:t>-color</a:t>
            </a: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background-image</a:t>
            </a:r>
            <a:endParaRPr lang="es-AR" sz="1600"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background-repeat</a:t>
            </a:r>
            <a:endParaRPr lang="es-AR" sz="1600"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background-attachment</a:t>
            </a:r>
            <a:endParaRPr lang="es-AR" sz="1600"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err="1">
                <a:solidFill>
                  <a:schemeClr val="tx1"/>
                </a:solidFill>
                <a:highlight>
                  <a:srgbClr val="FFFFFF"/>
                </a:highlight>
                <a:latin typeface="Lato"/>
                <a:ea typeface="Lato"/>
                <a:cs typeface="Lato"/>
                <a:sym typeface="Lato"/>
              </a:rPr>
              <a:t>background</a:t>
            </a:r>
            <a:r>
              <a:rPr lang="es-AR" sz="1600" dirty="0">
                <a:solidFill>
                  <a:schemeClr val="tx1"/>
                </a:solidFill>
                <a:highlight>
                  <a:srgbClr val="FFFFFF"/>
                </a:highlight>
                <a:latin typeface="Lato"/>
                <a:ea typeface="Lato"/>
                <a:cs typeface="Lato"/>
                <a:sym typeface="Lato"/>
              </a:rPr>
              <a:t>-position</a:t>
            </a:r>
          </a:p>
        </p:txBody>
      </p:sp>
      <p:pic>
        <p:nvPicPr>
          <p:cNvPr id="3" name="Imagen 2">
            <a:extLst>
              <a:ext uri="{FF2B5EF4-FFF2-40B4-BE49-F238E27FC236}">
                <a16:creationId xmlns:a16="http://schemas.microsoft.com/office/drawing/2014/main" id="{E843E12D-9C54-0E1C-C70C-06450148BC91}"/>
              </a:ext>
            </a:extLst>
          </p:cNvPr>
          <p:cNvPicPr>
            <a:picLocks noChangeAspect="1"/>
          </p:cNvPicPr>
          <p:nvPr/>
        </p:nvPicPr>
        <p:blipFill>
          <a:blip r:embed="rId3"/>
          <a:stretch>
            <a:fillRect/>
          </a:stretch>
        </p:blipFill>
        <p:spPr>
          <a:xfrm>
            <a:off x="809100" y="3487806"/>
            <a:ext cx="7525800" cy="1105054"/>
          </a:xfrm>
          <a:prstGeom prst="rect">
            <a:avLst/>
          </a:prstGeom>
        </p:spPr>
      </p:pic>
    </p:spTree>
    <p:extLst>
      <p:ext uri="{BB962C8B-B14F-4D97-AF65-F5344CB8AC3E}">
        <p14:creationId xmlns:p14="http://schemas.microsoft.com/office/powerpoint/2010/main" val="366046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1996" y="633278"/>
            <a:ext cx="8072439" cy="2492990"/>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Color de fondo con gradiente</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Para establecer un degradado utilizamos la propiedad </a:t>
            </a:r>
            <a:r>
              <a:rPr lang="es-AR" sz="1600" b="1" dirty="0">
                <a:solidFill>
                  <a:schemeClr val="tx1"/>
                </a:solidFill>
                <a:highlight>
                  <a:srgbClr val="FFFFFF"/>
                </a:highlight>
                <a:latin typeface="Lato"/>
                <a:ea typeface="Lato"/>
                <a:cs typeface="Lato"/>
                <a:sym typeface="Lato"/>
              </a:rPr>
              <a:t>linear-</a:t>
            </a:r>
            <a:r>
              <a:rPr lang="es-AR" sz="1600" b="1" dirty="0" err="1">
                <a:solidFill>
                  <a:schemeClr val="tx1"/>
                </a:solidFill>
                <a:highlight>
                  <a:srgbClr val="FFFFFF"/>
                </a:highlight>
                <a:latin typeface="Lato"/>
                <a:ea typeface="Lato"/>
                <a:cs typeface="Lato"/>
                <a:sym typeface="Lato"/>
              </a:rPr>
              <a:t>gradient</a:t>
            </a:r>
            <a:endParaRPr lang="es-AR" sz="1600" b="1" dirty="0">
              <a:solidFill>
                <a:schemeClr val="tx1"/>
              </a:solidFill>
              <a:highlight>
                <a:srgbClr val="FFFFFF"/>
              </a:highlight>
              <a:latin typeface="Lato"/>
              <a:ea typeface="Lato"/>
              <a:cs typeface="Lato"/>
              <a:sym typeface="Lato"/>
            </a:endParaRP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Esta propiedad acepta los siguientes valores:</a:t>
            </a:r>
          </a:p>
          <a:p>
            <a:pPr lvl="0" rtl="0">
              <a:spcBef>
                <a:spcPts val="0"/>
              </a:spcBef>
              <a:spcAft>
                <a:spcPts val="0"/>
              </a:spcAft>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chemeClr val="tx1"/>
                </a:solidFill>
                <a:highlight>
                  <a:srgbClr val="FFFFFF"/>
                </a:highlight>
                <a:latin typeface="Lato"/>
                <a:ea typeface="Lato"/>
                <a:cs typeface="Lato"/>
                <a:sym typeface="Lato"/>
              </a:rPr>
              <a:t>Angulo</a:t>
            </a:r>
            <a:r>
              <a:rPr lang="es-AR" sz="1600" dirty="0">
                <a:solidFill>
                  <a:srgbClr val="4A4A4A"/>
                </a:solidFill>
                <a:highlight>
                  <a:srgbClr val="FFFFFF"/>
                </a:highlight>
                <a:latin typeface="Lato"/>
                <a:ea typeface="Lato"/>
                <a:cs typeface="Lato"/>
                <a:sym typeface="Lato"/>
              </a:rPr>
              <a:t>: Establece el </a:t>
            </a:r>
            <a:r>
              <a:rPr lang="es-AR" sz="1600" dirty="0" err="1">
                <a:solidFill>
                  <a:srgbClr val="4A4A4A"/>
                </a:solidFill>
                <a:highlight>
                  <a:srgbClr val="FFFFFF"/>
                </a:highlight>
                <a:latin typeface="Lato"/>
                <a:ea typeface="Lato"/>
                <a:cs typeface="Lato"/>
                <a:sym typeface="Lato"/>
              </a:rPr>
              <a:t>angulo</a:t>
            </a:r>
            <a:r>
              <a:rPr lang="es-AR" sz="1600" dirty="0">
                <a:solidFill>
                  <a:srgbClr val="4A4A4A"/>
                </a:solidFill>
                <a:highlight>
                  <a:srgbClr val="FFFFFF"/>
                </a:highlight>
                <a:latin typeface="Lato"/>
                <a:ea typeface="Lato"/>
                <a:cs typeface="Lato"/>
                <a:sym typeface="Lato"/>
              </a:rPr>
              <a:t> que queremos utilizar, ejemplo: 60deg</a:t>
            </a:r>
          </a:p>
          <a:p>
            <a:pPr marL="285750" lvl="0" indent="-285750" rtl="0">
              <a:spcBef>
                <a:spcPts val="0"/>
              </a:spcBef>
              <a:spcAft>
                <a:spcPts val="0"/>
              </a:spcAft>
              <a:buFont typeface="Arial" panose="020B0604020202020204" pitchFamily="34" charset="0"/>
              <a:buChar char="•"/>
            </a:pPr>
            <a:r>
              <a:rPr lang="es-AR" sz="1600" dirty="0">
                <a:solidFill>
                  <a:schemeClr val="tx1"/>
                </a:solidFill>
                <a:highlight>
                  <a:srgbClr val="FFFFFF"/>
                </a:highlight>
                <a:latin typeface="Lato"/>
                <a:ea typeface="Lato"/>
                <a:cs typeface="Lato"/>
                <a:sym typeface="Lato"/>
              </a:rPr>
              <a:t>Primer color</a:t>
            </a:r>
            <a:r>
              <a:rPr lang="es-AR" sz="1600" dirty="0">
                <a:solidFill>
                  <a:srgbClr val="4A4A4A"/>
                </a:solidFill>
                <a:highlight>
                  <a:srgbClr val="FFFFFF"/>
                </a:highlight>
                <a:latin typeface="Lato"/>
                <a:ea typeface="Lato"/>
                <a:cs typeface="Lato"/>
                <a:sym typeface="Lato"/>
              </a:rPr>
              <a:t>: Establece cual va a ser el primer color, ejemplo: blue,</a:t>
            </a:r>
          </a:p>
          <a:p>
            <a:pPr marL="285750" lvl="0" indent="-285750" rtl="0">
              <a:spcBef>
                <a:spcPts val="0"/>
              </a:spcBef>
              <a:spcAft>
                <a:spcPts val="0"/>
              </a:spcAft>
              <a:buFont typeface="Arial" panose="020B0604020202020204" pitchFamily="34" charset="0"/>
              <a:buChar char="•"/>
            </a:pPr>
            <a:r>
              <a:rPr lang="es-AR" sz="1600" dirty="0">
                <a:solidFill>
                  <a:schemeClr val="tx1"/>
                </a:solidFill>
                <a:highlight>
                  <a:srgbClr val="FFFFFF"/>
                </a:highlight>
                <a:latin typeface="Lato"/>
                <a:ea typeface="Lato"/>
                <a:cs typeface="Lato"/>
                <a:sym typeface="Lato"/>
              </a:rPr>
              <a:t>Segundo color</a:t>
            </a:r>
            <a:r>
              <a:rPr lang="es-AR" sz="1600" dirty="0">
                <a:solidFill>
                  <a:srgbClr val="4A4A4A"/>
                </a:solidFill>
                <a:highlight>
                  <a:srgbClr val="FFFFFF"/>
                </a:highlight>
                <a:latin typeface="Lato"/>
                <a:ea typeface="Lato"/>
                <a:cs typeface="Lato"/>
                <a:sym typeface="Lato"/>
              </a:rPr>
              <a:t>: Establece cual va a ser el segundo color, ejemplo: </a:t>
            </a:r>
            <a:r>
              <a:rPr lang="es-AR" sz="1600" dirty="0" err="1">
                <a:solidFill>
                  <a:srgbClr val="4A4A4A"/>
                </a:solidFill>
                <a:highlight>
                  <a:srgbClr val="FFFFFF"/>
                </a:highlight>
                <a:latin typeface="Lato"/>
                <a:ea typeface="Lato"/>
                <a:cs typeface="Lato"/>
                <a:sym typeface="Lato"/>
              </a:rPr>
              <a:t>green</a:t>
            </a:r>
            <a:endParaRPr lang="es-AR" sz="1600" dirty="0">
              <a:solidFill>
                <a:schemeClr val="tx1"/>
              </a:solidFill>
              <a:highlight>
                <a:srgbClr val="FFFFFF"/>
              </a:highlight>
              <a:latin typeface="Lato"/>
              <a:ea typeface="Lato"/>
              <a:cs typeface="Lato"/>
              <a:sym typeface="Lato"/>
            </a:endParaRPr>
          </a:p>
        </p:txBody>
      </p:sp>
      <p:pic>
        <p:nvPicPr>
          <p:cNvPr id="5" name="Imagen 4">
            <a:extLst>
              <a:ext uri="{FF2B5EF4-FFF2-40B4-BE49-F238E27FC236}">
                <a16:creationId xmlns:a16="http://schemas.microsoft.com/office/drawing/2014/main" id="{7A3BAB46-0CCB-3720-FC2D-94022B4341E7}"/>
              </a:ext>
            </a:extLst>
          </p:cNvPr>
          <p:cNvPicPr>
            <a:picLocks noChangeAspect="1"/>
          </p:cNvPicPr>
          <p:nvPr/>
        </p:nvPicPr>
        <p:blipFill>
          <a:blip r:embed="rId3"/>
          <a:stretch>
            <a:fillRect/>
          </a:stretch>
        </p:blipFill>
        <p:spPr>
          <a:xfrm>
            <a:off x="1331743" y="3333374"/>
            <a:ext cx="6563641" cy="1238423"/>
          </a:xfrm>
          <a:prstGeom prst="rect">
            <a:avLst/>
          </a:prstGeom>
        </p:spPr>
      </p:pic>
    </p:spTree>
    <p:extLst>
      <p:ext uri="{BB962C8B-B14F-4D97-AF65-F5344CB8AC3E}">
        <p14:creationId xmlns:p14="http://schemas.microsoft.com/office/powerpoint/2010/main" val="1945500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10" name="Imagen 9">
            <a:extLst>
              <a:ext uri="{FF2B5EF4-FFF2-40B4-BE49-F238E27FC236}">
                <a16:creationId xmlns:a16="http://schemas.microsoft.com/office/drawing/2014/main" id="{437777EF-90F3-E966-8050-96D4E3F5B69A}"/>
              </a:ext>
            </a:extLst>
          </p:cNvPr>
          <p:cNvPicPr>
            <a:picLocks noChangeAspect="1"/>
          </p:cNvPicPr>
          <p:nvPr/>
        </p:nvPicPr>
        <p:blipFill>
          <a:blip r:embed="rId3"/>
          <a:stretch>
            <a:fillRect/>
          </a:stretch>
        </p:blipFill>
        <p:spPr>
          <a:xfrm>
            <a:off x="0" y="0"/>
            <a:ext cx="9144000" cy="5143500"/>
          </a:xfrm>
          <a:prstGeom prst="rect">
            <a:avLst/>
          </a:prstGeom>
        </p:spPr>
      </p:pic>
      <p:sp>
        <p:nvSpPr>
          <p:cNvPr id="11" name="Google Shape;71;p15"/>
          <p:cNvSpPr txBox="1">
            <a:spLocks/>
          </p:cNvSpPr>
          <p:nvPr/>
        </p:nvSpPr>
        <p:spPr>
          <a:xfrm>
            <a:off x="1731818" y="1902691"/>
            <a:ext cx="6105236" cy="12167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AR" sz="6000" dirty="0">
                <a:solidFill>
                  <a:schemeClr val="tx1"/>
                </a:solidFill>
                <a:latin typeface="Russo One"/>
                <a:ea typeface="Russo One"/>
                <a:cs typeface="Russo One"/>
                <a:sym typeface="Russo One"/>
              </a:rPr>
              <a:t>Modelo de caja - MDN</a:t>
            </a:r>
          </a:p>
        </p:txBody>
      </p:sp>
    </p:spTree>
    <p:extLst>
      <p:ext uri="{BB962C8B-B14F-4D97-AF65-F5344CB8AC3E}">
        <p14:creationId xmlns:p14="http://schemas.microsoft.com/office/powerpoint/2010/main" val="3609074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35780" y="947315"/>
            <a:ext cx="8072439" cy="3416320"/>
          </a:xfrm>
          <a:prstGeom prst="rect">
            <a:avLst/>
          </a:prstGeom>
          <a:noFill/>
        </p:spPr>
        <p:txBody>
          <a:bodyPr wrap="square">
            <a:spAutoFit/>
          </a:bodyPr>
          <a:lstStyle/>
          <a:p>
            <a:r>
              <a:rPr lang="es-AR" sz="3600" dirty="0">
                <a:solidFill>
                  <a:srgbClr val="BE3969"/>
                </a:solidFill>
                <a:highlight>
                  <a:srgbClr val="FFFFFF"/>
                </a:highlight>
                <a:latin typeface="Russo One"/>
                <a:ea typeface="Lato"/>
                <a:cs typeface="Lato"/>
                <a:sym typeface="Russo One"/>
              </a:rPr>
              <a:t>El modelo de caja</a:t>
            </a:r>
          </a:p>
          <a:p>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Todo en CSS tiene una caja alrededor, y comprender estas cajas es clave para poder crear diseños con CSS o para alinear elementos con otros elementos. </a:t>
            </a:r>
          </a:p>
          <a:p>
            <a:pPr marL="285750" lvl="0" indent="-285750" rtl="0">
              <a:spcBef>
                <a:spcPts val="0"/>
              </a:spcBef>
              <a:spcAft>
                <a:spcPts val="0"/>
              </a:spcAft>
              <a:buFont typeface="Arial" panose="020B0604020202020204" pitchFamily="34" charset="0"/>
              <a:buChar char="•"/>
            </a:pPr>
            <a:endParaRPr lang="es-AR" sz="20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En esta parte de la clase, echaremos un vistazo más de cerca al modelo de cajas en CSS con el que vas a poder crear diseños de compaginación más complejos con una comprensión de cómo funciona y la terminología relacionada.</a:t>
            </a:r>
            <a:endParaRPr lang="es-AR" sz="2000" dirty="0">
              <a:solidFill>
                <a:schemeClr val="tx1"/>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4071274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35780" y="947315"/>
            <a:ext cx="8072439" cy="3724096"/>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Cajas en bloque y en línea</a:t>
            </a:r>
          </a:p>
          <a:p>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En CSS, en general, hay dos tipos de cajas: </a:t>
            </a:r>
            <a:r>
              <a:rPr lang="es-AR" sz="1600" dirty="0">
                <a:solidFill>
                  <a:schemeClr val="tx1"/>
                </a:solidFill>
                <a:highlight>
                  <a:srgbClr val="FFFFFF"/>
                </a:highlight>
                <a:latin typeface="Lato"/>
                <a:ea typeface="Lato"/>
                <a:cs typeface="Lato"/>
                <a:sym typeface="Lato"/>
              </a:rPr>
              <a:t>cajas en bloque </a:t>
            </a:r>
            <a:r>
              <a:rPr lang="es-AR" sz="1600" dirty="0">
                <a:solidFill>
                  <a:srgbClr val="4A4A4A"/>
                </a:solidFill>
                <a:highlight>
                  <a:srgbClr val="FFFFFF"/>
                </a:highlight>
                <a:latin typeface="Lato"/>
                <a:ea typeface="Lato"/>
                <a:cs typeface="Lato"/>
                <a:sym typeface="Lato"/>
              </a:rPr>
              <a:t>y </a:t>
            </a:r>
            <a:r>
              <a:rPr lang="es-AR" sz="1600" dirty="0">
                <a:solidFill>
                  <a:schemeClr val="tx1"/>
                </a:solidFill>
                <a:highlight>
                  <a:srgbClr val="FFFFFF"/>
                </a:highlight>
                <a:latin typeface="Lato"/>
                <a:ea typeface="Lato"/>
                <a:cs typeface="Lato"/>
                <a:sym typeface="Lato"/>
              </a:rPr>
              <a:t>cajas en línea</a:t>
            </a:r>
            <a:r>
              <a:rPr lang="es-AR" sz="1600" dirty="0">
                <a:solidFill>
                  <a:srgbClr val="4A4A4A"/>
                </a:solidFill>
                <a:highlight>
                  <a:srgbClr val="FFFFFF"/>
                </a:highlight>
                <a:latin typeface="Lato"/>
                <a:ea typeface="Lato"/>
                <a:cs typeface="Lato"/>
                <a:sym typeface="Lato"/>
              </a:rPr>
              <a:t>. </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Estas características se refieren al modo como se comporta la caja en términos de flujo de página y en relación con otras cajas de la página:</a:t>
            </a: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600" dirty="0">
                <a:solidFill>
                  <a:srgbClr val="4A4A4A"/>
                </a:solidFill>
                <a:highlight>
                  <a:srgbClr val="FFFFFF"/>
                </a:highlight>
                <a:latin typeface="Lato"/>
                <a:ea typeface="Lato"/>
                <a:cs typeface="Lato"/>
                <a:sym typeface="Lato"/>
              </a:rPr>
              <a:t>Si una caja se define como un bloque, se comportará de las maneras siguientes:</a:t>
            </a: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La caja fuerza un salto de línea al llegar al final de la línea.</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La caja se extenderá en la dirección de la línea para llenar todo el espacio disponible que haya en su contenedor. En la mayoría de los casos, esto significa que la caja será tan ancha como su contenedor, y llenará el 100% del espacio disponible.</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Se respetan las propiedades </a:t>
            </a:r>
            <a:r>
              <a:rPr lang="es-AR" sz="1600" dirty="0" err="1">
                <a:solidFill>
                  <a:srgbClr val="4A4A4A"/>
                </a:solidFill>
                <a:highlight>
                  <a:srgbClr val="FFFFFF"/>
                </a:highlight>
                <a:latin typeface="Lato"/>
                <a:ea typeface="Lato"/>
                <a:cs typeface="Lato"/>
                <a:sym typeface="Lato"/>
              </a:rPr>
              <a:t>width</a:t>
            </a:r>
            <a:r>
              <a:rPr lang="es-AR" sz="1600" dirty="0">
                <a:solidFill>
                  <a:srgbClr val="4A4A4A"/>
                </a:solidFill>
                <a:highlight>
                  <a:srgbClr val="FFFFFF"/>
                </a:highlight>
                <a:latin typeface="Lato"/>
                <a:ea typeface="Lato"/>
                <a:cs typeface="Lato"/>
                <a:sym typeface="Lato"/>
              </a:rPr>
              <a:t> y </a:t>
            </a:r>
            <a:r>
              <a:rPr lang="es-AR" sz="1600" dirty="0" err="1">
                <a:solidFill>
                  <a:srgbClr val="4A4A4A"/>
                </a:solidFill>
                <a:highlight>
                  <a:srgbClr val="FFFFFF"/>
                </a:highlight>
                <a:latin typeface="Lato"/>
                <a:ea typeface="Lato"/>
                <a:cs typeface="Lato"/>
                <a:sym typeface="Lato"/>
              </a:rPr>
              <a:t>height</a:t>
            </a:r>
            <a:r>
              <a:rPr lang="es-AR" sz="1600" dirty="0">
                <a:solidFill>
                  <a:srgbClr val="4A4A4A"/>
                </a:solidFill>
                <a:highlight>
                  <a:srgbClr val="FFFFFF"/>
                </a:highlight>
                <a:latin typeface="Lato"/>
                <a:ea typeface="Lato"/>
                <a:cs typeface="Lato"/>
                <a:sym typeface="Lato"/>
              </a:rPr>
              <a:t>.</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El relleno, el margen y el borde mantienen a los otros elementos alejados de la caja.</a:t>
            </a:r>
            <a:endParaRPr lang="es-AR" sz="1600" dirty="0">
              <a:solidFill>
                <a:schemeClr val="tx1"/>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39526312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35780" y="688697"/>
            <a:ext cx="8072439" cy="4124206"/>
          </a:xfrm>
          <a:prstGeom prst="rect">
            <a:avLst/>
          </a:prstGeom>
          <a:noFill/>
        </p:spPr>
        <p:txBody>
          <a:bodyPr wrap="square">
            <a:spAutoFit/>
          </a:bodyPr>
          <a:lstStyle/>
          <a:p>
            <a:r>
              <a:rPr lang="es-AR" sz="2400" dirty="0">
                <a:solidFill>
                  <a:srgbClr val="BE3969"/>
                </a:solidFill>
                <a:highlight>
                  <a:srgbClr val="FFFFFF"/>
                </a:highlight>
                <a:latin typeface="Russo One"/>
                <a:ea typeface="Lato"/>
                <a:cs typeface="Lato"/>
                <a:sym typeface="Russo One"/>
              </a:rPr>
              <a:t>Cajas en bloque y en línea</a:t>
            </a:r>
          </a:p>
          <a:p>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A menos que decidamos cambiar el tipo de visualización a en línea, elementos como los encabezados (por ejemplo, &lt;h1&gt;) y todos los elementos &lt;p&gt; usan por defecto block como tipo de visualización externa.</a:t>
            </a: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Si una caja tiene una visualización externa de tipo </a:t>
            </a:r>
            <a:r>
              <a:rPr lang="es-AR" dirty="0" err="1">
                <a:solidFill>
                  <a:srgbClr val="4A4A4A"/>
                </a:solidFill>
                <a:highlight>
                  <a:srgbClr val="FFFFFF"/>
                </a:highlight>
                <a:latin typeface="Lato"/>
                <a:ea typeface="Lato"/>
                <a:cs typeface="Lato"/>
                <a:sym typeface="Lato"/>
              </a:rPr>
              <a:t>inline</a:t>
            </a:r>
            <a:r>
              <a:rPr lang="es-AR" dirty="0">
                <a:solidFill>
                  <a:srgbClr val="4A4A4A"/>
                </a:solidFill>
                <a:highlight>
                  <a:srgbClr val="FFFFFF"/>
                </a:highlight>
                <a:latin typeface="Lato"/>
                <a:ea typeface="Lato"/>
                <a:cs typeface="Lato"/>
                <a:sym typeface="Lato"/>
              </a:rPr>
              <a:t>, entonces:</a:t>
            </a: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La caja no fuerza ningún salto de línea al llegar al final de la línea.</a:t>
            </a: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Las propiedades </a:t>
            </a:r>
            <a:r>
              <a:rPr lang="es-AR" dirty="0" err="1">
                <a:solidFill>
                  <a:srgbClr val="4A4A4A"/>
                </a:solidFill>
                <a:highlight>
                  <a:srgbClr val="FFFFFF"/>
                </a:highlight>
                <a:latin typeface="Lato"/>
                <a:ea typeface="Lato"/>
                <a:cs typeface="Lato"/>
                <a:sym typeface="Lato"/>
              </a:rPr>
              <a:t>width</a:t>
            </a:r>
            <a:r>
              <a:rPr lang="es-AR" dirty="0">
                <a:solidFill>
                  <a:srgbClr val="4A4A4A"/>
                </a:solidFill>
                <a:highlight>
                  <a:srgbClr val="FFFFFF"/>
                </a:highlight>
                <a:latin typeface="Lato"/>
                <a:ea typeface="Lato"/>
                <a:cs typeface="Lato"/>
                <a:sym typeface="Lato"/>
              </a:rPr>
              <a:t> y </a:t>
            </a:r>
            <a:r>
              <a:rPr lang="es-AR" dirty="0" err="1">
                <a:solidFill>
                  <a:srgbClr val="4A4A4A"/>
                </a:solidFill>
                <a:highlight>
                  <a:srgbClr val="FFFFFF"/>
                </a:highlight>
                <a:latin typeface="Lato"/>
                <a:ea typeface="Lato"/>
                <a:cs typeface="Lato"/>
                <a:sym typeface="Lato"/>
              </a:rPr>
              <a:t>height</a:t>
            </a:r>
            <a:r>
              <a:rPr lang="es-AR" dirty="0">
                <a:solidFill>
                  <a:srgbClr val="4A4A4A"/>
                </a:solidFill>
                <a:highlight>
                  <a:srgbClr val="FFFFFF"/>
                </a:highlight>
                <a:latin typeface="Lato"/>
                <a:ea typeface="Lato"/>
                <a:cs typeface="Lato"/>
                <a:sym typeface="Lato"/>
              </a:rPr>
              <a:t> no se aplican.</a:t>
            </a: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Se aplican relleno, margen y bordes verticales, pero no mantienen alejadas otras cajas en línea.</a:t>
            </a: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Se aplican relleno, margen y bordes horizontales, y mantienen alejadas otras cajas en línea.</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El elemento &lt;a&gt;, que se utiliza para los enlaces, y los elementos &lt;</a:t>
            </a:r>
            <a:r>
              <a:rPr lang="es-AR" dirty="0" err="1">
                <a:solidFill>
                  <a:srgbClr val="4A4A4A"/>
                </a:solidFill>
                <a:highlight>
                  <a:srgbClr val="FFFFFF"/>
                </a:highlight>
                <a:latin typeface="Lato"/>
                <a:ea typeface="Lato"/>
                <a:cs typeface="Lato"/>
                <a:sym typeface="Lato"/>
              </a:rPr>
              <a:t>span</a:t>
            </a:r>
            <a:r>
              <a:rPr lang="es-AR" dirty="0">
                <a:solidFill>
                  <a:srgbClr val="4A4A4A"/>
                </a:solidFill>
                <a:highlight>
                  <a:srgbClr val="FFFFFF"/>
                </a:highlight>
                <a:latin typeface="Lato"/>
                <a:ea typeface="Lato"/>
                <a:cs typeface="Lato"/>
                <a:sym typeface="Lato"/>
              </a:rPr>
              <a:t>&gt;, &lt;em&gt; y &lt;</a:t>
            </a:r>
            <a:r>
              <a:rPr lang="es-AR" dirty="0" err="1">
                <a:solidFill>
                  <a:srgbClr val="4A4A4A"/>
                </a:solidFill>
                <a:highlight>
                  <a:srgbClr val="FFFFFF"/>
                </a:highlight>
                <a:latin typeface="Lato"/>
                <a:ea typeface="Lato"/>
                <a:cs typeface="Lato"/>
                <a:sym typeface="Lato"/>
              </a:rPr>
              <a:t>strong</a:t>
            </a:r>
            <a:r>
              <a:rPr lang="es-AR" dirty="0">
                <a:solidFill>
                  <a:srgbClr val="4A4A4A"/>
                </a:solidFill>
                <a:highlight>
                  <a:srgbClr val="FFFFFF"/>
                </a:highlight>
                <a:latin typeface="Lato"/>
                <a:ea typeface="Lato"/>
                <a:cs typeface="Lato"/>
                <a:sym typeface="Lato"/>
              </a:rPr>
              <a:t>&gt; son ejemplos de elementos que se muestran en línea por defecto.</a:t>
            </a: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El tipo de caja que se aplica a un elemento está definido por los valores de propiedad </a:t>
            </a:r>
            <a:r>
              <a:rPr lang="es-AR" dirty="0" err="1">
                <a:solidFill>
                  <a:srgbClr val="4A4A4A"/>
                </a:solidFill>
                <a:highlight>
                  <a:srgbClr val="FFFFFF"/>
                </a:highlight>
                <a:latin typeface="Lato"/>
                <a:ea typeface="Lato"/>
                <a:cs typeface="Lato"/>
                <a:sym typeface="Lato"/>
              </a:rPr>
              <a:t>display</a:t>
            </a:r>
            <a:r>
              <a:rPr lang="es-AR" dirty="0">
                <a:solidFill>
                  <a:srgbClr val="4A4A4A"/>
                </a:solidFill>
                <a:highlight>
                  <a:srgbClr val="FFFFFF"/>
                </a:highlight>
                <a:latin typeface="Lato"/>
                <a:ea typeface="Lato"/>
                <a:cs typeface="Lato"/>
                <a:sym typeface="Lato"/>
              </a:rPr>
              <a:t>, como block y </a:t>
            </a:r>
            <a:r>
              <a:rPr lang="es-AR" dirty="0" err="1">
                <a:solidFill>
                  <a:srgbClr val="4A4A4A"/>
                </a:solidFill>
                <a:highlight>
                  <a:srgbClr val="FFFFFF"/>
                </a:highlight>
                <a:latin typeface="Lato"/>
                <a:ea typeface="Lato"/>
                <a:cs typeface="Lato"/>
                <a:sym typeface="Lato"/>
              </a:rPr>
              <a:t>inline</a:t>
            </a:r>
            <a:r>
              <a:rPr lang="es-AR" dirty="0">
                <a:solidFill>
                  <a:srgbClr val="4A4A4A"/>
                </a:solidFill>
                <a:highlight>
                  <a:srgbClr val="FFFFFF"/>
                </a:highlight>
                <a:latin typeface="Lato"/>
                <a:ea typeface="Lato"/>
                <a:cs typeface="Lato"/>
                <a:sym typeface="Lato"/>
              </a:rPr>
              <a:t>, y se relaciona con el valor externo (</a:t>
            </a:r>
            <a:r>
              <a:rPr lang="es-AR" dirty="0" err="1">
                <a:solidFill>
                  <a:srgbClr val="4A4A4A"/>
                </a:solidFill>
                <a:highlight>
                  <a:srgbClr val="FFFFFF"/>
                </a:highlight>
                <a:latin typeface="Lato"/>
                <a:ea typeface="Lato"/>
                <a:cs typeface="Lato"/>
                <a:sym typeface="Lato"/>
              </a:rPr>
              <a:t>outer</a:t>
            </a:r>
            <a:r>
              <a:rPr lang="es-AR" dirty="0">
                <a:solidFill>
                  <a:srgbClr val="4A4A4A"/>
                </a:solidFill>
                <a:highlight>
                  <a:srgbClr val="FFFFFF"/>
                </a:highlight>
                <a:latin typeface="Lato"/>
                <a:ea typeface="Lato"/>
                <a:cs typeface="Lato"/>
                <a:sym typeface="Lato"/>
              </a:rPr>
              <a:t>) de visualización (</a:t>
            </a:r>
            <a:r>
              <a:rPr lang="es-AR" dirty="0" err="1">
                <a:solidFill>
                  <a:srgbClr val="4A4A4A"/>
                </a:solidFill>
                <a:highlight>
                  <a:srgbClr val="FFFFFF"/>
                </a:highlight>
                <a:latin typeface="Lato"/>
                <a:ea typeface="Lato"/>
                <a:cs typeface="Lato"/>
                <a:sym typeface="Lato"/>
              </a:rPr>
              <a:t>display</a:t>
            </a:r>
            <a:r>
              <a:rPr lang="es-AR" dirty="0">
                <a:solidFill>
                  <a:srgbClr val="4A4A4A"/>
                </a:solidFill>
                <a:highlight>
                  <a:srgbClr val="FFFFFF"/>
                </a:highlight>
                <a:latin typeface="Lato"/>
                <a:ea typeface="Lato"/>
                <a:cs typeface="Lato"/>
                <a:sym typeface="Lato"/>
              </a:rPr>
              <a:t>).</a:t>
            </a:r>
            <a:endParaRPr lang="es-AR" dirty="0">
              <a:solidFill>
                <a:schemeClr val="tx1"/>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39945253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35780" y="688697"/>
            <a:ext cx="8072439" cy="4124206"/>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Aparte: tipos de visualización interna y externa</a:t>
            </a:r>
          </a:p>
          <a:p>
            <a:endParaRPr lang="es-AR" sz="1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800" dirty="0">
                <a:solidFill>
                  <a:srgbClr val="4A4A4A"/>
                </a:solidFill>
                <a:highlight>
                  <a:srgbClr val="FFFFFF"/>
                </a:highlight>
                <a:latin typeface="Lato"/>
                <a:ea typeface="Lato"/>
                <a:cs typeface="Lato"/>
                <a:sym typeface="Lato"/>
              </a:rPr>
              <a:t>En este punto, será mejor que también expliquemos los tipos de visualización interna y externa. Como se mencionó anteriormente, las cajas en CSS tienen </a:t>
            </a:r>
            <a:r>
              <a:rPr lang="es-AR" sz="1800" dirty="0">
                <a:solidFill>
                  <a:schemeClr val="tx1"/>
                </a:solidFill>
                <a:highlight>
                  <a:srgbClr val="FFFFFF"/>
                </a:highlight>
                <a:latin typeface="Lato"/>
                <a:ea typeface="Lato"/>
                <a:cs typeface="Lato"/>
                <a:sym typeface="Lato"/>
              </a:rPr>
              <a:t>un tipo de visualización externa, que define si se trata de una caja en bloque o en línea.</a:t>
            </a:r>
          </a:p>
          <a:p>
            <a:pPr lvl="0" rtl="0">
              <a:spcBef>
                <a:spcPts val="0"/>
              </a:spcBef>
              <a:spcAft>
                <a:spcPts val="0"/>
              </a:spcAft>
            </a:pPr>
            <a:endParaRPr lang="es-AR" sz="18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800" dirty="0">
                <a:solidFill>
                  <a:srgbClr val="4A4A4A"/>
                </a:solidFill>
                <a:highlight>
                  <a:srgbClr val="FFFFFF"/>
                </a:highlight>
                <a:latin typeface="Lato"/>
                <a:ea typeface="Lato"/>
                <a:cs typeface="Lato"/>
                <a:sym typeface="Lato"/>
              </a:rPr>
              <a:t>Sin embargo, las cajas también tienen un tipo de visualización interna, que determina cómo se disponen los elementos dentro de esa caja. De forma predeterminada, los elementos dentro de una caja se presentan en flujo normal, lo que significa que se comportan como otros elementos de tipo en bloque o en línea (como se explicó anteriormente).</a:t>
            </a:r>
            <a:endParaRPr lang="es-AR" sz="1800" dirty="0">
              <a:solidFill>
                <a:schemeClr val="tx1"/>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26970273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35780" y="1030442"/>
            <a:ext cx="8072439" cy="3477875"/>
          </a:xfrm>
          <a:prstGeom prst="rect">
            <a:avLst/>
          </a:prstGeom>
          <a:noFill/>
        </p:spPr>
        <p:txBody>
          <a:bodyPr wrap="square">
            <a:spAutoFit/>
          </a:bodyPr>
          <a:lstStyle/>
          <a:p>
            <a:r>
              <a:rPr lang="es-AR" sz="2400" dirty="0">
                <a:solidFill>
                  <a:srgbClr val="BE3969"/>
                </a:solidFill>
                <a:highlight>
                  <a:srgbClr val="FFFFFF"/>
                </a:highlight>
                <a:latin typeface="Russo One"/>
                <a:ea typeface="Lato"/>
                <a:cs typeface="Lato"/>
                <a:sym typeface="Russo One"/>
              </a:rPr>
              <a:t>Aparte: tipos de visualización interna y externa</a:t>
            </a:r>
          </a:p>
          <a:p>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Sin embargo, podemos cambiar el tipo de visualización interna utilizando valores de </a:t>
            </a:r>
            <a:r>
              <a:rPr lang="es-AR" dirty="0" err="1">
                <a:solidFill>
                  <a:srgbClr val="4A4A4A"/>
                </a:solidFill>
                <a:highlight>
                  <a:srgbClr val="FFFFFF"/>
                </a:highlight>
                <a:latin typeface="Lato"/>
                <a:ea typeface="Lato"/>
                <a:cs typeface="Lato"/>
                <a:sym typeface="Lato"/>
              </a:rPr>
              <a:t>display</a:t>
            </a:r>
            <a:r>
              <a:rPr lang="es-AR" dirty="0">
                <a:solidFill>
                  <a:srgbClr val="4A4A4A"/>
                </a:solidFill>
                <a:highlight>
                  <a:srgbClr val="FFFFFF"/>
                </a:highlight>
                <a:latin typeface="Lato"/>
                <a:ea typeface="Lato"/>
                <a:cs typeface="Lato"/>
                <a:sym typeface="Lato"/>
              </a:rPr>
              <a:t>, como </a:t>
            </a:r>
            <a:r>
              <a:rPr lang="es-AR" dirty="0" err="1">
                <a:solidFill>
                  <a:srgbClr val="4A4A4A"/>
                </a:solidFill>
                <a:highlight>
                  <a:srgbClr val="FFFFFF"/>
                </a:highlight>
                <a:latin typeface="Lato"/>
                <a:ea typeface="Lato"/>
                <a:cs typeface="Lato"/>
                <a:sym typeface="Lato"/>
              </a:rPr>
              <a:t>flex</a:t>
            </a:r>
            <a:r>
              <a:rPr lang="es-AR" dirty="0">
                <a:solidFill>
                  <a:srgbClr val="4A4A4A"/>
                </a:solidFill>
                <a:highlight>
                  <a:srgbClr val="FFFFFF"/>
                </a:highlight>
                <a:latin typeface="Lato"/>
                <a:ea typeface="Lato"/>
                <a:cs typeface="Lato"/>
                <a:sym typeface="Lato"/>
              </a:rPr>
              <a:t>. Si en un elemento establecemos </a:t>
            </a:r>
            <a:r>
              <a:rPr lang="es-AR" dirty="0" err="1">
                <a:solidFill>
                  <a:srgbClr val="4A4A4A"/>
                </a:solidFill>
                <a:highlight>
                  <a:srgbClr val="FFFFFF"/>
                </a:highlight>
                <a:latin typeface="Lato"/>
                <a:ea typeface="Lato"/>
                <a:cs typeface="Lato"/>
                <a:sym typeface="Lato"/>
              </a:rPr>
              <a:t>display</a:t>
            </a:r>
            <a:r>
              <a:rPr lang="es-AR" dirty="0">
                <a:solidFill>
                  <a:srgbClr val="4A4A4A"/>
                </a:solidFill>
                <a:highlight>
                  <a:srgbClr val="FFFFFF"/>
                </a:highlight>
                <a:latin typeface="Lato"/>
                <a:ea typeface="Lato"/>
                <a:cs typeface="Lato"/>
                <a:sym typeface="Lato"/>
              </a:rPr>
              <a:t>: </a:t>
            </a:r>
            <a:r>
              <a:rPr lang="es-AR" dirty="0" err="1">
                <a:solidFill>
                  <a:srgbClr val="4A4A4A"/>
                </a:solidFill>
                <a:highlight>
                  <a:srgbClr val="FFFFFF"/>
                </a:highlight>
                <a:latin typeface="Lato"/>
                <a:ea typeface="Lato"/>
                <a:cs typeface="Lato"/>
                <a:sym typeface="Lato"/>
              </a:rPr>
              <a:t>flex</a:t>
            </a:r>
            <a:r>
              <a:rPr lang="es-AR" dirty="0">
                <a:solidFill>
                  <a:srgbClr val="4A4A4A"/>
                </a:solidFill>
                <a:highlight>
                  <a:srgbClr val="FFFFFF"/>
                </a:highlight>
                <a:latin typeface="Lato"/>
                <a:ea typeface="Lato"/>
                <a:cs typeface="Lato"/>
                <a:sym typeface="Lato"/>
              </a:rPr>
              <a:t>;, el tipo de visualización externa es de tipo bloque (block), pero el tipo de visualización interna cambia a flexible (</a:t>
            </a:r>
            <a:r>
              <a:rPr lang="es-AR" dirty="0" err="1">
                <a:solidFill>
                  <a:srgbClr val="4A4A4A"/>
                </a:solidFill>
                <a:highlight>
                  <a:srgbClr val="FFFFFF"/>
                </a:highlight>
                <a:latin typeface="Lato"/>
                <a:ea typeface="Lato"/>
                <a:cs typeface="Lato"/>
                <a:sym typeface="Lato"/>
              </a:rPr>
              <a:t>flex</a:t>
            </a:r>
            <a:r>
              <a:rPr lang="es-AR" dirty="0">
                <a:solidFill>
                  <a:srgbClr val="4A4A4A"/>
                </a:solidFill>
                <a:highlight>
                  <a:srgbClr val="FFFFFF"/>
                </a:highlight>
                <a:latin typeface="Lato"/>
                <a:ea typeface="Lato"/>
                <a:cs typeface="Lato"/>
                <a:sym typeface="Lato"/>
              </a:rPr>
              <a:t>). Cualquier elemento que sea hijo directo de esta caja pasará a comportarse como un elemento de tipo </a:t>
            </a:r>
            <a:r>
              <a:rPr lang="es-AR" dirty="0" err="1">
                <a:solidFill>
                  <a:srgbClr val="4A4A4A"/>
                </a:solidFill>
                <a:highlight>
                  <a:srgbClr val="FFFFFF"/>
                </a:highlight>
                <a:latin typeface="Lato"/>
                <a:ea typeface="Lato"/>
                <a:cs typeface="Lato"/>
                <a:sym typeface="Lato"/>
              </a:rPr>
              <a:t>flex</a:t>
            </a:r>
            <a:r>
              <a:rPr lang="es-AR" dirty="0">
                <a:solidFill>
                  <a:srgbClr val="4A4A4A"/>
                </a:solidFill>
                <a:highlight>
                  <a:srgbClr val="FFFFFF"/>
                </a:highlight>
                <a:latin typeface="Lato"/>
                <a:ea typeface="Lato"/>
                <a:cs typeface="Lato"/>
                <a:sym typeface="Lato"/>
              </a:rPr>
              <a:t>, de acuerdo con las reglas que se establecen en la especificación de </a:t>
            </a:r>
            <a:r>
              <a:rPr lang="es-AR" dirty="0" err="1">
                <a:solidFill>
                  <a:srgbClr val="4A4A4A"/>
                </a:solidFill>
                <a:highlight>
                  <a:srgbClr val="FFFFFF"/>
                </a:highlight>
                <a:latin typeface="Lato"/>
                <a:ea typeface="Lato"/>
                <a:cs typeface="Lato"/>
                <a:sym typeface="Lato"/>
              </a:rPr>
              <a:t>Flexbox</a:t>
            </a:r>
            <a:r>
              <a:rPr lang="es-AR" dirty="0">
                <a:solidFill>
                  <a:srgbClr val="4A4A4A"/>
                </a:solidFill>
                <a:highlight>
                  <a:srgbClr val="FFFFFF"/>
                </a:highlight>
                <a:latin typeface="Lato"/>
                <a:ea typeface="Lato"/>
                <a:cs typeface="Lato"/>
                <a:sym typeface="Lato"/>
              </a:rPr>
              <a:t>, tema que veremos más adelante. </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A medida que vayas aprendiendo más detalles sobre el diseño CSS, te irás encontrando con el valor </a:t>
            </a:r>
            <a:r>
              <a:rPr lang="es-AR" dirty="0" err="1">
                <a:solidFill>
                  <a:srgbClr val="4A4A4A"/>
                </a:solidFill>
                <a:highlight>
                  <a:srgbClr val="FFFFFF"/>
                </a:highlight>
                <a:latin typeface="Lato"/>
                <a:ea typeface="Lato"/>
                <a:cs typeface="Lato"/>
                <a:sym typeface="Lato"/>
              </a:rPr>
              <a:t>flex</a:t>
            </a:r>
            <a:r>
              <a:rPr lang="es-AR" dirty="0">
                <a:solidFill>
                  <a:srgbClr val="4A4A4A"/>
                </a:solidFill>
                <a:highlight>
                  <a:srgbClr val="FFFFFF"/>
                </a:highlight>
                <a:latin typeface="Lato"/>
                <a:ea typeface="Lato"/>
                <a:cs typeface="Lato"/>
                <a:sym typeface="Lato"/>
              </a:rPr>
              <a:t> y con otros valores internos que puedan presentar tus cajas, por ejemplo, </a:t>
            </a:r>
            <a:r>
              <a:rPr lang="es-AR" dirty="0" err="1">
                <a:solidFill>
                  <a:srgbClr val="4A4A4A"/>
                </a:solidFill>
                <a:highlight>
                  <a:srgbClr val="FFFFFF"/>
                </a:highlight>
                <a:latin typeface="Lato"/>
                <a:ea typeface="Lato"/>
                <a:cs typeface="Lato"/>
                <a:sym typeface="Lato"/>
              </a:rPr>
              <a:t>grid</a:t>
            </a:r>
            <a:r>
              <a:rPr lang="es-AR" dirty="0">
                <a:solidFill>
                  <a:srgbClr val="4A4A4A"/>
                </a:solidFill>
                <a:highlight>
                  <a:srgbClr val="FFFFFF"/>
                </a:highlight>
                <a:latin typeface="Lato"/>
                <a:ea typeface="Lato"/>
                <a:cs typeface="Lato"/>
                <a:sym typeface="Lato"/>
              </a:rPr>
              <a:t>.</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Sin embargo, la disposición en bloque y en línea es la forma predeterminada cómo se comportan las cosas en la web; como ya dijimos, a veces esto se conoce como </a:t>
            </a:r>
            <a:r>
              <a:rPr lang="es-AR" dirty="0">
                <a:solidFill>
                  <a:schemeClr val="tx1"/>
                </a:solidFill>
                <a:highlight>
                  <a:srgbClr val="FFFFFF"/>
                </a:highlight>
                <a:latin typeface="Lato"/>
                <a:ea typeface="Lato"/>
                <a:cs typeface="Lato"/>
                <a:sym typeface="Lato"/>
              </a:rPr>
              <a:t>flujo normal</a:t>
            </a:r>
            <a:r>
              <a:rPr lang="es-AR" dirty="0">
                <a:solidFill>
                  <a:srgbClr val="4A4A4A"/>
                </a:solidFill>
                <a:highlight>
                  <a:srgbClr val="FFFFFF"/>
                </a:highlight>
                <a:latin typeface="Lato"/>
                <a:ea typeface="Lato"/>
                <a:cs typeface="Lato"/>
                <a:sym typeface="Lato"/>
              </a:rPr>
              <a:t>, porque nuestras cajas se dispondrán en bloque o en línea, si no reciben ninguna otra instrucción.</a:t>
            </a:r>
          </a:p>
          <a:p>
            <a:pPr lvl="0" rtl="0">
              <a:spcBef>
                <a:spcPts val="0"/>
              </a:spcBef>
              <a:spcAft>
                <a:spcPts val="0"/>
              </a:spcAft>
            </a:pPr>
            <a:endParaRPr lang="es-AR" dirty="0">
              <a:solidFill>
                <a:schemeClr val="tx1"/>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23920386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89597" y="226878"/>
            <a:ext cx="5744948" cy="4708981"/>
          </a:xfrm>
          <a:prstGeom prst="rect">
            <a:avLst/>
          </a:prstGeom>
          <a:noFill/>
        </p:spPr>
        <p:txBody>
          <a:bodyPr wrap="square">
            <a:spAutoFit/>
          </a:bodyPr>
          <a:lstStyle/>
          <a:p>
            <a:r>
              <a:rPr lang="es-AR" sz="2400" dirty="0">
                <a:solidFill>
                  <a:srgbClr val="BE3969"/>
                </a:solidFill>
                <a:highlight>
                  <a:srgbClr val="FFFFFF"/>
                </a:highlight>
                <a:latin typeface="Russo One"/>
                <a:ea typeface="Lato"/>
                <a:cs typeface="Lato"/>
                <a:sym typeface="Russo One"/>
              </a:rPr>
              <a:t>Ejemplos de diferentes tipos de visualización</a:t>
            </a:r>
          </a:p>
          <a:p>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Sigamos adelante y veamos algunos ejemplos. A continuación tenemos tres elementos HTML diferentes, todos con visualización externa de tipo block. El primero es un párrafo, que tiene un borde añadido con CSS. El navegador representa esto como una caja en bloque, por lo que el párrafo comienza en una línea nueva y se expande por todo el ancho disponible.</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El segundo es una lista, que se presenta usando </a:t>
            </a:r>
            <a:r>
              <a:rPr lang="es-AR" dirty="0" err="1">
                <a:solidFill>
                  <a:srgbClr val="4A4A4A"/>
                </a:solidFill>
                <a:highlight>
                  <a:srgbClr val="FFFFFF"/>
                </a:highlight>
                <a:latin typeface="Lato"/>
                <a:ea typeface="Lato"/>
                <a:cs typeface="Lato"/>
                <a:sym typeface="Lato"/>
              </a:rPr>
              <a:t>display</a:t>
            </a:r>
            <a:r>
              <a:rPr lang="es-AR" dirty="0">
                <a:solidFill>
                  <a:srgbClr val="4A4A4A"/>
                </a:solidFill>
                <a:highlight>
                  <a:srgbClr val="FFFFFF"/>
                </a:highlight>
                <a:latin typeface="Lato"/>
                <a:ea typeface="Lato"/>
                <a:cs typeface="Lato"/>
                <a:sym typeface="Lato"/>
              </a:rPr>
              <a:t>: </a:t>
            </a:r>
            <a:r>
              <a:rPr lang="es-AR" dirty="0" err="1">
                <a:solidFill>
                  <a:srgbClr val="4A4A4A"/>
                </a:solidFill>
                <a:highlight>
                  <a:srgbClr val="FFFFFF"/>
                </a:highlight>
                <a:latin typeface="Lato"/>
                <a:ea typeface="Lato"/>
                <a:cs typeface="Lato"/>
                <a:sym typeface="Lato"/>
              </a:rPr>
              <a:t>flex</a:t>
            </a:r>
            <a:r>
              <a:rPr lang="es-AR" dirty="0">
                <a:solidFill>
                  <a:srgbClr val="4A4A4A"/>
                </a:solidFill>
                <a:highlight>
                  <a:srgbClr val="FFFFFF"/>
                </a:highlight>
                <a:latin typeface="Lato"/>
                <a:ea typeface="Lato"/>
                <a:cs typeface="Lato"/>
                <a:sym typeface="Lato"/>
              </a:rPr>
              <a:t>. Esto establece una disposición flexible para los elementos que están dentro del contenedor; sin embargo, la lista en sí misma es una caja que se comporta en bloque y, como el párrafo, se expande por todo el ancho del contenedor y fuerza un salto de línea al llegar al final de línea.</a:t>
            </a:r>
          </a:p>
          <a:p>
            <a:pPr lvl="0" rtl="0">
              <a:spcBef>
                <a:spcPts val="0"/>
              </a:spcBef>
              <a:spcAft>
                <a:spcPts val="0"/>
              </a:spcAft>
            </a:pPr>
            <a:endParaRPr lang="es-AR" dirty="0">
              <a:solidFill>
                <a:srgbClr val="4A4A4A"/>
              </a:solidFill>
              <a:highlight>
                <a:srgbClr val="FFFFFF"/>
              </a:highlight>
              <a:latin typeface="Lato"/>
              <a:ea typeface="Lato"/>
              <a:cs typeface="Lato"/>
              <a:sym typeface="Lato"/>
            </a:endParaRPr>
          </a:p>
          <a:p>
            <a:pPr lvl="0" rtl="0">
              <a:spcBef>
                <a:spcPts val="0"/>
              </a:spcBef>
              <a:spcAft>
                <a:spcPts val="0"/>
              </a:spcAft>
            </a:pPr>
            <a:r>
              <a:rPr lang="es-AR" dirty="0">
                <a:solidFill>
                  <a:srgbClr val="4A4A4A"/>
                </a:solidFill>
                <a:highlight>
                  <a:srgbClr val="FFFFFF"/>
                </a:highlight>
                <a:latin typeface="Lato"/>
                <a:ea typeface="Lato"/>
                <a:cs typeface="Lato"/>
                <a:sym typeface="Lato"/>
              </a:rPr>
              <a:t>Debajo hay un párrafo a nivel de bloque, dentro del cual hay dos elementos &lt;</a:t>
            </a:r>
            <a:r>
              <a:rPr lang="es-AR" dirty="0" err="1">
                <a:solidFill>
                  <a:srgbClr val="4A4A4A"/>
                </a:solidFill>
                <a:highlight>
                  <a:srgbClr val="FFFFFF"/>
                </a:highlight>
                <a:latin typeface="Lato"/>
                <a:ea typeface="Lato"/>
                <a:cs typeface="Lato"/>
                <a:sym typeface="Lato"/>
              </a:rPr>
              <a:t>span</a:t>
            </a:r>
            <a:r>
              <a:rPr lang="es-AR" dirty="0">
                <a:solidFill>
                  <a:srgbClr val="4A4A4A"/>
                </a:solidFill>
                <a:highlight>
                  <a:srgbClr val="FFFFFF"/>
                </a:highlight>
                <a:latin typeface="Lato"/>
                <a:ea typeface="Lato"/>
                <a:cs typeface="Lato"/>
                <a:sym typeface="Lato"/>
              </a:rPr>
              <a:t>&gt;. Estos elementos normalmente serían de tipo </a:t>
            </a:r>
            <a:r>
              <a:rPr lang="es-AR" dirty="0" err="1">
                <a:solidFill>
                  <a:srgbClr val="4A4A4A"/>
                </a:solidFill>
                <a:highlight>
                  <a:srgbClr val="FFFFFF"/>
                </a:highlight>
                <a:latin typeface="Lato"/>
                <a:ea typeface="Lato"/>
                <a:cs typeface="Lato"/>
                <a:sym typeface="Lato"/>
              </a:rPr>
              <a:t>inline</a:t>
            </a:r>
            <a:r>
              <a:rPr lang="es-AR" dirty="0">
                <a:solidFill>
                  <a:srgbClr val="4A4A4A"/>
                </a:solidFill>
                <a:highlight>
                  <a:srgbClr val="FFFFFF"/>
                </a:highlight>
                <a:latin typeface="Lato"/>
                <a:ea typeface="Lato"/>
                <a:cs typeface="Lato"/>
                <a:sym typeface="Lato"/>
              </a:rPr>
              <a:t>; sin embargo, uno de los elementos tiene una clase de bloque, y lo hemos establecido como </a:t>
            </a:r>
            <a:r>
              <a:rPr lang="es-AR" dirty="0" err="1">
                <a:solidFill>
                  <a:srgbClr val="4A4A4A"/>
                </a:solidFill>
                <a:highlight>
                  <a:srgbClr val="FFFFFF"/>
                </a:highlight>
                <a:latin typeface="Lato"/>
                <a:ea typeface="Lato"/>
                <a:cs typeface="Lato"/>
                <a:sym typeface="Lato"/>
              </a:rPr>
              <a:t>display</a:t>
            </a:r>
            <a:r>
              <a:rPr lang="es-AR" dirty="0">
                <a:solidFill>
                  <a:srgbClr val="4A4A4A"/>
                </a:solidFill>
                <a:highlight>
                  <a:srgbClr val="FFFFFF"/>
                </a:highlight>
                <a:latin typeface="Lato"/>
                <a:ea typeface="Lato"/>
                <a:cs typeface="Lato"/>
                <a:sym typeface="Lato"/>
              </a:rPr>
              <a:t>: block.</a:t>
            </a:r>
            <a:endParaRPr lang="es-AR" dirty="0">
              <a:solidFill>
                <a:schemeClr val="tx1"/>
              </a:solidFill>
              <a:highlight>
                <a:srgbClr val="FFFFFF"/>
              </a:highlight>
              <a:latin typeface="Lato"/>
              <a:ea typeface="Lato"/>
              <a:cs typeface="Lato"/>
              <a:sym typeface="Lato"/>
            </a:endParaRPr>
          </a:p>
        </p:txBody>
      </p:sp>
      <p:pic>
        <p:nvPicPr>
          <p:cNvPr id="3" name="Imagen 2">
            <a:extLst>
              <a:ext uri="{FF2B5EF4-FFF2-40B4-BE49-F238E27FC236}">
                <a16:creationId xmlns:a16="http://schemas.microsoft.com/office/drawing/2014/main" id="{157766B9-34EA-60F7-25C1-FE571F74DEC0}"/>
              </a:ext>
            </a:extLst>
          </p:cNvPr>
          <p:cNvPicPr>
            <a:picLocks noChangeAspect="1"/>
          </p:cNvPicPr>
          <p:nvPr/>
        </p:nvPicPr>
        <p:blipFill>
          <a:blip r:embed="rId3"/>
          <a:stretch>
            <a:fillRect/>
          </a:stretch>
        </p:blipFill>
        <p:spPr>
          <a:xfrm>
            <a:off x="6344934" y="969818"/>
            <a:ext cx="2640389" cy="3822700"/>
          </a:xfrm>
          <a:prstGeom prst="rect">
            <a:avLst/>
          </a:prstGeom>
        </p:spPr>
      </p:pic>
    </p:spTree>
    <p:extLst>
      <p:ext uri="{BB962C8B-B14F-4D97-AF65-F5344CB8AC3E}">
        <p14:creationId xmlns:p14="http://schemas.microsoft.com/office/powerpoint/2010/main" val="24353427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57270" y="523674"/>
            <a:ext cx="4114730" cy="4401205"/>
          </a:xfrm>
          <a:prstGeom prst="rect">
            <a:avLst/>
          </a:prstGeom>
          <a:noFill/>
        </p:spPr>
        <p:txBody>
          <a:bodyPr wrap="square">
            <a:spAutoFit/>
          </a:bodyPr>
          <a:lstStyle/>
          <a:p>
            <a:r>
              <a:rPr lang="es-AR" sz="2000" dirty="0">
                <a:solidFill>
                  <a:srgbClr val="BE3969"/>
                </a:solidFill>
                <a:highlight>
                  <a:srgbClr val="FFFFFF"/>
                </a:highlight>
                <a:latin typeface="Russo One"/>
                <a:ea typeface="Lato"/>
                <a:cs typeface="Lato"/>
                <a:sym typeface="Russo One"/>
              </a:rPr>
              <a:t>Ejemplos de diferentes tipos de visualización</a:t>
            </a:r>
          </a:p>
          <a:p>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Podemos ver cómo se comportan los elementos </a:t>
            </a:r>
            <a:r>
              <a:rPr lang="es-AR" sz="1200" dirty="0" err="1">
                <a:solidFill>
                  <a:srgbClr val="4A4A4A"/>
                </a:solidFill>
                <a:highlight>
                  <a:srgbClr val="FFFFFF"/>
                </a:highlight>
                <a:latin typeface="Lato"/>
                <a:ea typeface="Lato"/>
                <a:cs typeface="Lato"/>
                <a:sym typeface="Lato"/>
              </a:rPr>
              <a:t>inline</a:t>
            </a:r>
            <a:r>
              <a:rPr lang="es-AR" sz="1200" dirty="0">
                <a:solidFill>
                  <a:srgbClr val="4A4A4A"/>
                </a:solidFill>
                <a:highlight>
                  <a:srgbClr val="FFFFFF"/>
                </a:highlight>
                <a:latin typeface="Lato"/>
                <a:ea typeface="Lato"/>
                <a:cs typeface="Lato"/>
                <a:sym typeface="Lato"/>
              </a:rPr>
              <a:t> en el ejemplo siguiente. Los elementos &lt;</a:t>
            </a:r>
            <a:r>
              <a:rPr lang="es-AR" sz="1200" dirty="0" err="1">
                <a:solidFill>
                  <a:srgbClr val="4A4A4A"/>
                </a:solidFill>
                <a:highlight>
                  <a:srgbClr val="FFFFFF"/>
                </a:highlight>
                <a:latin typeface="Lato"/>
                <a:ea typeface="Lato"/>
                <a:cs typeface="Lato"/>
                <a:sym typeface="Lato"/>
              </a:rPr>
              <a:t>span</a:t>
            </a:r>
            <a:r>
              <a:rPr lang="es-AR" sz="1200" dirty="0">
                <a:solidFill>
                  <a:srgbClr val="4A4A4A"/>
                </a:solidFill>
                <a:highlight>
                  <a:srgbClr val="FFFFFF"/>
                </a:highlight>
                <a:latin typeface="Lato"/>
                <a:ea typeface="Lato"/>
                <a:cs typeface="Lato"/>
                <a:sym typeface="Lato"/>
              </a:rPr>
              <a:t>&gt; del primer párrafo están en línea de manera predeterminada y, por lo tanto, no fuerzan ningún salto de línea.</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También hay un elemento &lt;</a:t>
            </a:r>
            <a:r>
              <a:rPr lang="es-AR" sz="1200" dirty="0" err="1">
                <a:solidFill>
                  <a:srgbClr val="4A4A4A"/>
                </a:solidFill>
                <a:highlight>
                  <a:srgbClr val="FFFFFF"/>
                </a:highlight>
                <a:latin typeface="Lato"/>
                <a:ea typeface="Lato"/>
                <a:cs typeface="Lato"/>
                <a:sym typeface="Lato"/>
              </a:rPr>
              <a:t>ul</a:t>
            </a:r>
            <a:r>
              <a:rPr lang="es-AR" sz="1200" dirty="0">
                <a:solidFill>
                  <a:srgbClr val="4A4A4A"/>
                </a:solidFill>
                <a:highlight>
                  <a:srgbClr val="FFFFFF"/>
                </a:highlight>
                <a:latin typeface="Lato"/>
                <a:ea typeface="Lato"/>
                <a:cs typeface="Lato"/>
                <a:sym typeface="Lato"/>
              </a:rPr>
              <a:t>&gt; que se establece como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inline-flex</a:t>
            </a:r>
            <a:r>
              <a:rPr lang="es-AR" sz="1200" dirty="0">
                <a:solidFill>
                  <a:srgbClr val="4A4A4A"/>
                </a:solidFill>
                <a:highlight>
                  <a:srgbClr val="FFFFFF"/>
                </a:highlight>
                <a:latin typeface="Lato"/>
                <a:ea typeface="Lato"/>
                <a:cs typeface="Lato"/>
                <a:sym typeface="Lato"/>
              </a:rPr>
              <a:t>, que crea una caja con un comportamiento de tipo en línea alrededor de algunos elementos de tipo </a:t>
            </a:r>
            <a:r>
              <a:rPr lang="es-AR" sz="1200" dirty="0" err="1">
                <a:solidFill>
                  <a:srgbClr val="4A4A4A"/>
                </a:solidFill>
                <a:highlight>
                  <a:srgbClr val="FFFFFF"/>
                </a:highlight>
                <a:latin typeface="Lato"/>
                <a:ea typeface="Lato"/>
                <a:cs typeface="Lato"/>
                <a:sym typeface="Lato"/>
              </a:rPr>
              <a:t>flex</a:t>
            </a:r>
            <a:r>
              <a:rPr lang="es-AR" sz="1200" dirty="0">
                <a:solidFill>
                  <a:srgbClr val="4A4A4A"/>
                </a:solidFill>
                <a:highlight>
                  <a:srgbClr val="FFFFFF"/>
                </a:highlight>
                <a:latin typeface="Lato"/>
                <a:ea typeface="Lato"/>
                <a:cs typeface="Lato"/>
                <a:sym typeface="Lato"/>
              </a:rPr>
              <a:t>.</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Finalmente, hay dos párrafos configurados con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inline</a:t>
            </a:r>
            <a:r>
              <a:rPr lang="es-AR" sz="1200" dirty="0">
                <a:solidFill>
                  <a:srgbClr val="4A4A4A"/>
                </a:solidFill>
                <a:highlight>
                  <a:srgbClr val="FFFFFF"/>
                </a:highlight>
                <a:latin typeface="Lato"/>
                <a:ea typeface="Lato"/>
                <a:cs typeface="Lato"/>
                <a:sym typeface="Lato"/>
              </a:rPr>
              <a:t>. El contenedor flexible en línea y los párrafos fluyen todos juntos en línea, en lugar de dividirse en líneas nuevas como lo harían si se mostraran como elementos de bloque.</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En el ejemplo puedes cambiar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inline</a:t>
            </a:r>
            <a:r>
              <a:rPr lang="es-AR" sz="1200" dirty="0">
                <a:solidFill>
                  <a:srgbClr val="4A4A4A"/>
                </a:solidFill>
                <a:highlight>
                  <a:srgbClr val="FFFFFF"/>
                </a:highlight>
                <a:latin typeface="Lato"/>
                <a:ea typeface="Lato"/>
                <a:cs typeface="Lato"/>
                <a:sym typeface="Lato"/>
              </a:rPr>
              <a:t> por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block o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inline-flex</a:t>
            </a:r>
            <a:r>
              <a:rPr lang="es-AR" sz="1200" dirty="0">
                <a:solidFill>
                  <a:srgbClr val="4A4A4A"/>
                </a:solidFill>
                <a:highlight>
                  <a:srgbClr val="FFFFFF"/>
                </a:highlight>
                <a:latin typeface="Lato"/>
                <a:ea typeface="Lato"/>
                <a:cs typeface="Lato"/>
                <a:sym typeface="Lato"/>
              </a:rPr>
              <a:t> y por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flex</a:t>
            </a:r>
            <a:r>
              <a:rPr lang="es-AR" sz="1200" dirty="0">
                <a:solidFill>
                  <a:srgbClr val="4A4A4A"/>
                </a:solidFill>
                <a:highlight>
                  <a:srgbClr val="FFFFFF"/>
                </a:highlight>
                <a:latin typeface="Lato"/>
                <a:ea typeface="Lato"/>
                <a:cs typeface="Lato"/>
                <a:sym typeface="Lato"/>
              </a:rPr>
              <a:t> para alternar entre estos modos de visualización.</a:t>
            </a:r>
            <a:endParaRPr lang="es-AR" sz="1200" dirty="0">
              <a:solidFill>
                <a:schemeClr val="tx1"/>
              </a:solidFill>
              <a:highlight>
                <a:srgbClr val="FFFFFF"/>
              </a:highlight>
              <a:latin typeface="Lato"/>
              <a:ea typeface="Lato"/>
              <a:cs typeface="Lato"/>
              <a:sym typeface="Lato"/>
            </a:endParaRPr>
          </a:p>
        </p:txBody>
      </p:sp>
      <p:pic>
        <p:nvPicPr>
          <p:cNvPr id="5" name="Imagen 4">
            <a:extLst>
              <a:ext uri="{FF2B5EF4-FFF2-40B4-BE49-F238E27FC236}">
                <a16:creationId xmlns:a16="http://schemas.microsoft.com/office/drawing/2014/main" id="{19E9979C-E315-FAB8-3F5D-D5BBED91AA9C}"/>
              </a:ext>
            </a:extLst>
          </p:cNvPr>
          <p:cNvPicPr>
            <a:picLocks noChangeAspect="1"/>
          </p:cNvPicPr>
          <p:nvPr/>
        </p:nvPicPr>
        <p:blipFill>
          <a:blip r:embed="rId3"/>
          <a:stretch>
            <a:fillRect/>
          </a:stretch>
        </p:blipFill>
        <p:spPr>
          <a:xfrm>
            <a:off x="5009899" y="595745"/>
            <a:ext cx="3056949" cy="4104409"/>
          </a:xfrm>
          <a:prstGeom prst="rect">
            <a:avLst/>
          </a:prstGeom>
        </p:spPr>
      </p:pic>
    </p:spTree>
    <p:extLst>
      <p:ext uri="{BB962C8B-B14F-4D97-AF65-F5344CB8AC3E}">
        <p14:creationId xmlns:p14="http://schemas.microsoft.com/office/powerpoint/2010/main" val="15110795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57270" y="523674"/>
            <a:ext cx="4114730" cy="4401205"/>
          </a:xfrm>
          <a:prstGeom prst="rect">
            <a:avLst/>
          </a:prstGeom>
          <a:noFill/>
        </p:spPr>
        <p:txBody>
          <a:bodyPr wrap="square">
            <a:spAutoFit/>
          </a:bodyPr>
          <a:lstStyle/>
          <a:p>
            <a:r>
              <a:rPr lang="es-AR" sz="2000" dirty="0">
                <a:solidFill>
                  <a:srgbClr val="BE3969"/>
                </a:solidFill>
                <a:highlight>
                  <a:srgbClr val="FFFFFF"/>
                </a:highlight>
                <a:latin typeface="Russo One"/>
                <a:ea typeface="Lato"/>
                <a:cs typeface="Lato"/>
                <a:sym typeface="Russo One"/>
              </a:rPr>
              <a:t>Ejemplos de diferentes tipos de visualización</a:t>
            </a:r>
          </a:p>
          <a:p>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Podemos ver cómo se comportan los elementos </a:t>
            </a:r>
            <a:r>
              <a:rPr lang="es-AR" sz="1200" dirty="0" err="1">
                <a:solidFill>
                  <a:srgbClr val="4A4A4A"/>
                </a:solidFill>
                <a:highlight>
                  <a:srgbClr val="FFFFFF"/>
                </a:highlight>
                <a:latin typeface="Lato"/>
                <a:ea typeface="Lato"/>
                <a:cs typeface="Lato"/>
                <a:sym typeface="Lato"/>
              </a:rPr>
              <a:t>inline</a:t>
            </a:r>
            <a:r>
              <a:rPr lang="es-AR" sz="1200" dirty="0">
                <a:solidFill>
                  <a:srgbClr val="4A4A4A"/>
                </a:solidFill>
                <a:highlight>
                  <a:srgbClr val="FFFFFF"/>
                </a:highlight>
                <a:latin typeface="Lato"/>
                <a:ea typeface="Lato"/>
                <a:cs typeface="Lato"/>
                <a:sym typeface="Lato"/>
              </a:rPr>
              <a:t> en el ejemplo siguiente. Los elementos &lt;</a:t>
            </a:r>
            <a:r>
              <a:rPr lang="es-AR" sz="1200" dirty="0" err="1">
                <a:solidFill>
                  <a:srgbClr val="4A4A4A"/>
                </a:solidFill>
                <a:highlight>
                  <a:srgbClr val="FFFFFF"/>
                </a:highlight>
                <a:latin typeface="Lato"/>
                <a:ea typeface="Lato"/>
                <a:cs typeface="Lato"/>
                <a:sym typeface="Lato"/>
              </a:rPr>
              <a:t>span</a:t>
            </a:r>
            <a:r>
              <a:rPr lang="es-AR" sz="1200" dirty="0">
                <a:solidFill>
                  <a:srgbClr val="4A4A4A"/>
                </a:solidFill>
                <a:highlight>
                  <a:srgbClr val="FFFFFF"/>
                </a:highlight>
                <a:latin typeface="Lato"/>
                <a:ea typeface="Lato"/>
                <a:cs typeface="Lato"/>
                <a:sym typeface="Lato"/>
              </a:rPr>
              <a:t>&gt; del primer párrafo están en línea de manera predeterminada y, por lo tanto, no fuerzan ningún salto de línea.</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También hay un elemento &lt;</a:t>
            </a:r>
            <a:r>
              <a:rPr lang="es-AR" sz="1200" dirty="0" err="1">
                <a:solidFill>
                  <a:srgbClr val="4A4A4A"/>
                </a:solidFill>
                <a:highlight>
                  <a:srgbClr val="FFFFFF"/>
                </a:highlight>
                <a:latin typeface="Lato"/>
                <a:ea typeface="Lato"/>
                <a:cs typeface="Lato"/>
                <a:sym typeface="Lato"/>
              </a:rPr>
              <a:t>ul</a:t>
            </a:r>
            <a:r>
              <a:rPr lang="es-AR" sz="1200" dirty="0">
                <a:solidFill>
                  <a:srgbClr val="4A4A4A"/>
                </a:solidFill>
                <a:highlight>
                  <a:srgbClr val="FFFFFF"/>
                </a:highlight>
                <a:latin typeface="Lato"/>
                <a:ea typeface="Lato"/>
                <a:cs typeface="Lato"/>
                <a:sym typeface="Lato"/>
              </a:rPr>
              <a:t>&gt; que se establece como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inline-flex</a:t>
            </a:r>
            <a:r>
              <a:rPr lang="es-AR" sz="1200" dirty="0">
                <a:solidFill>
                  <a:srgbClr val="4A4A4A"/>
                </a:solidFill>
                <a:highlight>
                  <a:srgbClr val="FFFFFF"/>
                </a:highlight>
                <a:latin typeface="Lato"/>
                <a:ea typeface="Lato"/>
                <a:cs typeface="Lato"/>
                <a:sym typeface="Lato"/>
              </a:rPr>
              <a:t>, que crea una caja con un comportamiento de tipo en línea alrededor de algunos elementos de tipo </a:t>
            </a:r>
            <a:r>
              <a:rPr lang="es-AR" sz="1200" dirty="0" err="1">
                <a:solidFill>
                  <a:srgbClr val="4A4A4A"/>
                </a:solidFill>
                <a:highlight>
                  <a:srgbClr val="FFFFFF"/>
                </a:highlight>
                <a:latin typeface="Lato"/>
                <a:ea typeface="Lato"/>
                <a:cs typeface="Lato"/>
                <a:sym typeface="Lato"/>
              </a:rPr>
              <a:t>flex</a:t>
            </a:r>
            <a:r>
              <a:rPr lang="es-AR" sz="1200" dirty="0">
                <a:solidFill>
                  <a:srgbClr val="4A4A4A"/>
                </a:solidFill>
                <a:highlight>
                  <a:srgbClr val="FFFFFF"/>
                </a:highlight>
                <a:latin typeface="Lato"/>
                <a:ea typeface="Lato"/>
                <a:cs typeface="Lato"/>
                <a:sym typeface="Lato"/>
              </a:rPr>
              <a:t>.</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Finalmente, hay dos párrafos configurados con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inline</a:t>
            </a:r>
            <a:r>
              <a:rPr lang="es-AR" sz="1200" dirty="0">
                <a:solidFill>
                  <a:srgbClr val="4A4A4A"/>
                </a:solidFill>
                <a:highlight>
                  <a:srgbClr val="FFFFFF"/>
                </a:highlight>
                <a:latin typeface="Lato"/>
                <a:ea typeface="Lato"/>
                <a:cs typeface="Lato"/>
                <a:sym typeface="Lato"/>
              </a:rPr>
              <a:t>. El contenedor flexible en línea y los párrafos fluyen todos juntos en línea, en lugar de dividirse en líneas nuevas como lo harían si se mostraran como elementos de bloque.</a:t>
            </a:r>
          </a:p>
          <a:p>
            <a:pPr lvl="0" rtl="0">
              <a:spcBef>
                <a:spcPts val="0"/>
              </a:spcBef>
              <a:spcAft>
                <a:spcPts val="0"/>
              </a:spcAft>
            </a:pPr>
            <a:endParaRPr lang="es-AR" sz="1200" dirty="0">
              <a:solidFill>
                <a:srgbClr val="4A4A4A"/>
              </a:solidFill>
              <a:highlight>
                <a:srgbClr val="FFFFFF"/>
              </a:highlight>
              <a:latin typeface="Lato"/>
              <a:ea typeface="Lato"/>
              <a:cs typeface="Lato"/>
              <a:sym typeface="Lato"/>
            </a:endParaRPr>
          </a:p>
          <a:p>
            <a:pPr lvl="0" rtl="0">
              <a:spcBef>
                <a:spcPts val="0"/>
              </a:spcBef>
              <a:spcAft>
                <a:spcPts val="0"/>
              </a:spcAft>
            </a:pPr>
            <a:r>
              <a:rPr lang="es-AR" sz="1200" dirty="0">
                <a:solidFill>
                  <a:srgbClr val="4A4A4A"/>
                </a:solidFill>
                <a:highlight>
                  <a:srgbClr val="FFFFFF"/>
                </a:highlight>
                <a:latin typeface="Lato"/>
                <a:ea typeface="Lato"/>
                <a:cs typeface="Lato"/>
                <a:sym typeface="Lato"/>
              </a:rPr>
              <a:t>En el ejemplo puedes cambiar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inline</a:t>
            </a:r>
            <a:r>
              <a:rPr lang="es-AR" sz="1200" dirty="0">
                <a:solidFill>
                  <a:srgbClr val="4A4A4A"/>
                </a:solidFill>
                <a:highlight>
                  <a:srgbClr val="FFFFFF"/>
                </a:highlight>
                <a:latin typeface="Lato"/>
                <a:ea typeface="Lato"/>
                <a:cs typeface="Lato"/>
                <a:sym typeface="Lato"/>
              </a:rPr>
              <a:t> por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block o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inline-flex</a:t>
            </a:r>
            <a:r>
              <a:rPr lang="es-AR" sz="1200" dirty="0">
                <a:solidFill>
                  <a:srgbClr val="4A4A4A"/>
                </a:solidFill>
                <a:highlight>
                  <a:srgbClr val="FFFFFF"/>
                </a:highlight>
                <a:latin typeface="Lato"/>
                <a:ea typeface="Lato"/>
                <a:cs typeface="Lato"/>
                <a:sym typeface="Lato"/>
              </a:rPr>
              <a:t> y por </a:t>
            </a:r>
            <a:r>
              <a:rPr lang="es-AR" sz="1200" dirty="0" err="1">
                <a:solidFill>
                  <a:srgbClr val="4A4A4A"/>
                </a:solidFill>
                <a:highlight>
                  <a:srgbClr val="FFFFFF"/>
                </a:highlight>
                <a:latin typeface="Lato"/>
                <a:ea typeface="Lato"/>
                <a:cs typeface="Lato"/>
                <a:sym typeface="Lato"/>
              </a:rPr>
              <a:t>display</a:t>
            </a:r>
            <a:r>
              <a:rPr lang="es-AR" sz="1200" dirty="0">
                <a:solidFill>
                  <a:srgbClr val="4A4A4A"/>
                </a:solidFill>
                <a:highlight>
                  <a:srgbClr val="FFFFFF"/>
                </a:highlight>
                <a:latin typeface="Lato"/>
                <a:ea typeface="Lato"/>
                <a:cs typeface="Lato"/>
                <a:sym typeface="Lato"/>
              </a:rPr>
              <a:t>: </a:t>
            </a:r>
            <a:r>
              <a:rPr lang="es-AR" sz="1200" dirty="0" err="1">
                <a:solidFill>
                  <a:srgbClr val="4A4A4A"/>
                </a:solidFill>
                <a:highlight>
                  <a:srgbClr val="FFFFFF"/>
                </a:highlight>
                <a:latin typeface="Lato"/>
                <a:ea typeface="Lato"/>
                <a:cs typeface="Lato"/>
                <a:sym typeface="Lato"/>
              </a:rPr>
              <a:t>flex</a:t>
            </a:r>
            <a:r>
              <a:rPr lang="es-AR" sz="1200" dirty="0">
                <a:solidFill>
                  <a:srgbClr val="4A4A4A"/>
                </a:solidFill>
                <a:highlight>
                  <a:srgbClr val="FFFFFF"/>
                </a:highlight>
                <a:latin typeface="Lato"/>
                <a:ea typeface="Lato"/>
                <a:cs typeface="Lato"/>
                <a:sym typeface="Lato"/>
              </a:rPr>
              <a:t> para alternar entre estos modos de visualización.</a:t>
            </a:r>
            <a:endParaRPr lang="es-AR" sz="1200" dirty="0">
              <a:solidFill>
                <a:schemeClr val="tx1"/>
              </a:solidFill>
              <a:highlight>
                <a:srgbClr val="FFFFFF"/>
              </a:highlight>
              <a:latin typeface="Lato"/>
              <a:ea typeface="Lato"/>
              <a:cs typeface="Lato"/>
              <a:sym typeface="Lato"/>
            </a:endParaRPr>
          </a:p>
        </p:txBody>
      </p:sp>
      <p:pic>
        <p:nvPicPr>
          <p:cNvPr id="5" name="Imagen 4">
            <a:extLst>
              <a:ext uri="{FF2B5EF4-FFF2-40B4-BE49-F238E27FC236}">
                <a16:creationId xmlns:a16="http://schemas.microsoft.com/office/drawing/2014/main" id="{19E9979C-E315-FAB8-3F5D-D5BBED91AA9C}"/>
              </a:ext>
            </a:extLst>
          </p:cNvPr>
          <p:cNvPicPr>
            <a:picLocks noChangeAspect="1"/>
          </p:cNvPicPr>
          <p:nvPr/>
        </p:nvPicPr>
        <p:blipFill>
          <a:blip r:embed="rId3"/>
          <a:stretch>
            <a:fillRect/>
          </a:stretch>
        </p:blipFill>
        <p:spPr>
          <a:xfrm>
            <a:off x="5009899" y="595745"/>
            <a:ext cx="3056949" cy="4104409"/>
          </a:xfrm>
          <a:prstGeom prst="rect">
            <a:avLst/>
          </a:prstGeom>
        </p:spPr>
      </p:pic>
    </p:spTree>
    <p:extLst>
      <p:ext uri="{BB962C8B-B14F-4D97-AF65-F5344CB8AC3E}">
        <p14:creationId xmlns:p14="http://schemas.microsoft.com/office/powerpoint/2010/main" val="33006233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57270" y="523674"/>
            <a:ext cx="4673530" cy="4401205"/>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El modelo de cajas CSS estándar</a:t>
            </a:r>
          </a:p>
          <a:p>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En el modelo de cajas estándar, cuando estableces los atributos </a:t>
            </a:r>
            <a:r>
              <a:rPr lang="es-AR" sz="1600" dirty="0" err="1">
                <a:solidFill>
                  <a:srgbClr val="4A4A4A"/>
                </a:solidFill>
                <a:highlight>
                  <a:srgbClr val="FFFFFF"/>
                </a:highlight>
                <a:latin typeface="Lato"/>
                <a:ea typeface="Lato"/>
                <a:cs typeface="Lato"/>
                <a:sym typeface="Lato"/>
              </a:rPr>
              <a:t>width</a:t>
            </a:r>
            <a:r>
              <a:rPr lang="es-AR" sz="1600" dirty="0">
                <a:solidFill>
                  <a:srgbClr val="4A4A4A"/>
                </a:solidFill>
                <a:highlight>
                  <a:srgbClr val="FFFFFF"/>
                </a:highlight>
                <a:latin typeface="Lato"/>
                <a:ea typeface="Lato"/>
                <a:cs typeface="Lato"/>
                <a:sym typeface="Lato"/>
              </a:rPr>
              <a:t> y </a:t>
            </a:r>
            <a:r>
              <a:rPr lang="es-AR" sz="1600" dirty="0" err="1">
                <a:solidFill>
                  <a:srgbClr val="4A4A4A"/>
                </a:solidFill>
                <a:highlight>
                  <a:srgbClr val="FFFFFF"/>
                </a:highlight>
                <a:latin typeface="Lato"/>
                <a:ea typeface="Lato"/>
                <a:cs typeface="Lato"/>
                <a:sym typeface="Lato"/>
              </a:rPr>
              <a:t>height</a:t>
            </a:r>
            <a:r>
              <a:rPr lang="es-AR" sz="1600" dirty="0">
                <a:solidFill>
                  <a:srgbClr val="4A4A4A"/>
                </a:solidFill>
                <a:highlight>
                  <a:srgbClr val="FFFFFF"/>
                </a:highlight>
                <a:latin typeface="Lato"/>
                <a:ea typeface="Lato"/>
                <a:cs typeface="Lato"/>
                <a:sym typeface="Lato"/>
              </a:rPr>
              <a:t> para una caja, defines el ancho y el alto del contenido de la caja. Cualquier área de relleno y borde se añade a ese ancho y alto para obtener el tamaño total que ocupa la caja. Esto se muestra en la imagen que encontrarás a continuación.</a:t>
            </a:r>
          </a:p>
          <a:p>
            <a:pPr marL="285750" lvl="0" indent="-285750" rtl="0">
              <a:spcBef>
                <a:spcPts val="0"/>
              </a:spcBef>
              <a:spcAft>
                <a:spcPts val="0"/>
              </a:spcAft>
              <a:buFont typeface="Arial" panose="020B0604020202020204" pitchFamily="34" charset="0"/>
              <a:buChar char="•"/>
            </a:pP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Si suponemos que la caja tiene el CSS siguiente, que establece los valores para las propiedades </a:t>
            </a:r>
            <a:r>
              <a:rPr lang="es-AR" sz="1600" dirty="0" err="1">
                <a:solidFill>
                  <a:srgbClr val="4A4A4A"/>
                </a:solidFill>
                <a:highlight>
                  <a:srgbClr val="FFFFFF"/>
                </a:highlight>
                <a:latin typeface="Lato"/>
                <a:ea typeface="Lato"/>
                <a:cs typeface="Lato"/>
                <a:sym typeface="Lato"/>
              </a:rPr>
              <a:t>width</a:t>
            </a:r>
            <a:r>
              <a:rPr lang="es-AR" sz="1600" dirty="0">
                <a:solidFill>
                  <a:srgbClr val="4A4A4A"/>
                </a:solidFill>
                <a:highlight>
                  <a:srgbClr val="FFFFFF"/>
                </a:highlight>
                <a:latin typeface="Lato"/>
                <a:ea typeface="Lato"/>
                <a:cs typeface="Lato"/>
                <a:sym typeface="Lato"/>
              </a:rPr>
              <a:t>, </a:t>
            </a:r>
            <a:r>
              <a:rPr lang="es-AR" sz="1600" dirty="0" err="1">
                <a:solidFill>
                  <a:srgbClr val="4A4A4A"/>
                </a:solidFill>
                <a:highlight>
                  <a:srgbClr val="FFFFFF"/>
                </a:highlight>
                <a:latin typeface="Lato"/>
                <a:ea typeface="Lato"/>
                <a:cs typeface="Lato"/>
                <a:sym typeface="Lato"/>
              </a:rPr>
              <a:t>height</a:t>
            </a:r>
            <a:r>
              <a:rPr lang="es-AR" sz="1600" dirty="0">
                <a:solidFill>
                  <a:srgbClr val="4A4A4A"/>
                </a:solidFill>
                <a:highlight>
                  <a:srgbClr val="FFFFFF"/>
                </a:highlight>
                <a:latin typeface="Lato"/>
                <a:ea typeface="Lato"/>
                <a:cs typeface="Lato"/>
                <a:sym typeface="Lato"/>
              </a:rPr>
              <a:t>, </a:t>
            </a:r>
            <a:r>
              <a:rPr lang="es-AR" sz="1600" dirty="0" err="1">
                <a:solidFill>
                  <a:srgbClr val="4A4A4A"/>
                </a:solidFill>
                <a:highlight>
                  <a:srgbClr val="FFFFFF"/>
                </a:highlight>
                <a:latin typeface="Lato"/>
                <a:ea typeface="Lato"/>
                <a:cs typeface="Lato"/>
                <a:sym typeface="Lato"/>
              </a:rPr>
              <a:t>margin</a:t>
            </a:r>
            <a:r>
              <a:rPr lang="es-AR" sz="1600" dirty="0">
                <a:solidFill>
                  <a:srgbClr val="4A4A4A"/>
                </a:solidFill>
                <a:highlight>
                  <a:srgbClr val="FFFFFF"/>
                </a:highlight>
                <a:latin typeface="Lato"/>
                <a:ea typeface="Lato"/>
                <a:cs typeface="Lato"/>
                <a:sym typeface="Lato"/>
              </a:rPr>
              <a:t>, </a:t>
            </a:r>
            <a:r>
              <a:rPr lang="es-AR" sz="1600" dirty="0" err="1">
                <a:solidFill>
                  <a:srgbClr val="4A4A4A"/>
                </a:solidFill>
                <a:highlight>
                  <a:srgbClr val="FFFFFF"/>
                </a:highlight>
                <a:latin typeface="Lato"/>
                <a:ea typeface="Lato"/>
                <a:cs typeface="Lato"/>
                <a:sym typeface="Lato"/>
              </a:rPr>
              <a:t>border</a:t>
            </a:r>
            <a:r>
              <a:rPr lang="es-AR" sz="1600" dirty="0">
                <a:solidFill>
                  <a:srgbClr val="4A4A4A"/>
                </a:solidFill>
                <a:highlight>
                  <a:srgbClr val="FFFFFF"/>
                </a:highlight>
                <a:latin typeface="Lato"/>
                <a:ea typeface="Lato"/>
                <a:cs typeface="Lato"/>
                <a:sym typeface="Lato"/>
              </a:rPr>
              <a:t>, y </a:t>
            </a:r>
            <a:r>
              <a:rPr lang="es-AR" sz="1600" dirty="0" err="1">
                <a:solidFill>
                  <a:srgbClr val="4A4A4A"/>
                </a:solidFill>
                <a:highlight>
                  <a:srgbClr val="FFFFFF"/>
                </a:highlight>
                <a:latin typeface="Lato"/>
                <a:ea typeface="Lato"/>
                <a:cs typeface="Lato"/>
                <a:sym typeface="Lato"/>
              </a:rPr>
              <a:t>padding</a:t>
            </a:r>
            <a:r>
              <a:rPr lang="es-AR" sz="1600" dirty="0">
                <a:solidFill>
                  <a:srgbClr val="4A4A4A"/>
                </a:solidFill>
                <a:highlight>
                  <a:srgbClr val="FFFFFF"/>
                </a:highlight>
                <a:latin typeface="Lato"/>
                <a:ea typeface="Lato"/>
                <a:cs typeface="Lato"/>
                <a:sym typeface="Lato"/>
              </a:rPr>
              <a:t>:</a:t>
            </a:r>
            <a:endParaRPr lang="es-AR" sz="1600" dirty="0">
              <a:solidFill>
                <a:schemeClr val="tx1"/>
              </a:solidFill>
              <a:highlight>
                <a:srgbClr val="FFFFFF"/>
              </a:highlight>
              <a:latin typeface="Lato"/>
              <a:ea typeface="Lato"/>
              <a:cs typeface="Lato"/>
              <a:sym typeface="Lato"/>
            </a:endParaRPr>
          </a:p>
        </p:txBody>
      </p:sp>
      <p:pic>
        <p:nvPicPr>
          <p:cNvPr id="3" name="Imagen 2">
            <a:extLst>
              <a:ext uri="{FF2B5EF4-FFF2-40B4-BE49-F238E27FC236}">
                <a16:creationId xmlns:a16="http://schemas.microsoft.com/office/drawing/2014/main" id="{C46D3F4C-690D-C444-C52D-DFB4CE784110}"/>
              </a:ext>
            </a:extLst>
          </p:cNvPr>
          <p:cNvPicPr>
            <a:picLocks noChangeAspect="1"/>
          </p:cNvPicPr>
          <p:nvPr/>
        </p:nvPicPr>
        <p:blipFill>
          <a:blip r:embed="rId3"/>
          <a:stretch>
            <a:fillRect/>
          </a:stretch>
        </p:blipFill>
        <p:spPr>
          <a:xfrm>
            <a:off x="5463309" y="1575667"/>
            <a:ext cx="2996210" cy="2573357"/>
          </a:xfrm>
          <a:prstGeom prst="rect">
            <a:avLst/>
          </a:prstGeom>
        </p:spPr>
      </p:pic>
    </p:spTree>
    <p:extLst>
      <p:ext uri="{BB962C8B-B14F-4D97-AF65-F5344CB8AC3E}">
        <p14:creationId xmlns:p14="http://schemas.microsoft.com/office/powerpoint/2010/main" val="7032167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57269" y="523674"/>
            <a:ext cx="7957057" cy="1754326"/>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El modelo de cajas CSS estándar</a:t>
            </a:r>
          </a:p>
          <a:p>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El espacio que ocupa nuestra caja usando el modelo de cajas estándar será en realidad de 410 </a:t>
            </a:r>
            <a:r>
              <a:rPr lang="es-AR" sz="1600" dirty="0" err="1">
                <a:solidFill>
                  <a:srgbClr val="4A4A4A"/>
                </a:solidFill>
                <a:highlight>
                  <a:srgbClr val="FFFFFF"/>
                </a:highlight>
                <a:latin typeface="Lato"/>
                <a:ea typeface="Lato"/>
                <a:cs typeface="Lato"/>
                <a:sym typeface="Lato"/>
              </a:rPr>
              <a:t>px</a:t>
            </a:r>
            <a:r>
              <a:rPr lang="es-AR" sz="1600" dirty="0">
                <a:solidFill>
                  <a:srgbClr val="4A4A4A"/>
                </a:solidFill>
                <a:highlight>
                  <a:srgbClr val="FFFFFF"/>
                </a:highlight>
                <a:latin typeface="Lato"/>
                <a:ea typeface="Lato"/>
                <a:cs typeface="Lato"/>
                <a:sym typeface="Lato"/>
              </a:rPr>
              <a:t> (350 + 25 + 25 + 5 + 5); y su altura, de 210 </a:t>
            </a:r>
            <a:r>
              <a:rPr lang="es-AR" sz="1600" dirty="0" err="1">
                <a:solidFill>
                  <a:srgbClr val="4A4A4A"/>
                </a:solidFill>
                <a:highlight>
                  <a:srgbClr val="FFFFFF"/>
                </a:highlight>
                <a:latin typeface="Lato"/>
                <a:ea typeface="Lato"/>
                <a:cs typeface="Lato"/>
                <a:sym typeface="Lato"/>
              </a:rPr>
              <a:t>px</a:t>
            </a:r>
            <a:r>
              <a:rPr lang="es-AR" sz="1600" dirty="0">
                <a:solidFill>
                  <a:srgbClr val="4A4A4A"/>
                </a:solidFill>
                <a:highlight>
                  <a:srgbClr val="FFFFFF"/>
                </a:highlight>
                <a:latin typeface="Lato"/>
                <a:ea typeface="Lato"/>
                <a:cs typeface="Lato"/>
                <a:sym typeface="Lato"/>
              </a:rPr>
              <a:t> (150 + 25 + 25 + 5 + 5), porque el área de relleno y el borde se añaden al ancho que se utiliza para el contenido de la caja.</a:t>
            </a:r>
            <a:endParaRPr lang="es-AR" sz="1600" dirty="0">
              <a:solidFill>
                <a:schemeClr val="tx1"/>
              </a:solidFill>
              <a:highlight>
                <a:srgbClr val="FFFFFF"/>
              </a:highlight>
              <a:latin typeface="Lato"/>
              <a:ea typeface="Lato"/>
              <a:cs typeface="Lato"/>
              <a:sym typeface="Lato"/>
            </a:endParaRPr>
          </a:p>
        </p:txBody>
      </p:sp>
      <p:pic>
        <p:nvPicPr>
          <p:cNvPr id="44034" name="Picture 2" descr="Mostrar el tamaño de la caja cuando se usa el modelo de cajas estándar.">
            <a:extLst>
              <a:ext uri="{FF2B5EF4-FFF2-40B4-BE49-F238E27FC236}">
                <a16:creationId xmlns:a16="http://schemas.microsoft.com/office/drawing/2014/main" id="{1E309038-58C5-7306-F2DE-5B0614E15C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109" y="2320059"/>
            <a:ext cx="4413250" cy="264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6934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17305" y="685311"/>
            <a:ext cx="7957057" cy="4185761"/>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El modelo de cajas CSS alternativo</a:t>
            </a:r>
          </a:p>
          <a:p>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Podrías pensar que es más bien incómodo tener que sumar el borde y el área de relleno para obtener el tamaño real de la caja, ¡y tienes razón! </a:t>
            </a:r>
          </a:p>
          <a:p>
            <a:pPr marL="285750" lvl="0" indent="-285750" rtl="0">
              <a:spcBef>
                <a:spcPts val="0"/>
              </a:spcBef>
              <a:spcAft>
                <a:spcPts val="0"/>
              </a:spcAft>
              <a:buFont typeface="Arial" panose="020B0604020202020204" pitchFamily="34" charset="0"/>
              <a:buChar char="•"/>
            </a:pP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Por este motivo, CSS introdujo un modelo de caja alternativo algún tiempo después del modelo de cajas estándar. </a:t>
            </a:r>
          </a:p>
          <a:p>
            <a:pPr marL="285750" lvl="0" indent="-285750" rtl="0">
              <a:spcBef>
                <a:spcPts val="0"/>
              </a:spcBef>
              <a:spcAft>
                <a:spcPts val="0"/>
              </a:spcAft>
              <a:buFont typeface="Arial" panose="020B0604020202020204" pitchFamily="34" charset="0"/>
              <a:buChar char="•"/>
            </a:pP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Con este modelo, cualquier ancho es el ancho de la caja visible en la página, por lo tanto, el ancho del área de contenido es ese ancho menos el ancho para el relleno y el borde. </a:t>
            </a:r>
          </a:p>
          <a:p>
            <a:pPr marL="285750" lvl="0" indent="-285750" rtl="0">
              <a:spcBef>
                <a:spcPts val="0"/>
              </a:spcBef>
              <a:spcAft>
                <a:spcPts val="0"/>
              </a:spcAft>
              <a:buFont typeface="Arial" panose="020B0604020202020204" pitchFamily="34" charset="0"/>
              <a:buChar char="•"/>
            </a:pPr>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El mismo CSS que hemos usado antes daría entonces el resultado siguiente (ancho = 350 </a:t>
            </a:r>
            <a:r>
              <a:rPr lang="es-AR" sz="1800" dirty="0" err="1">
                <a:solidFill>
                  <a:srgbClr val="4A4A4A"/>
                </a:solidFill>
                <a:highlight>
                  <a:srgbClr val="FFFFFF"/>
                </a:highlight>
                <a:latin typeface="Lato"/>
                <a:ea typeface="Lato"/>
                <a:cs typeface="Lato"/>
                <a:sym typeface="Lato"/>
              </a:rPr>
              <a:t>px</a:t>
            </a:r>
            <a:r>
              <a:rPr lang="es-AR" sz="1800" dirty="0">
                <a:solidFill>
                  <a:srgbClr val="4A4A4A"/>
                </a:solidFill>
                <a:highlight>
                  <a:srgbClr val="FFFFFF"/>
                </a:highlight>
                <a:latin typeface="Lato"/>
                <a:ea typeface="Lato"/>
                <a:cs typeface="Lato"/>
                <a:sym typeface="Lato"/>
              </a:rPr>
              <a:t>, altura = 150 </a:t>
            </a:r>
            <a:r>
              <a:rPr lang="es-AR" sz="1800" dirty="0" err="1">
                <a:solidFill>
                  <a:srgbClr val="4A4A4A"/>
                </a:solidFill>
                <a:highlight>
                  <a:srgbClr val="FFFFFF"/>
                </a:highlight>
                <a:latin typeface="Lato"/>
                <a:ea typeface="Lato"/>
                <a:cs typeface="Lato"/>
                <a:sym typeface="Lato"/>
              </a:rPr>
              <a:t>px</a:t>
            </a:r>
            <a:r>
              <a:rPr lang="es-AR" sz="1800" dirty="0">
                <a:solidFill>
                  <a:srgbClr val="4A4A4A"/>
                </a:solidFill>
                <a:highlight>
                  <a:srgbClr val="FFFFFF"/>
                </a:highlight>
                <a:latin typeface="Lato"/>
                <a:ea typeface="Lato"/>
                <a:cs typeface="Lato"/>
                <a:sym typeface="Lato"/>
              </a:rPr>
              <a:t>).</a:t>
            </a:r>
            <a:endParaRPr lang="es-AR" sz="1800" dirty="0">
              <a:solidFill>
                <a:schemeClr val="tx1"/>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20312360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17305" y="685311"/>
            <a:ext cx="8137168" cy="1969770"/>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El modelo de cajas CSS alternativo</a:t>
            </a:r>
          </a:p>
          <a:p>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Por defecto, los navegadores usan el modelo de cajas estándar. Si deseas activar el modelo de cajas alternativo para un elemento, hazlo configurando box-</a:t>
            </a:r>
            <a:r>
              <a:rPr lang="es-AR" sz="1800" dirty="0" err="1">
                <a:solidFill>
                  <a:srgbClr val="4A4A4A"/>
                </a:solidFill>
                <a:highlight>
                  <a:srgbClr val="FFFFFF"/>
                </a:highlight>
                <a:latin typeface="Lato"/>
                <a:ea typeface="Lato"/>
                <a:cs typeface="Lato"/>
                <a:sym typeface="Lato"/>
              </a:rPr>
              <a:t>sizing</a:t>
            </a:r>
            <a:r>
              <a:rPr lang="es-AR" sz="1800" dirty="0">
                <a:solidFill>
                  <a:srgbClr val="4A4A4A"/>
                </a:solidFill>
                <a:highlight>
                  <a:srgbClr val="FFFFFF"/>
                </a:highlight>
                <a:latin typeface="Lato"/>
                <a:ea typeface="Lato"/>
                <a:cs typeface="Lato"/>
                <a:sym typeface="Lato"/>
              </a:rPr>
              <a:t>: </a:t>
            </a:r>
            <a:r>
              <a:rPr lang="es-AR" sz="1800" dirty="0" err="1">
                <a:solidFill>
                  <a:srgbClr val="4A4A4A"/>
                </a:solidFill>
                <a:highlight>
                  <a:srgbClr val="FFFFFF"/>
                </a:highlight>
                <a:latin typeface="Lato"/>
                <a:ea typeface="Lato"/>
                <a:cs typeface="Lato"/>
                <a:sym typeface="Lato"/>
              </a:rPr>
              <a:t>border</a:t>
            </a:r>
            <a:r>
              <a:rPr lang="es-AR" sz="1800" dirty="0">
                <a:solidFill>
                  <a:srgbClr val="4A4A4A"/>
                </a:solidFill>
                <a:highlight>
                  <a:srgbClr val="FFFFFF"/>
                </a:highlight>
                <a:latin typeface="Lato"/>
                <a:ea typeface="Lato"/>
                <a:cs typeface="Lato"/>
                <a:sym typeface="Lato"/>
              </a:rPr>
              <a:t>-box. Con ello, le dices al navegador que tome como el borde de la caja el área definida por cualquier tamaño que establezcas.</a:t>
            </a:r>
            <a:endParaRPr lang="es-AR" sz="1800" dirty="0">
              <a:solidFill>
                <a:schemeClr val="tx1"/>
              </a:solidFill>
              <a:highlight>
                <a:srgbClr val="FFFFFF"/>
              </a:highlight>
              <a:latin typeface="Lato"/>
              <a:ea typeface="Lato"/>
              <a:cs typeface="Lato"/>
              <a:sym typeface="Lato"/>
            </a:endParaRPr>
          </a:p>
        </p:txBody>
      </p:sp>
      <p:pic>
        <p:nvPicPr>
          <p:cNvPr id="46082" name="Picture 2" descr="Mostrar el tamaño de la caja cuando se usa el modelo de cajas alternativo.">
            <a:extLst>
              <a:ext uri="{FF2B5EF4-FFF2-40B4-BE49-F238E27FC236}">
                <a16:creationId xmlns:a16="http://schemas.microsoft.com/office/drawing/2014/main" id="{F558D1E8-B046-48A6-0B1B-E263178B4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4283" y="2655081"/>
            <a:ext cx="4191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5974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17305" y="685311"/>
            <a:ext cx="4788986" cy="4124206"/>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El modelo de cajas CSS alternativo</a:t>
            </a:r>
          </a:p>
          <a:p>
            <a:endParaRPr lang="es-AR" sz="18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Si quieres que todos tus elementos usen el modelo de cajas alternativo (opción común entre los desarrolladores) debes establecer la propiedad box-</a:t>
            </a:r>
            <a:r>
              <a:rPr lang="es-AR" sz="1800" dirty="0" err="1">
                <a:solidFill>
                  <a:srgbClr val="4A4A4A"/>
                </a:solidFill>
                <a:highlight>
                  <a:srgbClr val="FFFFFF"/>
                </a:highlight>
                <a:latin typeface="Lato"/>
                <a:ea typeface="Lato"/>
                <a:cs typeface="Lato"/>
                <a:sym typeface="Lato"/>
              </a:rPr>
              <a:t>sizing</a:t>
            </a:r>
            <a:r>
              <a:rPr lang="es-AR" sz="1800" dirty="0">
                <a:solidFill>
                  <a:srgbClr val="4A4A4A"/>
                </a:solidFill>
                <a:highlight>
                  <a:srgbClr val="FFFFFF"/>
                </a:highlight>
                <a:latin typeface="Lato"/>
                <a:ea typeface="Lato"/>
                <a:cs typeface="Lato"/>
                <a:sym typeface="Lato"/>
              </a:rPr>
              <a:t> en el elemento &lt;</a:t>
            </a:r>
            <a:r>
              <a:rPr lang="es-AR" sz="1800" dirty="0" err="1">
                <a:solidFill>
                  <a:srgbClr val="4A4A4A"/>
                </a:solidFill>
                <a:highlight>
                  <a:srgbClr val="FFFFFF"/>
                </a:highlight>
                <a:latin typeface="Lato"/>
                <a:ea typeface="Lato"/>
                <a:cs typeface="Lato"/>
                <a:sym typeface="Lato"/>
              </a:rPr>
              <a:t>html</a:t>
            </a:r>
            <a:r>
              <a:rPr lang="es-AR" sz="1800" dirty="0">
                <a:solidFill>
                  <a:srgbClr val="4A4A4A"/>
                </a:solidFill>
                <a:highlight>
                  <a:srgbClr val="FFFFFF"/>
                </a:highlight>
                <a:latin typeface="Lato"/>
                <a:ea typeface="Lato"/>
                <a:cs typeface="Lato"/>
                <a:sym typeface="Lato"/>
              </a:rPr>
              <a:t>&gt;. Luego debes configurar todos los demás elementos para que hereden ese valor, como se ve en el fragmento de código siguiente. Si deseas comprender qué hay detrás, consulta el artículo de CSS-</a:t>
            </a:r>
            <a:r>
              <a:rPr lang="es-AR" sz="1800" dirty="0" err="1">
                <a:solidFill>
                  <a:srgbClr val="4A4A4A"/>
                </a:solidFill>
                <a:highlight>
                  <a:srgbClr val="FFFFFF"/>
                </a:highlight>
                <a:latin typeface="Lato"/>
                <a:ea typeface="Lato"/>
                <a:cs typeface="Lato"/>
                <a:sym typeface="Lato"/>
              </a:rPr>
              <a:t>Tricks</a:t>
            </a:r>
            <a:r>
              <a:rPr lang="es-AR" sz="1800" dirty="0">
                <a:solidFill>
                  <a:srgbClr val="4A4A4A"/>
                </a:solidFill>
                <a:highlight>
                  <a:srgbClr val="FFFFFF"/>
                </a:highlight>
                <a:latin typeface="Lato"/>
                <a:ea typeface="Lato"/>
                <a:cs typeface="Lato"/>
                <a:sym typeface="Lato"/>
              </a:rPr>
              <a:t> sobre el tamaño de las cajas.</a:t>
            </a:r>
            <a:endParaRPr lang="es-AR" sz="1800" dirty="0">
              <a:solidFill>
                <a:schemeClr val="tx1"/>
              </a:solidFill>
              <a:highlight>
                <a:srgbClr val="FFFFFF"/>
              </a:highlight>
              <a:latin typeface="Lato"/>
              <a:ea typeface="Lato"/>
              <a:cs typeface="Lato"/>
              <a:sym typeface="Lato"/>
            </a:endParaRPr>
          </a:p>
        </p:txBody>
      </p:sp>
      <p:pic>
        <p:nvPicPr>
          <p:cNvPr id="3" name="Imagen 2">
            <a:extLst>
              <a:ext uri="{FF2B5EF4-FFF2-40B4-BE49-F238E27FC236}">
                <a16:creationId xmlns:a16="http://schemas.microsoft.com/office/drawing/2014/main" id="{6068261E-A8C2-69B5-049E-B23F7A503813}"/>
              </a:ext>
            </a:extLst>
          </p:cNvPr>
          <p:cNvPicPr>
            <a:picLocks noChangeAspect="1"/>
          </p:cNvPicPr>
          <p:nvPr/>
        </p:nvPicPr>
        <p:blipFill>
          <a:blip r:embed="rId3"/>
          <a:stretch>
            <a:fillRect/>
          </a:stretch>
        </p:blipFill>
        <p:spPr>
          <a:xfrm>
            <a:off x="6005640" y="1222597"/>
            <a:ext cx="2295845" cy="952633"/>
          </a:xfrm>
          <a:prstGeom prst="rect">
            <a:avLst/>
          </a:prstGeom>
        </p:spPr>
      </p:pic>
      <p:pic>
        <p:nvPicPr>
          <p:cNvPr id="6" name="Imagen 5">
            <a:extLst>
              <a:ext uri="{FF2B5EF4-FFF2-40B4-BE49-F238E27FC236}">
                <a16:creationId xmlns:a16="http://schemas.microsoft.com/office/drawing/2014/main" id="{8F151AB4-8ABA-7E12-2714-83E31FC34517}"/>
              </a:ext>
            </a:extLst>
          </p:cNvPr>
          <p:cNvPicPr>
            <a:picLocks noChangeAspect="1"/>
          </p:cNvPicPr>
          <p:nvPr/>
        </p:nvPicPr>
        <p:blipFill>
          <a:blip r:embed="rId4"/>
          <a:stretch>
            <a:fillRect/>
          </a:stretch>
        </p:blipFill>
        <p:spPr>
          <a:xfrm>
            <a:off x="5962771" y="2439971"/>
            <a:ext cx="2381582" cy="2286319"/>
          </a:xfrm>
          <a:prstGeom prst="rect">
            <a:avLst/>
          </a:prstGeom>
        </p:spPr>
      </p:pic>
    </p:spTree>
    <p:extLst>
      <p:ext uri="{BB962C8B-B14F-4D97-AF65-F5344CB8AC3E}">
        <p14:creationId xmlns:p14="http://schemas.microsoft.com/office/powerpoint/2010/main" val="40832856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57270" y="523674"/>
            <a:ext cx="3768366" cy="4216539"/>
          </a:xfrm>
          <a:prstGeom prst="rect">
            <a:avLst/>
          </a:prstGeom>
          <a:noFill/>
        </p:spPr>
        <p:txBody>
          <a:bodyPr wrap="square">
            <a:spAutoFit/>
          </a:bodyPr>
          <a:lstStyle/>
          <a:p>
            <a:r>
              <a:rPr lang="es-AR" sz="2400" dirty="0">
                <a:solidFill>
                  <a:srgbClr val="BE3969"/>
                </a:solidFill>
                <a:highlight>
                  <a:srgbClr val="FFFFFF"/>
                </a:highlight>
                <a:latin typeface="Russo One"/>
                <a:ea typeface="Lato"/>
                <a:cs typeface="Lato"/>
                <a:sym typeface="Russo One"/>
              </a:rPr>
              <a:t>Utilizar las </a:t>
            </a:r>
            <a:r>
              <a:rPr lang="es-AR" sz="2400" dirty="0" err="1">
                <a:solidFill>
                  <a:srgbClr val="BE3969"/>
                </a:solidFill>
                <a:highlight>
                  <a:srgbClr val="FFFFFF"/>
                </a:highlight>
                <a:latin typeface="Russo One"/>
                <a:ea typeface="Lato"/>
                <a:cs typeface="Lato"/>
                <a:sym typeface="Russo One"/>
              </a:rPr>
              <a:t>DevTools</a:t>
            </a:r>
            <a:r>
              <a:rPr lang="es-AR" sz="2400" dirty="0">
                <a:solidFill>
                  <a:srgbClr val="BE3969"/>
                </a:solidFill>
                <a:highlight>
                  <a:srgbClr val="FFFFFF"/>
                </a:highlight>
                <a:latin typeface="Russo One"/>
                <a:ea typeface="Lato"/>
                <a:cs typeface="Lato"/>
                <a:sym typeface="Russo One"/>
              </a:rPr>
              <a:t> del navegador para ver el modelo de cajas</a:t>
            </a:r>
          </a:p>
          <a:p>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Las herramientas del desarrollador de tu navegador pueden facilitar la comprensión del modelo de cajas. </a:t>
            </a: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Si inspeccionas un elemento con las </a:t>
            </a:r>
            <a:r>
              <a:rPr lang="es-AR" dirty="0" err="1">
                <a:solidFill>
                  <a:srgbClr val="4A4A4A"/>
                </a:solidFill>
                <a:highlight>
                  <a:srgbClr val="FFFFFF"/>
                </a:highlight>
                <a:latin typeface="Lato"/>
                <a:ea typeface="Lato"/>
                <a:cs typeface="Lato"/>
                <a:sym typeface="Lato"/>
              </a:rPr>
              <a:t>DevTools</a:t>
            </a:r>
            <a:r>
              <a:rPr lang="es-AR" dirty="0">
                <a:solidFill>
                  <a:srgbClr val="4A4A4A"/>
                </a:solidFill>
                <a:highlight>
                  <a:srgbClr val="FFFFFF"/>
                </a:highlight>
                <a:latin typeface="Lato"/>
                <a:ea typeface="Lato"/>
                <a:cs typeface="Lato"/>
                <a:sym typeface="Lato"/>
              </a:rPr>
              <a:t> de Firefox, puedes ver el tamaño del elemento más su margen, área de relleno y borde. </a:t>
            </a:r>
          </a:p>
          <a:p>
            <a:pPr marL="285750" lvl="0" indent="-285750" rtl="0">
              <a:spcBef>
                <a:spcPts val="0"/>
              </a:spcBef>
              <a:spcAft>
                <a:spcPts val="0"/>
              </a:spcAft>
              <a:buFont typeface="Arial" panose="020B0604020202020204" pitchFamily="34" charset="0"/>
              <a:buChar char="•"/>
            </a:pPr>
            <a:endParaRPr lang="es-AR"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dirty="0">
                <a:solidFill>
                  <a:srgbClr val="4A4A4A"/>
                </a:solidFill>
                <a:highlight>
                  <a:srgbClr val="FFFFFF"/>
                </a:highlight>
                <a:latin typeface="Lato"/>
                <a:ea typeface="Lato"/>
                <a:cs typeface="Lato"/>
                <a:sym typeface="Lato"/>
              </a:rPr>
              <a:t>Inspeccionar un elemento de esta manera es un modo excelente de descubrir si tu caja es en realidad del tamaño que crees que es.</a:t>
            </a:r>
            <a:endParaRPr lang="es-AR" dirty="0">
              <a:solidFill>
                <a:schemeClr val="tx1"/>
              </a:solidFill>
              <a:highlight>
                <a:srgbClr val="FFFFFF"/>
              </a:highlight>
              <a:latin typeface="Lato"/>
              <a:ea typeface="Lato"/>
              <a:cs typeface="Lato"/>
              <a:sym typeface="Lato"/>
            </a:endParaRPr>
          </a:p>
        </p:txBody>
      </p:sp>
      <p:pic>
        <p:nvPicPr>
          <p:cNvPr id="2050" name="Picture 2" descr="Inspeccionar el modelo de cajas de un elemento utilizando Firefox DevTools">
            <a:extLst>
              <a:ext uri="{FF2B5EF4-FFF2-40B4-BE49-F238E27FC236}">
                <a16:creationId xmlns:a16="http://schemas.microsoft.com/office/drawing/2014/main" id="{B37A5B6B-690C-4F56-2C5F-70F047E674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497" y="1641600"/>
            <a:ext cx="3987368" cy="2368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03936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AC3FF"/>
        </a:solidFill>
        <a:effectLst/>
      </p:bgPr>
    </p:bg>
    <p:spTree>
      <p:nvGrpSpPr>
        <p:cNvPr id="1" name="Shape 152"/>
        <p:cNvGrpSpPr/>
        <p:nvPr/>
      </p:nvGrpSpPr>
      <p:grpSpPr>
        <a:xfrm>
          <a:off x="0" y="0"/>
          <a:ext cx="0" cy="0"/>
          <a:chOff x="0" y="0"/>
          <a:chExt cx="0" cy="0"/>
        </a:xfrm>
      </p:grpSpPr>
      <p:sp>
        <p:nvSpPr>
          <p:cNvPr id="153" name="Google Shape;153;p24"/>
          <p:cNvSpPr txBox="1">
            <a:spLocks noGrp="1"/>
          </p:cNvSpPr>
          <p:nvPr>
            <p:ph type="title" idx="4294967295"/>
          </p:nvPr>
        </p:nvSpPr>
        <p:spPr>
          <a:xfrm>
            <a:off x="798945" y="1771795"/>
            <a:ext cx="4129088" cy="534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s" sz="4400" dirty="0">
                <a:solidFill>
                  <a:srgbClr val="4A4A4A"/>
                </a:solidFill>
                <a:latin typeface="Russo One"/>
                <a:ea typeface="Russo One"/>
                <a:cs typeface="Russo One"/>
                <a:sym typeface="Russo One"/>
              </a:rPr>
              <a:t>Veamos un ejemplo de </a:t>
            </a:r>
            <a:endParaRPr sz="4400" dirty="0">
              <a:solidFill>
                <a:srgbClr val="4A4A4A"/>
              </a:solidFill>
              <a:latin typeface="Russo One"/>
              <a:ea typeface="Russo One"/>
              <a:cs typeface="Russo One"/>
              <a:sym typeface="Russo One"/>
            </a:endParaRPr>
          </a:p>
          <a:p>
            <a:pPr marL="0" lvl="0" indent="0" algn="l" rtl="0">
              <a:spcBef>
                <a:spcPts val="0"/>
              </a:spcBef>
              <a:spcAft>
                <a:spcPts val="0"/>
              </a:spcAft>
              <a:buSzPts val="990"/>
              <a:buNone/>
            </a:pPr>
            <a:r>
              <a:rPr lang="es" sz="4400" dirty="0">
                <a:solidFill>
                  <a:srgbClr val="CD0055"/>
                </a:solidFill>
                <a:latin typeface="Russo One"/>
                <a:ea typeface="Russo One"/>
                <a:cs typeface="Russo One"/>
                <a:sym typeface="Russo One"/>
              </a:rPr>
              <a:t>este tema</a:t>
            </a:r>
            <a:endParaRPr sz="4400" dirty="0">
              <a:solidFill>
                <a:srgbClr val="CD0055"/>
              </a:solidFill>
              <a:latin typeface="Russo One"/>
              <a:ea typeface="Russo One"/>
              <a:cs typeface="Russo One"/>
              <a:sym typeface="Russo One"/>
            </a:endParaRPr>
          </a:p>
        </p:txBody>
      </p:sp>
      <p:pic>
        <p:nvPicPr>
          <p:cNvPr id="154" name="Google Shape;154;p24"/>
          <p:cNvPicPr preferRelativeResize="0"/>
          <p:nvPr/>
        </p:nvPicPr>
        <p:blipFill>
          <a:blip r:embed="rId3">
            <a:alphaModFix/>
          </a:blip>
          <a:stretch>
            <a:fillRect/>
          </a:stretch>
        </p:blipFill>
        <p:spPr>
          <a:xfrm>
            <a:off x="4437025" y="691975"/>
            <a:ext cx="4392225" cy="43922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BE3969"/>
        </a:solidFill>
        <a:effectLst/>
      </p:bgPr>
    </p:bg>
    <p:spTree>
      <p:nvGrpSpPr>
        <p:cNvPr id="1" name="Shape 158"/>
        <p:cNvGrpSpPr/>
        <p:nvPr/>
      </p:nvGrpSpPr>
      <p:grpSpPr>
        <a:xfrm>
          <a:off x="0" y="0"/>
          <a:ext cx="0" cy="0"/>
          <a:chOff x="0" y="0"/>
          <a:chExt cx="0" cy="0"/>
        </a:xfrm>
      </p:grpSpPr>
      <p:sp>
        <p:nvSpPr>
          <p:cNvPr id="159" name="Google Shape;159;p25"/>
          <p:cNvSpPr txBox="1">
            <a:spLocks noGrp="1"/>
          </p:cNvSpPr>
          <p:nvPr>
            <p:ph type="title" idx="4294967295"/>
          </p:nvPr>
        </p:nvSpPr>
        <p:spPr>
          <a:xfrm>
            <a:off x="701964" y="1198995"/>
            <a:ext cx="4135438" cy="28876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s" sz="4400" dirty="0">
                <a:solidFill>
                  <a:srgbClr val="EAC3FF"/>
                </a:solidFill>
                <a:latin typeface="Russo One"/>
                <a:ea typeface="Russo One"/>
                <a:cs typeface="Russo One"/>
                <a:sym typeface="Russo One"/>
              </a:rPr>
              <a:t>Ahora es momento </a:t>
            </a:r>
            <a:endParaRPr sz="4400" dirty="0">
              <a:solidFill>
                <a:srgbClr val="EAC3FF"/>
              </a:solidFill>
              <a:latin typeface="Russo One"/>
              <a:ea typeface="Russo One"/>
              <a:cs typeface="Russo One"/>
              <a:sym typeface="Russo One"/>
            </a:endParaRPr>
          </a:p>
          <a:p>
            <a:pPr marL="0" lvl="0" indent="0" algn="l" rtl="0">
              <a:spcBef>
                <a:spcPts val="0"/>
              </a:spcBef>
              <a:spcAft>
                <a:spcPts val="0"/>
              </a:spcAft>
              <a:buSzPts val="990"/>
              <a:buNone/>
            </a:pPr>
            <a:r>
              <a:rPr lang="es" sz="4400" dirty="0">
                <a:solidFill>
                  <a:srgbClr val="EAC3FF"/>
                </a:solidFill>
                <a:latin typeface="Russo One"/>
                <a:ea typeface="Russo One"/>
                <a:cs typeface="Russo One"/>
                <a:sym typeface="Russo One"/>
              </a:rPr>
              <a:t>de aplicar </a:t>
            </a:r>
            <a:r>
              <a:rPr lang="es" sz="4400" dirty="0">
                <a:solidFill>
                  <a:srgbClr val="F0F000"/>
                </a:solidFill>
                <a:latin typeface="Russo One"/>
                <a:ea typeface="Russo One"/>
                <a:cs typeface="Russo One"/>
                <a:sym typeface="Russo One"/>
              </a:rPr>
              <a:t>lo aprendido en clase</a:t>
            </a:r>
            <a:endParaRPr sz="4400" dirty="0">
              <a:solidFill>
                <a:srgbClr val="F0F000"/>
              </a:solidFill>
              <a:latin typeface="Russo One"/>
              <a:ea typeface="Russo One"/>
              <a:cs typeface="Russo One"/>
              <a:sym typeface="Russo One"/>
            </a:endParaRPr>
          </a:p>
        </p:txBody>
      </p:sp>
      <p:pic>
        <p:nvPicPr>
          <p:cNvPr id="160" name="Google Shape;160;p25"/>
          <p:cNvPicPr preferRelativeResize="0"/>
          <p:nvPr/>
        </p:nvPicPr>
        <p:blipFill>
          <a:blip r:embed="rId3">
            <a:alphaModFix/>
          </a:blip>
          <a:stretch>
            <a:fillRect/>
          </a:stretch>
        </p:blipFill>
        <p:spPr>
          <a:xfrm>
            <a:off x="4739375" y="951150"/>
            <a:ext cx="4078050" cy="40780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8853" y="984991"/>
            <a:ext cx="8197130" cy="2185214"/>
          </a:xfrm>
          <a:prstGeom prst="rect">
            <a:avLst/>
          </a:prstGeom>
          <a:noFill/>
        </p:spPr>
        <p:txBody>
          <a:bodyPr wrap="square">
            <a:spAutoFit/>
          </a:bodyPr>
          <a:lstStyle/>
          <a:p>
            <a:r>
              <a:rPr lang="es-AR" sz="4000" dirty="0">
                <a:solidFill>
                  <a:srgbClr val="BE3969"/>
                </a:solidFill>
                <a:highlight>
                  <a:srgbClr val="FFFFFF"/>
                </a:highlight>
                <a:latin typeface="Russo One"/>
                <a:ea typeface="Lato"/>
                <a:cs typeface="Lato"/>
                <a:sym typeface="Russo One"/>
              </a:rPr>
              <a:t>Ejercitación</a:t>
            </a:r>
          </a:p>
          <a:p>
            <a:pPr lvl="0" rtl="0">
              <a:spcBef>
                <a:spcPts val="0"/>
              </a:spcBef>
              <a:spcAft>
                <a:spcPts val="0"/>
              </a:spcAft>
            </a:pPr>
            <a:endParaRPr lang="es-AR" sz="2400" b="1" dirty="0">
              <a:solidFill>
                <a:schemeClr val="tx1"/>
              </a:solidFill>
              <a:highlight>
                <a:srgbClr val="FFFFFF"/>
              </a:highlight>
              <a:latin typeface="Lato"/>
              <a:ea typeface="Lato"/>
              <a:cs typeface="Lato"/>
              <a:sym typeface="Lato"/>
            </a:endParaRPr>
          </a:p>
          <a:p>
            <a:pPr marL="457200" lvl="0" indent="-457200" rtl="0">
              <a:spcBef>
                <a:spcPts val="0"/>
              </a:spcBef>
              <a:spcAft>
                <a:spcPts val="0"/>
              </a:spcAft>
              <a:buFont typeface="Arial" panose="020B0604020202020204" pitchFamily="34" charset="0"/>
              <a:buChar char="•"/>
            </a:pPr>
            <a:r>
              <a:rPr lang="es-AR" sz="2400" b="1" dirty="0">
                <a:solidFill>
                  <a:schemeClr val="tx1"/>
                </a:solidFill>
                <a:highlight>
                  <a:srgbClr val="FFFFFF"/>
                </a:highlight>
                <a:latin typeface="Lato"/>
                <a:ea typeface="Lato"/>
                <a:cs typeface="Lato"/>
                <a:sym typeface="Lato"/>
                <a:hlinkClick r:id="rId3"/>
              </a:rPr>
              <a:t>https://github.com/Ada-IT/ejercicios-frontend/blob/master/modulo-1/ejercicios/06-modelo-de-caja.md</a:t>
            </a:r>
            <a:r>
              <a:rPr lang="es-AR" sz="2400" b="1" dirty="0">
                <a:solidFill>
                  <a:schemeClr val="tx1"/>
                </a:solidFill>
                <a:highlight>
                  <a:srgbClr val="FFFFFF"/>
                </a:highlight>
                <a:latin typeface="Lato"/>
                <a:ea typeface="Lato"/>
                <a:cs typeface="Lato"/>
                <a:sym typeface="Lato"/>
              </a:rPr>
              <a:t> </a:t>
            </a:r>
          </a:p>
        </p:txBody>
      </p:sp>
    </p:spTree>
    <p:extLst>
      <p:ext uri="{BB962C8B-B14F-4D97-AF65-F5344CB8AC3E}">
        <p14:creationId xmlns:p14="http://schemas.microsoft.com/office/powerpoint/2010/main" val="4163936071"/>
      </p:ext>
    </p:extLst>
  </p:cSld>
  <p:clrMapOvr>
    <a:masterClrMapping/>
  </p:clrMapOvr>
</p:sld>
</file>

<file path=ppt/theme/theme1.xml><?xml version="1.0" encoding="utf-8"?>
<a:theme xmlns:a="http://schemas.openxmlformats.org/drawingml/2006/main" name="Simple Light">
  <a:themeElements>
    <a:clrScheme name="Simple Light">
      <a:dk1>
        <a:srgbClr val="CD0055"/>
      </a:dk1>
      <a:lt1>
        <a:srgbClr val="FFFFFF"/>
      </a:lt1>
      <a:dk2>
        <a:srgbClr val="000000"/>
      </a:dk2>
      <a:lt2>
        <a:srgbClr val="F0F000"/>
      </a:lt2>
      <a:accent1>
        <a:srgbClr val="FF9936"/>
      </a:accent1>
      <a:accent2>
        <a:srgbClr val="E98FB5"/>
      </a:accent2>
      <a:accent3>
        <a:srgbClr val="F2D6E1"/>
      </a:accent3>
      <a:accent4>
        <a:srgbClr val="FFAB40"/>
      </a:accent4>
      <a:accent5>
        <a:srgbClr val="9E0046"/>
      </a:accent5>
      <a:accent6>
        <a:srgbClr val="455A64"/>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2009</TotalTime>
  <Words>4005</Words>
  <Application>Microsoft Office PowerPoint</Application>
  <PresentationFormat>Presentación en pantalla (16:9)</PresentationFormat>
  <Paragraphs>466</Paragraphs>
  <Slides>53</Slides>
  <Notes>53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53</vt:i4>
      </vt:variant>
    </vt:vector>
  </HeadingPairs>
  <TitlesOfParts>
    <vt:vector size="57" baseType="lpstr">
      <vt:lpstr>Russo One</vt:lpstr>
      <vt:lpstr>Lato</vt: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Veamos un ejemplo de  este tema</vt:lpstr>
      <vt:lpstr>Ahora es momento  de aplicar lo aprendido en clase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Franco Ojeda</cp:lastModifiedBy>
  <cp:revision>9</cp:revision>
  <dcterms:modified xsi:type="dcterms:W3CDTF">2025-01-02T20:26:02Z</dcterms:modified>
</cp:coreProperties>
</file>