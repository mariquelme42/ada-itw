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62" r:id="rId2"/>
    <p:sldId id="288" r:id="rId3"/>
    <p:sldId id="353" r:id="rId4"/>
    <p:sldId id="354" r:id="rId5"/>
    <p:sldId id="355" r:id="rId6"/>
    <p:sldId id="356" r:id="rId7"/>
    <p:sldId id="366" r:id="rId8"/>
    <p:sldId id="357" r:id="rId9"/>
    <p:sldId id="367" r:id="rId10"/>
    <p:sldId id="369" r:id="rId11"/>
    <p:sldId id="370" r:id="rId12"/>
    <p:sldId id="371" r:id="rId13"/>
    <p:sldId id="372" r:id="rId14"/>
    <p:sldId id="368" r:id="rId15"/>
    <p:sldId id="358" r:id="rId16"/>
    <p:sldId id="359" r:id="rId17"/>
    <p:sldId id="360" r:id="rId18"/>
    <p:sldId id="361" r:id="rId19"/>
    <p:sldId id="267" r:id="rId20"/>
    <p:sldId id="362" r:id="rId21"/>
    <p:sldId id="363" r:id="rId22"/>
    <p:sldId id="364" r:id="rId23"/>
    <p:sldId id="365" r:id="rId24"/>
    <p:sldId id="268" r:id="rId25"/>
    <p:sldId id="373" r:id="rId26"/>
  </p:sldIdLst>
  <p:sldSz cx="9144000" cy="5143500" type="screen16x9"/>
  <p:notesSz cx="6858000" cy="9144000"/>
  <p:embeddedFontLst>
    <p:embeddedFont>
      <p:font typeface="Lato" panose="020F0502020204030203" pitchFamily="34" charset="0"/>
      <p:regular r:id="rId28"/>
      <p:bold r:id="rId29"/>
      <p:italic r:id="rId30"/>
      <p:boldItalic r:id="rId31"/>
    </p:embeddedFont>
    <p:embeddedFont>
      <p:font typeface="Russo One" panose="020B0604020202020204"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ernardita Bauque" initials="" lastIdx="4" clrIdx="0"/>
  <p:cmAuthor id="1" name="catalina llarin"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18CB89-29BF-476F-BAC4-F03CFA606FF7}">
  <a:tblStyle styleId="{B718CB89-29BF-476F-BAC4-F03CFA606F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d6070746ec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d6070746ec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4587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5999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7731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3366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8709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3310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9953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799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1929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2200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8991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049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7812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6267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3966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81896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353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6070746e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d6070746e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31947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61913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6881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9207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d6070746e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d6070746e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6070746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6070746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4000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grpSp>
        <p:nvGrpSpPr>
          <p:cNvPr id="50" name="Google Shape;50;p12"/>
          <p:cNvGrpSpPr/>
          <p:nvPr/>
        </p:nvGrpSpPr>
        <p:grpSpPr>
          <a:xfrm>
            <a:off x="-9875" y="-4950"/>
            <a:ext cx="9153900" cy="770700"/>
            <a:chOff x="-9875" y="-4950"/>
            <a:chExt cx="9153900" cy="770700"/>
          </a:xfrm>
        </p:grpSpPr>
        <p:sp>
          <p:nvSpPr>
            <p:cNvPr id="51" name="Google Shape;51;p12"/>
            <p:cNvSpPr/>
            <p:nvPr/>
          </p:nvSpPr>
          <p:spPr>
            <a:xfrm>
              <a:off x="-9875" y="-4950"/>
              <a:ext cx="9153900" cy="770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2" name="Google Shape;52;p12"/>
            <p:cNvPicPr preferRelativeResize="0"/>
            <p:nvPr/>
          </p:nvPicPr>
          <p:blipFill>
            <a:blip r:embed="rId2">
              <a:alphaModFix/>
            </a:blip>
            <a:stretch>
              <a:fillRect/>
            </a:stretch>
          </p:blipFill>
          <p:spPr>
            <a:xfrm>
              <a:off x="7712025" y="109800"/>
              <a:ext cx="1048575" cy="541200"/>
            </a:xfrm>
            <a:prstGeom prst="rect">
              <a:avLst/>
            </a:prstGeom>
            <a:solidFill>
              <a:schemeClr val="lt1"/>
            </a:solid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es.learnlayout.com/" TargetMode="External"/><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hyperlink" Target="http://www.barelyfitz.com/screencast/html-training/css/positioning"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hyperlink" Target="https://ada7matm.github.io/pages/position.html" TargetMode="External"/><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hyperlink" Target="https://developer.mozilla.org/es/docs/Web/CSS/position" TargetMode="External"/><Relationship Id="rId2" Type="http://schemas.openxmlformats.org/officeDocument/2006/relationships/notesSlide" Target="../notesSlides/notesSlide23.xml"/><Relationship Id="rId1" Type="http://schemas.openxmlformats.org/officeDocument/2006/relationships/slideLayout" Target="../slideLayouts/slideLayout10.xml"/><Relationship Id="rId6" Type="http://schemas.openxmlformats.org/officeDocument/2006/relationships/hyperlink" Target="https://cssreference.io/positioning/" TargetMode="External"/><Relationship Id="rId5" Type="http://schemas.openxmlformats.org/officeDocument/2006/relationships/hyperlink" Target="https://www.internetingishard.com/html-and-css/advanced-positioning/" TargetMode="External"/><Relationship Id="rId4" Type="http://schemas.openxmlformats.org/officeDocument/2006/relationships/hyperlink" Target="https://developer.mozilla.org/es/docs/Web/CSS/CSS_Positioning/entendiendo_z_index"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Ada-IT/ejercicios-frontend/tree/master/modulo-2/ejercicios/posicionamiento" TargetMode="External"/><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19"/>
          <p:cNvSpPr txBox="1">
            <a:spLocks noGrp="1"/>
          </p:cNvSpPr>
          <p:nvPr>
            <p:ph type="body" idx="4294967295"/>
          </p:nvPr>
        </p:nvSpPr>
        <p:spPr>
          <a:xfrm>
            <a:off x="748145" y="789566"/>
            <a:ext cx="5024582" cy="2262187"/>
          </a:xfrm>
          <a:prstGeom prst="rect">
            <a:avLst/>
          </a:prstGeom>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s-AR" sz="4400" b="1" dirty="0">
                <a:solidFill>
                  <a:srgbClr val="CD0055"/>
                </a:solidFill>
                <a:latin typeface="Russo One"/>
                <a:ea typeface="Russo One"/>
                <a:cs typeface="Russo One"/>
                <a:sym typeface="Russo One"/>
              </a:rPr>
              <a:t>Clase 13 :</a:t>
            </a:r>
          </a:p>
          <a:p>
            <a:pPr marL="0" lvl="0" indent="0" algn="l" rtl="0">
              <a:lnSpc>
                <a:spcPct val="120000"/>
              </a:lnSpc>
              <a:spcBef>
                <a:spcPts val="0"/>
              </a:spcBef>
              <a:spcAft>
                <a:spcPts val="0"/>
              </a:spcAft>
              <a:buNone/>
            </a:pPr>
            <a:r>
              <a:rPr lang="es-AR" sz="4400" b="1" dirty="0">
                <a:solidFill>
                  <a:srgbClr val="CD0055"/>
                </a:solidFill>
                <a:latin typeface="Russo One"/>
                <a:sym typeface="Russo One"/>
              </a:rPr>
              <a:t>Sistema de posicionamiento en CSS</a:t>
            </a:r>
            <a:endParaRPr sz="4000" dirty="0"/>
          </a:p>
        </p:txBody>
      </p:sp>
      <p:pic>
        <p:nvPicPr>
          <p:cNvPr id="114" name="Google Shape;114;p19"/>
          <p:cNvPicPr preferRelativeResize="0"/>
          <p:nvPr/>
        </p:nvPicPr>
        <p:blipFill>
          <a:blip r:embed="rId3">
            <a:alphaModFix/>
          </a:blip>
          <a:stretch>
            <a:fillRect/>
          </a:stretch>
        </p:blipFill>
        <p:spPr>
          <a:xfrm>
            <a:off x="5244234" y="1215032"/>
            <a:ext cx="3424075" cy="34039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10" name="Imagen 9">
            <a:extLst>
              <a:ext uri="{FF2B5EF4-FFF2-40B4-BE49-F238E27FC236}">
                <a16:creationId xmlns:a16="http://schemas.microsoft.com/office/drawing/2014/main" id="{437777EF-90F3-E966-8050-96D4E3F5B69A}"/>
              </a:ext>
            </a:extLst>
          </p:cNvPr>
          <p:cNvPicPr>
            <a:picLocks noChangeAspect="1"/>
          </p:cNvPicPr>
          <p:nvPr/>
        </p:nvPicPr>
        <p:blipFill>
          <a:blip r:embed="rId3"/>
          <a:stretch>
            <a:fillRect/>
          </a:stretch>
        </p:blipFill>
        <p:spPr>
          <a:xfrm>
            <a:off x="0" y="0"/>
            <a:ext cx="9144000" cy="5143500"/>
          </a:xfrm>
          <a:prstGeom prst="rect">
            <a:avLst/>
          </a:prstGeom>
        </p:spPr>
      </p:pic>
      <p:sp>
        <p:nvSpPr>
          <p:cNvPr id="11" name="Google Shape;71;p15"/>
          <p:cNvSpPr txBox="1">
            <a:spLocks/>
          </p:cNvSpPr>
          <p:nvPr/>
        </p:nvSpPr>
        <p:spPr>
          <a:xfrm>
            <a:off x="1778000" y="1738312"/>
            <a:ext cx="6105236" cy="12167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AR" sz="5400" dirty="0">
                <a:solidFill>
                  <a:schemeClr val="tx1"/>
                </a:solidFill>
                <a:latin typeface="Russo One"/>
                <a:ea typeface="Russo One"/>
                <a:cs typeface="Russo One"/>
                <a:sym typeface="Russo One"/>
              </a:rPr>
              <a:t>Formas de posicionamiento</a:t>
            </a:r>
          </a:p>
        </p:txBody>
      </p:sp>
    </p:spTree>
    <p:extLst>
      <p:ext uri="{BB962C8B-B14F-4D97-AF65-F5344CB8AC3E}">
        <p14:creationId xmlns:p14="http://schemas.microsoft.com/office/powerpoint/2010/main" val="3609074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6" y="688695"/>
            <a:ext cx="8035349" cy="2492990"/>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Posicionamiento Normal</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Cada elemento en bloque aparece en una línea nueva haciendo que el resto del contenido baje como se espera. Este es el comportamiento por default</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Para establecer el posicionamiento de los elementos utilizamos la propiedad position</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Si queremos que un elemento se comporte de manera normal no tenemos que agregar ninguna propiedad ya que como dijimos es la forma default</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En caso de tener que establecer que un elemento tiene que volver a tener posición normal utilizamos el valor </a:t>
            </a:r>
            <a:r>
              <a:rPr lang="es-AR" sz="1600" dirty="0" err="1">
                <a:solidFill>
                  <a:srgbClr val="4A4A4A"/>
                </a:solidFill>
                <a:highlight>
                  <a:srgbClr val="FFFFFF"/>
                </a:highlight>
                <a:latin typeface="Lato"/>
                <a:ea typeface="Lato"/>
                <a:cs typeface="Lato"/>
                <a:sym typeface="Lato"/>
              </a:rPr>
              <a:t>static</a:t>
            </a:r>
            <a:endParaRPr lang="es-AR" sz="1600" dirty="0">
              <a:solidFill>
                <a:srgbClr val="4A4A4A"/>
              </a:solidFill>
              <a:highlight>
                <a:srgbClr val="FFFFFF"/>
              </a:highlight>
              <a:latin typeface="Lato"/>
              <a:ea typeface="Lato"/>
              <a:cs typeface="Lato"/>
              <a:sym typeface="Lato"/>
            </a:endParaRPr>
          </a:p>
        </p:txBody>
      </p:sp>
      <p:pic>
        <p:nvPicPr>
          <p:cNvPr id="3" name="Imagen 2">
            <a:extLst>
              <a:ext uri="{FF2B5EF4-FFF2-40B4-BE49-F238E27FC236}">
                <a16:creationId xmlns:a16="http://schemas.microsoft.com/office/drawing/2014/main" id="{3E619AD0-F806-009C-B9C8-C757C4EBD96C}"/>
              </a:ext>
            </a:extLst>
          </p:cNvPr>
          <p:cNvPicPr>
            <a:picLocks noChangeAspect="1"/>
          </p:cNvPicPr>
          <p:nvPr/>
        </p:nvPicPr>
        <p:blipFill>
          <a:blip r:embed="rId3"/>
          <a:stretch>
            <a:fillRect/>
          </a:stretch>
        </p:blipFill>
        <p:spPr>
          <a:xfrm>
            <a:off x="3033519" y="3359924"/>
            <a:ext cx="2772162" cy="1314633"/>
          </a:xfrm>
          <a:prstGeom prst="rect">
            <a:avLst/>
          </a:prstGeom>
        </p:spPr>
      </p:pic>
    </p:spTree>
    <p:extLst>
      <p:ext uri="{BB962C8B-B14F-4D97-AF65-F5344CB8AC3E}">
        <p14:creationId xmlns:p14="http://schemas.microsoft.com/office/powerpoint/2010/main" val="2845239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6" y="688695"/>
            <a:ext cx="5583095" cy="4216539"/>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Posicionamiento Relativo</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Esta opción hace que un elemento ocupe el lugar que ocuparía en el </a:t>
            </a:r>
            <a:r>
              <a:rPr lang="es-AR" sz="1600" dirty="0" err="1">
                <a:solidFill>
                  <a:srgbClr val="4A4A4A"/>
                </a:solidFill>
                <a:highlight>
                  <a:srgbClr val="FFFFFF"/>
                </a:highlight>
                <a:latin typeface="Lato"/>
                <a:ea typeface="Lato"/>
                <a:cs typeface="Lato"/>
                <a:sym typeface="Lato"/>
              </a:rPr>
              <a:t>flow</a:t>
            </a:r>
            <a:r>
              <a:rPr lang="es-AR" sz="1600" dirty="0">
                <a:solidFill>
                  <a:srgbClr val="4A4A4A"/>
                </a:solidFill>
                <a:highlight>
                  <a:srgbClr val="FFFFFF"/>
                </a:highlight>
                <a:latin typeface="Lato"/>
                <a:ea typeface="Lato"/>
                <a:cs typeface="Lato"/>
                <a:sym typeface="Lato"/>
              </a:rPr>
              <a:t> regular (normal) pero nos da la opción de mover su posición con valores de top, </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 y </a:t>
            </a:r>
            <a:r>
              <a:rPr lang="es-AR" sz="1600" dirty="0" err="1">
                <a:solidFill>
                  <a:srgbClr val="4A4A4A"/>
                </a:solidFill>
                <a:highlight>
                  <a:srgbClr val="FFFFFF"/>
                </a:highlight>
                <a:latin typeface="Lato"/>
                <a:ea typeface="Lato"/>
                <a:cs typeface="Lato"/>
                <a:sym typeface="Lato"/>
              </a:rPr>
              <a:t>bottoom</a:t>
            </a:r>
            <a:r>
              <a:rPr lang="es-AR" sz="1600" dirty="0">
                <a:solidFill>
                  <a:srgbClr val="4A4A4A"/>
                </a:solidFill>
                <a:highlight>
                  <a:srgbClr val="FFFFFF"/>
                </a:highlight>
                <a:latin typeface="Lato"/>
                <a:ea typeface="Lato"/>
                <a:cs typeface="Lato"/>
                <a:sym typeface="Lato"/>
              </a:rPr>
              <a:t>.</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Para establecer que un elemento se posiciona de manera relativa tenemos que </a:t>
            </a:r>
            <a:r>
              <a:rPr lang="es-AR" sz="1600" dirty="0" err="1">
                <a:solidFill>
                  <a:srgbClr val="4A4A4A"/>
                </a:solidFill>
                <a:highlight>
                  <a:srgbClr val="FFFFFF"/>
                </a:highlight>
                <a:latin typeface="Lato"/>
                <a:ea typeface="Lato"/>
                <a:cs typeface="Lato"/>
                <a:sym typeface="Lato"/>
              </a:rPr>
              <a:t>setear</a:t>
            </a:r>
            <a:r>
              <a:rPr lang="es-AR" sz="1600" dirty="0">
                <a:solidFill>
                  <a:srgbClr val="4A4A4A"/>
                </a:solidFill>
                <a:highlight>
                  <a:srgbClr val="FFFFFF"/>
                </a:highlight>
                <a:latin typeface="Lato"/>
                <a:ea typeface="Lato"/>
                <a:cs typeface="Lato"/>
                <a:sym typeface="Lato"/>
              </a:rPr>
              <a:t> el valor de la propiedad position en relative</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Podemos decir que del lugar donde esta el elemento lo podemos mover en distintas direcciones pero siempre relativo al lugar que ocupa.</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El resto de los elementos ocupa su lugar normal</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Los valores top, </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right</a:t>
            </a:r>
            <a:r>
              <a:rPr lang="es-AR" sz="1600" dirty="0">
                <a:solidFill>
                  <a:srgbClr val="4A4A4A"/>
                </a:solidFill>
                <a:highlight>
                  <a:srgbClr val="FFFFFF"/>
                </a:highlight>
                <a:latin typeface="Lato"/>
                <a:ea typeface="Lato"/>
                <a:cs typeface="Lato"/>
                <a:sym typeface="Lato"/>
              </a:rPr>
              <a:t> y bottom aceptan una unidad de medida que puede ser pixeles u otros valores de los vistos</a:t>
            </a:r>
          </a:p>
        </p:txBody>
      </p:sp>
      <p:pic>
        <p:nvPicPr>
          <p:cNvPr id="5" name="Imagen 4">
            <a:extLst>
              <a:ext uri="{FF2B5EF4-FFF2-40B4-BE49-F238E27FC236}">
                <a16:creationId xmlns:a16="http://schemas.microsoft.com/office/drawing/2014/main" id="{FB055560-3790-8E95-DD0E-72943DC16BEC}"/>
              </a:ext>
            </a:extLst>
          </p:cNvPr>
          <p:cNvPicPr>
            <a:picLocks noChangeAspect="1"/>
          </p:cNvPicPr>
          <p:nvPr/>
        </p:nvPicPr>
        <p:blipFill>
          <a:blip r:embed="rId3"/>
          <a:stretch>
            <a:fillRect/>
          </a:stretch>
        </p:blipFill>
        <p:spPr>
          <a:xfrm>
            <a:off x="6448648" y="2138216"/>
            <a:ext cx="2260956" cy="1414043"/>
          </a:xfrm>
          <a:prstGeom prst="rect">
            <a:avLst/>
          </a:prstGeom>
        </p:spPr>
      </p:pic>
    </p:spTree>
    <p:extLst>
      <p:ext uri="{BB962C8B-B14F-4D97-AF65-F5344CB8AC3E}">
        <p14:creationId xmlns:p14="http://schemas.microsoft.com/office/powerpoint/2010/main" val="161525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34397" y="688695"/>
            <a:ext cx="4290004" cy="3662541"/>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Posicionamiento absoluto</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Con este posicionamiento podemos establecer la posición absoluta que queremos que ocupe un elemento en </a:t>
            </a:r>
            <a:r>
              <a:rPr lang="es-AR" sz="1600" dirty="0" err="1">
                <a:solidFill>
                  <a:srgbClr val="4A4A4A"/>
                </a:solidFill>
                <a:highlight>
                  <a:srgbClr val="FFFFFF"/>
                </a:highlight>
                <a:latin typeface="Lato"/>
                <a:ea typeface="Lato"/>
                <a:cs typeface="Lato"/>
                <a:sym typeface="Lato"/>
              </a:rPr>
              <a:t>realación</a:t>
            </a:r>
            <a:r>
              <a:rPr lang="es-AR" sz="1600" dirty="0">
                <a:solidFill>
                  <a:srgbClr val="4A4A4A"/>
                </a:solidFill>
                <a:highlight>
                  <a:srgbClr val="FFFFFF"/>
                </a:highlight>
                <a:latin typeface="Lato"/>
                <a:ea typeface="Lato"/>
                <a:cs typeface="Lato"/>
                <a:sym typeface="Lato"/>
              </a:rPr>
              <a:t> a su contenedor. </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Este elemento es removido del </a:t>
            </a:r>
            <a:r>
              <a:rPr lang="es-AR" sz="1600" dirty="0" err="1">
                <a:solidFill>
                  <a:srgbClr val="4A4A4A"/>
                </a:solidFill>
                <a:highlight>
                  <a:srgbClr val="FFFFFF"/>
                </a:highlight>
                <a:latin typeface="Lato"/>
                <a:ea typeface="Lato"/>
                <a:cs typeface="Lato"/>
                <a:sym typeface="Lato"/>
              </a:rPr>
              <a:t>flow</a:t>
            </a:r>
            <a:r>
              <a:rPr lang="es-AR" sz="1600" dirty="0">
                <a:solidFill>
                  <a:srgbClr val="4A4A4A"/>
                </a:solidFill>
                <a:highlight>
                  <a:srgbClr val="FFFFFF"/>
                </a:highlight>
                <a:latin typeface="Lato"/>
                <a:ea typeface="Lato"/>
                <a:cs typeface="Lato"/>
                <a:sym typeface="Lato"/>
              </a:rPr>
              <a:t> normal por lo cual no afecta al resto de los elementos. </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Estos elementos posicionados de manera absoluta son </a:t>
            </a:r>
            <a:r>
              <a:rPr lang="es-AR" sz="1600" dirty="0" err="1">
                <a:solidFill>
                  <a:srgbClr val="4A4A4A"/>
                </a:solidFill>
                <a:highlight>
                  <a:srgbClr val="FFFFFF"/>
                </a:highlight>
                <a:latin typeface="Lato"/>
                <a:ea typeface="Lato"/>
                <a:cs typeface="Lato"/>
                <a:sym typeface="Lato"/>
              </a:rPr>
              <a:t>scrolleados</a:t>
            </a:r>
            <a:r>
              <a:rPr lang="es-AR" sz="1600" dirty="0">
                <a:solidFill>
                  <a:srgbClr val="4A4A4A"/>
                </a:solidFill>
                <a:highlight>
                  <a:srgbClr val="FFFFFF"/>
                </a:highlight>
                <a:latin typeface="Lato"/>
                <a:ea typeface="Lato"/>
                <a:cs typeface="Lato"/>
                <a:sym typeface="Lato"/>
              </a:rPr>
              <a:t> acompañando el </a:t>
            </a:r>
            <a:r>
              <a:rPr lang="es-AR" sz="1600" dirty="0" err="1">
                <a:solidFill>
                  <a:srgbClr val="4A4A4A"/>
                </a:solidFill>
                <a:highlight>
                  <a:srgbClr val="FFFFFF"/>
                </a:highlight>
                <a:latin typeface="Lato"/>
                <a:ea typeface="Lato"/>
                <a:cs typeface="Lato"/>
                <a:sym typeface="Lato"/>
              </a:rPr>
              <a:t>scroll</a:t>
            </a:r>
            <a:r>
              <a:rPr lang="es-AR" sz="1600" dirty="0">
                <a:solidFill>
                  <a:srgbClr val="4A4A4A"/>
                </a:solidFill>
                <a:highlight>
                  <a:srgbClr val="FFFFFF"/>
                </a:highlight>
                <a:latin typeface="Lato"/>
                <a:ea typeface="Lato"/>
                <a:cs typeface="Lato"/>
                <a:sym typeface="Lato"/>
              </a:rPr>
              <a:t> del usuario.</a:t>
            </a:r>
          </a:p>
        </p:txBody>
      </p:sp>
      <p:pic>
        <p:nvPicPr>
          <p:cNvPr id="3" name="Imagen 2">
            <a:extLst>
              <a:ext uri="{FF2B5EF4-FFF2-40B4-BE49-F238E27FC236}">
                <a16:creationId xmlns:a16="http://schemas.microsoft.com/office/drawing/2014/main" id="{DF81620E-F82D-185D-85FA-FCC01856421A}"/>
              </a:ext>
            </a:extLst>
          </p:cNvPr>
          <p:cNvPicPr>
            <a:picLocks noChangeAspect="1"/>
          </p:cNvPicPr>
          <p:nvPr/>
        </p:nvPicPr>
        <p:blipFill>
          <a:blip r:embed="rId3"/>
          <a:stretch>
            <a:fillRect/>
          </a:stretch>
        </p:blipFill>
        <p:spPr>
          <a:xfrm>
            <a:off x="5442759" y="1703114"/>
            <a:ext cx="2867425" cy="1848108"/>
          </a:xfrm>
          <a:prstGeom prst="rect">
            <a:avLst/>
          </a:prstGeom>
        </p:spPr>
      </p:pic>
    </p:spTree>
    <p:extLst>
      <p:ext uri="{BB962C8B-B14F-4D97-AF65-F5344CB8AC3E}">
        <p14:creationId xmlns:p14="http://schemas.microsoft.com/office/powerpoint/2010/main" val="406545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80578" y="1039677"/>
            <a:ext cx="5158221" cy="3354765"/>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Posicionamiento </a:t>
            </a:r>
            <a:r>
              <a:rPr lang="es-AR" sz="3200" dirty="0" err="1">
                <a:solidFill>
                  <a:srgbClr val="BE3969"/>
                </a:solidFill>
                <a:highlight>
                  <a:srgbClr val="FFFFFF"/>
                </a:highlight>
                <a:latin typeface="Russo One"/>
                <a:ea typeface="Lato"/>
                <a:cs typeface="Lato"/>
                <a:sym typeface="Russo One"/>
              </a:rPr>
              <a:t>Fixed</a:t>
            </a:r>
            <a:endParaRPr lang="es-AR" sz="3200" dirty="0">
              <a:solidFill>
                <a:srgbClr val="BE3969"/>
              </a:solidFill>
              <a:highlight>
                <a:srgbClr val="FFFFFF"/>
              </a:highlight>
              <a:latin typeface="Russo One"/>
              <a:ea typeface="Lato"/>
              <a:cs typeface="Lato"/>
              <a:sym typeface="Russo One"/>
            </a:endParaRPr>
          </a:p>
          <a:p>
            <a:pPr lvl="0" rtl="0">
              <a:spcBef>
                <a:spcPts val="0"/>
              </a:spcBef>
              <a:spcAft>
                <a:spcPts val="0"/>
              </a:spcAft>
            </a:pPr>
            <a:endParaRPr lang="es-AR" sz="18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Este posicionamiento es similar al absoluto pero en lugar de ser posicionado de forma absoluta al elemento padre lo hace en relación al browser, es decir que este elemento se posiciona usando las coordenadas del browser y no del elemento padre. </a:t>
            </a:r>
          </a:p>
          <a:p>
            <a:pPr marL="285750" lvl="0" indent="-285750" rtl="0">
              <a:spcBef>
                <a:spcPts val="0"/>
              </a:spcBef>
              <a:spcAft>
                <a:spcPts val="0"/>
              </a:spcAft>
              <a:buFont typeface="Arial" panose="020B0604020202020204" pitchFamily="34" charset="0"/>
              <a:buChar char="•"/>
            </a:pPr>
            <a:r>
              <a:rPr lang="es-AR" sz="1800" dirty="0">
                <a:solidFill>
                  <a:srgbClr val="4A4A4A"/>
                </a:solidFill>
                <a:highlight>
                  <a:srgbClr val="FFFFFF"/>
                </a:highlight>
                <a:latin typeface="Lato"/>
                <a:ea typeface="Lato"/>
                <a:cs typeface="Lato"/>
                <a:sym typeface="Lato"/>
              </a:rPr>
              <a:t>El resto de los elementos siguen funcionando de la misma forma, es decir que hacen como si este elemento </a:t>
            </a:r>
            <a:r>
              <a:rPr lang="es-AR" sz="1800" dirty="0" err="1">
                <a:solidFill>
                  <a:srgbClr val="4A4A4A"/>
                </a:solidFill>
                <a:highlight>
                  <a:srgbClr val="FFFFFF"/>
                </a:highlight>
                <a:latin typeface="Lato"/>
                <a:ea typeface="Lato"/>
                <a:cs typeface="Lato"/>
                <a:sym typeface="Lato"/>
              </a:rPr>
              <a:t>fixed</a:t>
            </a:r>
            <a:r>
              <a:rPr lang="es-AR" sz="1800" dirty="0">
                <a:solidFill>
                  <a:srgbClr val="4A4A4A"/>
                </a:solidFill>
                <a:highlight>
                  <a:srgbClr val="FFFFFF"/>
                </a:highlight>
                <a:latin typeface="Lato"/>
                <a:ea typeface="Lato"/>
                <a:cs typeface="Lato"/>
                <a:sym typeface="Lato"/>
              </a:rPr>
              <a:t> no existiera.</a:t>
            </a:r>
          </a:p>
        </p:txBody>
      </p:sp>
      <p:pic>
        <p:nvPicPr>
          <p:cNvPr id="5" name="Imagen 4">
            <a:extLst>
              <a:ext uri="{FF2B5EF4-FFF2-40B4-BE49-F238E27FC236}">
                <a16:creationId xmlns:a16="http://schemas.microsoft.com/office/drawing/2014/main" id="{84BC31C4-DEE1-F932-A859-5F07FD401739}"/>
              </a:ext>
            </a:extLst>
          </p:cNvPr>
          <p:cNvPicPr>
            <a:picLocks noChangeAspect="1"/>
          </p:cNvPicPr>
          <p:nvPr/>
        </p:nvPicPr>
        <p:blipFill>
          <a:blip r:embed="rId3"/>
          <a:stretch>
            <a:fillRect/>
          </a:stretch>
        </p:blipFill>
        <p:spPr>
          <a:xfrm>
            <a:off x="6150813" y="1895918"/>
            <a:ext cx="2467319" cy="1924319"/>
          </a:xfrm>
          <a:prstGeom prst="rect">
            <a:avLst/>
          </a:prstGeom>
        </p:spPr>
      </p:pic>
    </p:spTree>
    <p:extLst>
      <p:ext uri="{BB962C8B-B14F-4D97-AF65-F5344CB8AC3E}">
        <p14:creationId xmlns:p14="http://schemas.microsoft.com/office/powerpoint/2010/main" val="519482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10" name="Imagen 9">
            <a:extLst>
              <a:ext uri="{FF2B5EF4-FFF2-40B4-BE49-F238E27FC236}">
                <a16:creationId xmlns:a16="http://schemas.microsoft.com/office/drawing/2014/main" id="{437777EF-90F3-E966-8050-96D4E3F5B69A}"/>
              </a:ext>
            </a:extLst>
          </p:cNvPr>
          <p:cNvPicPr>
            <a:picLocks noChangeAspect="1"/>
          </p:cNvPicPr>
          <p:nvPr/>
        </p:nvPicPr>
        <p:blipFill>
          <a:blip r:embed="rId3"/>
          <a:stretch>
            <a:fillRect/>
          </a:stretch>
        </p:blipFill>
        <p:spPr>
          <a:xfrm>
            <a:off x="0" y="0"/>
            <a:ext cx="9144000" cy="5143500"/>
          </a:xfrm>
          <a:prstGeom prst="rect">
            <a:avLst/>
          </a:prstGeom>
        </p:spPr>
      </p:pic>
      <p:sp>
        <p:nvSpPr>
          <p:cNvPr id="11" name="Google Shape;71;p15"/>
          <p:cNvSpPr txBox="1">
            <a:spLocks/>
          </p:cNvSpPr>
          <p:nvPr/>
        </p:nvSpPr>
        <p:spPr>
          <a:xfrm>
            <a:off x="1741054" y="1766021"/>
            <a:ext cx="6105236" cy="12167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AR" sz="5400" dirty="0">
                <a:solidFill>
                  <a:schemeClr val="tx1"/>
                </a:solidFill>
                <a:latin typeface="Russo One"/>
                <a:ea typeface="Russo One"/>
                <a:cs typeface="Russo One"/>
                <a:sym typeface="Russo One"/>
              </a:rPr>
              <a:t>Sistema de coordenadas</a:t>
            </a:r>
          </a:p>
        </p:txBody>
      </p:sp>
    </p:spTree>
    <p:extLst>
      <p:ext uri="{BB962C8B-B14F-4D97-AF65-F5344CB8AC3E}">
        <p14:creationId xmlns:p14="http://schemas.microsoft.com/office/powerpoint/2010/main" val="481014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80578" y="1039677"/>
            <a:ext cx="7984549" cy="3108543"/>
          </a:xfrm>
          <a:prstGeom prst="rect">
            <a:avLst/>
          </a:prstGeom>
          <a:noFill/>
        </p:spPr>
        <p:txBody>
          <a:bodyPr wrap="square">
            <a:spAutoFit/>
          </a:bodyPr>
          <a:lstStyle/>
          <a:p>
            <a:r>
              <a:rPr lang="es-AR" sz="3600" dirty="0">
                <a:solidFill>
                  <a:srgbClr val="BE3969"/>
                </a:solidFill>
                <a:highlight>
                  <a:srgbClr val="FFFFFF"/>
                </a:highlight>
                <a:latin typeface="Russo One"/>
                <a:ea typeface="Lato"/>
                <a:cs typeface="Lato"/>
                <a:sym typeface="Russo One"/>
              </a:rPr>
              <a:t>Sistema de Coordenadas en CSS</a:t>
            </a:r>
          </a:p>
          <a:p>
            <a:pPr lvl="0" rtl="0">
              <a:spcBef>
                <a:spcPts val="0"/>
              </a:spcBef>
              <a:spcAft>
                <a:spcPts val="0"/>
              </a:spcAft>
            </a:pPr>
            <a:endParaRPr lang="es-AR" sz="20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El sistema de coordenadas en CSS permite posicionar elementos en relación con otros o con su contenedor. </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Para que estos valores tengan efecto, es necesario que el elemento esté posicionado con alguna de estas propiedades: relative, absolute, </a:t>
            </a:r>
            <a:r>
              <a:rPr lang="es-AR" sz="2000" dirty="0" err="1">
                <a:solidFill>
                  <a:srgbClr val="4A4A4A"/>
                </a:solidFill>
                <a:highlight>
                  <a:srgbClr val="FFFFFF"/>
                </a:highlight>
                <a:latin typeface="Lato"/>
                <a:ea typeface="Lato"/>
                <a:cs typeface="Lato"/>
                <a:sym typeface="Lato"/>
              </a:rPr>
              <a:t>fixed</a:t>
            </a:r>
            <a:r>
              <a:rPr lang="es-AR" sz="2000" dirty="0">
                <a:solidFill>
                  <a:srgbClr val="4A4A4A"/>
                </a:solidFill>
                <a:highlight>
                  <a:srgbClr val="FFFFFF"/>
                </a:highlight>
                <a:latin typeface="Lato"/>
                <a:ea typeface="Lato"/>
                <a:cs typeface="Lato"/>
                <a:sym typeface="Lato"/>
              </a:rPr>
              <a:t>, o </a:t>
            </a:r>
            <a:r>
              <a:rPr lang="es-AR" sz="2000" dirty="0" err="1">
                <a:solidFill>
                  <a:srgbClr val="4A4A4A"/>
                </a:solidFill>
                <a:highlight>
                  <a:srgbClr val="FFFFFF"/>
                </a:highlight>
                <a:latin typeface="Lato"/>
                <a:ea typeface="Lato"/>
                <a:cs typeface="Lato"/>
                <a:sym typeface="Lato"/>
              </a:rPr>
              <a:t>sticky</a:t>
            </a:r>
            <a:r>
              <a:rPr lang="es-AR" sz="2000" dirty="0">
                <a:solidFill>
                  <a:srgbClr val="4A4A4A"/>
                </a:solidFill>
                <a:highlight>
                  <a:srgbClr val="FFFFFF"/>
                </a:highlight>
                <a:latin typeface="Lato"/>
                <a:ea typeface="Lato"/>
                <a:cs typeface="Lato"/>
                <a:sym typeface="Lato"/>
              </a:rPr>
              <a:t>. </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A continuación, exploramos cada propiedad del sistema de coordenadas:</a:t>
            </a:r>
          </a:p>
        </p:txBody>
      </p:sp>
    </p:spTree>
    <p:extLst>
      <p:ext uri="{BB962C8B-B14F-4D97-AF65-F5344CB8AC3E}">
        <p14:creationId xmlns:p14="http://schemas.microsoft.com/office/powerpoint/2010/main" val="605343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2142" y="789311"/>
            <a:ext cx="7961458" cy="1261884"/>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1. top:</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Define la distancia entre el borde superior del elemento y el borde superior de su contenedor.</a:t>
            </a:r>
          </a:p>
        </p:txBody>
      </p:sp>
      <p:pic>
        <p:nvPicPr>
          <p:cNvPr id="5" name="Imagen 4">
            <a:extLst>
              <a:ext uri="{FF2B5EF4-FFF2-40B4-BE49-F238E27FC236}">
                <a16:creationId xmlns:a16="http://schemas.microsoft.com/office/drawing/2014/main" id="{63D0F9B8-ADB4-7A81-6C27-E809DF8D189A}"/>
              </a:ext>
            </a:extLst>
          </p:cNvPr>
          <p:cNvPicPr>
            <a:picLocks noChangeAspect="1"/>
          </p:cNvPicPr>
          <p:nvPr/>
        </p:nvPicPr>
        <p:blipFill>
          <a:blip r:embed="rId3"/>
          <a:stretch>
            <a:fillRect/>
          </a:stretch>
        </p:blipFill>
        <p:spPr>
          <a:xfrm>
            <a:off x="3245809" y="2254646"/>
            <a:ext cx="2781688" cy="504895"/>
          </a:xfrm>
          <a:prstGeom prst="rect">
            <a:avLst/>
          </a:prstGeom>
        </p:spPr>
      </p:pic>
      <p:pic>
        <p:nvPicPr>
          <p:cNvPr id="7" name="Imagen 6">
            <a:extLst>
              <a:ext uri="{FF2B5EF4-FFF2-40B4-BE49-F238E27FC236}">
                <a16:creationId xmlns:a16="http://schemas.microsoft.com/office/drawing/2014/main" id="{6FC997FF-A8F1-82D0-AA04-51D688DFC8FA}"/>
              </a:ext>
            </a:extLst>
          </p:cNvPr>
          <p:cNvPicPr>
            <a:picLocks noChangeAspect="1"/>
          </p:cNvPicPr>
          <p:nvPr/>
        </p:nvPicPr>
        <p:blipFill>
          <a:blip r:embed="rId4"/>
          <a:stretch>
            <a:fillRect/>
          </a:stretch>
        </p:blipFill>
        <p:spPr>
          <a:xfrm>
            <a:off x="1839231" y="3027651"/>
            <a:ext cx="5914814" cy="1755180"/>
          </a:xfrm>
          <a:prstGeom prst="rect">
            <a:avLst/>
          </a:prstGeom>
        </p:spPr>
      </p:pic>
    </p:spTree>
    <p:extLst>
      <p:ext uri="{BB962C8B-B14F-4D97-AF65-F5344CB8AC3E}">
        <p14:creationId xmlns:p14="http://schemas.microsoft.com/office/powerpoint/2010/main" val="3605648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2142" y="789311"/>
            <a:ext cx="7961458" cy="1261884"/>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2. </a:t>
            </a:r>
            <a:r>
              <a:rPr lang="es-AR" sz="2800" dirty="0" err="1">
                <a:solidFill>
                  <a:srgbClr val="BE3969"/>
                </a:solidFill>
                <a:highlight>
                  <a:srgbClr val="FFFFFF"/>
                </a:highlight>
                <a:latin typeface="Russo One"/>
                <a:ea typeface="Lato"/>
                <a:cs typeface="Lato"/>
                <a:sym typeface="Russo One"/>
              </a:rPr>
              <a:t>right</a:t>
            </a:r>
            <a:r>
              <a:rPr lang="es-AR" sz="2800" dirty="0">
                <a:solidFill>
                  <a:srgbClr val="BE3969"/>
                </a:solidFill>
                <a:highlight>
                  <a:srgbClr val="FFFFFF"/>
                </a:highlight>
                <a:latin typeface="Russo One"/>
                <a:ea typeface="Lato"/>
                <a:cs typeface="Lato"/>
                <a:sym typeface="Russo One"/>
              </a:rPr>
              <a:t>:</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Define la distancia entre el borde derecho del elemento y el borde derecho de su contenedor.</a:t>
            </a:r>
          </a:p>
        </p:txBody>
      </p:sp>
      <p:pic>
        <p:nvPicPr>
          <p:cNvPr id="5" name="Imagen 4">
            <a:extLst>
              <a:ext uri="{FF2B5EF4-FFF2-40B4-BE49-F238E27FC236}">
                <a16:creationId xmlns:a16="http://schemas.microsoft.com/office/drawing/2014/main" id="{63D0F9B8-ADB4-7A81-6C27-E809DF8D189A}"/>
              </a:ext>
            </a:extLst>
          </p:cNvPr>
          <p:cNvPicPr>
            <a:picLocks noChangeAspect="1"/>
          </p:cNvPicPr>
          <p:nvPr/>
        </p:nvPicPr>
        <p:blipFill>
          <a:blip r:embed="rId3"/>
          <a:stretch>
            <a:fillRect/>
          </a:stretch>
        </p:blipFill>
        <p:spPr>
          <a:xfrm>
            <a:off x="3245809" y="2254646"/>
            <a:ext cx="2781688" cy="504895"/>
          </a:xfrm>
          <a:prstGeom prst="rect">
            <a:avLst/>
          </a:prstGeom>
        </p:spPr>
      </p:pic>
      <p:pic>
        <p:nvPicPr>
          <p:cNvPr id="3" name="Imagen 2">
            <a:extLst>
              <a:ext uri="{FF2B5EF4-FFF2-40B4-BE49-F238E27FC236}">
                <a16:creationId xmlns:a16="http://schemas.microsoft.com/office/drawing/2014/main" id="{E16B3F4D-50CE-A7FD-CC3C-1A8CC58408F1}"/>
              </a:ext>
            </a:extLst>
          </p:cNvPr>
          <p:cNvPicPr>
            <a:picLocks noChangeAspect="1"/>
          </p:cNvPicPr>
          <p:nvPr/>
        </p:nvPicPr>
        <p:blipFill>
          <a:blip r:embed="rId4"/>
          <a:stretch>
            <a:fillRect/>
          </a:stretch>
        </p:blipFill>
        <p:spPr>
          <a:xfrm>
            <a:off x="1542473" y="2962992"/>
            <a:ext cx="6507324" cy="1623191"/>
          </a:xfrm>
          <a:prstGeom prst="rect">
            <a:avLst/>
          </a:prstGeom>
        </p:spPr>
      </p:pic>
    </p:spTree>
    <p:extLst>
      <p:ext uri="{BB962C8B-B14F-4D97-AF65-F5344CB8AC3E}">
        <p14:creationId xmlns:p14="http://schemas.microsoft.com/office/powerpoint/2010/main" val="1569842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2142" y="789311"/>
            <a:ext cx="7961458" cy="1261884"/>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3. bottom:</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Define la distancia entre el borde inferior del elemento y el borde inferior de su contenedor.</a:t>
            </a:r>
          </a:p>
        </p:txBody>
      </p:sp>
      <p:pic>
        <p:nvPicPr>
          <p:cNvPr id="5" name="Imagen 4">
            <a:extLst>
              <a:ext uri="{FF2B5EF4-FFF2-40B4-BE49-F238E27FC236}">
                <a16:creationId xmlns:a16="http://schemas.microsoft.com/office/drawing/2014/main" id="{63D0F9B8-ADB4-7A81-6C27-E809DF8D189A}"/>
              </a:ext>
            </a:extLst>
          </p:cNvPr>
          <p:cNvPicPr>
            <a:picLocks noChangeAspect="1"/>
          </p:cNvPicPr>
          <p:nvPr/>
        </p:nvPicPr>
        <p:blipFill>
          <a:blip r:embed="rId3"/>
          <a:stretch>
            <a:fillRect/>
          </a:stretch>
        </p:blipFill>
        <p:spPr>
          <a:xfrm>
            <a:off x="3245809" y="2254646"/>
            <a:ext cx="2781688" cy="504895"/>
          </a:xfrm>
          <a:prstGeom prst="rect">
            <a:avLst/>
          </a:prstGeom>
        </p:spPr>
      </p:pic>
      <p:pic>
        <p:nvPicPr>
          <p:cNvPr id="6" name="Imagen 5">
            <a:extLst>
              <a:ext uri="{FF2B5EF4-FFF2-40B4-BE49-F238E27FC236}">
                <a16:creationId xmlns:a16="http://schemas.microsoft.com/office/drawing/2014/main" id="{B793C69B-5823-5CA3-E523-4D2DC534742D}"/>
              </a:ext>
            </a:extLst>
          </p:cNvPr>
          <p:cNvPicPr>
            <a:picLocks noChangeAspect="1"/>
          </p:cNvPicPr>
          <p:nvPr/>
        </p:nvPicPr>
        <p:blipFill>
          <a:blip r:embed="rId4"/>
          <a:stretch>
            <a:fillRect/>
          </a:stretch>
        </p:blipFill>
        <p:spPr>
          <a:xfrm>
            <a:off x="1565563" y="2962992"/>
            <a:ext cx="6529524" cy="1777312"/>
          </a:xfrm>
          <a:prstGeom prst="rect">
            <a:avLst/>
          </a:prstGeom>
        </p:spPr>
      </p:pic>
    </p:spTree>
    <p:extLst>
      <p:ext uri="{BB962C8B-B14F-4D97-AF65-F5344CB8AC3E}">
        <p14:creationId xmlns:p14="http://schemas.microsoft.com/office/powerpoint/2010/main" val="1642108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2142" y="789311"/>
            <a:ext cx="7961458" cy="1261884"/>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4. </a:t>
            </a:r>
            <a:r>
              <a:rPr lang="es-AR" sz="2800" dirty="0" err="1">
                <a:solidFill>
                  <a:srgbClr val="BE3969"/>
                </a:solidFill>
                <a:highlight>
                  <a:srgbClr val="FFFFFF"/>
                </a:highlight>
                <a:latin typeface="Russo One"/>
                <a:ea typeface="Lato"/>
                <a:cs typeface="Lato"/>
                <a:sym typeface="Russo One"/>
              </a:rPr>
              <a:t>left</a:t>
            </a:r>
            <a:r>
              <a:rPr lang="es-AR" sz="2800" dirty="0">
                <a:solidFill>
                  <a:srgbClr val="BE3969"/>
                </a:solidFill>
                <a:highlight>
                  <a:srgbClr val="FFFFFF"/>
                </a:highlight>
                <a:latin typeface="Russo One"/>
                <a:ea typeface="Lato"/>
                <a:cs typeface="Lato"/>
                <a:sym typeface="Russo One"/>
              </a:rPr>
              <a:t>:</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Define la distancia entre el borde izquierdo del elemento y el borde izquierdo de su contenedor.</a:t>
            </a:r>
          </a:p>
        </p:txBody>
      </p:sp>
      <p:pic>
        <p:nvPicPr>
          <p:cNvPr id="5" name="Imagen 4">
            <a:extLst>
              <a:ext uri="{FF2B5EF4-FFF2-40B4-BE49-F238E27FC236}">
                <a16:creationId xmlns:a16="http://schemas.microsoft.com/office/drawing/2014/main" id="{63D0F9B8-ADB4-7A81-6C27-E809DF8D189A}"/>
              </a:ext>
            </a:extLst>
          </p:cNvPr>
          <p:cNvPicPr>
            <a:picLocks noChangeAspect="1"/>
          </p:cNvPicPr>
          <p:nvPr/>
        </p:nvPicPr>
        <p:blipFill>
          <a:blip r:embed="rId3"/>
          <a:stretch>
            <a:fillRect/>
          </a:stretch>
        </p:blipFill>
        <p:spPr>
          <a:xfrm>
            <a:off x="3245809" y="2254646"/>
            <a:ext cx="2781688" cy="504895"/>
          </a:xfrm>
          <a:prstGeom prst="rect">
            <a:avLst/>
          </a:prstGeom>
        </p:spPr>
      </p:pic>
      <p:pic>
        <p:nvPicPr>
          <p:cNvPr id="3" name="Imagen 2">
            <a:extLst>
              <a:ext uri="{FF2B5EF4-FFF2-40B4-BE49-F238E27FC236}">
                <a16:creationId xmlns:a16="http://schemas.microsoft.com/office/drawing/2014/main" id="{88143557-42CE-C3F8-9146-5AF4A27C23A6}"/>
              </a:ext>
            </a:extLst>
          </p:cNvPr>
          <p:cNvPicPr>
            <a:picLocks noChangeAspect="1"/>
          </p:cNvPicPr>
          <p:nvPr/>
        </p:nvPicPr>
        <p:blipFill>
          <a:blip r:embed="rId4"/>
          <a:stretch>
            <a:fillRect/>
          </a:stretch>
        </p:blipFill>
        <p:spPr>
          <a:xfrm>
            <a:off x="1182254" y="2913624"/>
            <a:ext cx="7407724" cy="1941105"/>
          </a:xfrm>
          <a:prstGeom prst="rect">
            <a:avLst/>
          </a:prstGeom>
        </p:spPr>
      </p:pic>
    </p:spTree>
    <p:extLst>
      <p:ext uri="{BB962C8B-B14F-4D97-AF65-F5344CB8AC3E}">
        <p14:creationId xmlns:p14="http://schemas.microsoft.com/office/powerpoint/2010/main" val="3384208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22142" y="789311"/>
            <a:ext cx="4701022" cy="2492990"/>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5. z-</a:t>
            </a:r>
            <a:r>
              <a:rPr lang="es-AR" sz="2800" dirty="0" err="1">
                <a:solidFill>
                  <a:srgbClr val="BE3969"/>
                </a:solidFill>
                <a:highlight>
                  <a:srgbClr val="FFFFFF"/>
                </a:highlight>
                <a:latin typeface="Russo One"/>
                <a:ea typeface="Lato"/>
                <a:cs typeface="Lato"/>
                <a:sym typeface="Russo One"/>
              </a:rPr>
              <a:t>index</a:t>
            </a:r>
            <a:r>
              <a:rPr lang="es-AR" sz="2800" dirty="0">
                <a:solidFill>
                  <a:srgbClr val="BE3969"/>
                </a:solidFill>
                <a:highlight>
                  <a:srgbClr val="FFFFFF"/>
                </a:highlight>
                <a:latin typeface="Russo One"/>
                <a:ea typeface="Lato"/>
                <a:cs typeface="Lato"/>
                <a:sym typeface="Russo One"/>
              </a:rPr>
              <a:t>:</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Controla el orden de apilamiento de los elementos. </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Un valor mayor hace que el elemento se muestre por encima de otros con valores más bajos. </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Solo funciona en elementos con una posición distinta a </a:t>
            </a:r>
            <a:r>
              <a:rPr lang="es-AR" sz="1600" dirty="0" err="1">
                <a:solidFill>
                  <a:srgbClr val="4A4A4A"/>
                </a:solidFill>
                <a:highlight>
                  <a:srgbClr val="FFFFFF"/>
                </a:highlight>
                <a:latin typeface="Lato"/>
                <a:ea typeface="Lato"/>
                <a:cs typeface="Lato"/>
                <a:sym typeface="Lato"/>
              </a:rPr>
              <a:t>static</a:t>
            </a:r>
            <a:r>
              <a:rPr lang="es-AR" sz="1600" dirty="0">
                <a:solidFill>
                  <a:srgbClr val="4A4A4A"/>
                </a:solidFill>
                <a:highlight>
                  <a:srgbClr val="FFFFFF"/>
                </a:highlight>
                <a:latin typeface="Lato"/>
                <a:ea typeface="Lato"/>
                <a:cs typeface="Lato"/>
                <a:sym typeface="Lato"/>
              </a:rPr>
              <a:t>.</a:t>
            </a:r>
          </a:p>
        </p:txBody>
      </p:sp>
      <p:pic>
        <p:nvPicPr>
          <p:cNvPr id="6" name="Imagen 5">
            <a:extLst>
              <a:ext uri="{FF2B5EF4-FFF2-40B4-BE49-F238E27FC236}">
                <a16:creationId xmlns:a16="http://schemas.microsoft.com/office/drawing/2014/main" id="{4AA15356-0813-A705-E1E4-143895ED6FC7}"/>
              </a:ext>
            </a:extLst>
          </p:cNvPr>
          <p:cNvPicPr>
            <a:picLocks noChangeAspect="1"/>
          </p:cNvPicPr>
          <p:nvPr/>
        </p:nvPicPr>
        <p:blipFill>
          <a:blip r:embed="rId3"/>
          <a:stretch>
            <a:fillRect/>
          </a:stretch>
        </p:blipFill>
        <p:spPr>
          <a:xfrm>
            <a:off x="1244108" y="3577021"/>
            <a:ext cx="2915057" cy="704948"/>
          </a:xfrm>
          <a:prstGeom prst="rect">
            <a:avLst/>
          </a:prstGeom>
        </p:spPr>
      </p:pic>
      <p:pic>
        <p:nvPicPr>
          <p:cNvPr id="8" name="Imagen 7">
            <a:extLst>
              <a:ext uri="{FF2B5EF4-FFF2-40B4-BE49-F238E27FC236}">
                <a16:creationId xmlns:a16="http://schemas.microsoft.com/office/drawing/2014/main" id="{1034F94E-99C1-AC37-DA44-671C4C64C2ED}"/>
              </a:ext>
            </a:extLst>
          </p:cNvPr>
          <p:cNvPicPr>
            <a:picLocks noChangeAspect="1"/>
          </p:cNvPicPr>
          <p:nvPr/>
        </p:nvPicPr>
        <p:blipFill>
          <a:blip r:embed="rId4"/>
          <a:stretch>
            <a:fillRect/>
          </a:stretch>
        </p:blipFill>
        <p:spPr>
          <a:xfrm>
            <a:off x="5203535" y="880004"/>
            <a:ext cx="3418323" cy="3904485"/>
          </a:xfrm>
          <a:prstGeom prst="rect">
            <a:avLst/>
          </a:prstGeom>
        </p:spPr>
      </p:pic>
    </p:spTree>
    <p:extLst>
      <p:ext uri="{BB962C8B-B14F-4D97-AF65-F5344CB8AC3E}">
        <p14:creationId xmlns:p14="http://schemas.microsoft.com/office/powerpoint/2010/main" val="408545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80578" y="1039677"/>
            <a:ext cx="5158221" cy="3724096"/>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5. z-</a:t>
            </a:r>
            <a:r>
              <a:rPr lang="es-AR" sz="2800" dirty="0" err="1">
                <a:solidFill>
                  <a:srgbClr val="BE3969"/>
                </a:solidFill>
                <a:highlight>
                  <a:srgbClr val="FFFFFF"/>
                </a:highlight>
                <a:latin typeface="Russo One"/>
                <a:ea typeface="Lato"/>
                <a:cs typeface="Lato"/>
                <a:sym typeface="Russo One"/>
              </a:rPr>
              <a:t>index</a:t>
            </a:r>
            <a:r>
              <a:rPr lang="es-AR" sz="2800" dirty="0">
                <a:solidFill>
                  <a:srgbClr val="BE3969"/>
                </a:solidFill>
                <a:highlight>
                  <a:srgbClr val="FFFFFF"/>
                </a:highlight>
                <a:latin typeface="Russo One"/>
                <a:ea typeface="Lato"/>
                <a:cs typeface="Lato"/>
                <a:sym typeface="Russo One"/>
              </a:rPr>
              <a:t> - Continuación</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Al cambiar la forma en que se comportan o posicionan los elementos podemos controlar el nivel de profundidad que utiliza cada uno utilizando la propiedad </a:t>
            </a:r>
            <a:r>
              <a:rPr lang="es-AR" sz="1600" dirty="0">
                <a:solidFill>
                  <a:schemeClr val="tx1"/>
                </a:solidFill>
                <a:highlight>
                  <a:srgbClr val="FFFFFF"/>
                </a:highlight>
                <a:latin typeface="Lato"/>
                <a:ea typeface="Lato"/>
                <a:cs typeface="Lato"/>
                <a:sym typeface="Lato"/>
              </a:rPr>
              <a:t>z-</a:t>
            </a:r>
            <a:r>
              <a:rPr lang="es-AR" sz="1600" dirty="0" err="1">
                <a:solidFill>
                  <a:schemeClr val="tx1"/>
                </a:solidFill>
                <a:highlight>
                  <a:srgbClr val="FFFFFF"/>
                </a:highlight>
                <a:latin typeface="Lato"/>
                <a:ea typeface="Lato"/>
                <a:cs typeface="Lato"/>
                <a:sym typeface="Lato"/>
              </a:rPr>
              <a:t>index</a:t>
            </a:r>
            <a:r>
              <a:rPr lang="es-AR" sz="1600" dirty="0">
                <a:solidFill>
                  <a:srgbClr val="4A4A4A"/>
                </a:solidFill>
                <a:highlight>
                  <a:srgbClr val="FFFFFF"/>
                </a:highlight>
                <a:latin typeface="Lato"/>
                <a:ea typeface="Lato"/>
                <a:cs typeface="Lato"/>
                <a:sym typeface="Lato"/>
              </a:rPr>
              <a:t>, es decir que si dos elementos </a:t>
            </a:r>
            <a:r>
              <a:rPr lang="es-AR" sz="1600" dirty="0" err="1">
                <a:solidFill>
                  <a:srgbClr val="4A4A4A"/>
                </a:solidFill>
                <a:highlight>
                  <a:srgbClr val="FFFFFF"/>
                </a:highlight>
                <a:latin typeface="Lato"/>
                <a:ea typeface="Lato"/>
                <a:cs typeface="Lato"/>
                <a:sym typeface="Lato"/>
              </a:rPr>
              <a:t>estan</a:t>
            </a:r>
            <a:r>
              <a:rPr lang="es-AR" sz="1600" dirty="0">
                <a:solidFill>
                  <a:srgbClr val="4A4A4A"/>
                </a:solidFill>
                <a:highlight>
                  <a:srgbClr val="FFFFFF"/>
                </a:highlight>
                <a:latin typeface="Lato"/>
                <a:ea typeface="Lato"/>
                <a:cs typeface="Lato"/>
                <a:sym typeface="Lato"/>
              </a:rPr>
              <a:t> posicionados en el mismo lugar podemos hacer que uno se vea arriba del otro aumentando el nivel de z-</a:t>
            </a:r>
            <a:r>
              <a:rPr lang="es-AR" sz="1600" dirty="0" err="1">
                <a:solidFill>
                  <a:srgbClr val="4A4A4A"/>
                </a:solidFill>
                <a:highlight>
                  <a:srgbClr val="FFFFFF"/>
                </a:highlight>
                <a:latin typeface="Lato"/>
                <a:ea typeface="Lato"/>
                <a:cs typeface="Lato"/>
                <a:sym typeface="Lato"/>
              </a:rPr>
              <a:t>index</a:t>
            </a:r>
            <a:r>
              <a:rPr lang="es-AR" sz="1600" dirty="0">
                <a:solidFill>
                  <a:srgbClr val="4A4A4A"/>
                </a:solidFill>
                <a:highlight>
                  <a:srgbClr val="FFFFFF"/>
                </a:highlight>
                <a:latin typeface="Lato"/>
                <a:ea typeface="Lato"/>
                <a:cs typeface="Lato"/>
                <a:sym typeface="Lato"/>
              </a:rPr>
              <a:t>. </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Por ejemplo si tengo 2 elementos en la misma posición </a:t>
            </a:r>
            <a:r>
              <a:rPr lang="es-AR" sz="1600" dirty="0" err="1">
                <a:solidFill>
                  <a:srgbClr val="4A4A4A"/>
                </a:solidFill>
                <a:highlight>
                  <a:srgbClr val="FFFFFF"/>
                </a:highlight>
                <a:latin typeface="Lato"/>
                <a:ea typeface="Lato"/>
                <a:cs typeface="Lato"/>
                <a:sym typeface="Lato"/>
              </a:rPr>
              <a:t>fixed</a:t>
            </a:r>
            <a:r>
              <a:rPr lang="es-AR" sz="1600" dirty="0">
                <a:solidFill>
                  <a:srgbClr val="4A4A4A"/>
                </a:solidFill>
                <a:highlight>
                  <a:srgbClr val="FFFFFF"/>
                </a:highlight>
                <a:latin typeface="Lato"/>
                <a:ea typeface="Lato"/>
                <a:cs typeface="Lato"/>
                <a:sym typeface="Lato"/>
              </a:rPr>
              <a:t> puedo cambiar el nivel de uno a z-index:1 y el otro a z-index:2 y de esta forma hacer que el que tiene mayor nivel de z-</a:t>
            </a:r>
            <a:r>
              <a:rPr lang="es-AR" sz="1600" dirty="0" err="1">
                <a:solidFill>
                  <a:srgbClr val="4A4A4A"/>
                </a:solidFill>
                <a:highlight>
                  <a:srgbClr val="FFFFFF"/>
                </a:highlight>
                <a:latin typeface="Lato"/>
                <a:ea typeface="Lato"/>
                <a:cs typeface="Lato"/>
                <a:sym typeface="Lato"/>
              </a:rPr>
              <a:t>index</a:t>
            </a:r>
            <a:r>
              <a:rPr lang="es-AR" sz="1600" dirty="0">
                <a:solidFill>
                  <a:srgbClr val="4A4A4A"/>
                </a:solidFill>
                <a:highlight>
                  <a:srgbClr val="FFFFFF"/>
                </a:highlight>
                <a:latin typeface="Lato"/>
                <a:ea typeface="Lato"/>
                <a:cs typeface="Lato"/>
                <a:sym typeface="Lato"/>
              </a:rPr>
              <a:t> se vea arriba de todo.</a:t>
            </a:r>
          </a:p>
        </p:txBody>
      </p:sp>
      <p:pic>
        <p:nvPicPr>
          <p:cNvPr id="3" name="Imagen 2">
            <a:extLst>
              <a:ext uri="{FF2B5EF4-FFF2-40B4-BE49-F238E27FC236}">
                <a16:creationId xmlns:a16="http://schemas.microsoft.com/office/drawing/2014/main" id="{D0284A2D-2C56-10C7-5F24-87BC5FE3151C}"/>
              </a:ext>
            </a:extLst>
          </p:cNvPr>
          <p:cNvPicPr>
            <a:picLocks noChangeAspect="1"/>
          </p:cNvPicPr>
          <p:nvPr/>
        </p:nvPicPr>
        <p:blipFill>
          <a:blip r:embed="rId3"/>
          <a:stretch>
            <a:fillRect/>
          </a:stretch>
        </p:blipFill>
        <p:spPr>
          <a:xfrm>
            <a:off x="6026412" y="2214760"/>
            <a:ext cx="2448267" cy="1305107"/>
          </a:xfrm>
          <a:prstGeom prst="rect">
            <a:avLst/>
          </a:prstGeom>
        </p:spPr>
      </p:pic>
    </p:spTree>
    <p:extLst>
      <p:ext uri="{BB962C8B-B14F-4D97-AF65-F5344CB8AC3E}">
        <p14:creationId xmlns:p14="http://schemas.microsoft.com/office/powerpoint/2010/main" val="3277088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80578" y="1039677"/>
            <a:ext cx="5019677" cy="3724096"/>
          </a:xfrm>
          <a:prstGeom prst="rect">
            <a:avLst/>
          </a:prstGeom>
          <a:noFill/>
        </p:spPr>
        <p:txBody>
          <a:bodyPr wrap="square">
            <a:spAutoFit/>
          </a:bodyPr>
          <a:lstStyle/>
          <a:p>
            <a:r>
              <a:rPr lang="es-AR" sz="3600" dirty="0">
                <a:solidFill>
                  <a:srgbClr val="BE3969"/>
                </a:solidFill>
                <a:highlight>
                  <a:srgbClr val="FFFFFF"/>
                </a:highlight>
                <a:latin typeface="Russo One"/>
                <a:ea typeface="Lato"/>
                <a:cs typeface="Lato"/>
                <a:sym typeface="Russo One"/>
              </a:rPr>
              <a:t>Elementos Flotantes</a:t>
            </a:r>
          </a:p>
          <a:p>
            <a:pPr lvl="0" rtl="0">
              <a:spcBef>
                <a:spcPts val="0"/>
              </a:spcBef>
              <a:spcAft>
                <a:spcPts val="0"/>
              </a:spcAft>
            </a:pPr>
            <a:endParaRPr lang="es-AR" sz="20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Podemos establecer que un elemento flote hacia la izquierda o derecha de un elemento, el resto de los elementos se posicionan al costado de dicho elemento.</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Utilizamos la propiedad </a:t>
            </a:r>
            <a:r>
              <a:rPr lang="es-AR" sz="2000" dirty="0" err="1">
                <a:solidFill>
                  <a:srgbClr val="4A4A4A"/>
                </a:solidFill>
                <a:highlight>
                  <a:srgbClr val="FFFFFF"/>
                </a:highlight>
                <a:latin typeface="Lato"/>
                <a:ea typeface="Lato"/>
                <a:cs typeface="Lato"/>
                <a:sym typeface="Lato"/>
              </a:rPr>
              <a:t>float</a:t>
            </a:r>
            <a:r>
              <a:rPr lang="es-AR" sz="2000" dirty="0">
                <a:solidFill>
                  <a:srgbClr val="4A4A4A"/>
                </a:solidFill>
                <a:highlight>
                  <a:srgbClr val="FFFFFF"/>
                </a:highlight>
                <a:latin typeface="Lato"/>
                <a:ea typeface="Lato"/>
                <a:cs typeface="Lato"/>
                <a:sym typeface="Lato"/>
              </a:rPr>
              <a:t> y los valores </a:t>
            </a:r>
            <a:r>
              <a:rPr lang="es-AR" sz="2000" dirty="0" err="1">
                <a:solidFill>
                  <a:schemeClr val="tx1"/>
                </a:solidFill>
                <a:highlight>
                  <a:srgbClr val="FFFFFF"/>
                </a:highlight>
                <a:latin typeface="Lato"/>
                <a:ea typeface="Lato"/>
                <a:cs typeface="Lato"/>
                <a:sym typeface="Lato"/>
              </a:rPr>
              <a:t>left</a:t>
            </a:r>
            <a:r>
              <a:rPr lang="es-AR" sz="2000" dirty="0">
                <a:solidFill>
                  <a:srgbClr val="4A4A4A"/>
                </a:solidFill>
                <a:highlight>
                  <a:srgbClr val="FFFFFF"/>
                </a:highlight>
                <a:latin typeface="Lato"/>
                <a:ea typeface="Lato"/>
                <a:cs typeface="Lato"/>
                <a:sym typeface="Lato"/>
              </a:rPr>
              <a:t> (izquierda) o </a:t>
            </a:r>
            <a:r>
              <a:rPr lang="es-AR" sz="2000" dirty="0" err="1">
                <a:solidFill>
                  <a:schemeClr val="tx1"/>
                </a:solidFill>
                <a:highlight>
                  <a:srgbClr val="FFFFFF"/>
                </a:highlight>
                <a:latin typeface="Lato"/>
                <a:ea typeface="Lato"/>
                <a:cs typeface="Lato"/>
                <a:sym typeface="Lato"/>
              </a:rPr>
              <a:t>right</a:t>
            </a:r>
            <a:r>
              <a:rPr lang="es-AR" sz="2000" dirty="0">
                <a:solidFill>
                  <a:srgbClr val="4A4A4A"/>
                </a:solidFill>
                <a:highlight>
                  <a:srgbClr val="FFFFFF"/>
                </a:highlight>
                <a:latin typeface="Lato"/>
                <a:ea typeface="Lato"/>
                <a:cs typeface="Lato"/>
                <a:sym typeface="Lato"/>
              </a:rPr>
              <a:t> (derecha)</a:t>
            </a: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Al utilizar elementos flotando conviene establecer un </a:t>
            </a:r>
            <a:r>
              <a:rPr lang="es-AR" sz="2000" dirty="0" err="1">
                <a:solidFill>
                  <a:srgbClr val="4A4A4A"/>
                </a:solidFill>
                <a:highlight>
                  <a:srgbClr val="FFFFFF"/>
                </a:highlight>
                <a:latin typeface="Lato"/>
                <a:ea typeface="Lato"/>
                <a:cs typeface="Lato"/>
                <a:sym typeface="Lato"/>
              </a:rPr>
              <a:t>width</a:t>
            </a:r>
            <a:endParaRPr lang="es-AR" sz="2000" dirty="0">
              <a:solidFill>
                <a:srgbClr val="4A4A4A"/>
              </a:solidFill>
              <a:highlight>
                <a:srgbClr val="FFFFFF"/>
              </a:highlight>
              <a:latin typeface="Lato"/>
              <a:ea typeface="Lato"/>
              <a:cs typeface="Lato"/>
              <a:sym typeface="Lato"/>
            </a:endParaRPr>
          </a:p>
        </p:txBody>
      </p:sp>
      <p:pic>
        <p:nvPicPr>
          <p:cNvPr id="5" name="Imagen 4">
            <a:extLst>
              <a:ext uri="{FF2B5EF4-FFF2-40B4-BE49-F238E27FC236}">
                <a16:creationId xmlns:a16="http://schemas.microsoft.com/office/drawing/2014/main" id="{D23DEEFF-76D5-6FA2-917A-93012B4BC020}"/>
              </a:ext>
            </a:extLst>
          </p:cNvPr>
          <p:cNvPicPr>
            <a:picLocks noChangeAspect="1"/>
          </p:cNvPicPr>
          <p:nvPr/>
        </p:nvPicPr>
        <p:blipFill>
          <a:blip r:embed="rId3"/>
          <a:stretch>
            <a:fillRect/>
          </a:stretch>
        </p:blipFill>
        <p:spPr>
          <a:xfrm>
            <a:off x="5884264" y="2187991"/>
            <a:ext cx="2381582" cy="1590897"/>
          </a:xfrm>
          <a:prstGeom prst="rect">
            <a:avLst/>
          </a:prstGeom>
        </p:spPr>
      </p:pic>
    </p:spTree>
    <p:extLst>
      <p:ext uri="{BB962C8B-B14F-4D97-AF65-F5344CB8AC3E}">
        <p14:creationId xmlns:p14="http://schemas.microsoft.com/office/powerpoint/2010/main" val="2717159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48251" y="805256"/>
            <a:ext cx="5536913" cy="3908762"/>
          </a:xfrm>
          <a:prstGeom prst="rect">
            <a:avLst/>
          </a:prstGeom>
          <a:noFill/>
        </p:spPr>
        <p:txBody>
          <a:bodyPr wrap="square">
            <a:spAutoFit/>
          </a:bodyPr>
          <a:lstStyle/>
          <a:p>
            <a:r>
              <a:rPr lang="es-AR" sz="2800" dirty="0">
                <a:solidFill>
                  <a:srgbClr val="BE3969"/>
                </a:solidFill>
                <a:highlight>
                  <a:srgbClr val="FFFFFF"/>
                </a:highlight>
                <a:latin typeface="Russo One"/>
                <a:ea typeface="Lato"/>
                <a:cs typeface="Lato"/>
                <a:sym typeface="Russo One"/>
              </a:rPr>
              <a:t>Elementos Flotantes – Continuación </a:t>
            </a:r>
          </a:p>
          <a:p>
            <a:pPr lvl="0" rtl="0">
              <a:spcBef>
                <a:spcPts val="0"/>
              </a:spcBef>
              <a:spcAft>
                <a:spcPts val="0"/>
              </a:spcAft>
            </a:pPr>
            <a:endParaRPr lang="es-AR" sz="16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Al tener elementos flotando el resto de los elementos se van a posicionar al costado del elemento flotante</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Si queremos que los elementos vuelvan a tener el </a:t>
            </a:r>
            <a:r>
              <a:rPr lang="es-AR" sz="1600" dirty="0" err="1">
                <a:solidFill>
                  <a:srgbClr val="4A4A4A"/>
                </a:solidFill>
                <a:highlight>
                  <a:srgbClr val="FFFFFF"/>
                </a:highlight>
                <a:latin typeface="Lato"/>
                <a:ea typeface="Lato"/>
                <a:cs typeface="Lato"/>
                <a:sym typeface="Lato"/>
              </a:rPr>
              <a:t>flow</a:t>
            </a:r>
            <a:r>
              <a:rPr lang="es-AR" sz="1600" dirty="0">
                <a:solidFill>
                  <a:srgbClr val="4A4A4A"/>
                </a:solidFill>
                <a:highlight>
                  <a:srgbClr val="FFFFFF"/>
                </a:highlight>
                <a:latin typeface="Lato"/>
                <a:ea typeface="Lato"/>
                <a:cs typeface="Lato"/>
                <a:sym typeface="Lato"/>
              </a:rPr>
              <a:t> normal podemos utilizar la propiedad </a:t>
            </a:r>
            <a:r>
              <a:rPr lang="es-AR" sz="1600" dirty="0" err="1">
                <a:solidFill>
                  <a:srgbClr val="4A4A4A"/>
                </a:solidFill>
                <a:highlight>
                  <a:srgbClr val="FFFFFF"/>
                </a:highlight>
                <a:latin typeface="Lato"/>
                <a:ea typeface="Lato"/>
                <a:cs typeface="Lato"/>
                <a:sym typeface="Lato"/>
              </a:rPr>
              <a:t>clear</a:t>
            </a:r>
            <a:r>
              <a:rPr lang="es-AR" sz="1600" dirty="0">
                <a:solidFill>
                  <a:srgbClr val="4A4A4A"/>
                </a:solidFill>
                <a:highlight>
                  <a:srgbClr val="FFFFFF"/>
                </a:highlight>
                <a:latin typeface="Lato"/>
                <a:ea typeface="Lato"/>
                <a:cs typeface="Lato"/>
                <a:sym typeface="Lato"/>
              </a:rPr>
              <a:t> que acepta los valores </a:t>
            </a:r>
            <a:r>
              <a:rPr lang="es-AR" sz="1600" dirty="0" err="1">
                <a:solidFill>
                  <a:srgbClr val="4A4A4A"/>
                </a:solidFill>
                <a:highlight>
                  <a:srgbClr val="FFFFFF"/>
                </a:highlight>
                <a:latin typeface="Lato"/>
                <a:ea typeface="Lato"/>
                <a:cs typeface="Lato"/>
                <a:sym typeface="Lato"/>
              </a:rPr>
              <a:t>left</a:t>
            </a:r>
            <a:r>
              <a:rPr lang="es-AR" sz="1600" dirty="0">
                <a:solidFill>
                  <a:srgbClr val="4A4A4A"/>
                </a:solidFill>
                <a:highlight>
                  <a:srgbClr val="FFFFFF"/>
                </a:highlight>
                <a:latin typeface="Lato"/>
                <a:ea typeface="Lato"/>
                <a:cs typeface="Lato"/>
                <a:sym typeface="Lato"/>
              </a:rPr>
              <a:t>, </a:t>
            </a:r>
            <a:r>
              <a:rPr lang="es-AR" sz="1600" dirty="0" err="1">
                <a:solidFill>
                  <a:srgbClr val="4A4A4A"/>
                </a:solidFill>
                <a:highlight>
                  <a:srgbClr val="FFFFFF"/>
                </a:highlight>
                <a:latin typeface="Lato"/>
                <a:ea typeface="Lato"/>
                <a:cs typeface="Lato"/>
                <a:sym typeface="Lato"/>
              </a:rPr>
              <a:t>rigth</a:t>
            </a:r>
            <a:r>
              <a:rPr lang="es-AR" sz="1600" dirty="0">
                <a:solidFill>
                  <a:srgbClr val="4A4A4A"/>
                </a:solidFill>
                <a:highlight>
                  <a:srgbClr val="FFFFFF"/>
                </a:highlight>
                <a:latin typeface="Lato"/>
                <a:ea typeface="Lato"/>
                <a:cs typeface="Lato"/>
                <a:sym typeface="Lato"/>
              </a:rPr>
              <a:t> o </a:t>
            </a:r>
            <a:r>
              <a:rPr lang="es-AR" sz="1600" dirty="0" err="1">
                <a:solidFill>
                  <a:srgbClr val="4A4A4A"/>
                </a:solidFill>
                <a:highlight>
                  <a:srgbClr val="FFFFFF"/>
                </a:highlight>
                <a:latin typeface="Lato"/>
                <a:ea typeface="Lato"/>
                <a:cs typeface="Lato"/>
                <a:sym typeface="Lato"/>
              </a:rPr>
              <a:t>both</a:t>
            </a:r>
            <a:endParaRPr lang="es-AR" sz="160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Por medio de esta propiedad establecemos que no queremos tener elementos flotantes a la izquierda, derecha o ninguno de los dos</a:t>
            </a:r>
          </a:p>
          <a:p>
            <a:pPr marL="285750" lvl="0" indent="-285750" rtl="0">
              <a:spcBef>
                <a:spcPts val="0"/>
              </a:spcBef>
              <a:spcAft>
                <a:spcPts val="0"/>
              </a:spcAft>
              <a:buFont typeface="Arial" panose="020B0604020202020204" pitchFamily="34" charset="0"/>
              <a:buChar char="•"/>
            </a:pPr>
            <a:r>
              <a:rPr lang="es-AR" sz="1600" dirty="0">
                <a:solidFill>
                  <a:srgbClr val="4A4A4A"/>
                </a:solidFill>
                <a:highlight>
                  <a:srgbClr val="FFFFFF"/>
                </a:highlight>
                <a:latin typeface="Lato"/>
                <a:ea typeface="Lato"/>
                <a:cs typeface="Lato"/>
                <a:sym typeface="Lato"/>
              </a:rPr>
              <a:t>En este ejemplo el </a:t>
            </a:r>
            <a:r>
              <a:rPr lang="es-AR" sz="1600" dirty="0" err="1">
                <a:solidFill>
                  <a:srgbClr val="4A4A4A"/>
                </a:solidFill>
                <a:highlight>
                  <a:srgbClr val="FFFFFF"/>
                </a:highlight>
                <a:latin typeface="Lato"/>
                <a:ea typeface="Lato"/>
                <a:cs typeface="Lato"/>
                <a:sym typeface="Lato"/>
              </a:rPr>
              <a:t>div</a:t>
            </a:r>
            <a:r>
              <a:rPr lang="es-AR" sz="1600" dirty="0">
                <a:solidFill>
                  <a:srgbClr val="4A4A4A"/>
                </a:solidFill>
                <a:highlight>
                  <a:srgbClr val="FFFFFF"/>
                </a:highlight>
                <a:latin typeface="Lato"/>
                <a:ea typeface="Lato"/>
                <a:cs typeface="Lato"/>
                <a:sym typeface="Lato"/>
              </a:rPr>
              <a:t> no va a tener a nadie flotando a su izquierda y se recupera el </a:t>
            </a:r>
            <a:r>
              <a:rPr lang="es-AR" sz="1600" dirty="0" err="1">
                <a:solidFill>
                  <a:srgbClr val="4A4A4A"/>
                </a:solidFill>
                <a:highlight>
                  <a:srgbClr val="FFFFFF"/>
                </a:highlight>
                <a:latin typeface="Lato"/>
                <a:ea typeface="Lato"/>
                <a:cs typeface="Lato"/>
                <a:sym typeface="Lato"/>
              </a:rPr>
              <a:t>flow</a:t>
            </a:r>
            <a:r>
              <a:rPr lang="es-AR" sz="1600" dirty="0">
                <a:solidFill>
                  <a:srgbClr val="4A4A4A"/>
                </a:solidFill>
                <a:highlight>
                  <a:srgbClr val="FFFFFF"/>
                </a:highlight>
                <a:latin typeface="Lato"/>
                <a:ea typeface="Lato"/>
                <a:cs typeface="Lato"/>
                <a:sym typeface="Lato"/>
              </a:rPr>
              <a:t> normal de los elementos</a:t>
            </a:r>
          </a:p>
        </p:txBody>
      </p:sp>
      <p:pic>
        <p:nvPicPr>
          <p:cNvPr id="3" name="Imagen 2">
            <a:extLst>
              <a:ext uri="{FF2B5EF4-FFF2-40B4-BE49-F238E27FC236}">
                <a16:creationId xmlns:a16="http://schemas.microsoft.com/office/drawing/2014/main" id="{CA0B5ABD-1703-3643-0645-E417EE16DB3E}"/>
              </a:ext>
            </a:extLst>
          </p:cNvPr>
          <p:cNvPicPr>
            <a:picLocks noChangeAspect="1"/>
          </p:cNvPicPr>
          <p:nvPr/>
        </p:nvPicPr>
        <p:blipFill>
          <a:blip r:embed="rId3"/>
          <a:stretch>
            <a:fillRect/>
          </a:stretch>
        </p:blipFill>
        <p:spPr>
          <a:xfrm>
            <a:off x="6240174" y="2159632"/>
            <a:ext cx="2057687" cy="1286054"/>
          </a:xfrm>
          <a:prstGeom prst="rect">
            <a:avLst/>
          </a:prstGeom>
        </p:spPr>
      </p:pic>
    </p:spTree>
    <p:extLst>
      <p:ext uri="{BB962C8B-B14F-4D97-AF65-F5344CB8AC3E}">
        <p14:creationId xmlns:p14="http://schemas.microsoft.com/office/powerpoint/2010/main" val="229516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80578" y="1039677"/>
            <a:ext cx="8215458" cy="2123658"/>
          </a:xfrm>
          <a:prstGeom prst="rect">
            <a:avLst/>
          </a:prstGeom>
          <a:noFill/>
        </p:spPr>
        <p:txBody>
          <a:bodyPr wrap="square">
            <a:spAutoFit/>
          </a:bodyPr>
          <a:lstStyle/>
          <a:p>
            <a:r>
              <a:rPr lang="es-AR" sz="3600" dirty="0">
                <a:solidFill>
                  <a:srgbClr val="BE3969"/>
                </a:solidFill>
                <a:highlight>
                  <a:srgbClr val="FFFFFF"/>
                </a:highlight>
                <a:latin typeface="Russo One"/>
                <a:ea typeface="Lato"/>
                <a:cs typeface="Lato"/>
                <a:sym typeface="Russo One"/>
              </a:rPr>
              <a:t>Elementos Flotantes – Continuación </a:t>
            </a:r>
          </a:p>
          <a:p>
            <a:pPr lvl="0" rtl="0">
              <a:spcBef>
                <a:spcPts val="0"/>
              </a:spcBef>
              <a:spcAft>
                <a:spcPts val="0"/>
              </a:spcAft>
            </a:pPr>
            <a:endParaRPr lang="es-AR" sz="20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2000" dirty="0">
                <a:solidFill>
                  <a:srgbClr val="4A4A4A"/>
                </a:solidFill>
                <a:highlight>
                  <a:srgbClr val="FFFFFF"/>
                </a:highlight>
                <a:latin typeface="Lato"/>
                <a:ea typeface="Lato"/>
                <a:cs typeface="Lato"/>
                <a:sym typeface="Lato"/>
              </a:rPr>
              <a:t>Podríamos tener 3 secciones que estén flotando para hacer una parte del sitio en 3 columnas</a:t>
            </a:r>
          </a:p>
        </p:txBody>
      </p:sp>
      <p:pic>
        <p:nvPicPr>
          <p:cNvPr id="5" name="Imagen 4">
            <a:extLst>
              <a:ext uri="{FF2B5EF4-FFF2-40B4-BE49-F238E27FC236}">
                <a16:creationId xmlns:a16="http://schemas.microsoft.com/office/drawing/2014/main" id="{66EEE345-0D1B-B068-57EB-76594591D76E}"/>
              </a:ext>
            </a:extLst>
          </p:cNvPr>
          <p:cNvPicPr>
            <a:picLocks noChangeAspect="1"/>
          </p:cNvPicPr>
          <p:nvPr/>
        </p:nvPicPr>
        <p:blipFill>
          <a:blip r:embed="rId3"/>
          <a:stretch>
            <a:fillRect/>
          </a:stretch>
        </p:blipFill>
        <p:spPr>
          <a:xfrm>
            <a:off x="3454674" y="3273463"/>
            <a:ext cx="2267266" cy="1533739"/>
          </a:xfrm>
          <a:prstGeom prst="rect">
            <a:avLst/>
          </a:prstGeom>
        </p:spPr>
      </p:pic>
    </p:spTree>
    <p:extLst>
      <p:ext uri="{BB962C8B-B14F-4D97-AF65-F5344CB8AC3E}">
        <p14:creationId xmlns:p14="http://schemas.microsoft.com/office/powerpoint/2010/main" val="2534525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464271" y="716404"/>
            <a:ext cx="8215458" cy="4339650"/>
          </a:xfrm>
          <a:prstGeom prst="rect">
            <a:avLst/>
          </a:prstGeom>
          <a:noFill/>
        </p:spPr>
        <p:txBody>
          <a:bodyPr wrap="square">
            <a:spAutoFit/>
          </a:bodyPr>
          <a:lstStyle/>
          <a:p>
            <a:r>
              <a:rPr lang="es-AR" sz="2000" dirty="0">
                <a:solidFill>
                  <a:srgbClr val="BE3969"/>
                </a:solidFill>
                <a:highlight>
                  <a:srgbClr val="FFFFFF"/>
                </a:highlight>
                <a:latin typeface="Russo One"/>
                <a:ea typeface="Lato"/>
                <a:cs typeface="Lato"/>
                <a:sym typeface="Russo One"/>
              </a:rPr>
              <a:t>Elementos Flotantes – Continuación </a:t>
            </a:r>
          </a:p>
          <a:p>
            <a:pPr lvl="0" rtl="0">
              <a:spcBef>
                <a:spcPts val="0"/>
              </a:spcBef>
              <a:spcAft>
                <a:spcPts val="0"/>
              </a:spcAft>
            </a:pPr>
            <a:endParaRPr lang="es-AR" sz="1200" b="1" dirty="0">
              <a:solidFill>
                <a:schemeClr val="tx1"/>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Podemos aprender más en el sitio de </a:t>
            </a:r>
            <a:r>
              <a:rPr lang="es-AR" sz="1200" b="0" i="0" dirty="0">
                <a:effectLst/>
                <a:latin typeface="system-ui"/>
                <a:hlinkClick r:id="rId3"/>
              </a:rPr>
              <a:t>http://es.learnlayout.com</a:t>
            </a:r>
            <a:endParaRPr lang="es-AR" sz="1050" dirty="0">
              <a:solidFill>
                <a:srgbClr val="4A4A4A"/>
              </a:solidFill>
              <a:highlight>
                <a:srgbClr val="FFFFFF"/>
              </a:highlight>
              <a:latin typeface="Lato"/>
              <a:ea typeface="Lato"/>
              <a:cs typeface="Lato"/>
              <a:sym typeface="Lato"/>
            </a:endParaRP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Otra buena fuente es </a:t>
            </a:r>
            <a:r>
              <a:rPr lang="en-US" sz="1200" b="0" i="0" dirty="0">
                <a:effectLst/>
                <a:latin typeface="system-ui"/>
                <a:hlinkClick r:id="rId4"/>
              </a:rPr>
              <a:t>Learn CSS Positioning in Ten Steps (</a:t>
            </a:r>
            <a:r>
              <a:rPr lang="en-US" sz="1200" b="0" i="0" dirty="0" err="1">
                <a:effectLst/>
                <a:latin typeface="system-ui"/>
                <a:hlinkClick r:id="rId4"/>
              </a:rPr>
              <a:t>inglés</a:t>
            </a:r>
            <a:r>
              <a:rPr lang="en-US" sz="1200" b="0" i="0" dirty="0">
                <a:effectLst/>
                <a:latin typeface="system-ui"/>
                <a:hlinkClick r:id="rId4"/>
              </a:rPr>
              <a:t> </a:t>
            </a:r>
            <a:r>
              <a:rPr lang="en-US" sz="1200" b="0" i="0" dirty="0" err="1">
                <a:effectLst/>
                <a:latin typeface="system-ui"/>
                <a:hlinkClick r:id="rId4"/>
              </a:rPr>
              <a:t>pero</a:t>
            </a:r>
            <a:r>
              <a:rPr lang="en-US" sz="1200" b="0" i="0" dirty="0">
                <a:effectLst/>
                <a:latin typeface="system-ui"/>
                <a:hlinkClick r:id="rId4"/>
              </a:rPr>
              <a:t> se </a:t>
            </a:r>
            <a:r>
              <a:rPr lang="en-US" sz="1200" b="0" i="0" dirty="0" err="1">
                <a:effectLst/>
                <a:latin typeface="system-ui"/>
                <a:hlinkClick r:id="rId4"/>
              </a:rPr>
              <a:t>entiende</a:t>
            </a:r>
            <a:r>
              <a:rPr lang="en-US" sz="1200" b="0" i="0" dirty="0">
                <a:effectLst/>
                <a:latin typeface="system-ui"/>
                <a:hlinkClick r:id="rId4"/>
              </a:rPr>
              <a:t>)</a:t>
            </a:r>
            <a:endParaRPr lang="en-US" sz="1200" b="0" i="0" dirty="0">
              <a:effectLst/>
              <a:latin typeface="system-ui"/>
            </a:endParaRP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Actualmente se piensa el diseño web como si fuera imprenta (o los diarios) y existe el concepto de grilla</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Podemos ver el sitio de 960.gs que tiene buenos ejemplos</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Básicamente la página se divide en pequeñas secciones donde el ancho máximo es 960px</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Tenemos máximo 12 columnas</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Si queremos usar toda una sección utilizamos las 12 columnas</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Si queremos utilizar 2 columnas donde una es más grande y la otra más chica podemos 		elegir una columna de 4 espacios y otra de 8</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Si queremos hacer una página de 2 lados nada más y ocupar la mitad para cada sección 		podemos hacer dos columnas de 6 y 6</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En caso de querer hacer una página a 3 columnas podríamos dividirlo en 3 secciones de 4 		columnas cada una</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Lo importante es que la sumatoria de columnas de 12 como máximo</a:t>
            </a:r>
          </a:p>
          <a:p>
            <a:pPr lvl="0" rtl="0">
              <a:spcBef>
                <a:spcPts val="0"/>
              </a:spcBef>
              <a:spcAft>
                <a:spcPts val="0"/>
              </a:spcAft>
            </a:pPr>
            <a:r>
              <a:rPr lang="es-AR" sz="1200" dirty="0">
                <a:solidFill>
                  <a:srgbClr val="4A4A4A"/>
                </a:solidFill>
                <a:highlight>
                  <a:srgbClr val="FFFFFF"/>
                </a:highlight>
                <a:latin typeface="Lato"/>
                <a:ea typeface="Lato"/>
                <a:cs typeface="Lato"/>
                <a:sym typeface="Lato"/>
              </a:rPr>
              <a:t>		- Como vemos se pueden utilizar muchas opciones y la grilla nos abstrae de la forma de 		crear todo esto</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Algunos sistemas de grillas son más flexibles</a:t>
            </a:r>
          </a:p>
          <a:p>
            <a:pPr marL="285750" lvl="0" indent="-285750" rtl="0">
              <a:spcBef>
                <a:spcPts val="0"/>
              </a:spcBef>
              <a:spcAft>
                <a:spcPts val="0"/>
              </a:spcAft>
              <a:buFont typeface="Arial" panose="020B0604020202020204" pitchFamily="34" charset="0"/>
              <a:buChar char="•"/>
            </a:pPr>
            <a:r>
              <a:rPr lang="es-AR" sz="1200" dirty="0">
                <a:solidFill>
                  <a:srgbClr val="4A4A4A"/>
                </a:solidFill>
                <a:highlight>
                  <a:srgbClr val="FFFFFF"/>
                </a:highlight>
                <a:latin typeface="Lato"/>
                <a:ea typeface="Lato"/>
                <a:cs typeface="Lato"/>
                <a:sym typeface="Lato"/>
              </a:rPr>
              <a:t>Se pueden conseguir grillas de 16 columnas</a:t>
            </a:r>
          </a:p>
          <a:p>
            <a:pPr marL="285750" lvl="0" indent="-285750" rtl="0">
              <a:spcBef>
                <a:spcPts val="0"/>
              </a:spcBef>
              <a:spcAft>
                <a:spcPts val="0"/>
              </a:spcAft>
              <a:buFont typeface="Arial" panose="020B0604020202020204" pitchFamily="34" charset="0"/>
              <a:buChar char="•"/>
            </a:pPr>
            <a:r>
              <a:rPr lang="es-AR" sz="1200" dirty="0" err="1">
                <a:solidFill>
                  <a:srgbClr val="4A4A4A"/>
                </a:solidFill>
                <a:highlight>
                  <a:srgbClr val="FFFFFF"/>
                </a:highlight>
                <a:latin typeface="Lato"/>
                <a:ea typeface="Lato"/>
                <a:cs typeface="Lato"/>
                <a:sym typeface="Lato"/>
              </a:rPr>
              <a:t>Boostrap</a:t>
            </a:r>
            <a:r>
              <a:rPr lang="es-AR" sz="1200" dirty="0">
                <a:solidFill>
                  <a:srgbClr val="4A4A4A"/>
                </a:solidFill>
                <a:highlight>
                  <a:srgbClr val="FFFFFF"/>
                </a:highlight>
                <a:latin typeface="Lato"/>
                <a:ea typeface="Lato"/>
                <a:cs typeface="Lato"/>
                <a:sym typeface="Lato"/>
              </a:rPr>
              <a:t> también trae su propio sistema de grilla</a:t>
            </a:r>
          </a:p>
          <a:p>
            <a:pPr marL="285750" lvl="0" indent="-285750" rtl="0">
              <a:spcBef>
                <a:spcPts val="0"/>
              </a:spcBef>
              <a:spcAft>
                <a:spcPts val="0"/>
              </a:spcAft>
              <a:buFont typeface="Arial" panose="020B0604020202020204" pitchFamily="34" charset="0"/>
              <a:buChar char="•"/>
            </a:pPr>
            <a:r>
              <a:rPr lang="es-AR" sz="1200" dirty="0" err="1">
                <a:solidFill>
                  <a:srgbClr val="4A4A4A"/>
                </a:solidFill>
                <a:highlight>
                  <a:srgbClr val="FFFFFF"/>
                </a:highlight>
                <a:latin typeface="Lato"/>
                <a:ea typeface="Lato"/>
                <a:cs typeface="Lato"/>
                <a:sym typeface="Lato"/>
              </a:rPr>
              <a:t>Foundation</a:t>
            </a:r>
            <a:r>
              <a:rPr lang="es-AR" sz="1200" dirty="0">
                <a:solidFill>
                  <a:srgbClr val="4A4A4A"/>
                </a:solidFill>
                <a:highlight>
                  <a:srgbClr val="FFFFFF"/>
                </a:highlight>
                <a:latin typeface="Lato"/>
                <a:ea typeface="Lato"/>
                <a:cs typeface="Lato"/>
                <a:sym typeface="Lato"/>
              </a:rPr>
              <a:t> también: grillas</a:t>
            </a:r>
          </a:p>
        </p:txBody>
      </p:sp>
    </p:spTree>
    <p:extLst>
      <p:ext uri="{BB962C8B-B14F-4D97-AF65-F5344CB8AC3E}">
        <p14:creationId xmlns:p14="http://schemas.microsoft.com/office/powerpoint/2010/main" val="1081221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AC3FF"/>
        </a:solidFill>
        <a:effectLst/>
      </p:bgPr>
    </p:bg>
    <p:spTree>
      <p:nvGrpSpPr>
        <p:cNvPr id="1" name="Shape 152"/>
        <p:cNvGrpSpPr/>
        <p:nvPr/>
      </p:nvGrpSpPr>
      <p:grpSpPr>
        <a:xfrm>
          <a:off x="0" y="0"/>
          <a:ext cx="0" cy="0"/>
          <a:chOff x="0" y="0"/>
          <a:chExt cx="0" cy="0"/>
        </a:xfrm>
      </p:grpSpPr>
      <p:sp>
        <p:nvSpPr>
          <p:cNvPr id="153" name="Google Shape;153;p24"/>
          <p:cNvSpPr txBox="1">
            <a:spLocks noGrp="1"/>
          </p:cNvSpPr>
          <p:nvPr>
            <p:ph type="title" idx="4294967295"/>
          </p:nvPr>
        </p:nvSpPr>
        <p:spPr>
          <a:xfrm>
            <a:off x="798945" y="1771795"/>
            <a:ext cx="4129088" cy="534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s" sz="4400" dirty="0">
                <a:solidFill>
                  <a:srgbClr val="4A4A4A"/>
                </a:solidFill>
                <a:latin typeface="Russo One"/>
                <a:ea typeface="Russo One"/>
                <a:cs typeface="Russo One"/>
                <a:sym typeface="Russo One"/>
              </a:rPr>
              <a:t>Veamos un ejemplo de </a:t>
            </a:r>
            <a:endParaRPr sz="4400" dirty="0">
              <a:solidFill>
                <a:srgbClr val="4A4A4A"/>
              </a:solidFill>
              <a:latin typeface="Russo One"/>
              <a:ea typeface="Russo One"/>
              <a:cs typeface="Russo One"/>
              <a:sym typeface="Russo One"/>
            </a:endParaRPr>
          </a:p>
          <a:p>
            <a:pPr marL="0" lvl="0" indent="0" algn="l" rtl="0">
              <a:spcBef>
                <a:spcPts val="0"/>
              </a:spcBef>
              <a:spcAft>
                <a:spcPts val="0"/>
              </a:spcAft>
              <a:buSzPts val="990"/>
              <a:buNone/>
            </a:pPr>
            <a:r>
              <a:rPr lang="es" sz="4400" dirty="0">
                <a:solidFill>
                  <a:srgbClr val="CD0055"/>
                </a:solidFill>
                <a:latin typeface="Russo One"/>
                <a:ea typeface="Russo One"/>
                <a:cs typeface="Russo One"/>
                <a:sym typeface="Russo One"/>
              </a:rPr>
              <a:t>este tema</a:t>
            </a:r>
            <a:endParaRPr sz="4400" dirty="0">
              <a:solidFill>
                <a:srgbClr val="CD0055"/>
              </a:solidFill>
              <a:latin typeface="Russo One"/>
              <a:ea typeface="Russo One"/>
              <a:cs typeface="Russo One"/>
              <a:sym typeface="Russo One"/>
            </a:endParaRPr>
          </a:p>
        </p:txBody>
      </p:sp>
      <p:pic>
        <p:nvPicPr>
          <p:cNvPr id="154" name="Google Shape;154;p24"/>
          <p:cNvPicPr preferRelativeResize="0"/>
          <p:nvPr/>
        </p:nvPicPr>
        <p:blipFill>
          <a:blip r:embed="rId3">
            <a:alphaModFix/>
          </a:blip>
          <a:stretch>
            <a:fillRect/>
          </a:stretch>
        </p:blipFill>
        <p:spPr>
          <a:xfrm>
            <a:off x="4437025" y="691975"/>
            <a:ext cx="4392225" cy="4392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10" name="Imagen 9">
            <a:extLst>
              <a:ext uri="{FF2B5EF4-FFF2-40B4-BE49-F238E27FC236}">
                <a16:creationId xmlns:a16="http://schemas.microsoft.com/office/drawing/2014/main" id="{437777EF-90F3-E966-8050-96D4E3F5B69A}"/>
              </a:ext>
            </a:extLst>
          </p:cNvPr>
          <p:cNvPicPr>
            <a:picLocks noChangeAspect="1"/>
          </p:cNvPicPr>
          <p:nvPr/>
        </p:nvPicPr>
        <p:blipFill>
          <a:blip r:embed="rId3"/>
          <a:stretch>
            <a:fillRect/>
          </a:stretch>
        </p:blipFill>
        <p:spPr>
          <a:xfrm>
            <a:off x="0" y="0"/>
            <a:ext cx="9144000" cy="5143500"/>
          </a:xfrm>
          <a:prstGeom prst="rect">
            <a:avLst/>
          </a:prstGeom>
        </p:spPr>
      </p:pic>
      <p:sp>
        <p:nvSpPr>
          <p:cNvPr id="11" name="Google Shape;71;p15"/>
          <p:cNvSpPr txBox="1">
            <a:spLocks/>
          </p:cNvSpPr>
          <p:nvPr/>
        </p:nvSpPr>
        <p:spPr>
          <a:xfrm>
            <a:off x="1644073" y="1802966"/>
            <a:ext cx="6105236" cy="12167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AR" sz="5400" dirty="0">
                <a:solidFill>
                  <a:schemeClr val="tx1"/>
                </a:solidFill>
                <a:latin typeface="Russo One"/>
                <a:ea typeface="Russo One"/>
                <a:cs typeface="Russo One"/>
                <a:sym typeface="Russo One"/>
              </a:rPr>
              <a:t>Posicionamiento con ejemplos</a:t>
            </a:r>
          </a:p>
        </p:txBody>
      </p:sp>
    </p:spTree>
    <p:extLst>
      <p:ext uri="{BB962C8B-B14F-4D97-AF65-F5344CB8AC3E}">
        <p14:creationId xmlns:p14="http://schemas.microsoft.com/office/powerpoint/2010/main" val="10043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84344" y="813386"/>
            <a:ext cx="3895293" cy="3662541"/>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Veamos ahora todo lo que vimos en clase con ejemplos visuales</a:t>
            </a:r>
          </a:p>
          <a:p>
            <a:pPr lvl="0" rtl="0">
              <a:spcBef>
                <a:spcPts val="0"/>
              </a:spcBef>
              <a:spcAft>
                <a:spcPts val="0"/>
              </a:spcAft>
            </a:pPr>
            <a:endParaRPr lang="es-AR" sz="1800" b="1" dirty="0">
              <a:solidFill>
                <a:schemeClr val="tx1"/>
              </a:solidFill>
              <a:highlight>
                <a:srgbClr val="FFFFFF"/>
              </a:highlight>
              <a:latin typeface="Lato"/>
              <a:ea typeface="Lato"/>
              <a:cs typeface="Lato"/>
              <a:sym typeface="Lato"/>
            </a:endParaRPr>
          </a:p>
          <a:p>
            <a:pPr lvl="0" rtl="0">
              <a:spcBef>
                <a:spcPts val="0"/>
              </a:spcBef>
              <a:spcAft>
                <a:spcPts val="0"/>
              </a:spcAft>
            </a:pPr>
            <a:endParaRPr lang="es-AR" sz="1800" b="1" dirty="0">
              <a:solidFill>
                <a:schemeClr val="tx1"/>
              </a:solidFill>
              <a:highlight>
                <a:srgbClr val="FFFFFF"/>
              </a:highlight>
              <a:latin typeface="Lato"/>
              <a:ea typeface="Lato"/>
              <a:cs typeface="Lato"/>
              <a:sym typeface="Lato"/>
            </a:endParaRPr>
          </a:p>
          <a:p>
            <a:pPr lvl="0" rtl="0">
              <a:spcBef>
                <a:spcPts val="0"/>
              </a:spcBef>
              <a:spcAft>
                <a:spcPts val="0"/>
              </a:spcAft>
            </a:pPr>
            <a:r>
              <a:rPr lang="es-AR" sz="1800" b="1" dirty="0">
                <a:solidFill>
                  <a:schemeClr val="tx1"/>
                </a:solidFill>
                <a:highlight>
                  <a:srgbClr val="FFFFFF"/>
                </a:highlight>
                <a:latin typeface="Lato"/>
                <a:ea typeface="Lato"/>
                <a:cs typeface="Lato"/>
                <a:sym typeface="Lato"/>
                <a:hlinkClick r:id="rId3"/>
              </a:rPr>
              <a:t>https://ada7matm.github.io/pages/position.html</a:t>
            </a:r>
            <a:r>
              <a:rPr lang="es-AR" sz="1800" b="1" dirty="0">
                <a:solidFill>
                  <a:schemeClr val="tx1"/>
                </a:solidFill>
                <a:highlight>
                  <a:srgbClr val="FFFFFF"/>
                </a:highlight>
                <a:latin typeface="Lato"/>
                <a:ea typeface="Lato"/>
                <a:cs typeface="Lato"/>
                <a:sym typeface="Lato"/>
              </a:rPr>
              <a:t> </a:t>
            </a:r>
          </a:p>
        </p:txBody>
      </p:sp>
      <p:pic>
        <p:nvPicPr>
          <p:cNvPr id="3" name="Imagen 2">
            <a:extLst>
              <a:ext uri="{FF2B5EF4-FFF2-40B4-BE49-F238E27FC236}">
                <a16:creationId xmlns:a16="http://schemas.microsoft.com/office/drawing/2014/main" id="{445F2CE3-4FE3-B762-4040-B1E8325402ED}"/>
              </a:ext>
            </a:extLst>
          </p:cNvPr>
          <p:cNvPicPr>
            <a:picLocks noChangeAspect="1"/>
          </p:cNvPicPr>
          <p:nvPr/>
        </p:nvPicPr>
        <p:blipFill>
          <a:blip r:embed="rId4"/>
          <a:stretch>
            <a:fillRect/>
          </a:stretch>
        </p:blipFill>
        <p:spPr>
          <a:xfrm>
            <a:off x="4664365" y="1186873"/>
            <a:ext cx="4217747" cy="3041242"/>
          </a:xfrm>
          <a:prstGeom prst="rect">
            <a:avLst/>
          </a:prstGeom>
        </p:spPr>
      </p:pic>
    </p:spTree>
    <p:extLst>
      <p:ext uri="{BB962C8B-B14F-4D97-AF65-F5344CB8AC3E}">
        <p14:creationId xmlns:p14="http://schemas.microsoft.com/office/powerpoint/2010/main" val="1592011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10" name="Imagen 9">
            <a:extLst>
              <a:ext uri="{FF2B5EF4-FFF2-40B4-BE49-F238E27FC236}">
                <a16:creationId xmlns:a16="http://schemas.microsoft.com/office/drawing/2014/main" id="{437777EF-90F3-E966-8050-96D4E3F5B69A}"/>
              </a:ext>
            </a:extLst>
          </p:cNvPr>
          <p:cNvPicPr>
            <a:picLocks noChangeAspect="1"/>
          </p:cNvPicPr>
          <p:nvPr/>
        </p:nvPicPr>
        <p:blipFill>
          <a:blip r:embed="rId3"/>
          <a:stretch>
            <a:fillRect/>
          </a:stretch>
        </p:blipFill>
        <p:spPr>
          <a:xfrm>
            <a:off x="0" y="0"/>
            <a:ext cx="9144000" cy="5143500"/>
          </a:xfrm>
          <a:prstGeom prst="rect">
            <a:avLst/>
          </a:prstGeom>
        </p:spPr>
      </p:pic>
      <p:sp>
        <p:nvSpPr>
          <p:cNvPr id="11" name="Google Shape;71;p15"/>
          <p:cNvSpPr txBox="1">
            <a:spLocks/>
          </p:cNvSpPr>
          <p:nvPr/>
        </p:nvSpPr>
        <p:spPr>
          <a:xfrm>
            <a:off x="1644073" y="1802966"/>
            <a:ext cx="6105236" cy="12167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AR" sz="4800" dirty="0">
                <a:solidFill>
                  <a:schemeClr val="tx1"/>
                </a:solidFill>
                <a:latin typeface="Russo One"/>
                <a:ea typeface="Russo One"/>
                <a:cs typeface="Russo One"/>
                <a:sym typeface="Russo One"/>
              </a:rPr>
              <a:t>Mas Contenido de Posicionamiento</a:t>
            </a:r>
          </a:p>
        </p:txBody>
      </p:sp>
    </p:spTree>
    <p:extLst>
      <p:ext uri="{BB962C8B-B14F-4D97-AF65-F5344CB8AC3E}">
        <p14:creationId xmlns:p14="http://schemas.microsoft.com/office/powerpoint/2010/main" val="3886744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84344" y="813386"/>
            <a:ext cx="7682201" cy="3939540"/>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Contenido de Lectura:</a:t>
            </a:r>
            <a:endParaRPr lang="es-AR" sz="1800" b="1" dirty="0">
              <a:solidFill>
                <a:schemeClr val="tx1"/>
              </a:solidFill>
              <a:highlight>
                <a:srgbClr val="FFFFFF"/>
              </a:highlight>
              <a:latin typeface="Lato"/>
              <a:ea typeface="Lato"/>
              <a:cs typeface="Lato"/>
              <a:sym typeface="Lato"/>
            </a:endParaRPr>
          </a:p>
          <a:p>
            <a:pPr lvl="0" rtl="0">
              <a:spcBef>
                <a:spcPts val="0"/>
              </a:spcBef>
              <a:spcAft>
                <a:spcPts val="0"/>
              </a:spcAft>
            </a:pPr>
            <a:endParaRPr lang="es-AR" sz="1800" b="1" dirty="0">
              <a:solidFill>
                <a:schemeClr val="tx1"/>
              </a:solidFill>
              <a:highlight>
                <a:srgbClr val="FFFFFF"/>
              </a:highlight>
              <a:latin typeface="Lato"/>
              <a:ea typeface="Lato"/>
              <a:cs typeface="Lato"/>
              <a:sym typeface="Lato"/>
            </a:endParaRPr>
          </a:p>
          <a:p>
            <a:pPr algn="l">
              <a:buFont typeface="Arial" panose="020B0604020202020204" pitchFamily="34" charset="0"/>
              <a:buChar char="•"/>
            </a:pPr>
            <a:r>
              <a:rPr lang="es-AR" sz="2800" b="0" i="0" dirty="0">
                <a:solidFill>
                  <a:srgbClr val="1C1E21"/>
                </a:solidFill>
                <a:effectLst/>
                <a:latin typeface="system-ui"/>
                <a:hlinkClick r:id="rId3"/>
              </a:rPr>
              <a:t>Posición – MDN</a:t>
            </a:r>
            <a:endParaRPr lang="es-AR" sz="2800" b="0" i="0" dirty="0">
              <a:solidFill>
                <a:srgbClr val="1C1E21"/>
              </a:solidFill>
              <a:effectLst/>
              <a:latin typeface="system-ui"/>
            </a:endParaRPr>
          </a:p>
          <a:p>
            <a:pPr>
              <a:buFont typeface="Arial" panose="020B0604020202020204" pitchFamily="34" charset="0"/>
              <a:buChar char="•"/>
            </a:pPr>
            <a:r>
              <a:rPr lang="es-AR" sz="3200" b="0" i="0" dirty="0">
                <a:solidFill>
                  <a:srgbClr val="1C1E21"/>
                </a:solidFill>
                <a:effectLst/>
                <a:latin typeface="system-ui"/>
                <a:hlinkClick r:id="rId4"/>
              </a:rPr>
              <a:t>Entendiendo la propiedad z-</a:t>
            </a:r>
            <a:r>
              <a:rPr lang="es-AR" sz="3200" b="0" i="0" dirty="0" err="1">
                <a:solidFill>
                  <a:srgbClr val="1C1E21"/>
                </a:solidFill>
                <a:effectLst/>
                <a:latin typeface="system-ui"/>
                <a:hlinkClick r:id="rId4"/>
              </a:rPr>
              <a:t>index</a:t>
            </a:r>
            <a:r>
              <a:rPr lang="es-AR" sz="3200" b="0" i="0" dirty="0">
                <a:solidFill>
                  <a:srgbClr val="1C1E21"/>
                </a:solidFill>
                <a:effectLst/>
                <a:latin typeface="system-ui"/>
                <a:hlinkClick r:id="rId4"/>
              </a:rPr>
              <a:t> - MDN</a:t>
            </a:r>
            <a:endParaRPr lang="es-AR" sz="3200" b="0" i="0" dirty="0">
              <a:solidFill>
                <a:srgbClr val="1C1E21"/>
              </a:solidFill>
              <a:effectLst/>
              <a:latin typeface="system-ui"/>
            </a:endParaRPr>
          </a:p>
          <a:p>
            <a:pPr algn="l">
              <a:buFont typeface="Arial" panose="020B0604020202020204" pitchFamily="34" charset="0"/>
              <a:buChar char="•"/>
            </a:pPr>
            <a:endParaRPr lang="es-AR" sz="2400" dirty="0">
              <a:solidFill>
                <a:srgbClr val="1C1E21"/>
              </a:solidFill>
              <a:latin typeface="system-ui"/>
            </a:endParaRPr>
          </a:p>
          <a:p>
            <a:pPr algn="l"/>
            <a:r>
              <a:rPr lang="es-AR" sz="2800" dirty="0">
                <a:solidFill>
                  <a:srgbClr val="1C1E21"/>
                </a:solidFill>
                <a:latin typeface="system-ui"/>
              </a:rPr>
              <a:t>En Ingles:</a:t>
            </a:r>
          </a:p>
          <a:p>
            <a:pPr algn="l">
              <a:buFont typeface="Arial" panose="020B0604020202020204" pitchFamily="34" charset="0"/>
              <a:buChar char="•"/>
            </a:pPr>
            <a:r>
              <a:rPr lang="es-AR" sz="3200" b="0" i="0" dirty="0">
                <a:solidFill>
                  <a:srgbClr val="1C1E21"/>
                </a:solidFill>
                <a:effectLst/>
                <a:latin typeface="system-ui"/>
                <a:hlinkClick r:id="rId5"/>
              </a:rPr>
              <a:t>Posicionamiento explicado visualmente</a:t>
            </a:r>
            <a:endParaRPr lang="es-AR" sz="3200" b="0" i="0" dirty="0">
              <a:solidFill>
                <a:srgbClr val="1C1E21"/>
              </a:solidFill>
              <a:effectLst/>
              <a:latin typeface="system-ui"/>
            </a:endParaRPr>
          </a:p>
          <a:p>
            <a:pPr algn="l">
              <a:buFont typeface="Arial" panose="020B0604020202020204" pitchFamily="34" charset="0"/>
              <a:buChar char="•"/>
            </a:pPr>
            <a:r>
              <a:rPr lang="es-AR" sz="3200" b="0" i="0" dirty="0">
                <a:solidFill>
                  <a:srgbClr val="1C1E21"/>
                </a:solidFill>
                <a:effectLst/>
                <a:latin typeface="system-ui"/>
                <a:hlinkClick r:id="rId6"/>
              </a:rPr>
              <a:t>Referencia de posicionamiento</a:t>
            </a:r>
            <a:endParaRPr lang="es-AR" sz="3200" b="0" i="0" dirty="0">
              <a:solidFill>
                <a:srgbClr val="1C1E21"/>
              </a:solidFill>
              <a:effectLst/>
              <a:latin typeface="system-ui"/>
            </a:endParaRPr>
          </a:p>
          <a:p>
            <a:pPr algn="l">
              <a:buFont typeface="Arial" panose="020B0604020202020204" pitchFamily="34" charset="0"/>
              <a:buChar char="•"/>
            </a:pPr>
            <a:endParaRPr lang="es-AR" sz="2400" b="0" i="0" dirty="0">
              <a:solidFill>
                <a:srgbClr val="1C1E21"/>
              </a:solidFill>
              <a:effectLst/>
              <a:latin typeface="system-ui"/>
            </a:endParaRPr>
          </a:p>
        </p:txBody>
      </p:sp>
    </p:spTree>
    <p:extLst>
      <p:ext uri="{BB962C8B-B14F-4D97-AF65-F5344CB8AC3E}">
        <p14:creationId xmlns:p14="http://schemas.microsoft.com/office/powerpoint/2010/main" val="4000537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BE3969"/>
        </a:solidFill>
        <a:effectLst/>
      </p:bgPr>
    </p:bg>
    <p:spTree>
      <p:nvGrpSpPr>
        <p:cNvPr id="1" name="Shape 158"/>
        <p:cNvGrpSpPr/>
        <p:nvPr/>
      </p:nvGrpSpPr>
      <p:grpSpPr>
        <a:xfrm>
          <a:off x="0" y="0"/>
          <a:ext cx="0" cy="0"/>
          <a:chOff x="0" y="0"/>
          <a:chExt cx="0" cy="0"/>
        </a:xfrm>
      </p:grpSpPr>
      <p:sp>
        <p:nvSpPr>
          <p:cNvPr id="159" name="Google Shape;159;p25"/>
          <p:cNvSpPr txBox="1">
            <a:spLocks noGrp="1"/>
          </p:cNvSpPr>
          <p:nvPr>
            <p:ph type="title" idx="4294967295"/>
          </p:nvPr>
        </p:nvSpPr>
        <p:spPr>
          <a:xfrm>
            <a:off x="701964" y="1198995"/>
            <a:ext cx="4135438" cy="28876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s" sz="4400" dirty="0">
                <a:solidFill>
                  <a:srgbClr val="EAC3FF"/>
                </a:solidFill>
                <a:latin typeface="Russo One"/>
                <a:ea typeface="Russo One"/>
                <a:cs typeface="Russo One"/>
                <a:sym typeface="Russo One"/>
              </a:rPr>
              <a:t>Ahora es momento </a:t>
            </a:r>
            <a:endParaRPr sz="4400" dirty="0">
              <a:solidFill>
                <a:srgbClr val="EAC3FF"/>
              </a:solidFill>
              <a:latin typeface="Russo One"/>
              <a:ea typeface="Russo One"/>
              <a:cs typeface="Russo One"/>
              <a:sym typeface="Russo One"/>
            </a:endParaRPr>
          </a:p>
          <a:p>
            <a:pPr marL="0" lvl="0" indent="0" algn="l" rtl="0">
              <a:spcBef>
                <a:spcPts val="0"/>
              </a:spcBef>
              <a:spcAft>
                <a:spcPts val="0"/>
              </a:spcAft>
              <a:buSzPts val="990"/>
              <a:buNone/>
            </a:pPr>
            <a:r>
              <a:rPr lang="es" sz="4400" dirty="0">
                <a:solidFill>
                  <a:srgbClr val="EAC3FF"/>
                </a:solidFill>
                <a:latin typeface="Russo One"/>
                <a:ea typeface="Russo One"/>
                <a:cs typeface="Russo One"/>
                <a:sym typeface="Russo One"/>
              </a:rPr>
              <a:t>de aplicar </a:t>
            </a:r>
            <a:r>
              <a:rPr lang="es" sz="4400" dirty="0">
                <a:solidFill>
                  <a:srgbClr val="F0F000"/>
                </a:solidFill>
                <a:latin typeface="Russo One"/>
                <a:ea typeface="Russo One"/>
                <a:cs typeface="Russo One"/>
                <a:sym typeface="Russo One"/>
              </a:rPr>
              <a:t>lo aprendido en clase</a:t>
            </a:r>
            <a:endParaRPr sz="4400" dirty="0">
              <a:solidFill>
                <a:srgbClr val="F0F000"/>
              </a:solidFill>
              <a:latin typeface="Russo One"/>
              <a:ea typeface="Russo One"/>
              <a:cs typeface="Russo One"/>
              <a:sym typeface="Russo One"/>
            </a:endParaRPr>
          </a:p>
        </p:txBody>
      </p:sp>
      <p:pic>
        <p:nvPicPr>
          <p:cNvPr id="160" name="Google Shape;160;p25"/>
          <p:cNvPicPr preferRelativeResize="0"/>
          <p:nvPr/>
        </p:nvPicPr>
        <p:blipFill>
          <a:blip r:embed="rId3">
            <a:alphaModFix/>
          </a:blip>
          <a:stretch>
            <a:fillRect/>
          </a:stretch>
        </p:blipFill>
        <p:spPr>
          <a:xfrm>
            <a:off x="4739375" y="951150"/>
            <a:ext cx="4078050" cy="4078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CuadroTexto 3">
            <a:extLst>
              <a:ext uri="{FF2B5EF4-FFF2-40B4-BE49-F238E27FC236}">
                <a16:creationId xmlns:a16="http://schemas.microsoft.com/office/drawing/2014/main" id="{B9B8C329-BED5-C09C-F09B-E2F2A7739CCE}"/>
              </a:ext>
            </a:extLst>
          </p:cNvPr>
          <p:cNvSpPr txBox="1"/>
          <p:nvPr/>
        </p:nvSpPr>
        <p:spPr>
          <a:xfrm>
            <a:off x="584345" y="813386"/>
            <a:ext cx="3987656" cy="3447098"/>
          </a:xfrm>
          <a:prstGeom prst="rect">
            <a:avLst/>
          </a:prstGeom>
          <a:noFill/>
        </p:spPr>
        <p:txBody>
          <a:bodyPr wrap="square">
            <a:spAutoFit/>
          </a:bodyPr>
          <a:lstStyle/>
          <a:p>
            <a:r>
              <a:rPr lang="es-AR" sz="3200" dirty="0">
                <a:solidFill>
                  <a:srgbClr val="BE3969"/>
                </a:solidFill>
                <a:highlight>
                  <a:srgbClr val="FFFFFF"/>
                </a:highlight>
                <a:latin typeface="Russo One"/>
                <a:ea typeface="Lato"/>
                <a:cs typeface="Lato"/>
                <a:sym typeface="Russo One"/>
              </a:rPr>
              <a:t>Ejercitación</a:t>
            </a:r>
            <a:endParaRPr lang="es-AR" sz="1800" b="1" dirty="0">
              <a:solidFill>
                <a:schemeClr val="tx1"/>
              </a:solidFill>
              <a:highlight>
                <a:srgbClr val="FFFFFF"/>
              </a:highlight>
              <a:latin typeface="Lato"/>
              <a:ea typeface="Lato"/>
              <a:cs typeface="Lato"/>
              <a:sym typeface="Lato"/>
            </a:endParaRPr>
          </a:p>
          <a:p>
            <a:pPr lvl="0" rtl="0">
              <a:spcBef>
                <a:spcPts val="0"/>
              </a:spcBef>
              <a:spcAft>
                <a:spcPts val="0"/>
              </a:spcAft>
            </a:pPr>
            <a:endParaRPr lang="es-AR" sz="1800" b="1" dirty="0">
              <a:solidFill>
                <a:schemeClr val="tx1"/>
              </a:solidFill>
              <a:highlight>
                <a:srgbClr val="FFFFFF"/>
              </a:highlight>
              <a:latin typeface="Lato"/>
              <a:ea typeface="Lato"/>
              <a:cs typeface="Lato"/>
              <a:sym typeface="Lato"/>
            </a:endParaRPr>
          </a:p>
          <a:p>
            <a:pPr algn="l">
              <a:buFont typeface="Arial" panose="020B0604020202020204" pitchFamily="34" charset="0"/>
              <a:buChar char="•"/>
            </a:pPr>
            <a:r>
              <a:rPr lang="es-AR" sz="2800" b="0" i="0" dirty="0">
                <a:solidFill>
                  <a:srgbClr val="1C1E21"/>
                </a:solidFill>
                <a:effectLst/>
                <a:latin typeface="system-ui"/>
                <a:hlinkClick r:id="rId3"/>
              </a:rPr>
              <a:t>https://github.com/Ada-IT/ejercicios-frontend/tree/master/modulo-2/ejercicios/posicionamiento</a:t>
            </a:r>
            <a:r>
              <a:rPr lang="es-AR" sz="2800" b="0" i="0" dirty="0">
                <a:solidFill>
                  <a:srgbClr val="1C1E21"/>
                </a:solidFill>
                <a:effectLst/>
                <a:latin typeface="system-ui"/>
              </a:rPr>
              <a:t> </a:t>
            </a:r>
            <a:endParaRPr lang="es-AR" sz="2400" b="0" i="0" dirty="0">
              <a:solidFill>
                <a:srgbClr val="1C1E21"/>
              </a:solidFill>
              <a:effectLst/>
              <a:latin typeface="system-ui"/>
            </a:endParaRPr>
          </a:p>
        </p:txBody>
      </p:sp>
      <p:pic>
        <p:nvPicPr>
          <p:cNvPr id="3" name="Imagen 2">
            <a:extLst>
              <a:ext uri="{FF2B5EF4-FFF2-40B4-BE49-F238E27FC236}">
                <a16:creationId xmlns:a16="http://schemas.microsoft.com/office/drawing/2014/main" id="{96ECE1F6-0E8B-0B01-587D-506146712BE6}"/>
              </a:ext>
            </a:extLst>
          </p:cNvPr>
          <p:cNvPicPr>
            <a:picLocks noChangeAspect="1"/>
          </p:cNvPicPr>
          <p:nvPr/>
        </p:nvPicPr>
        <p:blipFill>
          <a:blip r:embed="rId4"/>
          <a:stretch>
            <a:fillRect/>
          </a:stretch>
        </p:blipFill>
        <p:spPr>
          <a:xfrm>
            <a:off x="4649378" y="1154545"/>
            <a:ext cx="4223433" cy="3190009"/>
          </a:xfrm>
          <a:prstGeom prst="rect">
            <a:avLst/>
          </a:prstGeom>
        </p:spPr>
      </p:pic>
    </p:spTree>
    <p:extLst>
      <p:ext uri="{BB962C8B-B14F-4D97-AF65-F5344CB8AC3E}">
        <p14:creationId xmlns:p14="http://schemas.microsoft.com/office/powerpoint/2010/main" val="3628610104"/>
      </p:ext>
    </p:extLst>
  </p:cSld>
  <p:clrMapOvr>
    <a:masterClrMapping/>
  </p:clrMapOvr>
</p:sld>
</file>

<file path=ppt/theme/theme1.xml><?xml version="1.0" encoding="utf-8"?>
<a:theme xmlns:a="http://schemas.openxmlformats.org/drawingml/2006/main" name="Simple Light">
  <a:themeElements>
    <a:clrScheme name="Simple Light">
      <a:dk1>
        <a:srgbClr val="CD0055"/>
      </a:dk1>
      <a:lt1>
        <a:srgbClr val="FFFFFF"/>
      </a:lt1>
      <a:dk2>
        <a:srgbClr val="000000"/>
      </a:dk2>
      <a:lt2>
        <a:srgbClr val="F0F000"/>
      </a:lt2>
      <a:accent1>
        <a:srgbClr val="FF9936"/>
      </a:accent1>
      <a:accent2>
        <a:srgbClr val="E98FB5"/>
      </a:accent2>
      <a:accent3>
        <a:srgbClr val="F2D6E1"/>
      </a:accent3>
      <a:accent4>
        <a:srgbClr val="FFAB40"/>
      </a:accent4>
      <a:accent5>
        <a:srgbClr val="9E0046"/>
      </a:accent5>
      <a:accent6>
        <a:srgbClr val="455A6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2243</TotalTime>
  <Words>1144</Words>
  <Application>Microsoft Office PowerPoint</Application>
  <PresentationFormat>Presentación en pantalla (16:9)</PresentationFormat>
  <Paragraphs>105</Paragraphs>
  <Slides>25</Slides>
  <Notes>25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system-ui</vt:lpstr>
      <vt:lpstr>Arial</vt:lpstr>
      <vt:lpstr>Lato</vt:lpstr>
      <vt:lpstr>Russo One</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Veamos un ejemplo de  este tema</vt:lpstr>
      <vt:lpstr>Presentación de PowerPoint</vt:lpstr>
      <vt:lpstr>Presentación de PowerPoint</vt:lpstr>
      <vt:lpstr>Presentación de PowerPoint</vt:lpstr>
      <vt:lpstr>Presentación de PowerPoint</vt:lpstr>
      <vt:lpstr>Ahora es momento  de aplicar lo aprendido en clase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Franco Ojeda</cp:lastModifiedBy>
  <cp:revision>18</cp:revision>
  <dcterms:modified xsi:type="dcterms:W3CDTF">2025-01-02T20:21:23Z</dcterms:modified>
</cp:coreProperties>
</file>