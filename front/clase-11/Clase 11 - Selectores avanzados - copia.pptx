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62" r:id="rId2"/>
    <p:sldId id="288" r:id="rId3"/>
    <p:sldId id="353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8" r:id="rId18"/>
    <p:sldId id="367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82" r:id="rId30"/>
    <p:sldId id="379" r:id="rId31"/>
    <p:sldId id="380" r:id="rId32"/>
    <p:sldId id="381" r:id="rId33"/>
    <p:sldId id="267" r:id="rId34"/>
    <p:sldId id="268" r:id="rId35"/>
    <p:sldId id="383" r:id="rId36"/>
  </p:sldIdLst>
  <p:sldSz cx="9144000" cy="5143500" type="screen16x9"/>
  <p:notesSz cx="6858000" cy="9144000"/>
  <p:embeddedFontLst>
    <p:embeddedFont>
      <p:font typeface="Lato" panose="020F0502020204030203" pitchFamily="34" charset="0"/>
      <p:regular r:id="rId38"/>
      <p:bold r:id="rId39"/>
      <p:italic r:id="rId40"/>
      <p:boldItalic r:id="rId41"/>
    </p:embeddedFont>
    <p:embeddedFont>
      <p:font typeface="Russo One" panose="020B0604020202020204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rnardita Bauque" initials="" lastIdx="4" clrIdx="0"/>
  <p:cmAuthor id="1" name="catalina llarin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18CB89-29BF-476F-BAC4-F03CFA606FF7}">
  <a:tblStyle styleId="{B718CB89-29BF-476F-BAC4-F03CFA606F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070746e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6070746e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587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99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020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364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0096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0409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602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64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2088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1139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7311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9180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140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335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317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267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3154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60128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7968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7233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47674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9832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2761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5274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6256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36431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0438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3800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33639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82672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2729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07074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6070746e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07074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6070746e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000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51" name="Google Shape;51;p12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2" name="Google Shape;5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-IT/ejercicios-frontend/tree/master/modulo-2/ejercicios/selectore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body" idx="4294967295"/>
          </p:nvPr>
        </p:nvSpPr>
        <p:spPr>
          <a:xfrm>
            <a:off x="738909" y="1551566"/>
            <a:ext cx="4759325" cy="2262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Clase 11 :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b="1" dirty="0">
                <a:solidFill>
                  <a:srgbClr val="CD0055"/>
                </a:solidFill>
                <a:latin typeface="Russo One"/>
                <a:sym typeface="Russo One"/>
              </a:rPr>
              <a:t>Selectores avanzados</a:t>
            </a:r>
            <a:endParaRPr sz="4000" dirty="0"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234" y="1215032"/>
            <a:ext cx="3424075" cy="340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1821439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60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Selectores de atributos</a:t>
            </a:r>
          </a:p>
        </p:txBody>
      </p:sp>
    </p:spTree>
    <p:extLst>
      <p:ext uri="{BB962C8B-B14F-4D97-AF65-F5344CB8AC3E}">
        <p14:creationId xmlns:p14="http://schemas.microsoft.com/office/powerpoint/2010/main" val="3609074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035349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Introducción a los selectores avanzados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selectores avanzados permiten estilizar elementos de una página con reglas más específicas y dinámicas, facilitando el diseño detallado y dinámico en CSS.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Hoy exploraremos: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Selectores de atributos.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Selectores avanzados para jerarquías (hermano adyacente, hermanos, descendientes).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Selectores universales.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Pseudo-clases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dinámicas y estructurales.</a:t>
            </a:r>
          </a:p>
        </p:txBody>
      </p:sp>
    </p:spTree>
    <p:extLst>
      <p:ext uri="{BB962C8B-B14F-4D97-AF65-F5344CB8AC3E}">
        <p14:creationId xmlns:p14="http://schemas.microsoft.com/office/powerpoint/2010/main" val="284523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62105" y="730258"/>
            <a:ext cx="803534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de atributos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selectores de atributos permiten aplicar estilos según los atributos y valores de los elementos HTML.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[atributo]: 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elementos que contienen un atributo específico.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a cualquier &lt;input&gt; que tenga el atributo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0E0636-035F-3B2A-D4F6-A64DC2E1C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455" y="3195699"/>
            <a:ext cx="3562257" cy="14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7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1340" y="719046"/>
            <a:ext cx="803534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de atributos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[atributo="valor"]: 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elementos con un atributo igual a un valor exacto.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solo a &lt;input&gt; con 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="email".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22F926-1B69-EDEE-3753-2E0B52E36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236" y="3208706"/>
            <a:ext cx="3853329" cy="141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7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1340" y="719046"/>
            <a:ext cx="803534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de atributos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[atributo~="valor"]: 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elementos cuyo atributo contiene una palabra específica (separada por espacios).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a cualquier elemento que tenga "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highlight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" en su lista de clases.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7848492-7840-E907-A48B-0E828EA09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509" y="3344495"/>
            <a:ext cx="4132615" cy="153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0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1340" y="719046"/>
            <a:ext cx="803534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de atributos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[atributo^="valor"]: 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elementos cuyo atributo comienza con un valor específico.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a enlaces que empiezan con https://.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A2B83D-65FC-69A8-BD7B-FBEC3288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510" y="3204522"/>
            <a:ext cx="3580980" cy="144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7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1340" y="719046"/>
            <a:ext cx="803534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de atributos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[atributo$="valor"]: 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elementos cuyo atributo termina con un valor específico.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a imágenes con extensión .png.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844D21-3100-4224-C147-B0026545D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672" y="3241834"/>
            <a:ext cx="3236066" cy="142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2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1340" y="719046"/>
            <a:ext cx="803534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de atributos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[atributo*="valor"]: 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elementos cuyo atributo contiene un valor específico (sin importar su posición).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a enlaces que contienen "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example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" en su URL.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E508A84-66BE-D1C7-8654-96AE42E32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619" y="3400349"/>
            <a:ext cx="3984420" cy="132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294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94872" y="1355002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Selectores avanzados para jerarquías</a:t>
            </a:r>
          </a:p>
        </p:txBody>
      </p:sp>
    </p:spTree>
    <p:extLst>
      <p:ext uri="{BB962C8B-B14F-4D97-AF65-F5344CB8AC3E}">
        <p14:creationId xmlns:p14="http://schemas.microsoft.com/office/powerpoint/2010/main" val="1104934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12903" y="1060792"/>
            <a:ext cx="80353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avanzados para jerarquías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Selector hermano adyacente (A + B)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el elemento B que aparece inmediatamente después de 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Cambia el estilo del &lt;p&gt; que sigue inmediatamente a un &lt;h1&gt;.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3EA1FF-BE85-A260-9186-97C63E4B5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064" y="3569854"/>
            <a:ext cx="1925872" cy="130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19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12903" y="1060792"/>
            <a:ext cx="803534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avanzados para jerarquías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Selector de hermanos (A ~ B)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todos los elementos B que sean hermanos de A (no necesariamente consecutivos).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a todos los &lt;p&gt; que sean hermanos de un &lt;h1&gt;.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3FD13E-6ABA-999F-ECC2-ABAF8B434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095" y="3484723"/>
            <a:ext cx="1973810" cy="127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16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12903" y="1060792"/>
            <a:ext cx="80353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avanzados para jerarquías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Selector descendiente (A B)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todos los elementos B que estén dentro de un elemento 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a todos los &lt;p&gt; dentro de cualquier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div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9BD382-FB77-3C65-F9E6-0A005E6E2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1" y="3300488"/>
            <a:ext cx="2679542" cy="138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8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12903" y="1060792"/>
            <a:ext cx="80353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avanzados para jerarquías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Selector descendiente directo (A &gt; B)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los elementos B que son hijos directos de 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solo a los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li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que sean hijos directos de un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415472-5BA6-71E3-AE5B-C3E1B644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18" y="3309000"/>
            <a:ext cx="3447363" cy="136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351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187685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Selector universal (*)</a:t>
            </a:r>
          </a:p>
        </p:txBody>
      </p:sp>
    </p:spTree>
    <p:extLst>
      <p:ext uri="{BB962C8B-B14F-4D97-AF65-F5344CB8AC3E}">
        <p14:creationId xmlns:p14="http://schemas.microsoft.com/office/powerpoint/2010/main" val="368236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12903" y="1060792"/>
            <a:ext cx="803534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 universal (*)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todos los elementos de la página.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útil para aplicar estilos globales o establecer un punto de partida.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Normaliza el margen y el relleno para todos los elementos.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918372-CFE8-AD58-5FEE-7C90B4B60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478" y="3054689"/>
            <a:ext cx="2667372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12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64144" y="2098528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Pseudo-clases</a:t>
            </a:r>
            <a:endParaRPr lang="es-AR" sz="54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2580626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:after y :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before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Añaden contenido antes o después de un elemento, sin necesidad de modificar el HTML.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Agrega un ícono de estrella antes y después de cada &lt;h1&gt;.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95E39E-4841-26C9-659F-CEB870C14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145" y="3343564"/>
            <a:ext cx="1702697" cy="158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12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: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not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(selector)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todos los elementos que NO coinciden con el selector especificado.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a todos los botones excepto a los que tienen la clase .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primary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19E888-E396-BE88-516D-E827E9F7D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497" y="3558672"/>
            <a:ext cx="2715004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60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: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nth-child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(n)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el enésimo hijo de un elemento.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Estiliza el segundo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li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dentro de una lista.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4C52B7-7BF0-61C4-98D1-3F697C8DC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101" y="3127543"/>
            <a:ext cx="2591796" cy="126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13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: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nth-of-type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(n)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el enésimo hijo de un tipo específico.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al segundo párrafo &lt;p&gt;.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A6B118-3DFB-BB5D-7AA8-BB0817BED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618" y="3101885"/>
            <a:ext cx="2670763" cy="153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16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: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hover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cuando el usuario pasa el mouse sobre un elemento.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Cambia el color de los enlaces cuando el cursor está sobre ellos.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B208B3-22CE-30C2-0D2E-5C57759B4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164" y="3250973"/>
            <a:ext cx="1848108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6. :active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cuando el usuario hace clic en un elemento.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Crea un efecto de "presionado" en botones.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8C6BCB-AEF1-6CCD-5B7C-0B3DB43F6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805" y="3182014"/>
            <a:ext cx="2667372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75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7. :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focus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Estiliza un elemento cuando tiene el foco, como un campo de entrada seleccionado.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E31D0E-7A6E-1994-932A-DF4F5A4A7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128" y="3276672"/>
            <a:ext cx="2619741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22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8. :target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 un elemento cuando es el objetivo de un enlace anclado.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3EB716-68D3-AA91-622E-39650FE27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821" y="3170891"/>
            <a:ext cx="338184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55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9. :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checked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a elementos seleccionados, como casillas de verificación.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21DA03-303A-ACD4-8F51-809EA3EEA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601" y="3208559"/>
            <a:ext cx="3724795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1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10. :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valid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: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invalid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Estilizan campos de formulario dependiendo de si cumplen las reglas de validación.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923BC6-C1EE-C68E-0EB0-9C9DA979A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55" y="3006890"/>
            <a:ext cx="2400635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75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894537"/>
            <a:ext cx="803534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11. :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placeholder-shown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Aplica estilo al campo mientras su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placeholder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está visible.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F96A1DA-2DAD-C1E2-C58C-0A6B832CF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312" y="3364854"/>
            <a:ext cx="3029373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37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94872" y="1839909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Cuadros Teóricos</a:t>
            </a:r>
          </a:p>
        </p:txBody>
      </p:sp>
    </p:spTree>
    <p:extLst>
      <p:ext uri="{BB962C8B-B14F-4D97-AF65-F5344CB8AC3E}">
        <p14:creationId xmlns:p14="http://schemas.microsoft.com/office/powerpoint/2010/main" val="3308930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2012101" y="477949"/>
            <a:ext cx="49936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avanzados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E1F9393-D338-8918-539D-1903B641A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267766"/>
              </p:ext>
            </p:extLst>
          </p:nvPr>
        </p:nvGraphicFramePr>
        <p:xfrm>
          <a:off x="1260161" y="1205646"/>
          <a:ext cx="6497556" cy="35055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165852">
                  <a:extLst>
                    <a:ext uri="{9D8B030D-6E8A-4147-A177-3AD203B41FA5}">
                      <a16:colId xmlns:a16="http://schemas.microsoft.com/office/drawing/2014/main" val="2619168047"/>
                    </a:ext>
                  </a:extLst>
                </a:gridCol>
                <a:gridCol w="2165852">
                  <a:extLst>
                    <a:ext uri="{9D8B030D-6E8A-4147-A177-3AD203B41FA5}">
                      <a16:colId xmlns:a16="http://schemas.microsoft.com/office/drawing/2014/main" val="1824686837"/>
                    </a:ext>
                  </a:extLst>
                </a:gridCol>
                <a:gridCol w="2165852">
                  <a:extLst>
                    <a:ext uri="{9D8B030D-6E8A-4147-A177-3AD203B41FA5}">
                      <a16:colId xmlns:a16="http://schemas.microsoft.com/office/drawing/2014/main" val="3608918274"/>
                    </a:ext>
                  </a:extLst>
                </a:gridCol>
              </a:tblGrid>
              <a:tr h="232401">
                <a:tc>
                  <a:txBody>
                    <a:bodyPr/>
                    <a:lstStyle/>
                    <a:p>
                      <a:pPr algn="ctr"/>
                      <a:r>
                        <a:rPr lang="es-AR" sz="1100" b="1"/>
                        <a:t>Selector</a:t>
                      </a:r>
                      <a:endParaRPr lang="es-AR" sz="1100"/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b="1"/>
                        <a:t>Definición</a:t>
                      </a:r>
                      <a:endParaRPr lang="es-AR" sz="1100"/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b="1" dirty="0"/>
                        <a:t>Ejemplo</a:t>
                      </a:r>
                      <a:endParaRPr lang="es-AR" sz="1100" dirty="0"/>
                    </a:p>
                  </a:txBody>
                  <a:tcPr marL="69720" marR="69720" marT="34860" marB="34860" anchor="ctr"/>
                </a:tc>
                <a:extLst>
                  <a:ext uri="{0D108BD9-81ED-4DB2-BD59-A6C34878D82A}">
                    <a16:rowId xmlns:a16="http://schemas.microsoft.com/office/drawing/2014/main" val="2252340470"/>
                  </a:ext>
                </a:extLst>
              </a:tr>
              <a:tr h="395082">
                <a:tc>
                  <a:txBody>
                    <a:bodyPr/>
                    <a:lstStyle/>
                    <a:p>
                      <a:pPr algn="ctr"/>
                      <a:r>
                        <a:rPr lang="es-AR" sz="1100" b="1">
                          <a:solidFill>
                            <a:schemeClr val="bg2"/>
                          </a:solidFill>
                        </a:rPr>
                        <a:t>[atributo]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Selecciona elementos que tienen un atributo específico.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input[type] selecciona todos los &lt;input&gt; con atributo type.</a:t>
                      </a:r>
                    </a:p>
                  </a:txBody>
                  <a:tcPr marL="69720" marR="69720" marT="34860" marB="34860" anchor="ctr"/>
                </a:tc>
                <a:extLst>
                  <a:ext uri="{0D108BD9-81ED-4DB2-BD59-A6C34878D82A}">
                    <a16:rowId xmlns:a16="http://schemas.microsoft.com/office/drawing/2014/main" val="1633901441"/>
                  </a:ext>
                </a:extLst>
              </a:tr>
              <a:tr h="557763">
                <a:tc>
                  <a:txBody>
                    <a:bodyPr/>
                    <a:lstStyle/>
                    <a:p>
                      <a:pPr algn="ctr"/>
                      <a:r>
                        <a:rPr lang="es-AR" sz="1100" b="1">
                          <a:solidFill>
                            <a:schemeClr val="bg2"/>
                          </a:solidFill>
                        </a:rPr>
                        <a:t>[atributo="valor"]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Selecciona elementos cuyo atributo tiene exactamente ese valor.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input[type="email"] selecciona &lt;input type="email"&gt;.</a:t>
                      </a:r>
                    </a:p>
                  </a:txBody>
                  <a:tcPr marL="69720" marR="69720" marT="34860" marB="34860" anchor="ctr"/>
                </a:tc>
                <a:extLst>
                  <a:ext uri="{0D108BD9-81ED-4DB2-BD59-A6C34878D82A}">
                    <a16:rowId xmlns:a16="http://schemas.microsoft.com/office/drawing/2014/main" val="934173604"/>
                  </a:ext>
                </a:extLst>
              </a:tr>
              <a:tr h="720444">
                <a:tc>
                  <a:txBody>
                    <a:bodyPr/>
                    <a:lstStyle/>
                    <a:p>
                      <a:pPr algn="ctr"/>
                      <a:r>
                        <a:rPr lang="es-AR" sz="1100" b="1">
                          <a:solidFill>
                            <a:schemeClr val="bg2"/>
                          </a:solidFill>
                        </a:rPr>
                        <a:t>[atributo~="valor"]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Selecciona elementos cuyo atributo contiene una palabra específica (separada por espacios).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[class~="highlight"] selecciona elementos con la clase highlight.</a:t>
                      </a:r>
                    </a:p>
                  </a:txBody>
                  <a:tcPr marL="69720" marR="69720" marT="34860" marB="34860" anchor="ctr"/>
                </a:tc>
                <a:extLst>
                  <a:ext uri="{0D108BD9-81ED-4DB2-BD59-A6C34878D82A}">
                    <a16:rowId xmlns:a16="http://schemas.microsoft.com/office/drawing/2014/main" val="2116568956"/>
                  </a:ext>
                </a:extLst>
              </a:tr>
              <a:tr h="557763">
                <a:tc>
                  <a:txBody>
                    <a:bodyPr/>
                    <a:lstStyle/>
                    <a:p>
                      <a:pPr algn="ctr"/>
                      <a:r>
                        <a:rPr lang="es-AR" sz="1100" b="1" dirty="0">
                          <a:solidFill>
                            <a:schemeClr val="bg2"/>
                          </a:solidFill>
                        </a:rPr>
                        <a:t>[atributo^="valor"]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Selecciona elementos cuyo atributo comienza con ese valor.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a[href^="https://"] selecciona enlaces que comienzan con https://.</a:t>
                      </a:r>
                    </a:p>
                  </a:txBody>
                  <a:tcPr marL="69720" marR="69720" marT="34860" marB="34860" anchor="ctr"/>
                </a:tc>
                <a:extLst>
                  <a:ext uri="{0D108BD9-81ED-4DB2-BD59-A6C34878D82A}">
                    <a16:rowId xmlns:a16="http://schemas.microsoft.com/office/drawing/2014/main" val="3803559784"/>
                  </a:ext>
                </a:extLst>
              </a:tr>
              <a:tr h="395082">
                <a:tc>
                  <a:txBody>
                    <a:bodyPr/>
                    <a:lstStyle/>
                    <a:p>
                      <a:pPr algn="ctr"/>
                      <a:r>
                        <a:rPr lang="es-AR" sz="1100" b="1">
                          <a:solidFill>
                            <a:schemeClr val="bg2"/>
                          </a:solidFill>
                        </a:rPr>
                        <a:t>[atributo$="valor"]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Selecciona elementos cuyo atributo termina con ese valor.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img[src$=".png"] selecciona imágenes con extensión .png.</a:t>
                      </a:r>
                    </a:p>
                  </a:txBody>
                  <a:tcPr marL="69720" marR="69720" marT="34860" marB="34860" anchor="ctr"/>
                </a:tc>
                <a:extLst>
                  <a:ext uri="{0D108BD9-81ED-4DB2-BD59-A6C34878D82A}">
                    <a16:rowId xmlns:a16="http://schemas.microsoft.com/office/drawing/2014/main" val="2946924955"/>
                  </a:ext>
                </a:extLst>
              </a:tr>
              <a:tr h="557763">
                <a:tc>
                  <a:txBody>
                    <a:bodyPr/>
                    <a:lstStyle/>
                    <a:p>
                      <a:pPr algn="ctr"/>
                      <a:r>
                        <a:rPr lang="es-AR" sz="1100" b="1" dirty="0">
                          <a:solidFill>
                            <a:schemeClr val="bg2"/>
                          </a:solidFill>
                        </a:rPr>
                        <a:t>[atributo*="valor"]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/>
                        <a:t>Selecciona elementos cuyo atributo contiene ese valor en cualquier posición.</a:t>
                      </a:r>
                    </a:p>
                  </a:txBody>
                  <a:tcPr marL="69720" marR="69720" marT="34860" marB="34860" anchor="ctr"/>
                </a:tc>
                <a:tc>
                  <a:txBody>
                    <a:bodyPr/>
                    <a:lstStyle/>
                    <a:p>
                      <a:r>
                        <a:rPr lang="es-AR" sz="1100" dirty="0"/>
                        <a:t>a[</a:t>
                      </a:r>
                      <a:r>
                        <a:rPr lang="es-AR" sz="1100" dirty="0" err="1"/>
                        <a:t>href</a:t>
                      </a:r>
                      <a:r>
                        <a:rPr lang="es-AR" sz="1100" dirty="0"/>
                        <a:t>*="</a:t>
                      </a:r>
                      <a:r>
                        <a:rPr lang="es-AR" sz="1100" dirty="0" err="1"/>
                        <a:t>example</a:t>
                      </a:r>
                      <a:r>
                        <a:rPr lang="es-AR" sz="1100" dirty="0"/>
                        <a:t>"] selecciona enlaces que contienen "</a:t>
                      </a:r>
                      <a:r>
                        <a:rPr lang="es-AR" sz="1100" dirty="0" err="1"/>
                        <a:t>example</a:t>
                      </a:r>
                      <a:r>
                        <a:rPr lang="es-AR" sz="1100" dirty="0"/>
                        <a:t>".</a:t>
                      </a:r>
                    </a:p>
                  </a:txBody>
                  <a:tcPr marL="69720" marR="69720" marT="34860" marB="34860" anchor="ctr"/>
                </a:tc>
                <a:extLst>
                  <a:ext uri="{0D108BD9-81ED-4DB2-BD59-A6C34878D82A}">
                    <a16:rowId xmlns:a16="http://schemas.microsoft.com/office/drawing/2014/main" val="1032279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2384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1956682" y="484161"/>
            <a:ext cx="5621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Selectores avanzados para jerarquías</a:t>
            </a:r>
            <a:endParaRPr lang="es-AR" sz="12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DBE0E50-156C-B597-B8FC-7BBCAD0CB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82950"/>
              </p:ext>
            </p:extLst>
          </p:nvPr>
        </p:nvGraphicFramePr>
        <p:xfrm>
          <a:off x="455014" y="1102099"/>
          <a:ext cx="8233971" cy="351715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44657">
                  <a:extLst>
                    <a:ext uri="{9D8B030D-6E8A-4147-A177-3AD203B41FA5}">
                      <a16:colId xmlns:a16="http://schemas.microsoft.com/office/drawing/2014/main" val="2026412943"/>
                    </a:ext>
                  </a:extLst>
                </a:gridCol>
                <a:gridCol w="2744657">
                  <a:extLst>
                    <a:ext uri="{9D8B030D-6E8A-4147-A177-3AD203B41FA5}">
                      <a16:colId xmlns:a16="http://schemas.microsoft.com/office/drawing/2014/main" val="2800769930"/>
                    </a:ext>
                  </a:extLst>
                </a:gridCol>
                <a:gridCol w="2744657">
                  <a:extLst>
                    <a:ext uri="{9D8B030D-6E8A-4147-A177-3AD203B41FA5}">
                      <a16:colId xmlns:a16="http://schemas.microsoft.com/office/drawing/2014/main" val="1756939424"/>
                    </a:ext>
                  </a:extLst>
                </a:gridCol>
              </a:tblGrid>
              <a:tr h="294509">
                <a:tc>
                  <a:txBody>
                    <a:bodyPr/>
                    <a:lstStyle/>
                    <a:p>
                      <a:pPr algn="ctr"/>
                      <a:r>
                        <a:rPr lang="es-AR" sz="1400" b="1" dirty="0"/>
                        <a:t>Selector</a:t>
                      </a:r>
                      <a:endParaRPr lang="es-AR" sz="1400" dirty="0"/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/>
                        <a:t>Definición</a:t>
                      </a:r>
                      <a:endParaRPr lang="es-AR" sz="1400"/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dirty="0"/>
                        <a:t>Ejemplo</a:t>
                      </a:r>
                      <a:endParaRPr lang="es-AR" sz="1400" dirty="0"/>
                    </a:p>
                  </a:txBody>
                  <a:tcPr marL="88353" marR="88353" marT="44176" marB="44176" anchor="ctr"/>
                </a:tc>
                <a:extLst>
                  <a:ext uri="{0D108BD9-81ED-4DB2-BD59-A6C34878D82A}">
                    <a16:rowId xmlns:a16="http://schemas.microsoft.com/office/drawing/2014/main" val="3118235525"/>
                  </a:ext>
                </a:extLst>
              </a:tr>
              <a:tr h="706821">
                <a:tc>
                  <a:txBody>
                    <a:bodyPr/>
                    <a:lstStyle/>
                    <a:p>
                      <a:pPr algn="ctr"/>
                      <a:r>
                        <a:rPr lang="es-AR" sz="1400" b="1">
                          <a:solidFill>
                            <a:schemeClr val="bg2"/>
                          </a:solidFill>
                        </a:rPr>
                        <a:t>A + B</a:t>
                      </a:r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Selecciona el elemento B que aparece inmediatamente después de A.</a:t>
                      </a:r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h1 + p estiliza el &lt;p&gt; que sigue inmediatamente a un &lt;h1&gt;.</a:t>
                      </a:r>
                    </a:p>
                  </a:txBody>
                  <a:tcPr marL="88353" marR="88353" marT="44176" marB="44176" anchor="ctr"/>
                </a:tc>
                <a:extLst>
                  <a:ext uri="{0D108BD9-81ED-4DB2-BD59-A6C34878D82A}">
                    <a16:rowId xmlns:a16="http://schemas.microsoft.com/office/drawing/2014/main" val="4222369508"/>
                  </a:ext>
                </a:extLst>
              </a:tr>
              <a:tr h="706821">
                <a:tc>
                  <a:txBody>
                    <a:bodyPr/>
                    <a:lstStyle/>
                    <a:p>
                      <a:pPr algn="ctr"/>
                      <a:r>
                        <a:rPr lang="es-AR" sz="1400" b="1">
                          <a:solidFill>
                            <a:schemeClr val="bg2"/>
                          </a:solidFill>
                        </a:rPr>
                        <a:t>A ~ B</a:t>
                      </a:r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Selecciona todos los elementos B hermanos de A (no necesariamente consecutivos).</a:t>
                      </a:r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h1 ~ p estiliza todos los &lt;p&gt; hermanos de un &lt;h1&gt;.</a:t>
                      </a:r>
                    </a:p>
                  </a:txBody>
                  <a:tcPr marL="88353" marR="88353" marT="44176" marB="44176" anchor="ctr"/>
                </a:tc>
                <a:extLst>
                  <a:ext uri="{0D108BD9-81ED-4DB2-BD59-A6C34878D82A}">
                    <a16:rowId xmlns:a16="http://schemas.microsoft.com/office/drawing/2014/main" val="3020998055"/>
                  </a:ext>
                </a:extLst>
              </a:tr>
              <a:tr h="706821">
                <a:tc>
                  <a:txBody>
                    <a:bodyPr/>
                    <a:lstStyle/>
                    <a:p>
                      <a:pPr algn="ctr"/>
                      <a:r>
                        <a:rPr lang="es-AR" sz="1400" b="1">
                          <a:solidFill>
                            <a:schemeClr val="bg2"/>
                          </a:solidFill>
                        </a:rPr>
                        <a:t>A B</a:t>
                      </a:r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Selecciona todos los elementos B dentro de un A como descendientes.</a:t>
                      </a:r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div p estiliza todos los &lt;p&gt; dentro de cualquier &lt;div&gt;.</a:t>
                      </a:r>
                    </a:p>
                  </a:txBody>
                  <a:tcPr marL="88353" marR="88353" marT="44176" marB="44176" anchor="ctr"/>
                </a:tc>
                <a:extLst>
                  <a:ext uri="{0D108BD9-81ED-4DB2-BD59-A6C34878D82A}">
                    <a16:rowId xmlns:a16="http://schemas.microsoft.com/office/drawing/2014/main" val="3612446033"/>
                  </a:ext>
                </a:extLst>
              </a:tr>
              <a:tr h="500665">
                <a:tc>
                  <a:txBody>
                    <a:bodyPr/>
                    <a:lstStyle/>
                    <a:p>
                      <a:pPr algn="ctr"/>
                      <a:r>
                        <a:rPr lang="es-AR" sz="1400" b="1">
                          <a:solidFill>
                            <a:schemeClr val="bg2"/>
                          </a:solidFill>
                        </a:rPr>
                        <a:t>A &gt; B</a:t>
                      </a:r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Selecciona los elementos B que son hijos directos de A.</a:t>
                      </a:r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ul &gt; li estiliza solo los &lt;li&gt; hijos directos de un &lt;ul&gt;.</a:t>
                      </a:r>
                    </a:p>
                  </a:txBody>
                  <a:tcPr marL="88353" marR="88353" marT="44176" marB="44176" anchor="ctr"/>
                </a:tc>
                <a:extLst>
                  <a:ext uri="{0D108BD9-81ED-4DB2-BD59-A6C34878D82A}">
                    <a16:rowId xmlns:a16="http://schemas.microsoft.com/office/drawing/2014/main" val="1548482692"/>
                  </a:ext>
                </a:extLst>
              </a:tr>
              <a:tr h="500665">
                <a:tc>
                  <a:txBody>
                    <a:bodyPr/>
                    <a:lstStyle/>
                    <a:p>
                      <a:pPr algn="ctr"/>
                      <a:r>
                        <a:rPr lang="es-AR" sz="1400" b="1" dirty="0">
                          <a:solidFill>
                            <a:schemeClr val="bg2"/>
                          </a:solidFill>
                        </a:rPr>
                        <a:t>*</a:t>
                      </a:r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Selecciona todos los elementos de la página.</a:t>
                      </a:r>
                    </a:p>
                  </a:txBody>
                  <a:tcPr marL="88353" marR="88353" marT="44176" marB="44176" anchor="ctr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* { </a:t>
                      </a:r>
                      <a:r>
                        <a:rPr lang="es-AR" sz="1400" dirty="0" err="1"/>
                        <a:t>margin</a:t>
                      </a:r>
                      <a:r>
                        <a:rPr lang="es-AR" sz="1400" dirty="0"/>
                        <a:t>: 0; } aplica un margen de 0 a todos los elementos.</a:t>
                      </a:r>
                    </a:p>
                  </a:txBody>
                  <a:tcPr marL="88353" marR="88353" marT="44176" marB="44176" anchor="ctr"/>
                </a:tc>
                <a:extLst>
                  <a:ext uri="{0D108BD9-81ED-4DB2-BD59-A6C34878D82A}">
                    <a16:rowId xmlns:a16="http://schemas.microsoft.com/office/drawing/2014/main" val="1329003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1824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2698615" y="211688"/>
            <a:ext cx="3746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Pseudo-clases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82F9A43-8D75-2660-42A8-83C92CD2F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229721"/>
              </p:ext>
            </p:extLst>
          </p:nvPr>
        </p:nvGraphicFramePr>
        <p:xfrm>
          <a:off x="618837" y="998042"/>
          <a:ext cx="7906326" cy="369824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477818">
                  <a:extLst>
                    <a:ext uri="{9D8B030D-6E8A-4147-A177-3AD203B41FA5}">
                      <a16:colId xmlns:a16="http://schemas.microsoft.com/office/drawing/2014/main" val="1214328621"/>
                    </a:ext>
                  </a:extLst>
                </a:gridCol>
                <a:gridCol w="3214254">
                  <a:extLst>
                    <a:ext uri="{9D8B030D-6E8A-4147-A177-3AD203B41FA5}">
                      <a16:colId xmlns:a16="http://schemas.microsoft.com/office/drawing/2014/main" val="3412391768"/>
                    </a:ext>
                  </a:extLst>
                </a:gridCol>
                <a:gridCol w="3214254">
                  <a:extLst>
                    <a:ext uri="{9D8B030D-6E8A-4147-A177-3AD203B41FA5}">
                      <a16:colId xmlns:a16="http://schemas.microsoft.com/office/drawing/2014/main" val="4216171961"/>
                    </a:ext>
                  </a:extLst>
                </a:gridCol>
              </a:tblGrid>
              <a:tr h="122011">
                <a:tc>
                  <a:txBody>
                    <a:bodyPr/>
                    <a:lstStyle/>
                    <a:p>
                      <a:pPr algn="ctr"/>
                      <a:r>
                        <a:rPr lang="es-AR" sz="900" b="1"/>
                        <a:t>Pseudo-clase</a:t>
                      </a:r>
                      <a:endParaRPr lang="es-AR" sz="900"/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b="1"/>
                        <a:t>Definición</a:t>
                      </a:r>
                      <a:endParaRPr lang="es-AR" sz="900"/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b="1" dirty="0"/>
                        <a:t>Ejemplo</a:t>
                      </a:r>
                      <a:endParaRPr lang="es-AR" sz="900" dirty="0"/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1240010650"/>
                  </a:ext>
                </a:extLst>
              </a:tr>
              <a:tr h="292826">
                <a:tc>
                  <a:txBody>
                    <a:bodyPr/>
                    <a:lstStyle/>
                    <a:p>
                      <a:pPr algn="ctr"/>
                      <a:r>
                        <a:rPr lang="es-AR" sz="900" b="1">
                          <a:solidFill>
                            <a:schemeClr val="bg2"/>
                          </a:solidFill>
                        </a:rPr>
                        <a:t>:after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Añade contenido después de un elemento.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h1::after { content: "⭐"; } agrega una estrella después de cada &lt;h1&gt;.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1914250506"/>
                  </a:ext>
                </a:extLst>
              </a:tr>
              <a:tr h="292826">
                <a:tc>
                  <a:txBody>
                    <a:bodyPr/>
                    <a:lstStyle/>
                    <a:p>
                      <a:pPr algn="ctr"/>
                      <a:r>
                        <a:rPr lang="es-AR" sz="900" b="1">
                          <a:solidFill>
                            <a:schemeClr val="bg2"/>
                          </a:solidFill>
                        </a:rPr>
                        <a:t>:before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Añade contenido antes de un elemento.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h1::before { content: "⭐"; } agrega una estrella antes de cada &lt;h1&gt;.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510087200"/>
                  </a:ext>
                </a:extLst>
              </a:tr>
              <a:tr h="292826">
                <a:tc>
                  <a:txBody>
                    <a:bodyPr/>
                    <a:lstStyle/>
                    <a:p>
                      <a:pPr algn="ctr"/>
                      <a:r>
                        <a:rPr lang="es-AR" sz="900" b="1">
                          <a:solidFill>
                            <a:schemeClr val="bg2"/>
                          </a:solidFill>
                        </a:rPr>
                        <a:t>:not(selector)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Selecciona elementos que no coinciden con el selector especificado.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button:not(.primary) estiliza botones excepto los de clase primary.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2555811080"/>
                  </a:ext>
                </a:extLst>
              </a:tr>
              <a:tr h="207418">
                <a:tc>
                  <a:txBody>
                    <a:bodyPr/>
                    <a:lstStyle/>
                    <a:p>
                      <a:pPr algn="ctr"/>
                      <a:r>
                        <a:rPr lang="es-AR" sz="900" b="1" dirty="0">
                          <a:solidFill>
                            <a:schemeClr val="bg2"/>
                          </a:solidFill>
                        </a:rPr>
                        <a:t>:</a:t>
                      </a:r>
                      <a:r>
                        <a:rPr lang="es-AR" sz="900" b="1" dirty="0" err="1">
                          <a:solidFill>
                            <a:schemeClr val="bg2"/>
                          </a:solidFill>
                        </a:rPr>
                        <a:t>nth-child</a:t>
                      </a:r>
                      <a:r>
                        <a:rPr lang="es-AR" sz="900" b="1" dirty="0">
                          <a:solidFill>
                            <a:schemeClr val="bg2"/>
                          </a:solidFill>
                        </a:rPr>
                        <a:t>(n)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Selecciona el enésimo hijo de su padre.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li:nth-child(2) estiliza el segundo &lt;li&gt; dentro de una lista.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89411475"/>
                  </a:ext>
                </a:extLst>
              </a:tr>
              <a:tr h="207418">
                <a:tc>
                  <a:txBody>
                    <a:bodyPr/>
                    <a:lstStyle/>
                    <a:p>
                      <a:pPr algn="ctr"/>
                      <a:r>
                        <a:rPr lang="es-AR" sz="900" b="1">
                          <a:solidFill>
                            <a:schemeClr val="bg2"/>
                          </a:solidFill>
                        </a:rPr>
                        <a:t>:nth-of-type(n)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Selecciona el enésimo hijo de un tipo específico.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p:nth-of-type(2) estiliza el segundo párrafo &lt;p&gt;.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899163250"/>
                  </a:ext>
                </a:extLst>
              </a:tr>
              <a:tr h="292826">
                <a:tc>
                  <a:txBody>
                    <a:bodyPr/>
                    <a:lstStyle/>
                    <a:p>
                      <a:pPr algn="ctr"/>
                      <a:r>
                        <a:rPr lang="es-AR" sz="900" b="1" dirty="0">
                          <a:solidFill>
                            <a:schemeClr val="bg2"/>
                          </a:solidFill>
                        </a:rPr>
                        <a:t>:</a:t>
                      </a:r>
                      <a:r>
                        <a:rPr lang="es-AR" sz="900" b="1" dirty="0" err="1">
                          <a:solidFill>
                            <a:schemeClr val="bg2"/>
                          </a:solidFill>
                        </a:rPr>
                        <a:t>hover</a:t>
                      </a:r>
                      <a:endParaRPr lang="es-AR" sz="900" b="1" dirty="0">
                        <a:solidFill>
                          <a:schemeClr val="bg2"/>
                        </a:solidFill>
                      </a:endParaRP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Aplica estilo al pasar el cursor sobre un elemento.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a:hover { color: orange; } cambia el color de un enlace al pasar el mouse.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4145108584"/>
                  </a:ext>
                </a:extLst>
              </a:tr>
              <a:tr h="292826">
                <a:tc>
                  <a:txBody>
                    <a:bodyPr/>
                    <a:lstStyle/>
                    <a:p>
                      <a:pPr algn="ctr"/>
                      <a:r>
                        <a:rPr lang="es-AR" sz="900" b="1">
                          <a:solidFill>
                            <a:schemeClr val="bg2"/>
                          </a:solidFill>
                        </a:rPr>
                        <a:t>:active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Aplica estilo a un elemento mientras se está haciendo clic en él.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button:active { transform: scale(0.95); } simula un botón "presionado".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2709180885"/>
                  </a:ext>
                </a:extLst>
              </a:tr>
              <a:tr h="292826">
                <a:tc>
                  <a:txBody>
                    <a:bodyPr/>
                    <a:lstStyle/>
                    <a:p>
                      <a:pPr algn="ctr"/>
                      <a:r>
                        <a:rPr lang="es-AR" sz="900" b="1">
                          <a:solidFill>
                            <a:schemeClr val="bg2"/>
                          </a:solidFill>
                        </a:rPr>
                        <a:t>:focus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Estiliza un elemento cuando tiene el foco.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input:focus { outline: 2px solid blue; } estiliza un campo enfocado.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2301403678"/>
                  </a:ext>
                </a:extLst>
              </a:tr>
              <a:tr h="207418">
                <a:tc>
                  <a:txBody>
                    <a:bodyPr/>
                    <a:lstStyle/>
                    <a:p>
                      <a:pPr algn="ctr"/>
                      <a:r>
                        <a:rPr lang="es-AR" sz="900" b="1">
                          <a:solidFill>
                            <a:schemeClr val="bg2"/>
                          </a:solidFill>
                        </a:rPr>
                        <a:t>:target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Selecciona un elemento objetivo de un enlace anclado.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#section1:target { background-color: yellow; } estiliza un anclaje.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1597653315"/>
                  </a:ext>
                </a:extLst>
              </a:tr>
              <a:tr h="292826">
                <a:tc>
                  <a:txBody>
                    <a:bodyPr/>
                    <a:lstStyle/>
                    <a:p>
                      <a:pPr algn="ctr"/>
                      <a:r>
                        <a:rPr lang="es-AR" sz="900" b="1">
                          <a:solidFill>
                            <a:schemeClr val="bg2"/>
                          </a:solidFill>
                        </a:rPr>
                        <a:t>:checked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Aplica estilo a elementos seleccionados, como casillas de verificación.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input[type="checkbox"]:checked { background-color: green; }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1539389746"/>
                  </a:ext>
                </a:extLst>
              </a:tr>
              <a:tr h="207418">
                <a:tc>
                  <a:txBody>
                    <a:bodyPr/>
                    <a:lstStyle/>
                    <a:p>
                      <a:pPr algn="ctr"/>
                      <a:r>
                        <a:rPr lang="es-AR" sz="900" b="1">
                          <a:solidFill>
                            <a:schemeClr val="bg2"/>
                          </a:solidFill>
                        </a:rPr>
                        <a:t>:valid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Estiliza campos de formulario válidos.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input:valid { border-color: green; }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2964834625"/>
                  </a:ext>
                </a:extLst>
              </a:tr>
              <a:tr h="207418">
                <a:tc>
                  <a:txBody>
                    <a:bodyPr/>
                    <a:lstStyle/>
                    <a:p>
                      <a:pPr algn="ctr"/>
                      <a:r>
                        <a:rPr lang="es-AR" sz="900" b="1">
                          <a:solidFill>
                            <a:schemeClr val="bg2"/>
                          </a:solidFill>
                        </a:rPr>
                        <a:t>:invalid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Estiliza campos de formulario inválidos.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input:invalid { border-color: red; }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4055259301"/>
                  </a:ext>
                </a:extLst>
              </a:tr>
              <a:tr h="207418">
                <a:tc>
                  <a:txBody>
                    <a:bodyPr/>
                    <a:lstStyle/>
                    <a:p>
                      <a:pPr algn="ctr"/>
                      <a:r>
                        <a:rPr lang="es-AR" sz="900" b="1" dirty="0">
                          <a:solidFill>
                            <a:schemeClr val="bg2"/>
                          </a:solidFill>
                        </a:rPr>
                        <a:t>:</a:t>
                      </a:r>
                      <a:r>
                        <a:rPr lang="es-AR" sz="900" b="1" dirty="0" err="1">
                          <a:solidFill>
                            <a:schemeClr val="bg2"/>
                          </a:solidFill>
                        </a:rPr>
                        <a:t>placeholder-shown</a:t>
                      </a:r>
                      <a:endParaRPr lang="es-AR" sz="900" b="1" dirty="0">
                        <a:solidFill>
                          <a:schemeClr val="bg2"/>
                        </a:solidFill>
                      </a:endParaRP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/>
                        <a:t>Aplica estilo al campo mientras su placeholder está visible.</a:t>
                      </a:r>
                    </a:p>
                  </a:txBody>
                  <a:tcPr marL="36603" marR="36603" marT="18302" marB="18302" anchor="ctr"/>
                </a:tc>
                <a:tc>
                  <a:txBody>
                    <a:bodyPr/>
                    <a:lstStyle/>
                    <a:p>
                      <a:r>
                        <a:rPr lang="es-AR" sz="900" dirty="0" err="1"/>
                        <a:t>input:placeholder-shown</a:t>
                      </a:r>
                      <a:r>
                        <a:rPr lang="es-AR" sz="900" dirty="0"/>
                        <a:t> { color: gray; }</a:t>
                      </a:r>
                    </a:p>
                  </a:txBody>
                  <a:tcPr marL="36603" marR="36603" marT="18302" marB="18302" anchor="ctr"/>
                </a:tc>
                <a:extLst>
                  <a:ext uri="{0D108BD9-81ED-4DB2-BD59-A6C34878D82A}">
                    <a16:rowId xmlns:a16="http://schemas.microsoft.com/office/drawing/2014/main" val="4217199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497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C3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 idx="4294967295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 dirty="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 dirty="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396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 idx="4294967295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Ahora es momento </a:t>
            </a:r>
            <a:endParaRPr sz="4400" dirty="0">
              <a:solidFill>
                <a:srgbClr val="EAC3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de aplicar </a:t>
            </a:r>
            <a:r>
              <a:rPr lang="es" sz="4400" dirty="0">
                <a:solidFill>
                  <a:srgbClr val="F0F000"/>
                </a:solidFill>
                <a:latin typeface="Russo One"/>
                <a:ea typeface="Russo One"/>
                <a:cs typeface="Russo One"/>
                <a:sym typeface="Russo One"/>
              </a:rPr>
              <a:t>lo aprendido en clase</a:t>
            </a:r>
            <a:endParaRPr sz="4400" dirty="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649000" y="1076622"/>
            <a:ext cx="773761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Ejercitación</a:t>
            </a: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3600" b="0" i="0" dirty="0">
                <a:solidFill>
                  <a:srgbClr val="1C1E21"/>
                </a:solidFill>
                <a:effectLst/>
                <a:latin typeface="system-ui"/>
                <a:hlinkClick r:id="rId3"/>
              </a:rPr>
              <a:t>https://github.com/Ada-IT/ejercicios-frontend/tree/master/modulo-2/ejercicios/selectores</a:t>
            </a:r>
            <a:endParaRPr lang="es-AR" sz="36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s-AR" sz="3200" b="0" i="0" dirty="0">
              <a:solidFill>
                <a:srgbClr val="1C1E21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362861010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2204</TotalTime>
  <Words>1437</Words>
  <Application>Microsoft Office PowerPoint</Application>
  <PresentationFormat>Presentación en pantalla (16:9)</PresentationFormat>
  <Paragraphs>223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Arial</vt:lpstr>
      <vt:lpstr>system-ui</vt:lpstr>
      <vt:lpstr>Lato</vt:lpstr>
      <vt:lpstr>Russo One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Veamos un ejemplo de  este tema</vt:lpstr>
      <vt:lpstr>Ahora es momento  de aplicar lo aprendido en clase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Franco Ojeda</cp:lastModifiedBy>
  <cp:revision>16</cp:revision>
  <dcterms:modified xsi:type="dcterms:W3CDTF">2025-01-02T20:22:07Z</dcterms:modified>
</cp:coreProperties>
</file>