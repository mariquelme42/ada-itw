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Lato"/>
      <p:regular r:id="rId45"/>
      <p:bold r:id="rId46"/>
      <p:italic r:id="rId47"/>
      <p:boldItalic r:id="rId48"/>
    </p:embeddedFont>
    <p:embeddedFont>
      <p:font typeface="Saira"/>
      <p:regular r:id="rId49"/>
      <p:bold r:id="rId50"/>
      <p:italic r:id="rId51"/>
      <p:boldItalic r:id="rId52"/>
    </p:embeddedFont>
    <p:embeddedFont>
      <p:font typeface="Russo One"/>
      <p:regular r:id="rId53"/>
    </p:embeddedFont>
    <p:embeddedFont>
      <p:font typeface="Saira Medium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8" roundtripDataSignature="AMtx7mjs3ldJ6O00zyukGutAKMxJHajb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Lato-bold.fntdata"/><Relationship Id="rId45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boldItalic.fntdata"/><Relationship Id="rId47" Type="http://schemas.openxmlformats.org/officeDocument/2006/relationships/font" Target="fonts/Lato-italic.fntdata"/><Relationship Id="rId49" Type="http://schemas.openxmlformats.org/officeDocument/2006/relationships/font" Target="fonts/Sair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Saira-italic.fntdata"/><Relationship Id="rId50" Type="http://schemas.openxmlformats.org/officeDocument/2006/relationships/font" Target="fonts/Saira-bold.fntdata"/><Relationship Id="rId53" Type="http://schemas.openxmlformats.org/officeDocument/2006/relationships/font" Target="fonts/RussoOne-regular.fntdata"/><Relationship Id="rId52" Type="http://schemas.openxmlformats.org/officeDocument/2006/relationships/font" Target="fonts/Saira-boldItalic.fntdata"/><Relationship Id="rId11" Type="http://schemas.openxmlformats.org/officeDocument/2006/relationships/slide" Target="slides/slide6.xml"/><Relationship Id="rId55" Type="http://schemas.openxmlformats.org/officeDocument/2006/relationships/font" Target="fonts/SairaMedium-bold.fntdata"/><Relationship Id="rId10" Type="http://schemas.openxmlformats.org/officeDocument/2006/relationships/slide" Target="slides/slide5.xml"/><Relationship Id="rId54" Type="http://schemas.openxmlformats.org/officeDocument/2006/relationships/font" Target="fonts/SairaMedium-regular.fntdata"/><Relationship Id="rId13" Type="http://schemas.openxmlformats.org/officeDocument/2006/relationships/slide" Target="slides/slide8.xml"/><Relationship Id="rId57" Type="http://schemas.openxmlformats.org/officeDocument/2006/relationships/font" Target="fonts/SairaMedium-boldItalic.fntdata"/><Relationship Id="rId12" Type="http://schemas.openxmlformats.org/officeDocument/2006/relationships/slide" Target="slides/slide7.xml"/><Relationship Id="rId56" Type="http://schemas.openxmlformats.org/officeDocument/2006/relationships/font" Target="fonts/Saira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grpSp>
        <p:nvGrpSpPr>
          <p:cNvPr id="15" name="Google Shape;15;p4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16" name="Google Shape;16;p4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4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2471" r="2471" t="0"/>
          <a:stretch/>
        </p:blipFill>
        <p:spPr>
          <a:xfrm>
            <a:off x="7259782" y="4160981"/>
            <a:ext cx="1592808" cy="80202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>
            <p:ph type="ctrTitle"/>
          </p:nvPr>
        </p:nvSpPr>
        <p:spPr>
          <a:xfrm>
            <a:off x="1801014" y="250291"/>
            <a:ext cx="5615862" cy="1090951"/>
          </a:xfrm>
          <a:prstGeom prst="rect">
            <a:avLst/>
          </a:prstGeom>
          <a:noFill/>
          <a:ln cap="flat" cmpd="sng" w="952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5400">
                <a:solidFill>
                  <a:srgbClr val="BE3969"/>
                </a:solidFill>
                <a:highlight>
                  <a:srgbClr val="EAC3FF"/>
                </a:highlight>
                <a:latin typeface="Russo One"/>
                <a:ea typeface="Russo One"/>
                <a:cs typeface="Russo One"/>
                <a:sym typeface="Russo One"/>
              </a:rPr>
              <a:t>BIENVENID@S !</a:t>
            </a:r>
            <a:endParaRPr/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8712" y="1380837"/>
            <a:ext cx="4046576" cy="3961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idx="4294967295" type="body"/>
          </p:nvPr>
        </p:nvSpPr>
        <p:spPr>
          <a:xfrm>
            <a:off x="410542" y="648783"/>
            <a:ext cx="8068868" cy="39993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800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Un Poquito de Historia…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Somos una ONG que inició formalmente su labor en el 2017.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Creemos que la tecnología tiene un alto </a:t>
            </a:r>
            <a:r>
              <a:rPr b="1" lang="es-AR">
                <a:solidFill>
                  <a:srgbClr val="595959"/>
                </a:solidFill>
                <a:latin typeface="Saira"/>
                <a:ea typeface="Saira"/>
                <a:cs typeface="Saira"/>
                <a:sym typeface="Saira"/>
              </a:rPr>
              <a:t>poder transformador </a:t>
            </a:r>
            <a:r>
              <a:rPr lang="es-AR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y buscamos generar </a:t>
            </a:r>
            <a:r>
              <a:rPr b="1" lang="es-AR">
                <a:solidFill>
                  <a:srgbClr val="595959"/>
                </a:solidFill>
                <a:latin typeface="Saira"/>
                <a:ea typeface="Saira"/>
                <a:cs typeface="Saira"/>
                <a:sym typeface="Saira"/>
              </a:rPr>
              <a:t>oportunidades para todas las mujeres</a:t>
            </a:r>
            <a:r>
              <a:rPr lang="es-AR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 alrededor del mundo, gracias a nuestra modalidad online.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595959"/>
              </a:solidFill>
              <a:latin typeface="Saira Medium"/>
              <a:ea typeface="Saira Medium"/>
              <a:cs typeface="Saira Medium"/>
              <a:sym typeface="Saira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Somos </a:t>
            </a:r>
            <a:r>
              <a:rPr b="1" lang="es-AR">
                <a:solidFill>
                  <a:srgbClr val="595959"/>
                </a:solidFill>
                <a:latin typeface="Saira"/>
                <a:ea typeface="Saira"/>
                <a:cs typeface="Saira"/>
                <a:sym typeface="Saira"/>
              </a:rPr>
              <a:t>la primera organización en Latinoamérica</a:t>
            </a:r>
            <a:r>
              <a:rPr lang="es-AR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 que cumple con transparencia de datos en gestión de los cursos y los indicadores que informamos, gracias a la auditoría del Council on Integrity in Results Reporting (CIRR).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idx="4294967295" type="body"/>
          </p:nvPr>
        </p:nvSpPr>
        <p:spPr>
          <a:xfrm>
            <a:off x="438251" y="713437"/>
            <a:ext cx="8068868" cy="39993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400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Nuestra </a:t>
            </a:r>
            <a:r>
              <a:rPr lang="es-AR" sz="2400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misión</a:t>
            </a:r>
            <a:r>
              <a:rPr lang="es-AR" sz="2400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…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Llevamos más de 7 años formando a mujeres de toda la región en programación con perfiles </a:t>
            </a:r>
            <a:r>
              <a:rPr b="1"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trainee/junior 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iniciar a trabajar en la industria tecnológica.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Nuestra propuesta se basa en </a:t>
            </a:r>
            <a:r>
              <a:rPr b="1"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capacitar a mujeres y feminidades en tecnología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y acompañar durante su proceso de inserción en el mercado de trabajo IT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Nos destacamos por formar a mujeres que, en su mayoría, presentan perfiles: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Sin educación universitaria</a:t>
            </a:r>
            <a:endParaRPr/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Sin empleo formal</a:t>
            </a:r>
            <a:endParaRPr/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alguna situación de vulnerabilidad socioeconómica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idx="4294967295" type="body"/>
          </p:nvPr>
        </p:nvSpPr>
        <p:spPr>
          <a:xfrm>
            <a:off x="438251" y="563418"/>
            <a:ext cx="5219022" cy="41493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400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Sobre nosotr@s…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ADA, somos un equipo de 5 personas llenas de entusiasmo y dedicación, trabajando con el corazón ❤️ para ofrecerles la mejor experiencia posible.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Además, contamos con un increíble equipo de docentes y tutoras, siempre dispuestos a acompañarlas en su proceso de aprendizaje.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Queremos que sepan que nunca están solas en este camino. Si tienen dudas, necesitan apoyo o simplemente un consejo, no duden en pedir ayuda 🙋‍♀️.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425" y="1833417"/>
            <a:ext cx="2634997" cy="1855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idx="4294967295" type="body"/>
          </p:nvPr>
        </p:nvSpPr>
        <p:spPr>
          <a:xfrm>
            <a:off x="438251" y="775855"/>
            <a:ext cx="5219022" cy="393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400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Me presento </a:t>
            </a:r>
            <a:endParaRPr/>
          </a:p>
          <a:p>
            <a:pPr indent="-1714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Soy Desarrolladora F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rontend (egresADA)</a:t>
            </a:r>
            <a:b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</a:b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 conocimientos en backend.</a:t>
            </a:r>
            <a:endParaRPr/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 gusta el Rock y la pesca</a:t>
            </a:r>
            <a:endParaRPr/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Formo 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parte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del equipo de desarrollo de Fonselp</a:t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 encargo del desarrollo tecnológico de ADA</a:t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Soy docente de Plug-It  dicto cursos de Ofimática</a:t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Cursos: Java, QA testing, Project Manager.</a:t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2" name="Google Shape;82;p5" title="c-paez.jpg"/>
          <p:cNvPicPr preferRelativeResize="0"/>
          <p:nvPr/>
        </p:nvPicPr>
        <p:blipFill rotWithShape="1">
          <a:blip r:embed="rId3">
            <a:alphaModFix/>
          </a:blip>
          <a:srcRect b="0" l="7648" r="7648" t="0"/>
          <a:stretch/>
        </p:blipFill>
        <p:spPr>
          <a:xfrm>
            <a:off x="5818909" y="1268459"/>
            <a:ext cx="2482500" cy="2606700"/>
          </a:xfrm>
          <a:prstGeom prst="ellipse">
            <a:avLst/>
          </a:prstGeom>
          <a:noFill/>
          <a:ln cap="rnd" cmpd="sng" w="635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idx="4294967295" type="body"/>
          </p:nvPr>
        </p:nvSpPr>
        <p:spPr>
          <a:xfrm>
            <a:off x="1352850" y="60775"/>
            <a:ext cx="61356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400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Hola! Soy Georgina, su tutora- amiga!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714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375200" y="622800"/>
            <a:ext cx="4894200" cy="45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Me presento </a:t>
            </a:r>
            <a:endParaRPr sz="1800">
              <a:solidFill>
                <a:schemeClr val="dk2"/>
              </a:solidFill>
            </a:endParaRPr>
          </a:p>
          <a:p>
            <a:pPr indent="-1714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Soy Desarrolladora Frontend en proceso (¡casi egresADA!).</a:t>
            </a:r>
            <a:endParaRPr sz="1600">
              <a:solidFill>
                <a:srgbClr val="4A4A4A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Me gusta el diseño con alma, el código limpio y aprender cosas nuevas cada día.</a:t>
            </a:r>
            <a:endParaRPr sz="1600">
              <a:solidFill>
                <a:srgbClr val="4A4A4A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Acompaño en Ada como tutora con empatía, humor y mucho corazón.</a:t>
            </a:r>
            <a:endParaRPr sz="1600">
              <a:solidFill>
                <a:srgbClr val="4A4A4A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Lato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Tengo un emprendimiento de decoración gótica</a:t>
            </a:r>
            <a:endParaRPr sz="1600">
              <a:solidFill>
                <a:srgbClr val="4A4A4A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También soy mamá, cantante lírico en formación y fan del modo oscuro 🦇🕯️🎤🌙</a:t>
            </a:r>
            <a:endParaRPr sz="1600">
              <a:solidFill>
                <a:srgbClr val="4A4A4A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</a:pPr>
            <a:r>
              <a:rPr lang="es-AR" sz="1600">
                <a:solidFill>
                  <a:srgbClr val="4A4A4A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Si necesitás ayuda, ¡acá estoy! Ninguna duda es “tonta”, todas son parte del camino.</a:t>
            </a:r>
            <a:endParaRPr sz="1600">
              <a:solidFill>
                <a:srgbClr val="4A4A4A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A4A4A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9" name="Google Shape;89;p6" title="20250114_184833.jpg"/>
          <p:cNvPicPr preferRelativeResize="0"/>
          <p:nvPr/>
        </p:nvPicPr>
        <p:blipFill rotWithShape="1">
          <a:blip r:embed="rId3">
            <a:alphaModFix/>
          </a:blip>
          <a:srcRect b="31417" l="-1610" r="-1610" t="4492"/>
          <a:stretch/>
        </p:blipFill>
        <p:spPr>
          <a:xfrm>
            <a:off x="5916375" y="1103875"/>
            <a:ext cx="2436900" cy="2643300"/>
          </a:xfrm>
          <a:prstGeom prst="ellipse">
            <a:avLst/>
          </a:prstGeom>
          <a:noFill/>
          <a:ln cap="rnd" cmpd="sng" w="635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idx="4294967295" type="body"/>
          </p:nvPr>
        </p:nvSpPr>
        <p:spPr>
          <a:xfrm>
            <a:off x="2204680" y="244763"/>
            <a:ext cx="5219022" cy="651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800">
                <a:solidFill>
                  <a:srgbClr val="FF7D00"/>
                </a:solidFill>
                <a:latin typeface="Russo One"/>
                <a:ea typeface="Russo One"/>
                <a:cs typeface="Russo One"/>
                <a:sym typeface="Russo One"/>
              </a:rPr>
              <a:t>Programa de la Carrera</a:t>
            </a:r>
            <a:endParaRPr sz="12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714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2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8" y="1242397"/>
            <a:ext cx="8420390" cy="18655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/>
        </p:nvSpPr>
        <p:spPr>
          <a:xfrm>
            <a:off x="1966769" y="3454402"/>
            <a:ext cx="5210461" cy="14270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1143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2471"/>
              <a:buFont typeface="Arial"/>
              <a:buNone/>
            </a:pPr>
            <a:r>
              <a:rPr b="0" i="0" lang="es-AR" sz="2800" u="none" cap="none" strike="noStrike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Horarios y Días de cursada: 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2471"/>
              <a:buFont typeface="Arial"/>
              <a:buNone/>
            </a:pPr>
            <a:r>
              <a:rPr lang="es-AR" sz="2800">
                <a:solidFill>
                  <a:srgbClr val="B00055"/>
                </a:solidFill>
                <a:latin typeface="Saira Medium"/>
                <a:ea typeface="Saira Medium"/>
                <a:cs typeface="Saira Medium"/>
                <a:sym typeface="Saira Medium"/>
              </a:rPr>
              <a:t>Lunes</a:t>
            </a:r>
            <a:r>
              <a:rPr b="0" i="0" lang="es-AR" sz="2800" u="none" cap="none" strike="noStrike">
                <a:solidFill>
                  <a:srgbClr val="B00055"/>
                </a:solidFill>
                <a:latin typeface="Saira Medium"/>
                <a:ea typeface="Saira Medium"/>
                <a:cs typeface="Saira Medium"/>
                <a:sym typeface="Saira Medium"/>
              </a:rPr>
              <a:t>es y </a:t>
            </a:r>
            <a:r>
              <a:rPr lang="es-AR" sz="2800">
                <a:solidFill>
                  <a:srgbClr val="B00055"/>
                </a:solidFill>
                <a:latin typeface="Saira Medium"/>
                <a:ea typeface="Saira Medium"/>
                <a:cs typeface="Saira Medium"/>
                <a:sym typeface="Saira Medium"/>
              </a:rPr>
              <a:t>Miércoles</a:t>
            </a:r>
            <a:r>
              <a:rPr b="0" i="0" lang="es-AR" sz="2800" u="none" cap="none" strike="noStrike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de </a:t>
            </a:r>
            <a:r>
              <a:rPr b="0" i="0" lang="es-AR" sz="2800" u="none" cap="none" strike="noStrike">
                <a:solidFill>
                  <a:srgbClr val="B00055"/>
                </a:solidFill>
                <a:latin typeface="Saira Medium"/>
                <a:ea typeface="Saira Medium"/>
                <a:cs typeface="Saira Medium"/>
                <a:sym typeface="Saira Medium"/>
              </a:rPr>
              <a:t>19</a:t>
            </a:r>
            <a:r>
              <a:rPr b="0" i="0" lang="es-AR" sz="2800" u="none" cap="none" strike="noStrike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 a </a:t>
            </a:r>
            <a:r>
              <a:rPr b="0" i="0" lang="es-AR" sz="2800" u="none" cap="none" strike="noStrike">
                <a:solidFill>
                  <a:srgbClr val="B00055"/>
                </a:solidFill>
                <a:latin typeface="Saira Medium"/>
                <a:ea typeface="Saira Medium"/>
                <a:cs typeface="Saira Medium"/>
                <a:sym typeface="Saira Medium"/>
              </a:rPr>
              <a:t>22</a:t>
            </a:r>
            <a:r>
              <a:rPr b="0" i="0" lang="es-AR" sz="2800" u="none" cap="none" strike="noStrike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 hs </a:t>
            </a:r>
            <a:endParaRPr/>
          </a:p>
          <a:p>
            <a:pPr indent="0" lvl="0" marL="1143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2471"/>
              <a:buFont typeface="Arial"/>
              <a:buNone/>
            </a:pPr>
            <a:r>
              <a:rPr b="0" i="0" lang="es-AR" sz="2800" u="none" cap="none" strike="noStrike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(Horario de </a:t>
            </a:r>
            <a:r>
              <a:rPr b="0" i="0" lang="es-AR" sz="2800" u="none" cap="none" strike="noStrike">
                <a:solidFill>
                  <a:srgbClr val="B00055"/>
                </a:solidFill>
                <a:latin typeface="Saira Medium"/>
                <a:ea typeface="Saira Medium"/>
                <a:cs typeface="Saira Medium"/>
                <a:sym typeface="Saira Medium"/>
              </a:rPr>
              <a:t>Argentina</a:t>
            </a:r>
            <a:r>
              <a:rPr b="0" i="0" lang="es-AR" sz="2800" u="none" cap="none" strike="noStrike">
                <a:solidFill>
                  <a:srgbClr val="595959"/>
                </a:solidFill>
                <a:latin typeface="Saira Medium"/>
                <a:ea typeface="Saira Medium"/>
                <a:cs typeface="Saira Medium"/>
                <a:sym typeface="Saira Medium"/>
              </a:rPr>
              <a:t>)</a:t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160194" y="2004291"/>
            <a:ext cx="378691" cy="24476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6B4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/>
        </p:nvSpPr>
        <p:spPr>
          <a:xfrm>
            <a:off x="510833" y="655204"/>
            <a:ext cx="8122333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Asistencia</a:t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RESPECTO A LA CARGA DE HORAS: 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Debes ingresar a las clases en zoom con el Nombre, Apellido y Email con el que te inscribiste.</a:t>
            </a:r>
            <a:endParaRPr/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Si tus horas no figuran correctamente, no te preocupes que en nuestra base interna sí figuran.</a:t>
            </a:r>
            <a:endParaRPr/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caso de cursar “Diferido” anotar su asistencia en Excel (El link será enviado por Discord)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/>
        </p:nvSpPr>
        <p:spPr>
          <a:xfrm>
            <a:off x="510833" y="655204"/>
            <a:ext cx="8122333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latin typeface="Russo One"/>
                <a:ea typeface="Russo One"/>
                <a:cs typeface="Russo One"/>
                <a:sym typeface="Russo One"/>
              </a:rPr>
              <a:t>Discord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importante que en la primera sección llamada “Bienvenida”, des “click” en el emoji de nuestra carrera:</a:t>
            </a:r>
            <a:endParaRPr/>
          </a:p>
        </p:txBody>
      </p:sp>
      <p:pic>
        <p:nvPicPr>
          <p:cNvPr id="108" name="Google Shape;10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950" y="1920250"/>
            <a:ext cx="4682850" cy="3155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401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/>
        </p:nvSpPr>
        <p:spPr>
          <a:xfrm>
            <a:off x="510833" y="655204"/>
            <a:ext cx="81222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Fonselp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la plataforma que utilizaremos en la carrera, allí encontrarán: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material/guía para sus clases,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link de zoom (mismo que les </a:t>
            </a:r>
            <a:r>
              <a:rPr lang="es-AR" sz="18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llegó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 sus mails y se va a utilizar en todas las clases).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Días y horarios de clases.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Manual de alumnas (para despejar dudas sobre la cursada)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Link de alta de casos por si tienen algún inconveniente o realizar alguna consulta  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clases grabadas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certificado, una vez finalizado y aprobado el curso/carrera.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/>
        </p:nvSpPr>
        <p:spPr>
          <a:xfrm>
            <a:off x="552396" y="996949"/>
            <a:ext cx="8122333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Grabaciones de clases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grabaciones se subirán de forma automática al Aula Virtual en el transcurso de </a:t>
            </a:r>
            <a:r>
              <a:rPr b="1" i="0" lang="es-AR" sz="1800" u="none" cap="none" strike="noStrike">
                <a:solidFill>
                  <a:schemeClr val="accent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24/48 hs </a:t>
            </a: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y las tendrán siempre a disposición.</a:t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552396" y="3072525"/>
            <a:ext cx="8122333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Encuestas de satisfacción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enviaran encuestas cada </a:t>
            </a:r>
            <a:r>
              <a:rPr b="1" i="0" lang="es-AR" sz="1800" u="none" cap="none" strike="noStrike">
                <a:solidFill>
                  <a:schemeClr val="accent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15 días al mail</a:t>
            </a: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es el modo de evaluar su bienestar por ello es importante que nos compartan sus observaciones.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idx="4294967295" type="body"/>
          </p:nvPr>
        </p:nvSpPr>
        <p:spPr>
          <a:xfrm>
            <a:off x="484909" y="1320657"/>
            <a:ext cx="4759325" cy="2262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 1: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Introduccion a HTML </a:t>
            </a:r>
            <a:endParaRPr b="1" sz="440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4000"/>
          </a:p>
        </p:txBody>
      </p:sp>
      <p:pic>
        <p:nvPicPr>
          <p:cNvPr id="125" name="Google Shape;1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 txBox="1"/>
          <p:nvPr/>
        </p:nvSpPr>
        <p:spPr>
          <a:xfrm>
            <a:off x="1519382" y="1793153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48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Explicación del rol “Front – End”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/>
        </p:nvSpPr>
        <p:spPr>
          <a:xfrm>
            <a:off x="425449" y="878042"/>
            <a:ext cx="5402697" cy="350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¿Qué es ser un desarrollador front-end?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desarrollador front-end es la persona encargada de </a:t>
            </a:r>
            <a:r>
              <a:rPr b="1" i="0" lang="es-AR" sz="1800" u="none" cap="none" strike="noStrike">
                <a:solidFill>
                  <a:schemeClr val="accent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construir la parte visual e interactiva de un sitio web o aplicación</a:t>
            </a: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Esto incluye todo lo que los usuarios ven y con lo que interactúan directamente, como botones, imágenes, formularios, menús y mucho más.</a:t>
            </a:r>
            <a:endParaRPr/>
          </a:p>
        </p:txBody>
      </p:sp>
      <p:pic>
        <p:nvPicPr>
          <p:cNvPr descr="Frontend Images - Free Download on Freepik" id="137" name="Google Shape;13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1607126"/>
            <a:ext cx="2742623" cy="274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/>
        </p:nvSpPr>
        <p:spPr>
          <a:xfrm>
            <a:off x="406976" y="693315"/>
            <a:ext cx="8132042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Funciones principales: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Estructura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Crear la estructura de una página web usando HTML.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Estilo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Dar diseño y apariencia atractiva a esa estructura mediante CSS.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Interactividad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Añadir funciones dinámicas usando JavaScript para que la página sea más interactiva (como animaciones, formularios interactivos, etc.).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Habilidades clave: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Dominio de HTML, CSS y JavaScript.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Capacidad para trabajar con herramientas como navegadores, editores de código y control de versiones (Git).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Comprender la experiencia de usuario (UX) y el diseño centrado en el usuario.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1519382" y="2064327"/>
            <a:ext cx="6105236" cy="12860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48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¿Qué es HTML?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/>
        </p:nvSpPr>
        <p:spPr>
          <a:xfrm>
            <a:off x="425449" y="878042"/>
            <a:ext cx="54027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¿Qué es HTML?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HTML (HyperText Markup Language) es el </a:t>
            </a:r>
            <a:r>
              <a:rPr b="0" i="0" lang="es-AR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lenguaje de marcado estándar para crear páginas web.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 función principal es describir la </a:t>
            </a:r>
            <a:r>
              <a:rPr b="0" i="0" lang="es-AR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estructura y el contenido</a:t>
            </a: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un sitio web. Es como el "esqueleto" de cualquier página web.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Importancia: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esencial para todos los sitios web.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Sirve para organizar el contenido en bloques que pueden incluir texto, imágenes, 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vídeos</a:t>
            </a: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tablas, enlaces, etc.</a:t>
            </a:r>
            <a:endParaRPr/>
          </a:p>
        </p:txBody>
      </p:sp>
      <p:pic>
        <p:nvPicPr>
          <p:cNvPr descr="HTML - Wikipedia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8832" y="1459346"/>
            <a:ext cx="2852882" cy="2852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ágenes de Esqueleto Dibujo - Descarga gratuita en Freepik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6234" y="4160982"/>
            <a:ext cx="879221" cy="87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425449" y="878042"/>
            <a:ext cx="8381424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Ejemplo Sencillo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código muestra una línea de texto en la página web.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 te preocupes si no entiendes el como ni porque, ahora vamos a eso! 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1499391" y="2204029"/>
            <a:ext cx="5945118" cy="847456"/>
          </a:xfrm>
          <a:prstGeom prst="roundRect">
            <a:avLst>
              <a:gd fmla="val 8261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&lt;p&gt;¡Hola, mundo!&lt;/p&gt;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1317732" y="2204029"/>
            <a:ext cx="763518" cy="84745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1519382" y="1793153"/>
            <a:ext cx="6105236" cy="18921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4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Sintaxis, etiquetas abiertas y cerradas, atributos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434686" y="480879"/>
            <a:ext cx="8173606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Sintaxis básica de HTML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sintaxis en HTML es el conjunto de reglas que define cómo deben estructurarse los elementos para que los navegadores los interpreten correctamente.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Componentes básicos: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Etiquetas: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Representan los elementos de la página web, como títulos, párrafos, imágenes, etc. Siempre van entre los símbolos &lt; &gt;.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Contenido: 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el texto o elementos que se muestran en la página web y que se colocan entre las etiquetas de apertura y cierre.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Atributos: 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Proveen información adicional sobre un elemento HTML. Siempre están dentro de la etiqueta de apertura.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/>
        </p:nvSpPr>
        <p:spPr>
          <a:xfrm>
            <a:off x="448540" y="928843"/>
            <a:ext cx="8173606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Estructura de un tag de HTML (etiqueta)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Una etiqueta actúa como un contenedor y describe los datos o información que contienen entre la etiqueta de apertura y la de cierre.</a:t>
            </a:r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775" y="3470226"/>
            <a:ext cx="7122979" cy="855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/>
        </p:nvSpPr>
        <p:spPr>
          <a:xfrm>
            <a:off x="485196" y="725644"/>
            <a:ext cx="8173606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Una etiqueta esta compuesta por: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Etiqueta de apertura: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un signo menor que se conoce como apertura de la etiqueta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tipoDeEtiqueta 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 ser una o varias letras que describen el tipo de etiqueta que queremos crear (título, link, imagen, etc)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un signo mayor que se conoce como cierre de la etiqueta</a:t>
            </a:r>
            <a:endParaRPr/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9174" y="3828474"/>
            <a:ext cx="3924347" cy="83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/>
        </p:nvSpPr>
        <p:spPr>
          <a:xfrm>
            <a:off x="485196" y="725644"/>
            <a:ext cx="8173606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Una etiqueta esta compuesta por: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Contenido: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Contenido de la etiqueta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puede ser un texto u otro/s elemento/s de HTML</a:t>
            </a:r>
            <a:endParaRPr/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817" y="3250144"/>
            <a:ext cx="6280685" cy="878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/>
        </p:nvSpPr>
        <p:spPr>
          <a:xfrm>
            <a:off x="485196" y="725644"/>
            <a:ext cx="8173606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Una etiqueta esta compuesta por: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Etiqueta de cierre: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Tiene la misma estructura que la etiqueta de apertura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tiene que llamar igual que la estrcutura de apertura para que el browser entienda que acá termina lo que comenzó con la etiqueta de apertura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/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tiene una barra inclinada para determinar que es una etiqueta de cierre (sino sería igual que la de apertura)</a:t>
            </a:r>
            <a:endParaRPr/>
          </a:p>
        </p:txBody>
      </p:sp>
      <p:pic>
        <p:nvPicPr>
          <p:cNvPr id="197" name="Google Shape;1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746" y="3785855"/>
            <a:ext cx="3751584" cy="944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/>
        </p:nvSpPr>
        <p:spPr>
          <a:xfrm>
            <a:off x="485196" y="725644"/>
            <a:ext cx="817360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Una etiqueta esta compuesta por: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Elemento: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diferenciar que las etiquetas son las de apertura y cierre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Llamamos elemento al conjunto de etiquetas de apertura y cierre que tiene contenido</a:t>
            </a:r>
            <a:endParaRPr/>
          </a:p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836" y="3629891"/>
            <a:ext cx="7856328" cy="687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/>
        </p:nvSpPr>
        <p:spPr>
          <a:xfrm>
            <a:off x="485196" y="725644"/>
            <a:ext cx="8173606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Una etiqueta esta compuesta por: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Etiquetas sin contenido: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Algunas etiquetas no tienen contenido y funcionan como placeholder (un lugar donde vamos a poner algo).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tipo de etiquetas utilizan la apertura y cierre en una sola estructura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ejemplo de este tipo de etiquetas es el contenedor para insertar una imagen.</a:t>
            </a:r>
            <a:endParaRPr/>
          </a:p>
        </p:txBody>
      </p:sp>
      <p:pic>
        <p:nvPicPr>
          <p:cNvPr id="209" name="Google Shape;209;p26"/>
          <p:cNvPicPr preferRelativeResize="0"/>
          <p:nvPr/>
        </p:nvPicPr>
        <p:blipFill rotWithShape="1">
          <a:blip r:embed="rId3">
            <a:alphaModFix/>
          </a:blip>
          <a:srcRect b="0" l="3584" r="0" t="0"/>
          <a:stretch/>
        </p:blipFill>
        <p:spPr>
          <a:xfrm>
            <a:off x="3508834" y="3585823"/>
            <a:ext cx="2126332" cy="120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/>
        </p:nvSpPr>
        <p:spPr>
          <a:xfrm>
            <a:off x="397451" y="693316"/>
            <a:ext cx="8173606" cy="23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Ejemplo de un elemento con otro elemento: </a:t>
            </a:r>
            <a:endParaRPr b="0" i="0" sz="12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el siguiente ejemplo tenemos una etiqueta (no sabemos de que tipo) que tiene como contenido un texto (Bienvenidos a HTML!!) y una imagen que por ahora no sabemos cual 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este ejemplo vemos que el texto y la imagen tienen un márgen izquierdo para visualizar de forma rápida y fácil que son contenido del elemento llamado tipoDeEtiqueta.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 técnica se conoce como identación o identado y es una buena práctica para evitar tener problema a la hora de armar documentos con estructuras más complejas.</a:t>
            </a:r>
            <a:endParaRPr/>
          </a:p>
        </p:txBody>
      </p:sp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2491" y="3271184"/>
            <a:ext cx="4039164" cy="1581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/>
        </p:nvSpPr>
        <p:spPr>
          <a:xfrm>
            <a:off x="439014" y="443934"/>
            <a:ext cx="8173606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Atributos de los elementos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elementos en HTML pueden tener atributos que nos sirven para describirlo mejor, agregar funcionalidad o alterar su comportamiento.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atributo </a:t>
            </a:r>
            <a:r>
              <a:rPr b="1" i="0" lang="es-AR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id</a:t>
            </a: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nos permite identificar de forma única un elemento dentro del documento. (Sólo deberíamos tener un elemento de este tipo por documento, ejemplo: Un título principal con el id: titulo)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atributo </a:t>
            </a:r>
            <a:r>
              <a:rPr b="1" i="0" lang="es-AR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class</a:t>
            </a: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nos permite establecer a que clase de CSS pertenece un elemento. De esta forma podemos agrupar elementos por la forma que se ven o comportan. (Podemos utilizar la misma clase en varios elementos)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 usando ID y class:</a:t>
            </a:r>
            <a:endParaRPr/>
          </a:p>
        </p:txBody>
      </p:sp>
      <p:pic>
        <p:nvPicPr>
          <p:cNvPr id="221" name="Google Shape;2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97" y="4252685"/>
            <a:ext cx="8173606" cy="64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/>
        </p:nvSpPr>
        <p:spPr>
          <a:xfrm>
            <a:off x="1519382" y="1793153"/>
            <a:ext cx="6105236" cy="18921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4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Estructura inicial: (DOCTYPE - html- head - title- meta- body)</a:t>
            </a:r>
            <a:endParaRPr b="0" i="0" sz="40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/>
        </p:nvSpPr>
        <p:spPr>
          <a:xfrm>
            <a:off x="517524" y="624043"/>
            <a:ext cx="8173606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Estructura</a:t>
            </a:r>
            <a:endParaRPr b="1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Ahora vamos a desglosar cada una de las partes de la estructura inicial de un documento HTML.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&lt;!DOCTYPE html&gt;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DOCTYPE es una declaración que indica al navegador que el documento sigue las reglas del lenguaje HTML5.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Aunque no es una etiqueta HTML como tal, es esencial para que el navegador interprete correctamente el código.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Detalles: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 siempre en la primera línea del archivo HTML.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 tiene etiqueta de cierre.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 único propósito es garantizar que el navegador use el modo estándar en lugar de un modo más antiguo o "quirks mode".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como una "bandera" que le dice al navegador: "Esta página usa las reglas modernas de HTML". Si no lo incluyes, algunos navegadores podrían interpretar el contenido de forma incorrecta.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517524" y="624043"/>
            <a:ext cx="8173606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Estructura</a:t>
            </a:r>
            <a:endParaRPr b="1" i="0" sz="2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1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b="1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&lt;html&gt;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&lt;html&gt; es el contenedor principal de todo el contenido HTML.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como la raíz del árbol en el que todo el documento está organizado.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Detalles: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Todo el código debe estar dentro de las etiquetas &lt;html&gt; y &lt;/html&gt;.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 incluir atributos, como el idioma del contenido, por ejemplo: &lt;html lang="es"&gt;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/>
        </p:nvSpPr>
        <p:spPr>
          <a:xfrm>
            <a:off x="485197" y="739497"/>
            <a:ext cx="8173606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Estructura</a:t>
            </a:r>
            <a:endParaRPr b="1" i="0" sz="2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1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b="1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&lt;head&gt;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&lt;head&gt; contiene metadatos y configuraciones sobre la página web.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Estos datos no se ven directamente en la página, pero son esenciales para su correcto funcionamiento.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¿Por qué es importante?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&lt;head&gt; actúa como un "centro de control" que prepara todo lo necesario antes de mostrar el contenido visible de la página.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/>
        </p:nvSpPr>
        <p:spPr>
          <a:xfrm>
            <a:off x="485196" y="462406"/>
            <a:ext cx="8404803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Estructura</a:t>
            </a:r>
            <a:endParaRPr b="1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b="1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&lt;title&gt;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&lt;title&gt; define el título del documento que aparece en la pestaña del navegador y en los marcadores (favoritos).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Detalles: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parte del &lt;head&gt;.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Tiene un impacto en el SEO (Optimización para Motores de Búsqueda).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¿Por qué es importante?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Sin un &lt;title&gt;, tu página podría mostrarse con un título genérico como "Sin título", lo cual no es profesional y dificulta que los usuarios identifiquen tu página.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/>
        </p:nvSpPr>
        <p:spPr>
          <a:xfrm>
            <a:off x="485196" y="462406"/>
            <a:ext cx="8404803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Estructura</a:t>
            </a:r>
            <a:endParaRPr b="1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</a:t>
            </a:r>
            <a:r>
              <a:rPr b="1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&lt;meta&gt;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etiquetas &lt;meta&gt; son elementos que contienen información adicional (metadatos) sobre la página, como por ejemplo: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Codificación de caracteres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Asegura que el texto (como acentos o caracteres especiales) se muestre correctamente.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Descripción del contenido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Define un resumen de la página que se usa en los resultados de búsqueda.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Palabras clave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Proporciona palabras clave relacionadas con el contenido (menos usado hoy en día).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Configuración del viewport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Es crucial para que las páginas se vean bien en dispositivos móviles.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/>
        </p:nvSpPr>
        <p:spPr>
          <a:xfrm>
            <a:off x="508287" y="794915"/>
            <a:ext cx="8404803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Estructura</a:t>
            </a:r>
            <a:endParaRPr b="1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6. </a:t>
            </a: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&lt;body&gt;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&lt;body&gt; contiene todo el contenido visible de la página web.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Aquí es donde escribes lo que quieres mostrar en el navegador, como texto, imágenes, enlaces y más.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Detalles: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Todo lo que esté dentro de &lt;body&gt; aparecerá en la página web.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 incluir etiquetas como: &lt;h1&gt;, &lt;h6&gt;, &lt;p&gt;, &lt;img&gt;, &lt;a&gt;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&lt;body&gt; es como el "escenario" de una obra de teatro: todo lo que los espectadores ven ocurre dentro de él.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/>
        </p:nvSpPr>
        <p:spPr>
          <a:xfrm>
            <a:off x="457487" y="185315"/>
            <a:ext cx="840480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Estructura</a:t>
            </a:r>
            <a:endParaRPr b="1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3" name="Google Shape;26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962" y="1006764"/>
            <a:ext cx="7346075" cy="102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9181" y="2229656"/>
            <a:ext cx="6765636" cy="2636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C3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idx="4294967295" type="title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270" name="Google Shape;2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3969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idx="4294967295" type="title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Gracias por participar de esta clase!</a:t>
            </a:r>
            <a:br>
              <a:rPr lang="es-AR" sz="440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</a:br>
            <a:endParaRPr sz="440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276" name="Google Shape;27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/>
        </p:nvSpPr>
        <p:spPr>
          <a:xfrm>
            <a:off x="267650" y="736398"/>
            <a:ext cx="8404800" cy="54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Ejercitación </a:t>
            </a:r>
            <a:endParaRPr b="1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AR" sz="3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-AR" sz="1100">
                <a:solidFill>
                  <a:schemeClr val="dk2"/>
                </a:solidFill>
              </a:rPr>
              <a:t>✍️ Ejercicio 1: Tu presentación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AR" sz="1100">
                <a:solidFill>
                  <a:schemeClr val="dk2"/>
                </a:solidFill>
              </a:rPr>
              <a:t>Crea una página que tenga: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-AR" sz="1100">
                <a:solidFill>
                  <a:schemeClr val="dk2"/>
                </a:solidFill>
              </a:rPr>
              <a:t>Un título con tu nombre.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-AR" sz="1100">
                <a:solidFill>
                  <a:schemeClr val="dk2"/>
                </a:solidFill>
              </a:rPr>
              <a:t>Un subtítulo con tu edad.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-AR" sz="1100">
                <a:solidFill>
                  <a:schemeClr val="dk2"/>
                </a:solidFill>
              </a:rPr>
              <a:t>Un párrafo contando quién sos y qué te gusta.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s-AR" sz="1100">
                <a:solidFill>
                  <a:schemeClr val="dk2"/>
                </a:solidFill>
              </a:rPr>
              <a:t>✍️ Ejercicio 2: Tu comida favorita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AR" sz="1100">
                <a:solidFill>
                  <a:schemeClr val="dk2"/>
                </a:solidFill>
              </a:rPr>
              <a:t>Crea una lista con: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-AR" sz="1100">
                <a:solidFill>
                  <a:schemeClr val="dk2"/>
                </a:solidFill>
              </a:rPr>
              <a:t>Tu comida favorita (al menos 3 platos).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-AR" sz="1100">
                <a:solidFill>
                  <a:schemeClr val="dk2"/>
                </a:solidFill>
              </a:rPr>
              <a:t>Tu bebida preferida.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-AR" sz="1100">
                <a:solidFill>
                  <a:schemeClr val="dk2"/>
                </a:solidFill>
              </a:rPr>
              <a:t>Un párrafo explicando por qué te gusta esa comida.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s-AR" sz="1100">
                <a:solidFill>
                  <a:schemeClr val="dk2"/>
                </a:solidFill>
              </a:rPr>
              <a:t>✍️ Ejercicio 3: Lugares a donde te gustaría viajar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-AR" sz="1100">
                <a:solidFill>
                  <a:schemeClr val="dk2"/>
                </a:solidFill>
              </a:rPr>
              <a:t>Usá una lista </a:t>
            </a:r>
            <a:r>
              <a:rPr b="1" lang="es-AR" sz="1100">
                <a:solidFill>
                  <a:schemeClr val="dk2"/>
                </a:solidFill>
              </a:rPr>
              <a:t>ordenada</a:t>
            </a:r>
            <a:r>
              <a:rPr lang="es-AR" sz="1100">
                <a:solidFill>
                  <a:schemeClr val="dk2"/>
                </a:solidFill>
              </a:rPr>
              <a:t> (&lt;ol&gt;) con al menos 5 lugares.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-AR" sz="1100">
                <a:solidFill>
                  <a:schemeClr val="dk2"/>
                </a:solidFill>
              </a:rPr>
              <a:t>Agregá un título y un subtítulo.</a:t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